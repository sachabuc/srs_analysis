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65" r:id="rId3"/>
    <p:sldId id="257" r:id="rId4"/>
    <p:sldId id="268" r:id="rId5"/>
    <p:sldId id="258" r:id="rId6"/>
    <p:sldId id="262" r:id="rId7"/>
    <p:sldId id="261" r:id="rId8"/>
    <p:sldId id="263" r:id="rId9"/>
    <p:sldId id="264" r:id="rId10"/>
    <p:sldId id="266" r:id="rId11"/>
    <p:sldId id="269" r:id="rId12"/>
    <p:sldId id="271" r:id="rId13"/>
    <p:sldId id="272" r:id="rId14"/>
    <p:sldId id="273" r:id="rId15"/>
    <p:sldId id="276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3" r:id="rId24"/>
    <p:sldId id="286" r:id="rId25"/>
    <p:sldId id="284" r:id="rId26"/>
    <p:sldId id="287" r:id="rId27"/>
    <p:sldId id="282" r:id="rId28"/>
    <p:sldId id="285" r:id="rId29"/>
    <p:sldId id="288" r:id="rId30"/>
    <p:sldId id="289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1" r:id="rId40"/>
    <p:sldId id="302" r:id="rId41"/>
    <p:sldId id="303" r:id="rId42"/>
    <p:sldId id="304" r:id="rId43"/>
    <p:sldId id="305" r:id="rId44"/>
    <p:sldId id="307" r:id="rId45"/>
  </p:sldIdLst>
  <p:sldSz cx="12192000" cy="6858000"/>
  <p:notesSz cx="6858000" cy="9144000"/>
  <p:embeddedFontLst>
    <p:embeddedFont>
      <p:font typeface="Play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Cns1cJgKw6IAMYgLHLo8lsceo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120BA5-4784-4B65-B692-8A3A72857C31}">
  <a:tblStyle styleId="{12120BA5-4784-4B65-B692-8A3A72857C3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123" autoAdjust="0"/>
  </p:normalViewPr>
  <p:slideViewPr>
    <p:cSldViewPr snapToGrid="0">
      <p:cViewPr varScale="1">
        <p:scale>
          <a:sx n="48" d="100"/>
          <a:sy n="48" d="100"/>
        </p:scale>
        <p:origin x="72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ED92729-08B6-CEB7-4B77-68BFADB07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97323BB-F346-8945-4D9B-E0D1C37BE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3713EB7-2B4A-2A4F-0BC8-38003F172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252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9ED1FFC5-3CBD-689E-EEA3-005E4211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8AD5D346-21B2-5448-A753-3A297DB9F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6BB8CE5E-5B21-86DA-6E79-B72BE155E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897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4efdd0c0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4efdd0c0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efdd0c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4efdd0c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4EC39F35-A1FB-09D7-D0D5-65DA77C4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68F889A7-1FB9-0A00-FAFE-ADBB44FFB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CCDCE525-8788-7872-5773-A7C2B3690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37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BC56CAD-5016-C8E0-D16F-20419039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EF39AD3-240B-7BEF-4975-59FE7356F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B6A0B174-355F-F596-0B83-44431C874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1399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B08FEA11-8DD9-78D7-F3B8-A12C59E0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AED72D0-E39E-494A-59BB-C32127858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503ACC4A-602E-5D51-2B7A-2CDA359C5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93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2F9D275-E484-107F-4EE2-AD23E436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3F7C8F44-2825-F236-AF39-E917A1E50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B870D13C-E1BA-0C80-9943-F61936327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4386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516246A6-8395-7E40-DDDC-E1E9A998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F00A80D2-7E68-4A6F-5596-FC40986BA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EAF2DA03-7ADE-14BE-083B-FA8AF51C64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8018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BB8660D-925B-11E8-C0BF-438474A7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8C0934E8-4E75-9B1E-2965-0256061B5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DB0D9D57-4AC2-EB42-3CBD-A6D9D43E9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31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55E25511-A37E-40B9-3749-92C1832F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E6FAB42-6FAF-B4F4-5F9C-71085DDDE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B4247E11-D2D4-B01D-9BF1-7EFAEC258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2141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91BD101-73FD-EC18-72D2-F38B1476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F418EDDB-C8A7-1152-51F8-207795D27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6D406F42-C381-16FF-E828-D863CFFD53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1271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D63C24B-CDA8-FD5C-32BB-831C7ED1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6D7E1BBA-347D-2C82-AEE0-13363D2DD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3DACAB57-2232-AD95-E80B-EDFAD2053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585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6CC7626-A8D8-2EA5-5415-CE7C08D6D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C04531E6-A1A4-0313-20E9-80C3FD458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0867EB95-E23A-D8A2-C1B4-852A8BD84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6245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FD03260-2BA7-8070-157D-3B8E51B8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67B3C81D-3F9E-7AC7-FA84-F59B879FC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1C1574A2-0231-A011-F063-0C7C06650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096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5360909-1666-3D29-2A8A-0736702B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00B43084-C36D-D75C-68C7-B94221D97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757FE62A-77CA-2D38-B7F4-6A6B4EC8F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9068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77513156-5E46-826F-CB32-BF48171F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05D9AD50-B469-8A24-606F-77627DBAD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FDF186EF-6BEE-1687-55A6-FA698544D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2440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9BBD24F-692B-1823-3924-100E6AA3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4C0EAD0E-5524-2247-D6F1-769DB9217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207149AB-3A81-D403-D28E-F326651C5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94303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E95328D-8A69-4BCA-B8B4-039D5BCF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75B6CBE-0950-D7A8-174F-33775EA18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3F72359A-3DCA-C0E3-B120-6B023FAB66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91836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8A0146C-C436-657A-EB12-E1960CA4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3F28953E-0A2C-4C2A-057E-36C309272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FDE99CAC-3831-00C3-8232-2E1D477EB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0007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0C564F9A-8EC3-3358-6790-2DA15582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B26AAE3C-B903-2AC8-BE02-5A9908EFF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690A89A4-4490-3DF2-19B2-567029EF8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31899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EC6574C-F733-DAD8-C8A7-24D8AF9D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4C65CC59-1552-D779-ACCE-36BD95351C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AC671B6E-C62C-A298-2EC6-328617EDD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7231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AFF15638-5AFB-CC42-B838-2E3C5BCE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0CE0531A-5424-7221-A7D8-03F68567B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DC6E4A92-F1A2-2B71-F7A4-F2DE5DD17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0652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7479C3-7E00-92D1-82E3-B156E376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88A67602-CB97-D870-C0C6-6CD27C027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E1FCEEDB-F924-DAEB-6B8E-1C577B324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5093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66399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57835-DD4D-3363-1174-A7CFEB3F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378AF98-73B0-5833-F7A8-CA8827F3D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8982066-79EC-DC87-B863-1A34929EF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51298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20379-1C96-1927-99A9-44C76F20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1876E5-B96F-5714-5285-D2738AAD0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10379DE-55F5-92D8-F9D5-FFA77AF02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3634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1F36-EF91-A970-94B7-4F497F1A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514BFE-E3CB-BBCC-8902-8EB118C55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DFC942-395D-34AB-4E0B-8D9E63C98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9764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7CE3-5EC2-B100-69B6-56F46969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3404682-71A4-80F2-D108-26D14EBBC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E710AF-96B6-EFDC-B5BD-31D7DFC0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9252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3022-6F93-AC87-908B-14C81A5E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4BDD6B-FC71-EFEE-6745-4D5201761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E24CF8-D6DD-A3CB-1C26-EBA6BB70C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30716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DBD3-2FAB-8336-1340-81727BFE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806D30-F9A4-0F58-23F6-BD6D2245B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DADCA7-037D-E30F-9967-31F626BDC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4214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936171" y="2122805"/>
            <a:ext cx="9144000" cy="11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fr-FR" dirty="0"/>
              <a:t>I) Données </a:t>
            </a:r>
            <a:r>
              <a:rPr lang="fr-FR" dirty="0" err="1"/>
              <a:t>Chahira</a:t>
            </a:r>
            <a:br>
              <a:rPr lang="fr-FR" dirty="0"/>
            </a:br>
            <a:br>
              <a:rPr lang="fr-FR" dirty="0"/>
            </a:br>
            <a:r>
              <a:rPr lang="fr-FR" dirty="0"/>
              <a:t>II) </a:t>
            </a:r>
            <a:r>
              <a:rPr lang="fr-FR" dirty="0" err="1"/>
              <a:t>Chirp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641566" y="353672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/>
              <a:t>1- Calcite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/>
              <a:t>2- </a:t>
            </a:r>
            <a:r>
              <a:rPr lang="fr-FR" dirty="0" err="1"/>
              <a:t>Vatérite</a:t>
            </a:r>
            <a:r>
              <a:rPr lang="fr-FR" dirty="0"/>
              <a:t>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/>
              <a:t>3- ACC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7D92591-FE5E-CE95-E38A-42B7C146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43A59DC-3E0E-B67E-0404-97D20F8FC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EA7EA57B-3AD3-3088-D57B-9EFEDB870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EC669E-1E5F-6CC0-D595-116CF6B30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4" y="1044306"/>
            <a:ext cx="9620251" cy="476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24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/>
              <a:t>7 ps chirp on calcite - 260522 </a:t>
            </a:r>
            <a:endParaRPr/>
          </a:p>
        </p:txBody>
      </p:sp>
      <p:graphicFrame>
        <p:nvGraphicFramePr>
          <p:cNvPr id="91" name="Google Shape;91;p2"/>
          <p:cNvGraphicFramePr/>
          <p:nvPr/>
        </p:nvGraphicFramePr>
        <p:xfrm>
          <a:off x="444305" y="812751"/>
          <a:ext cx="9785550" cy="1854250"/>
        </p:xfrm>
        <a:graphic>
          <a:graphicData uri="http://schemas.openxmlformats.org/drawingml/2006/table">
            <a:tbl>
              <a:tblPr firstRow="1" bandRow="1">
                <a:noFill/>
                <a:tableStyleId>{12120BA5-4784-4B65-B692-8A3A72857C31}</a:tableStyleId>
              </a:tblPr>
              <a:tblGrid>
                <a:gridCol w="326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u="none" strike="noStrike" cap="none"/>
                        <a:t>POWER METER POSITION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Stokes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Pump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INPUT (software)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220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300 mW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OUTPUT Laser (before CHRIRP)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510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510 mW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After CHIRP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240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230 mW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After sample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4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3.5 mW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 txBox="1"/>
          <p:nvPr/>
        </p:nvSpPr>
        <p:spPr>
          <a:xfrm>
            <a:off x="10466070" y="1278186"/>
            <a:ext cx="140910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Psignal ~ 18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Pnoise ~ 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🡺 SNR ~ 6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44306" y="2782277"/>
            <a:ext cx="318516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 = [927,927.4,927.8,927.2,926.4,926.8,927.6,928,926.1,926.7]</a:t>
            </a:r>
            <a:endParaRPr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62" y="3861839"/>
            <a:ext cx="3185160" cy="291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3132" y="2840662"/>
            <a:ext cx="5957960" cy="394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5439E74-3734-DAEE-2141-62CD5C6B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A729BE28-4C41-2AB4-BCA0-54428D1898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calcite - 260529 </a:t>
            </a:r>
            <a:endParaRPr dirty="0"/>
          </a:p>
        </p:txBody>
      </p:sp>
      <p:sp>
        <p:nvSpPr>
          <p:cNvPr id="93" name="Google Shape;93;p2">
            <a:extLst>
              <a:ext uri="{FF2B5EF4-FFF2-40B4-BE49-F238E27FC236}">
                <a16:creationId xmlns:a16="http://schemas.microsoft.com/office/drawing/2014/main" id="{5ED7D8BD-E821-73FC-72CF-EEB70D337D11}"/>
              </a:ext>
            </a:extLst>
          </p:cNvPr>
          <p:cNvSpPr txBox="1"/>
          <p:nvPr/>
        </p:nvSpPr>
        <p:spPr>
          <a:xfrm>
            <a:off x="463061" y="816521"/>
            <a:ext cx="597583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[927.2,927.8,926.5,926.9,927.5,926.7]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EB747F-3123-30D4-CFA2-91B4ED706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285" y="1811338"/>
            <a:ext cx="6502082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71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/>
              <a:t>2 ps chirp on calcite - 260522</a:t>
            </a:r>
            <a:endParaRPr/>
          </a:p>
        </p:txBody>
      </p:sp>
      <p:graphicFrame>
        <p:nvGraphicFramePr>
          <p:cNvPr id="101" name="Google Shape;101;p3"/>
          <p:cNvGraphicFramePr/>
          <p:nvPr/>
        </p:nvGraphicFramePr>
        <p:xfrm>
          <a:off x="444305" y="812751"/>
          <a:ext cx="9785550" cy="1483400"/>
        </p:xfrm>
        <a:graphic>
          <a:graphicData uri="http://schemas.openxmlformats.org/drawingml/2006/table">
            <a:tbl>
              <a:tblPr firstRow="1" bandRow="1">
                <a:noFill/>
                <a:tableStyleId>{12120BA5-4784-4B65-B692-8A3A72857C31}</a:tableStyleId>
              </a:tblPr>
              <a:tblGrid>
                <a:gridCol w="326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POWER METER POSITION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Stokes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Pump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INPUT (software)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220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300 mW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OUTPUT Laser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510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510 mW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After sample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16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 mW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" name="Google Shape;102;p3"/>
          <p:cNvSpPr txBox="1"/>
          <p:nvPr/>
        </p:nvSpPr>
        <p:spPr>
          <a:xfrm>
            <a:off x="10654392" y="1115970"/>
            <a:ext cx="11737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SNR ~ 40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00231" y="2369046"/>
            <a:ext cx="475779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 = [927.2,927.7,928.1,928.6,928.9,929.5,929.8,930.4,926.8,926.3,925.9,925.5,932,932.9,935]</a:t>
            </a:r>
            <a:endParaRPr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868" y="3292376"/>
            <a:ext cx="3692274" cy="3416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0658" y="2536203"/>
            <a:ext cx="6405850" cy="4172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efdd0c05_0_13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</a:t>
            </a:r>
            <a:r>
              <a:rPr lang="fr-FR" dirty="0" err="1"/>
              <a:t>vatérite</a:t>
            </a:r>
            <a:r>
              <a:rPr lang="fr-FR" dirty="0"/>
              <a:t> - 260527 </a:t>
            </a:r>
            <a:endParaRPr dirty="0"/>
          </a:p>
        </p:txBody>
      </p:sp>
      <p:sp>
        <p:nvSpPr>
          <p:cNvPr id="146" name="Google Shape;146;g3e4efdd0c05_0_13"/>
          <p:cNvSpPr txBox="1"/>
          <p:nvPr/>
        </p:nvSpPr>
        <p:spPr>
          <a:xfrm>
            <a:off x="3120810" y="710900"/>
            <a:ext cx="8676909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[926.</a:t>
            </a:r>
            <a:r>
              <a:rPr lang="fr-FR" sz="1800" dirty="0">
                <a:solidFill>
                  <a:schemeClr val="dk1"/>
                </a:solidFill>
              </a:rPr>
              <a:t>7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,927.1,927.5,927.9,928.5,928.8,929.3,929.6,930,926.9,926.1,926.5,925.7,925,924.4]</a:t>
            </a:r>
            <a:endParaRPr dirty="0"/>
          </a:p>
        </p:txBody>
      </p:sp>
      <p:sp>
        <p:nvSpPr>
          <p:cNvPr id="147" name="Google Shape;147;g3e4efdd0c05_0_13"/>
          <p:cNvSpPr txBox="1"/>
          <p:nvPr/>
        </p:nvSpPr>
        <p:spPr>
          <a:xfrm>
            <a:off x="424121" y="757157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max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48" name="Google Shape;148;g3e4efdd0c05_0_13"/>
          <p:cNvSpPr txBox="1"/>
          <p:nvPr/>
        </p:nvSpPr>
        <p:spPr>
          <a:xfrm>
            <a:off x="1529938" y="4970855"/>
            <a:ext cx="123941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maybe</a:t>
            </a:r>
            <a:r>
              <a:rPr lang="fr-FR" sz="1800" dirty="0">
                <a:solidFill>
                  <a:schemeClr val="dk1"/>
                </a:solidFill>
              </a:rPr>
              <a:t> calcite</a:t>
            </a:r>
            <a:endParaRPr dirty="0"/>
          </a:p>
        </p:txBody>
      </p:sp>
      <p:pic>
        <p:nvPicPr>
          <p:cNvPr id="149" name="Google Shape;149;g3e4efdd0c05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04" y="5039051"/>
            <a:ext cx="1239412" cy="15936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g3e4efdd0c05_0_13"/>
          <p:cNvCxnSpPr>
            <a:cxnSpLocks/>
            <a:stCxn id="148" idx="1"/>
          </p:cNvCxnSpPr>
          <p:nvPr/>
        </p:nvCxnSpPr>
        <p:spPr>
          <a:xfrm flipH="1">
            <a:off x="829910" y="5294000"/>
            <a:ext cx="700028" cy="43365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2" name="Google Shape;152;g3e4efdd0c05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92" y="2331919"/>
            <a:ext cx="2348249" cy="25114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508DAB-F401-0942-4DCE-8AC79A16CAB6}"/>
              </a:ext>
            </a:extLst>
          </p:cNvPr>
          <p:cNvSpPr/>
          <p:nvPr/>
        </p:nvSpPr>
        <p:spPr>
          <a:xfrm>
            <a:off x="2354078" y="3523913"/>
            <a:ext cx="116572" cy="127474"/>
          </a:xfrm>
          <a:prstGeom prst="rect">
            <a:avLst/>
          </a:prstGeom>
          <a:noFill/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Google Shape;150;g3e4efdd0c05_0_13"/>
          <p:cNvCxnSpPr>
            <a:cxnSpLocks/>
            <a:stCxn id="152" idx="3"/>
          </p:cNvCxnSpPr>
          <p:nvPr/>
        </p:nvCxnSpPr>
        <p:spPr>
          <a:xfrm>
            <a:off x="2623741" y="3587650"/>
            <a:ext cx="782086" cy="472081"/>
          </a:xfrm>
          <a:prstGeom prst="straightConnector1">
            <a:avLst/>
          </a:prstGeom>
          <a:noFill/>
          <a:ln w="76200" cap="flat" cmpd="sng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51;g3e4efdd0c05_0_13">
            <a:extLst>
              <a:ext uri="{FF2B5EF4-FFF2-40B4-BE49-F238E27FC236}">
                <a16:creationId xmlns:a16="http://schemas.microsoft.com/office/drawing/2014/main" id="{01A9BC55-D98E-2C54-F24D-95D6A56BDDD5}"/>
              </a:ext>
            </a:extLst>
          </p:cNvPr>
          <p:cNvCxnSpPr>
            <a:cxnSpLocks/>
          </p:cNvCxnSpPr>
          <p:nvPr/>
        </p:nvCxnSpPr>
        <p:spPr>
          <a:xfrm flipH="1" flipV="1">
            <a:off x="1049141" y="3755837"/>
            <a:ext cx="577522" cy="1215018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6C10A57-71D2-32B5-30F3-695244E78BE2}"/>
              </a:ext>
            </a:extLst>
          </p:cNvPr>
          <p:cNvSpPr/>
          <p:nvPr/>
        </p:nvSpPr>
        <p:spPr>
          <a:xfrm>
            <a:off x="912669" y="3560167"/>
            <a:ext cx="256526" cy="141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4C3DC84C-8C95-4BBE-EE0D-76AACDAA6DB5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3748916" y="-150181"/>
            <a:ext cx="1002365" cy="6418332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848AC013-2C8E-C519-3337-85343FE57D97}"/>
              </a:ext>
            </a:extLst>
          </p:cNvPr>
          <p:cNvSpPr txBox="1"/>
          <p:nvPr/>
        </p:nvSpPr>
        <p:spPr>
          <a:xfrm>
            <a:off x="9626600" y="1307649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Calcite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7D42E0F-A086-ED72-B175-4FDDD11AC9DD}"/>
              </a:ext>
            </a:extLst>
          </p:cNvPr>
          <p:cNvSpPr txBox="1"/>
          <p:nvPr/>
        </p:nvSpPr>
        <p:spPr>
          <a:xfrm>
            <a:off x="5294632" y="3127264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Vatérite</a:t>
            </a:r>
            <a:endParaRPr lang="fr-FR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CFCBFD4-5526-8EB0-3F91-2F661C488F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450" y="1634300"/>
            <a:ext cx="4287749" cy="304361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B53B689-7469-E66F-D634-631167563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728" y="3476822"/>
            <a:ext cx="4266821" cy="3028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efdd0c05_0_0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</a:t>
            </a:r>
            <a:r>
              <a:rPr lang="fr-FR" dirty="0" err="1"/>
              <a:t>vatérite</a:t>
            </a:r>
            <a:r>
              <a:rPr lang="fr-FR" dirty="0"/>
              <a:t> - 260527 </a:t>
            </a:r>
            <a:endParaRPr dirty="0"/>
          </a:p>
        </p:txBody>
      </p:sp>
      <p:sp>
        <p:nvSpPr>
          <p:cNvPr id="132" name="Google Shape;132;g3e4efdd0c05_0_0"/>
          <p:cNvSpPr txBox="1"/>
          <p:nvPr/>
        </p:nvSpPr>
        <p:spPr>
          <a:xfrm>
            <a:off x="8250750" y="0"/>
            <a:ext cx="358467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[926.6,927.1,927.6,928,928.5,929,927.8,927.</a:t>
            </a:r>
            <a:r>
              <a:rPr lang="fr-FR" sz="1800" dirty="0">
                <a:solidFill>
                  <a:schemeClr val="dk1"/>
                </a:solidFill>
              </a:rPr>
              <a:t>4,926.8,926.2,925.8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33" name="Google Shape;133;g3e4efdd0c05_0_0"/>
          <p:cNvSpPr txBox="1"/>
          <p:nvPr/>
        </p:nvSpPr>
        <p:spPr>
          <a:xfrm>
            <a:off x="449725" y="718085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max (400 </a:t>
            </a:r>
            <a:r>
              <a:rPr lang="fr-FR" sz="1800" dirty="0" err="1">
                <a:solidFill>
                  <a:schemeClr val="dk1"/>
                </a:solidFill>
              </a:rPr>
              <a:t>pump</a:t>
            </a:r>
            <a:r>
              <a:rPr lang="fr-FR" sz="1800" dirty="0">
                <a:solidFill>
                  <a:schemeClr val="dk1"/>
                </a:solidFill>
              </a:rPr>
              <a:t>/370 stokes)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12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34" name="Google Shape;134;g3e4efdd0c0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67" y="2779327"/>
            <a:ext cx="2073802" cy="203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e4efdd0c05_0_0"/>
          <p:cNvSpPr txBox="1"/>
          <p:nvPr/>
        </p:nvSpPr>
        <p:spPr>
          <a:xfrm>
            <a:off x="4455325" y="976575"/>
            <a:ext cx="661810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Delay (</a:t>
            </a:r>
            <a:r>
              <a:rPr lang="fr-FR" sz="1800" dirty="0" err="1">
                <a:solidFill>
                  <a:schemeClr val="dk1"/>
                </a:solidFill>
              </a:rPr>
              <a:t>fs</a:t>
            </a:r>
            <a:r>
              <a:rPr lang="fr-FR" sz="1800" dirty="0">
                <a:solidFill>
                  <a:schemeClr val="dk1"/>
                </a:solidFill>
              </a:rPr>
              <a:t>) 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[</a:t>
            </a:r>
            <a:r>
              <a:rPr lang="fr-FR" sz="1800" dirty="0">
                <a:solidFill>
                  <a:schemeClr val="dk1"/>
                </a:solidFill>
              </a:rPr>
              <a:t>-5000,1000,8500,14000, 21000, 27000,10000, 5000 , -3000,-9000,-16500,-5000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~+6000 par 0.5 nm</a:t>
            </a:r>
            <a:endParaRPr dirty="0"/>
          </a:p>
        </p:txBody>
      </p:sp>
      <p:pic>
        <p:nvPicPr>
          <p:cNvPr id="137" name="Google Shape;137;g3e4efdd0c0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25" y="5165349"/>
            <a:ext cx="1397757" cy="156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e4efdd0c05_0_0"/>
          <p:cNvSpPr txBox="1"/>
          <p:nvPr/>
        </p:nvSpPr>
        <p:spPr>
          <a:xfrm>
            <a:off x="4455325" y="1621679"/>
            <a:ext cx="689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Commentaire : 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 dirty="0">
                <a:solidFill>
                  <a:schemeClr val="dk1"/>
                </a:solidFill>
              </a:rPr>
              <a:t>diminution du signal observer sur la ligne détection retard pour  928.5 puis 929 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8E843DC-C452-AE57-8741-77C0CBC00796}"/>
              </a:ext>
            </a:extLst>
          </p:cNvPr>
          <p:cNvSpPr txBox="1"/>
          <p:nvPr/>
        </p:nvSpPr>
        <p:spPr>
          <a:xfrm>
            <a:off x="205745" y="20164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Même endroit que précédemment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DE252B-045A-0F66-8D9F-55DB2BDBF9AD}"/>
              </a:ext>
            </a:extLst>
          </p:cNvPr>
          <p:cNvSpPr/>
          <p:nvPr/>
        </p:nvSpPr>
        <p:spPr>
          <a:xfrm>
            <a:off x="2076484" y="3838276"/>
            <a:ext cx="90487" cy="96155"/>
          </a:xfrm>
          <a:prstGeom prst="rect">
            <a:avLst/>
          </a:prstGeom>
          <a:noFill/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88E0E58-B7EC-DC1D-1D6B-68A4D7871DE7}"/>
              </a:ext>
            </a:extLst>
          </p:cNvPr>
          <p:cNvSpPr txBox="1"/>
          <p:nvPr/>
        </p:nvSpPr>
        <p:spPr>
          <a:xfrm>
            <a:off x="4897815" y="3707776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Vatérite</a:t>
            </a:r>
            <a:endParaRPr lang="fr-FR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8C5F91-5754-18DB-886F-A6B0766148DA}"/>
              </a:ext>
            </a:extLst>
          </p:cNvPr>
          <p:cNvSpPr/>
          <p:nvPr/>
        </p:nvSpPr>
        <p:spPr>
          <a:xfrm>
            <a:off x="888267" y="3753056"/>
            <a:ext cx="211907" cy="1903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149D8C9D-E20E-9213-27A9-B3AE04A25E91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3495008" y="423195"/>
            <a:ext cx="829074" cy="5830649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526491F5-FBEF-BBA5-51C9-7D8D8BA9E7C5}"/>
              </a:ext>
            </a:extLst>
          </p:cNvPr>
          <p:cNvSpPr txBox="1"/>
          <p:nvPr/>
        </p:nvSpPr>
        <p:spPr>
          <a:xfrm>
            <a:off x="9112032" y="2237302"/>
            <a:ext cx="7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Calcite</a:t>
            </a:r>
          </a:p>
        </p:txBody>
      </p:sp>
      <p:cxnSp>
        <p:nvCxnSpPr>
          <p:cNvPr id="5" name="Google Shape;150;g3e4efdd0c05_0_13">
            <a:extLst>
              <a:ext uri="{FF2B5EF4-FFF2-40B4-BE49-F238E27FC236}">
                <a16:creationId xmlns:a16="http://schemas.microsoft.com/office/drawing/2014/main" id="{1E740191-4869-0182-995C-58CA228D682D}"/>
              </a:ext>
            </a:extLst>
          </p:cNvPr>
          <p:cNvCxnSpPr>
            <a:cxnSpLocks/>
          </p:cNvCxnSpPr>
          <p:nvPr/>
        </p:nvCxnSpPr>
        <p:spPr>
          <a:xfrm>
            <a:off x="2166971" y="3943413"/>
            <a:ext cx="1195394" cy="535822"/>
          </a:xfrm>
          <a:prstGeom prst="straightConnector1">
            <a:avLst/>
          </a:prstGeom>
          <a:noFill/>
          <a:ln w="76200" cap="flat" cmpd="sng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2762210D-E608-A5C1-E35F-D08B4BC41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006" y="2591561"/>
            <a:ext cx="4675419" cy="313926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BDD0AD69-DC18-3680-8D88-69BCF591B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482" y="4161192"/>
            <a:ext cx="3676174" cy="2609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/>
              <a:t>2 ps chirp on ACC- 260527 </a:t>
            </a:r>
            <a:endParaRPr/>
          </a:p>
        </p:txBody>
      </p:sp>
      <p:sp>
        <p:nvSpPr>
          <p:cNvPr id="158" name="Google Shape;158;g3e4efdd0c05_0_27"/>
          <p:cNvSpPr txBox="1"/>
          <p:nvPr/>
        </p:nvSpPr>
        <p:spPr>
          <a:xfrm>
            <a:off x="4653850" y="895550"/>
            <a:ext cx="689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</a:t>
            </a:r>
            <a:r>
              <a:rPr lang="fr-FR" sz="1800" dirty="0">
                <a:solidFill>
                  <a:schemeClr val="dk1"/>
                </a:solidFill>
              </a:rPr>
              <a:t>8.1,928.5,928.8,929.4,929.7,930.3,931.1,932,927.8,927.5,927,926.7,926,925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59" name="Google Shape;159;g3e4efdd0c05_0_27"/>
          <p:cNvSpPr txBox="1"/>
          <p:nvPr/>
        </p:nvSpPr>
        <p:spPr>
          <a:xfrm>
            <a:off x="449725" y="895550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Power 250²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Nb points 125²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PixelRep 100 NbACC 5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scan range 50 µm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62" name="Google Shape;162;g3e4efdd0c05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26" y="2373050"/>
            <a:ext cx="2789864" cy="211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e4efdd0c05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4" y="4680176"/>
            <a:ext cx="2305308" cy="207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A72E5DC-70FB-81F3-445A-3EA6C9F46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849" y="2373050"/>
            <a:ext cx="5021991" cy="37664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49E6B89E-2700-3B57-E430-8B71EF3F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35FEDC73-871A-232F-35FD-C4D283BB2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ACC- 260528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F50A88E9-B9E4-8F5B-9C66-4F3B9471736A}"/>
              </a:ext>
            </a:extLst>
          </p:cNvPr>
          <p:cNvSpPr txBox="1"/>
          <p:nvPr/>
        </p:nvSpPr>
        <p:spPr>
          <a:xfrm>
            <a:off x="4653850" y="895550"/>
            <a:ext cx="6895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</a:t>
            </a:r>
            <a:r>
              <a:rPr lang="fr-FR" sz="1800" dirty="0">
                <a:solidFill>
                  <a:schemeClr val="dk1"/>
                </a:solidFill>
              </a:rPr>
              <a:t>8.4,928.8,929.1,929.6,929.9,930.3,930.8,931.2,931.4,932,928,927.6,927.3,926.7,926,925.5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F7CF1DBA-95A2-6BA0-C0E0-261B71F59C4F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FB51245-3341-76B3-2183-4D900BEA6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4339390"/>
            <a:ext cx="2457599" cy="248153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64B6C08-11FE-568A-2ACE-50941C427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98" y="2012544"/>
            <a:ext cx="2420825" cy="216087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AAF948C-F436-5962-CEEA-CFB2CB79EC56}"/>
              </a:ext>
            </a:extLst>
          </p:cNvPr>
          <p:cNvSpPr txBox="1"/>
          <p:nvPr/>
        </p:nvSpPr>
        <p:spPr>
          <a:xfrm>
            <a:off x="3147060" y="6339840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Calcite ? 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3A988C6-2E43-A99A-0B5A-18006A476FB0}"/>
              </a:ext>
            </a:extLst>
          </p:cNvPr>
          <p:cNvCxnSpPr>
            <a:stCxn id="7" idx="1"/>
          </p:cNvCxnSpPr>
          <p:nvPr/>
        </p:nvCxnSpPr>
        <p:spPr>
          <a:xfrm flipH="1">
            <a:off x="1760220" y="6493729"/>
            <a:ext cx="1386840" cy="1356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02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716BB529-550C-CD6B-EF45-6FA2176B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3A8D1F68-8C6E-200E-1832-CACF43D13C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ACC- 260529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72FFB7C4-12A4-C5C0-43D2-D98A5229C275}"/>
              </a:ext>
            </a:extLst>
          </p:cNvPr>
          <p:cNvSpPr txBox="1"/>
          <p:nvPr/>
        </p:nvSpPr>
        <p:spPr>
          <a:xfrm>
            <a:off x="4653850" y="895550"/>
            <a:ext cx="68958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</a:t>
            </a:r>
            <a:r>
              <a:rPr lang="fr-FR" sz="1800" dirty="0">
                <a:solidFill>
                  <a:schemeClr val="dk1"/>
                </a:solidFill>
              </a:rPr>
              <a:t>8.7,928.1,927.8,927.4,927,926.7,925.8,926.4,925.4,924.9,924.6,923.9,928.4,929.1,929.5,929.9,930.2,930.6,931.1,931.5,931.9,932.1,932.3,932.9,933.3,923.6,922.9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A2A0F33B-D6AC-1E4A-7C31-3DAB1EE2DB4C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BC9113-4458-1622-2D2C-B9333DCFB583}"/>
              </a:ext>
            </a:extLst>
          </p:cNvPr>
          <p:cNvSpPr txBox="1"/>
          <p:nvPr/>
        </p:nvSpPr>
        <p:spPr>
          <a:xfrm>
            <a:off x="3147060" y="6339840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928.4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82EA9F1-9094-9370-5584-40CF61B8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37" y="1897758"/>
            <a:ext cx="2744223" cy="234586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B1CD3F5-5DCC-8161-0D97-7536663BE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35" y="4243626"/>
            <a:ext cx="2503026" cy="25397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875BBE0-39B7-9226-A3E6-13B9E173B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049" y="3174903"/>
            <a:ext cx="3891601" cy="25551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7AF2D70-B3DE-D6D0-25A4-EBC000EF3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750" y="3174903"/>
            <a:ext cx="3905609" cy="255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1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3B6B2B28-36C0-B306-7222-D0B1098C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A75B0F01-8811-E29D-685E-3AAA593704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ACC- 260602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82F0CCE9-72AC-863E-224E-8A3C0C8E30B8}"/>
              </a:ext>
            </a:extLst>
          </p:cNvPr>
          <p:cNvSpPr txBox="1"/>
          <p:nvPr/>
        </p:nvSpPr>
        <p:spPr>
          <a:xfrm>
            <a:off x="4050792" y="895550"/>
            <a:ext cx="7498858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929.1,928.8,928.4,927.9,927.5,927.2,926.7,926.4,926,925.6,925.2,924.5,923.9,923,926.8,928.6,929.4,929.7,930.2,931.1,932.1,932.9,934.2,934.9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Remarque : diminution du signal au détecteur sur les dernières mesures (2/3?)</a:t>
            </a:r>
            <a:endParaRPr dirty="0"/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796EAA5B-8935-1760-17AA-0DAE4E601371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 OPO,300 Signal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DB7815-03E2-8833-C52D-C1A35BCF8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458184"/>
            <a:ext cx="3034258" cy="31529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C9D467E-F5E0-37AD-396F-61C07F1CF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819" y="2649836"/>
            <a:ext cx="3099426" cy="313980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4F3BD44-A300-5F27-6F03-B3DCBBE749CC}"/>
              </a:ext>
            </a:extLst>
          </p:cNvPr>
          <p:cNvSpPr txBox="1"/>
          <p:nvPr/>
        </p:nvSpPr>
        <p:spPr>
          <a:xfrm>
            <a:off x="5349157" y="2304295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927.2 - calcite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14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B704E24B-6A9B-3192-50B5-CA895106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5D947FEC-C022-0FE2-3ED4-6A3C1E3B1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ACC- 260602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8A5A0247-DDE6-93A0-9852-EDB9FB0F35A6}"/>
              </a:ext>
            </a:extLst>
          </p:cNvPr>
          <p:cNvSpPr txBox="1"/>
          <p:nvPr/>
        </p:nvSpPr>
        <p:spPr>
          <a:xfrm>
            <a:off x="4050792" y="895550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929.2,928.8,928.3,927.8,927.5,927.1,926.7,926.3,925.9,925.5,924.9,923.9,923,924.5,929.1,929.4,929.7,930.4,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A9A8BF94-7A6B-2A77-DD70-6CE3D06750B2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6BEA65-832C-8F66-3782-CEB640EBE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458184"/>
            <a:ext cx="3034258" cy="31529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2194AA4-079B-6A80-E75E-5453D5148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062" y="2461636"/>
            <a:ext cx="3099426" cy="313980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4A9B76C-49FB-2D42-7E72-C051AC8ED721}"/>
              </a:ext>
            </a:extLst>
          </p:cNvPr>
          <p:cNvSpPr txBox="1"/>
          <p:nvPr/>
        </p:nvSpPr>
        <p:spPr>
          <a:xfrm>
            <a:off x="5161876" y="5627908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923.9 – CCHH ?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3CBF212-8D88-4F12-66B4-1FCC29AE2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010" y="2448528"/>
            <a:ext cx="3127530" cy="31529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C53B284-12B0-C770-933C-F1C8F6073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740" y="2448528"/>
            <a:ext cx="3127612" cy="31529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BF6D126-13A4-F97F-EF03-F48AC1F9D3FD}"/>
              </a:ext>
            </a:extLst>
          </p:cNvPr>
          <p:cNvSpPr txBox="1"/>
          <p:nvPr/>
        </p:nvSpPr>
        <p:spPr>
          <a:xfrm>
            <a:off x="9006382" y="5601444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 – ACC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8698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33842C2-47DC-469B-7028-C45F3F1B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4320B729-864C-1EEE-5CA6-8090008254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82E63A12-6D52-7DA5-D6D3-DC09117B27AF}"/>
              </a:ext>
            </a:extLst>
          </p:cNvPr>
          <p:cNvSpPr txBox="1"/>
          <p:nvPr/>
        </p:nvSpPr>
        <p:spPr>
          <a:xfrm>
            <a:off x="4050792" y="895550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927.2,927.6,928,928.3,928.7,929.3,929.7,930.2,931,929.2,927,926.5,925.9,925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CE9E7C6C-5B3C-9069-DC45-29328D1EE1DC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4F6DEA-0A3E-F548-B3CD-8D2DE064D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458184"/>
            <a:ext cx="3034258" cy="315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2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2EE4B13D-E2E7-8C93-AFC3-E4AFF580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8FBD523F-FE7C-DE7B-6282-1B986C5B5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1FCAA26B-0D3B-10A4-E871-07DC071BD384}"/>
              </a:ext>
            </a:extLst>
          </p:cNvPr>
          <p:cNvSpPr txBox="1"/>
          <p:nvPr/>
        </p:nvSpPr>
        <p:spPr>
          <a:xfrm>
            <a:off x="3987249" y="957539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929.1,929.4,929.9,930.3,930.5,931,931.2,931.5,931.9,932.4,933.2,928.7,928.1,927.7,927.4,926.8,926.6,926.3,925.8,928.4]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57CE29C4-D710-8F4F-20BE-5E99294EECB4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A751F34-3988-7A7A-2203-276F2C7FE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3313"/>
            <a:ext cx="3123387" cy="291043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2F54591-8F48-6615-69FD-FA03500A7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35" y="2645900"/>
            <a:ext cx="3833113" cy="352525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2C45418-CD38-CEF6-CD8B-A2EB40AB1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418" y="2992768"/>
            <a:ext cx="4309373" cy="283151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19C9B73-C43F-91F5-AF51-BD3F6447C6E7}"/>
              </a:ext>
            </a:extLst>
          </p:cNvPr>
          <p:cNvSpPr txBox="1"/>
          <p:nvPr/>
        </p:nvSpPr>
        <p:spPr>
          <a:xfrm>
            <a:off x="6096000" y="1904614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ACC zone</a:t>
            </a:r>
          </a:p>
        </p:txBody>
      </p:sp>
    </p:spTree>
    <p:extLst>
      <p:ext uri="{BB962C8B-B14F-4D97-AF65-F5344CB8AC3E}">
        <p14:creationId xmlns:p14="http://schemas.microsoft.com/office/powerpoint/2010/main" val="912106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9E0880BF-A1D2-E4C7-CFC5-5461BBA6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A6A1F5C4-ADBE-D257-9A52-1CA39793C8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97D87E74-AB10-40DB-CC32-00776BDC2544}"/>
              </a:ext>
            </a:extLst>
          </p:cNvPr>
          <p:cNvSpPr txBox="1"/>
          <p:nvPr/>
        </p:nvSpPr>
        <p:spPr>
          <a:xfrm>
            <a:off x="3987249" y="957539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929.1,929.4,929.9,930.3,930.5,931,931.2,931.5,931.9,932.4,933.2,928.7,928.1,927.7,927.4,926.8,926.6,926.3,925.8,928.4]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05A4B74-7ABC-E225-6650-E9690708576E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28A8688-79D0-6E30-012C-F1DB70889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3313"/>
            <a:ext cx="3123387" cy="29104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84D247A-1001-B36A-B088-E440AD54C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620" y="2782358"/>
            <a:ext cx="3511432" cy="32969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E11A3C2-EBE5-83FE-4410-425EB07A4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021882"/>
            <a:ext cx="4664684" cy="30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76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DB78521-BAA3-8973-B5F5-6E9EB995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751EEFF0-4ABA-ECD7-462F-78BA9D7D0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E605294E-CFAE-1271-3B2C-8CB4BE44EB92}"/>
              </a:ext>
            </a:extLst>
          </p:cNvPr>
          <p:cNvSpPr txBox="1"/>
          <p:nvPr/>
        </p:nvSpPr>
        <p:spPr>
          <a:xfrm>
            <a:off x="3987249" y="745354"/>
            <a:ext cx="749885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929,929.7,930,929.4,927,927.5,927.9,928.3,928.6,929.4,927.2,926.6,</a:t>
            </a:r>
            <a:r>
              <a:rPr lang="fr-FR" sz="1800" b="1">
                <a:solidFill>
                  <a:schemeClr val="dk1"/>
                </a:solidFill>
              </a:rPr>
              <a:t>926.4</a:t>
            </a:r>
            <a:r>
              <a:rPr lang="fr-FR" sz="1800">
                <a:solidFill>
                  <a:schemeClr val="dk1"/>
                </a:solidFill>
              </a:rPr>
              <a:t>,926,924.9]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fr-FR" sz="1800" dirty="0" err="1">
                <a:solidFill>
                  <a:schemeClr val="dk1"/>
                </a:solidFill>
              </a:rPr>
              <a:t>Rq</a:t>
            </a:r>
            <a:r>
              <a:rPr lang="fr-FR" sz="1800" dirty="0">
                <a:solidFill>
                  <a:schemeClr val="dk1"/>
                </a:solidFill>
              </a:rPr>
              <a:t> : en gras, PMT allumé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32C7CF18-A6A5-FF50-EA39-7AA807AAEBBB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350,300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0621150-E4C2-D73C-65A3-93A7BD851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667926"/>
            <a:ext cx="3123387" cy="291043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83E73AA-9E63-8021-6C7D-B212FF316C0B}"/>
              </a:ext>
            </a:extLst>
          </p:cNvPr>
          <p:cNvSpPr txBox="1"/>
          <p:nvPr/>
        </p:nvSpPr>
        <p:spPr>
          <a:xfrm>
            <a:off x="6096000" y="1904614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ACC zone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5F62CAC-3191-4D74-1C4B-135CAFE93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075" y="2592095"/>
            <a:ext cx="3373082" cy="298626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EB53AE8-275F-6F53-16B7-69217851E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155" y="2550945"/>
            <a:ext cx="4592709" cy="297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78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78CCB32D-CE73-C897-F541-A64CADC7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656A89BF-B052-2FD3-383B-8435564A6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C5F99707-8D8C-FAE2-4B22-CB34F8CF49DE}"/>
              </a:ext>
            </a:extLst>
          </p:cNvPr>
          <p:cNvSpPr txBox="1"/>
          <p:nvPr/>
        </p:nvSpPr>
        <p:spPr>
          <a:xfrm>
            <a:off x="3987249" y="745354"/>
            <a:ext cx="749885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929,929.7,930,929.4,927,927.5,927.9,928.3,928.6,929.4,927.2,926.6,</a:t>
            </a:r>
            <a:r>
              <a:rPr lang="fr-FR" sz="1800" b="1">
                <a:solidFill>
                  <a:schemeClr val="dk1"/>
                </a:solidFill>
              </a:rPr>
              <a:t>926.4</a:t>
            </a:r>
            <a:r>
              <a:rPr lang="fr-FR" sz="1800">
                <a:solidFill>
                  <a:schemeClr val="dk1"/>
                </a:solidFill>
              </a:rPr>
              <a:t>,926,924.9]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fr-FR" sz="1800" dirty="0" err="1">
                <a:solidFill>
                  <a:schemeClr val="dk1"/>
                </a:solidFill>
              </a:rPr>
              <a:t>Rq</a:t>
            </a:r>
            <a:r>
              <a:rPr lang="fr-FR" sz="1800" dirty="0">
                <a:solidFill>
                  <a:schemeClr val="dk1"/>
                </a:solidFill>
              </a:rPr>
              <a:t> : en gras, PMT allumé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74199A9B-0850-AAC7-E107-89868F76D72B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350,300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F227FFE-563E-6437-930D-81B152B52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667926"/>
            <a:ext cx="3123387" cy="29104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971B01-B09C-3CC7-92EB-D24D12CFA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190" y="2550945"/>
            <a:ext cx="3464185" cy="317235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E70CFFD-2A02-5BFC-8EEE-EDA184365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947" y="2776925"/>
            <a:ext cx="1143160" cy="48584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E549F69-B365-B557-88FD-D2D03EDA84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639" y="2667926"/>
            <a:ext cx="4391637" cy="284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22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C600147-A9B1-1FD0-D293-901EE5D8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D06F36A1-2785-AA08-D26B-97002F0B8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ACC- 260623 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106BD523-5253-1C59-5156-539822BD2388}"/>
              </a:ext>
            </a:extLst>
          </p:cNvPr>
          <p:cNvSpPr txBox="1"/>
          <p:nvPr/>
        </p:nvSpPr>
        <p:spPr>
          <a:xfrm>
            <a:off x="3987249" y="745354"/>
            <a:ext cx="749885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928.5,928.8,929.2,929.6,930,928.3,928,927.6,927.2,926.9,926.6,927.5]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34AE9B29-12C5-E190-8497-1C14BC375FA7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300,300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D31FAD-45E4-81B5-47D2-6678C3E9C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2" y="2222854"/>
            <a:ext cx="4005600" cy="421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8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D08D850-D579-B01A-5959-0B71084F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E8B45188-ADFC-72DD-430F-C2AE015D5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ACC- 260623 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12530F4E-E83E-FDB6-2F0C-F66A552811ED}"/>
              </a:ext>
            </a:extLst>
          </p:cNvPr>
          <p:cNvSpPr txBox="1"/>
          <p:nvPr/>
        </p:nvSpPr>
        <p:spPr>
          <a:xfrm>
            <a:off x="3987249" y="745354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928.9,928.6,928.3,928,927.6,927.2,926.8,926.5,925.9,925,924,929.3,929.7,930,930.4,931.1,]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450639B-41EC-1CFA-42C2-70D23D89E1E1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4F0A255-BFF2-4541-EC65-0A95AED5B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2" y="2222854"/>
            <a:ext cx="4005600" cy="421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35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D40F5414-1057-B71D-8D4E-E7C38EEB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36BA8814-1EAA-CEAA-0DE5-543130C22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ACC- 260624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D612CC2A-8F3E-11FC-10D7-A1440336F155}"/>
              </a:ext>
            </a:extLst>
          </p:cNvPr>
          <p:cNvSpPr txBox="1"/>
          <p:nvPr/>
        </p:nvSpPr>
        <p:spPr>
          <a:xfrm>
            <a:off x="3987248" y="745354"/>
            <a:ext cx="779601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928.6,928.2,927.8,927.4,926.9,926.6,926.3,925.8,925,923.9,923,929.1,929.5,929.9,930.5,930.8,931.1,931.3,931.7,932.1,932.4,933,934]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50BE102-71D5-6115-5D8A-8B1DA8C88F29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69C7F0E1-1175-6FD7-96F0-CEEA618AB355}"/>
              </a:ext>
            </a:extLst>
          </p:cNvPr>
          <p:cNvSpPr txBox="1"/>
          <p:nvPr/>
        </p:nvSpPr>
        <p:spPr>
          <a:xfrm>
            <a:off x="4284401" y="1701033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15C99AB-3ADF-06B3-D403-6E7C63571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76" y="1885679"/>
            <a:ext cx="2307462" cy="221732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4D10F5C-0CD1-B75C-4271-07179B12F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77" y="4523230"/>
            <a:ext cx="2307462" cy="231862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BECAC69-FCAD-C42C-4E0B-6754C015A36B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62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CA1BCE06-F71F-5A9A-7BFD-8B72204D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D93F194C-FD71-295A-3150-13716E74B3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ACC- 260624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9A1561ED-7DF4-47DD-B275-8C1EA5B8059B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=[929.4,928.6,928.3,927.8,927.4,926.9,926.6,926.1,925.5,929.2,929.7,930.2,928.9]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D01FC3B4-B4E7-BCAD-84C7-9BCECD487BE3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120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42F2BE90-0D4A-732F-5174-A250A506CFC7}"/>
              </a:ext>
            </a:extLst>
          </p:cNvPr>
          <p:cNvSpPr txBox="1"/>
          <p:nvPr/>
        </p:nvSpPr>
        <p:spPr>
          <a:xfrm>
            <a:off x="4284401" y="1701033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361A44-DE20-A8D2-1F69-ABE35847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64" y="1878064"/>
            <a:ext cx="260068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76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DFE0A1A-05C6-E727-F84F-4575CE67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C0649E30-7C16-4DA0-4699-0C3459E60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B1CE53B6-DE49-B540-1687-424AD4A6B8EA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E766690E-8D52-18FE-57D2-DFE0649C8020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556D1020-BD28-B0BE-95E7-62FE3C680BA8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1F65AC-FB52-C1D2-E1CA-58B8AB50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294" y="2071054"/>
            <a:ext cx="8864695" cy="44549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D096808-1E74-F837-C39D-43E47EABD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04" y="4713837"/>
            <a:ext cx="2078510" cy="173855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12A61DE-7C92-9E3C-3075-EDC93EE459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395" r="21303"/>
          <a:stretch>
            <a:fillRect/>
          </a:stretch>
        </p:blipFill>
        <p:spPr>
          <a:xfrm>
            <a:off x="5664115" y="2071054"/>
            <a:ext cx="2963895" cy="231862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3A2DE69-6FA2-6124-7095-F60B4F3E6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H="1">
            <a:off x="152572" y="1996381"/>
            <a:ext cx="2265722" cy="230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82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2531FB43-7695-9560-179A-769D4F27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BC5B31B3-7EAF-8844-7B49-39B88EA771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A6A6B72A-9443-27BD-A5A5-B7A00FBB84EE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F5A6D05-EDE1-8F62-9F07-C05182985D24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83A1734A-EA58-2382-E45B-3EBEBF98CF87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B75414-2CA3-CB66-810D-B9C3D7021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81" y="2320513"/>
            <a:ext cx="4796411" cy="423767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A33361F-3AA4-0B77-2D80-57DF7F31E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420" y="2570936"/>
            <a:ext cx="5889839" cy="37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69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9FDC570D-EC42-05B4-25BF-E06FF3E9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9672136C-2DBF-CBF5-1B79-F717D54966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BE7AB3D0-405F-D5EC-AB4D-8AD357FEBBD4}"/>
              </a:ext>
            </a:extLst>
          </p:cNvPr>
          <p:cNvSpPr txBox="1"/>
          <p:nvPr/>
        </p:nvSpPr>
        <p:spPr>
          <a:xfrm>
            <a:off x="3987247" y="769440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929.1,928.7,928.5,928.1,927.7,927.4,926.7,926.4,926,929.5,930,927.1]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7BA42020-F0B3-15B1-FB0D-716D28811A78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C50F590D-FD17-D02B-3435-6BD3CFB2ADA7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DCF3D5D-84AB-11B2-0155-6260CABA544E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65FDB1-3973-D63B-84D1-E272B310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60918" y="2004339"/>
            <a:ext cx="2281922" cy="22097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51A1FF5-072B-9B38-502A-06BA645F3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18" y="4499126"/>
            <a:ext cx="2281922" cy="23227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73FD452-F724-D4D4-65FF-C6C01B456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863" y="2563065"/>
            <a:ext cx="4025046" cy="357736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6417B95-6973-22A3-AE64-D7FBAAD8C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636" y="2800244"/>
            <a:ext cx="4461816" cy="29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59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C5265158-4B92-7260-E8EB-BBE9ABB2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B333C369-B8CD-CD37-BC33-E685AD7ADD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A0E9B12A-361F-6CE7-A20D-FF9BBE183D39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2BDB601B-D1DA-FEE1-AF41-1E4F9FC90D6A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60D9D27C-A95B-F329-8246-E235E75CD0EA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95927CF-5067-A477-4402-89DC25658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74" y="2320513"/>
            <a:ext cx="4602725" cy="390433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5E9344F-EC00-87C4-29A6-4A45F6E82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604" y="2370456"/>
            <a:ext cx="5810078" cy="37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68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B00B453-6DD5-0995-B3D6-CF3CE2D8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63F542C9-FA85-5E61-5324-13E6A9DC60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FBF4EE81-571F-C3A6-516C-E31A73B619CC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5BB7DD0B-4E4B-19DF-44B4-D02EE74D5294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7D5D016A-CB73-F2B3-1A42-6C657BBA294B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5B4863-9B59-EDB7-6D61-317179DFF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84" y="2222854"/>
            <a:ext cx="4461173" cy="40116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CA57CBA-646C-2A3F-D208-6F623572F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885" y="2144164"/>
            <a:ext cx="6257374" cy="401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6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1B35573-3F7E-8482-DE3C-5092F7F9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0C14D0B3-1358-14C9-22F9-15025C35EE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B95A1E9A-E35D-CC43-D6D1-3252111B3041}"/>
              </a:ext>
            </a:extLst>
          </p:cNvPr>
          <p:cNvSpPr txBox="1"/>
          <p:nvPr/>
        </p:nvSpPr>
        <p:spPr>
          <a:xfrm>
            <a:off x="3987247" y="769440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929.1,928.7,928.5,928.1,927.7,927.4,926.7,926.4,926,929.5,930,927.1]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36BC25FF-D172-81DB-F000-940E8BC1A5AC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EB137745-35AA-45BC-1D31-FFA3E61898CF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0DE7383-7220-07A6-20AA-5B609C8859FE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F58B658-849F-70C8-25B7-BC5DF7A2B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60918" y="2004339"/>
            <a:ext cx="2281922" cy="22097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A8BA293-C81C-B0AB-2205-856F7D6D2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18" y="4499126"/>
            <a:ext cx="2281922" cy="232273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1E4DB24-79EF-B4B9-75AC-4F37340B9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5405" y="1772303"/>
            <a:ext cx="7252227" cy="48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77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5A9AEF83-D88B-9F18-FA89-3762A59E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8CA7BE7B-9501-3BBD-75C4-716258BF6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7055FC6A-4480-5412-EDD2-A8113C45578F}"/>
              </a:ext>
            </a:extLst>
          </p:cNvPr>
          <p:cNvSpPr txBox="1"/>
          <p:nvPr/>
        </p:nvSpPr>
        <p:spPr>
          <a:xfrm>
            <a:off x="3987247" y="769440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929.1,928.7,928.5,928.1,927.7,927.4,926.7,926.4,926,929.5,930,927.1]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59D4CF19-2197-F699-6565-382175DFE211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92BE615E-D6F3-0375-D24D-F6A33D4E63E4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DA867F8-9374-3EB8-AAB0-8FD67F41399C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5BBD6E-0DCF-FC3B-521F-557D09C42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60918" y="2004339"/>
            <a:ext cx="2281922" cy="22097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E539CE1-4EBE-1D0E-5922-8AFF04735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18" y="4499126"/>
            <a:ext cx="2281922" cy="232273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5E86B7C-A113-096A-1A90-8FD37863D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403" y="2781322"/>
            <a:ext cx="3785777" cy="34838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D53A4F2-E94A-708F-D382-A36A96681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560" y="3002079"/>
            <a:ext cx="4660440" cy="304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67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BDE362-1DF1-6CF4-866B-F16B51D5D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8DCB00F-C597-6197-F13C-7AF665E7E5EE}"/>
              </a:ext>
            </a:extLst>
          </p:cNvPr>
          <p:cNvSpPr txBox="1"/>
          <p:nvPr/>
        </p:nvSpPr>
        <p:spPr>
          <a:xfrm>
            <a:off x="231266" y="488394"/>
            <a:ext cx="8093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=4.068975e+01; </a:t>
            </a:r>
            <a:r>
              <a:rPr lang="fr-FR" dirty="0" err="1"/>
              <a:t>y_bg</a:t>
            </a:r>
            <a:r>
              <a:rPr lang="fr-FR" dirty="0"/>
              <a:t>=5.070873e+01; </a:t>
            </a:r>
            <a:r>
              <a:rPr lang="fr-FR" dirty="0" err="1"/>
              <a:t>width_bg</a:t>
            </a:r>
            <a:r>
              <a:rPr lang="fr-FR" dirty="0"/>
              <a:t>=3.870968e+00; </a:t>
            </a:r>
            <a:r>
              <a:rPr lang="fr-FR" dirty="0" err="1"/>
              <a:t>height_bg</a:t>
            </a:r>
            <a:r>
              <a:rPr lang="fr-FR" dirty="0"/>
              <a:t>=4.554080e+00;</a:t>
            </a:r>
          </a:p>
          <a:p>
            <a:r>
              <a:rPr lang="fr-FR" dirty="0" err="1"/>
              <a:t>x_sig</a:t>
            </a:r>
            <a:r>
              <a:rPr lang="fr-FR" dirty="0"/>
              <a:t>=4.478843e+01; </a:t>
            </a:r>
            <a:r>
              <a:rPr lang="fr-FR" dirty="0" err="1"/>
              <a:t>y_sig</a:t>
            </a:r>
            <a:r>
              <a:rPr lang="fr-FR" dirty="0"/>
              <a:t>=1.752372e+00; </a:t>
            </a:r>
            <a:r>
              <a:rPr lang="fr-FR" dirty="0" err="1"/>
              <a:t>width_sig</a:t>
            </a:r>
            <a:r>
              <a:rPr lang="fr-FR" dirty="0"/>
              <a:t>=6.011385e+01; </a:t>
            </a:r>
            <a:r>
              <a:rPr lang="fr-FR" dirty="0" err="1"/>
              <a:t>height_sig</a:t>
            </a:r>
            <a:r>
              <a:rPr lang="fr-FR" dirty="0"/>
              <a:t>=2.823529e+01;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F904A52-4D6B-B6AA-78C7-9D6D5B7DF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812" y="3788089"/>
            <a:ext cx="4715949" cy="306991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A35F4DA-87F6-F911-929A-AD5A4FC27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182" y="1099673"/>
            <a:ext cx="2795100" cy="248613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9C1C049-5E18-6F2E-999C-B3BCD5232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291" y="1099674"/>
            <a:ext cx="2795101" cy="246071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0626A50-384E-498A-0119-A13F76080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3788088"/>
            <a:ext cx="4715949" cy="309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77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98DB-2639-182E-1138-D23D1DD8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A939B9-DED9-2E2E-A297-DE432EBB8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813774-2CDD-9859-3D25-78ADF626AFE2}"/>
              </a:ext>
            </a:extLst>
          </p:cNvPr>
          <p:cNvSpPr txBox="1"/>
          <p:nvPr/>
        </p:nvSpPr>
        <p:spPr>
          <a:xfrm>
            <a:off x="847224" y="475314"/>
            <a:ext cx="80933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=2.953226e+01; </a:t>
            </a:r>
            <a:r>
              <a:rPr lang="fr-FR" dirty="0" err="1"/>
              <a:t>y_bg</a:t>
            </a:r>
            <a:r>
              <a:rPr lang="fr-FR" dirty="0"/>
              <a:t>=2.748292e+01; </a:t>
            </a:r>
            <a:r>
              <a:rPr lang="fr-FR" dirty="0" err="1"/>
              <a:t>width_bg</a:t>
            </a:r>
            <a:r>
              <a:rPr lang="fr-FR" dirty="0"/>
              <a:t>=4.098672e+00; </a:t>
            </a:r>
            <a:r>
              <a:rPr lang="fr-FR" dirty="0" err="1"/>
              <a:t>height_bg</a:t>
            </a:r>
            <a:r>
              <a:rPr lang="fr-FR" dirty="0"/>
              <a:t>=4.554080e+00;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=7.962713e+01; </a:t>
            </a:r>
            <a:r>
              <a:rPr lang="fr-FR" dirty="0" err="1"/>
              <a:t>y_sig</a:t>
            </a:r>
            <a:r>
              <a:rPr lang="fr-FR" dirty="0"/>
              <a:t>=2.429507e+01; </a:t>
            </a:r>
            <a:r>
              <a:rPr lang="fr-FR" dirty="0" err="1"/>
              <a:t>width_sig</a:t>
            </a:r>
            <a:r>
              <a:rPr lang="fr-FR" dirty="0"/>
              <a:t>=2.003795e+01; </a:t>
            </a:r>
            <a:r>
              <a:rPr lang="fr-FR" dirty="0" err="1"/>
              <a:t>height_sig</a:t>
            </a:r>
            <a:r>
              <a:rPr lang="fr-FR" dirty="0"/>
              <a:t>=1.275142e+01;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386E663-3344-0B68-468E-F9621CBC2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4" y="3777094"/>
            <a:ext cx="4715949" cy="308090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EF1365A-08B1-6FB1-AAC7-92E154005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372" y="1099673"/>
            <a:ext cx="2897651" cy="263123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45678E0-FB97-D5BE-1AF9-F8665F730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228" y="1099673"/>
            <a:ext cx="2897651" cy="257735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D26E2AE-1C87-3153-E58C-932A5D6AB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632" y="3730907"/>
            <a:ext cx="4732841" cy="308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52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C2D5-259E-8ADD-478A-E0868F22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AD0B2D-357B-5B02-76FA-24A194725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81F4762-8840-423D-8414-35700839E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3" y="4221162"/>
            <a:ext cx="4036213" cy="263683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283362A-5A25-37C8-36B8-FC1C0F95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31" y="1245067"/>
            <a:ext cx="3065379" cy="278354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92BBCC8-1EDA-515C-074A-FDF4B6C77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94" y="4221162"/>
            <a:ext cx="4036214" cy="265970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3B46F5F-0A10-5611-EB24-3400AAD12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136" y="1318417"/>
            <a:ext cx="2964530" cy="263683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B7E6C49-1536-2CE5-2DB0-1E8A4A784543}"/>
              </a:ext>
            </a:extLst>
          </p:cNvPr>
          <p:cNvSpPr txBox="1"/>
          <p:nvPr/>
        </p:nvSpPr>
        <p:spPr>
          <a:xfrm>
            <a:off x="166878" y="529291"/>
            <a:ext cx="8666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0" i="0" dirty="0" err="1">
                <a:effectLst/>
                <a:latin typeface="Menlo"/>
              </a:rPr>
              <a:t>x_bg</a:t>
            </a:r>
            <a:r>
              <a:rPr lang="fr-FR" sz="1400" b="0" i="0" dirty="0">
                <a:effectLst/>
                <a:latin typeface="Menlo"/>
              </a:rPr>
              <a:t>=2.839374e+01; </a:t>
            </a:r>
            <a:r>
              <a:rPr lang="fr-FR" sz="1400" b="0" i="0" dirty="0" err="1">
                <a:effectLst/>
                <a:latin typeface="Menlo"/>
              </a:rPr>
              <a:t>y_bg</a:t>
            </a:r>
            <a:r>
              <a:rPr lang="fr-FR" sz="1400" b="0" i="0" dirty="0">
                <a:effectLst/>
                <a:latin typeface="Menlo"/>
              </a:rPr>
              <a:t>=2.611670e+01; </a:t>
            </a:r>
            <a:r>
              <a:rPr lang="fr-FR" sz="1400" b="0" i="0" dirty="0" err="1">
                <a:effectLst/>
                <a:latin typeface="Menlo"/>
              </a:rPr>
              <a:t>width_bg</a:t>
            </a:r>
            <a:r>
              <a:rPr lang="fr-FR" sz="1400" b="0" i="0" dirty="0">
                <a:effectLst/>
                <a:latin typeface="Menlo"/>
              </a:rPr>
              <a:t>=4.781784e+00; </a:t>
            </a:r>
            <a:r>
              <a:rPr lang="fr-FR" sz="1400" b="0" i="0" dirty="0" err="1">
                <a:effectLst/>
                <a:latin typeface="Menlo"/>
              </a:rPr>
              <a:t>height_bg</a:t>
            </a:r>
            <a:r>
              <a:rPr lang="fr-FR" sz="1400" b="0" i="0" dirty="0">
                <a:effectLst/>
                <a:latin typeface="Menlo"/>
              </a:rPr>
              <a:t>=6.375712e+00;</a:t>
            </a:r>
          </a:p>
          <a:p>
            <a:pPr>
              <a:buNone/>
            </a:pPr>
            <a:r>
              <a:rPr lang="fr-FR" sz="1400" b="0" i="0" dirty="0" err="1">
                <a:effectLst/>
                <a:latin typeface="Menlo"/>
              </a:rPr>
              <a:t>x_sig</a:t>
            </a:r>
            <a:r>
              <a:rPr lang="fr-FR" sz="1400" b="0" i="0" dirty="0">
                <a:effectLst/>
                <a:latin typeface="Menlo"/>
              </a:rPr>
              <a:t>=4.752087e+01; </a:t>
            </a:r>
            <a:r>
              <a:rPr lang="fr-FR" sz="1400" b="0" i="0" dirty="0" err="1">
                <a:effectLst/>
                <a:latin typeface="Menlo"/>
              </a:rPr>
              <a:t>y_sig</a:t>
            </a:r>
            <a:r>
              <a:rPr lang="fr-FR" sz="1400" b="0" i="0" dirty="0">
                <a:effectLst/>
                <a:latin typeface="Menlo"/>
              </a:rPr>
              <a:t>=1.700854e+01; </a:t>
            </a:r>
            <a:r>
              <a:rPr lang="fr-FR" sz="1400" b="0" i="0" dirty="0" err="1">
                <a:effectLst/>
                <a:latin typeface="Menlo"/>
              </a:rPr>
              <a:t>width_sig</a:t>
            </a:r>
            <a:r>
              <a:rPr lang="fr-FR" sz="1400" b="0" i="0" dirty="0">
                <a:effectLst/>
                <a:latin typeface="Menlo"/>
              </a:rPr>
              <a:t>=5.305503e+01; </a:t>
            </a:r>
            <a:r>
              <a:rPr lang="fr-FR" sz="1400" b="0" i="0" dirty="0" err="1">
                <a:effectLst/>
                <a:latin typeface="Menlo"/>
              </a:rPr>
              <a:t>height_sig</a:t>
            </a:r>
            <a:r>
              <a:rPr lang="fr-FR" sz="1400" b="0" i="0" dirty="0">
                <a:effectLst/>
                <a:latin typeface="Menlo"/>
              </a:rPr>
              <a:t>=1.958254e+01;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FA57FE-951C-5F39-B452-7C6EB013FAB3}"/>
              </a:ext>
            </a:extLst>
          </p:cNvPr>
          <p:cNvSpPr txBox="1"/>
          <p:nvPr/>
        </p:nvSpPr>
        <p:spPr>
          <a:xfrm>
            <a:off x="6980136" y="4572852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~2,9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498E9E9-5A84-D83D-A1F3-B33BB3E4327C}"/>
              </a:ext>
            </a:extLst>
          </p:cNvPr>
          <p:cNvSpPr txBox="1"/>
          <p:nvPr/>
        </p:nvSpPr>
        <p:spPr>
          <a:xfrm>
            <a:off x="1298664" y="4572852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~2</a:t>
            </a:r>
          </a:p>
        </p:txBody>
      </p:sp>
    </p:spTree>
    <p:extLst>
      <p:ext uri="{BB962C8B-B14F-4D97-AF65-F5344CB8AC3E}">
        <p14:creationId xmlns:p14="http://schemas.microsoft.com/office/powerpoint/2010/main" val="247606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2879E-6F20-CE24-62A9-9594AD0B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3FDF8E-82A0-7DA8-3E6B-336A77763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B188A82-D89D-84B9-7E7A-B06504626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31" y="1245067"/>
            <a:ext cx="3065379" cy="27835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3A17393-7C45-0DB7-9558-8D947AB0B1D0}"/>
              </a:ext>
            </a:extLst>
          </p:cNvPr>
          <p:cNvSpPr txBox="1"/>
          <p:nvPr/>
        </p:nvSpPr>
        <p:spPr>
          <a:xfrm>
            <a:off x="166878" y="529291"/>
            <a:ext cx="86662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=1.154364e+01; </a:t>
            </a:r>
            <a:r>
              <a:rPr lang="fr-FR" dirty="0" err="1"/>
              <a:t>y_bg</a:t>
            </a:r>
            <a:r>
              <a:rPr lang="fr-FR" dirty="0"/>
              <a:t>=1.199905e+01; </a:t>
            </a:r>
            <a:r>
              <a:rPr lang="fr-FR" dirty="0" err="1"/>
              <a:t>width_bg</a:t>
            </a:r>
            <a:r>
              <a:rPr lang="fr-FR" dirty="0"/>
              <a:t>=4.781784e+00; </a:t>
            </a:r>
            <a:r>
              <a:rPr lang="fr-FR" dirty="0" err="1"/>
              <a:t>height_bg</a:t>
            </a:r>
            <a:r>
              <a:rPr lang="fr-FR" dirty="0"/>
              <a:t>=4.781784e+00;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=5.799526e+01; </a:t>
            </a:r>
            <a:r>
              <a:rPr lang="fr-FR" dirty="0" err="1"/>
              <a:t>y_sig</a:t>
            </a:r>
            <a:r>
              <a:rPr lang="fr-FR" dirty="0"/>
              <a:t>=1.951328e+01; </a:t>
            </a:r>
            <a:r>
              <a:rPr lang="fr-FR" dirty="0" err="1"/>
              <a:t>width_sig</a:t>
            </a:r>
            <a:r>
              <a:rPr lang="fr-FR" dirty="0"/>
              <a:t>=5.692600e+00; </a:t>
            </a:r>
            <a:r>
              <a:rPr lang="fr-FR" dirty="0" err="1"/>
              <a:t>height_sig</a:t>
            </a:r>
            <a:r>
              <a:rPr lang="fr-FR" dirty="0"/>
              <a:t>=4.326376e+00;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7736E47-21F3-269C-1998-C64B8D66D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31" y="1245067"/>
            <a:ext cx="3065379" cy="288724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4426B5A-E5B0-DF06-BDD8-83EF1E288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48" y="4221162"/>
            <a:ext cx="3630498" cy="239419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0C8659-A8FD-80DA-053A-01F5C4C4E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31" y="1245066"/>
            <a:ext cx="3065379" cy="278354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76B2EF-5534-53D9-D994-22244D299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6699" y="1175712"/>
            <a:ext cx="3207436" cy="285289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A12D8CE-BBF0-A425-917A-E01042329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5168" y="4200298"/>
            <a:ext cx="3630498" cy="241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79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CE8E-4055-3B49-BE97-683DC530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931B5F-7C56-E537-71D8-97E736E3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A4F420E-6B4B-2C80-FD88-ADC52C45E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31" y="1245067"/>
            <a:ext cx="3065379" cy="27835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F413D78-67F3-EC43-FF93-12428B26CDD0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=1.063074e+02; </a:t>
            </a:r>
            <a:r>
              <a:rPr lang="fr-FR" dirty="0" err="1"/>
              <a:t>y_bg</a:t>
            </a:r>
            <a:r>
              <a:rPr lang="fr-FR" dirty="0"/>
              <a:t>=7.401275e+01; </a:t>
            </a:r>
            <a:r>
              <a:rPr lang="fr-FR" dirty="0" err="1"/>
              <a:t>width_bg</a:t>
            </a:r>
            <a:r>
              <a:rPr lang="fr-FR" dirty="0"/>
              <a:t>=6.288952e+00; </a:t>
            </a:r>
            <a:r>
              <a:rPr lang="fr-FR" dirty="0" err="1"/>
              <a:t>height_bg</a:t>
            </a:r>
            <a:r>
              <a:rPr lang="fr-FR" dirty="0"/>
              <a:t>=6.968839e+00;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=3.797875e+01; </a:t>
            </a:r>
            <a:r>
              <a:rPr lang="fr-FR" dirty="0" err="1"/>
              <a:t>y_sig</a:t>
            </a:r>
            <a:r>
              <a:rPr lang="fr-FR" dirty="0"/>
              <a:t>=3.814448e+00; </a:t>
            </a:r>
            <a:r>
              <a:rPr lang="fr-FR" dirty="0" err="1"/>
              <a:t>width_sig</a:t>
            </a:r>
            <a:r>
              <a:rPr lang="fr-FR" dirty="0"/>
              <a:t>=3.093484e+01; </a:t>
            </a:r>
            <a:r>
              <a:rPr lang="fr-FR" dirty="0" err="1"/>
              <a:t>height_sig</a:t>
            </a:r>
            <a:r>
              <a:rPr lang="fr-FR" dirty="0"/>
              <a:t>=4.436261e+01;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8A225E5-CF43-31AA-7859-FEC6DA8B3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19" y="4221163"/>
            <a:ext cx="3781595" cy="248294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0B19A3A-3B8E-1B4F-B762-10E25A0EE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48771"/>
            <a:ext cx="3065380" cy="272654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F5BFEF3-E096-BBB7-DCDB-AD7DB3F50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221163"/>
            <a:ext cx="3811543" cy="248294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B588571-7639-18B6-A239-9BDBBDB9A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231" y="1221160"/>
            <a:ext cx="3065379" cy="278354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71A05C3-E630-3F2F-B96D-2196A3B498E3}"/>
              </a:ext>
            </a:extLst>
          </p:cNvPr>
          <p:cNvSpPr txBox="1"/>
          <p:nvPr/>
        </p:nvSpPr>
        <p:spPr>
          <a:xfrm>
            <a:off x="1451064" y="4488617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~2,8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DF2A30C-36A4-3758-48D3-9BAD05F5EC91}"/>
              </a:ext>
            </a:extLst>
          </p:cNvPr>
          <p:cNvSpPr txBox="1"/>
          <p:nvPr/>
        </p:nvSpPr>
        <p:spPr>
          <a:xfrm>
            <a:off x="6096000" y="4493936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~6,8</a:t>
            </a:r>
          </a:p>
        </p:txBody>
      </p:sp>
    </p:spTree>
    <p:extLst>
      <p:ext uri="{BB962C8B-B14F-4D97-AF65-F5344CB8AC3E}">
        <p14:creationId xmlns:p14="http://schemas.microsoft.com/office/powerpoint/2010/main" val="2710756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6C02-4F34-9465-2B9B-FC9FFE0B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EDCF93-8416-B0DA-C73E-F7CC5A046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526386-C357-1E3D-5CE1-769E70BA2243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=9.852657e+01; </a:t>
            </a:r>
            <a:r>
              <a:rPr lang="fr-FR" dirty="0" err="1"/>
              <a:t>y_bg</a:t>
            </a:r>
            <a:r>
              <a:rPr lang="fr-FR" dirty="0"/>
              <a:t>=1.001205e+02; </a:t>
            </a:r>
            <a:r>
              <a:rPr lang="fr-FR" dirty="0" err="1"/>
              <a:t>width_bg</a:t>
            </a:r>
            <a:r>
              <a:rPr lang="fr-FR" dirty="0"/>
              <a:t>=6.831120e+00; </a:t>
            </a:r>
            <a:r>
              <a:rPr lang="fr-FR" dirty="0" err="1"/>
              <a:t>height_bg</a:t>
            </a:r>
            <a:r>
              <a:rPr lang="fr-FR" dirty="0"/>
              <a:t>=5.692600e+00;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=1.023975e+02; </a:t>
            </a:r>
            <a:r>
              <a:rPr lang="fr-FR" dirty="0" err="1"/>
              <a:t>y_sig</a:t>
            </a:r>
            <a:r>
              <a:rPr lang="fr-FR" dirty="0"/>
              <a:t>=2.207780e+00; </a:t>
            </a:r>
            <a:r>
              <a:rPr lang="fr-FR" dirty="0" err="1"/>
              <a:t>width_sig</a:t>
            </a:r>
            <a:r>
              <a:rPr lang="fr-FR" dirty="0"/>
              <a:t>=1.685009e+01; </a:t>
            </a:r>
            <a:r>
              <a:rPr lang="fr-FR" dirty="0" err="1"/>
              <a:t>height_sig</a:t>
            </a:r>
            <a:r>
              <a:rPr lang="fr-FR" dirty="0"/>
              <a:t>=1.958254e+01;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D132FD7-C5FA-B0B5-3728-7C1EDD85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62" y="4210042"/>
            <a:ext cx="3998435" cy="263683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1F4C732-E044-D98A-2AE5-F39DEC002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235" y="1133451"/>
            <a:ext cx="3065380" cy="280381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97C162E-8D85-DFAD-1136-709BF7B8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461" y="4210042"/>
            <a:ext cx="3855933" cy="251007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DB67B8A-63E4-D93B-AEB8-C944CE620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950" y="1338874"/>
            <a:ext cx="2690355" cy="23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6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E480-49E8-CCC8-DB06-5B440B73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E04AE-D9E4-50E0-557F-1D8E19D82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7DA270-7A65-A0F5-29E8-E8588522BB11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=1.063074e+02; </a:t>
            </a:r>
            <a:r>
              <a:rPr lang="fr-FR" dirty="0" err="1"/>
              <a:t>y_bg</a:t>
            </a:r>
            <a:r>
              <a:rPr lang="fr-FR" dirty="0"/>
              <a:t>=7.401275e+01; </a:t>
            </a:r>
            <a:r>
              <a:rPr lang="fr-FR" dirty="0" err="1"/>
              <a:t>width_bg</a:t>
            </a:r>
            <a:r>
              <a:rPr lang="fr-FR" dirty="0"/>
              <a:t>=6.288952e+00; </a:t>
            </a:r>
            <a:r>
              <a:rPr lang="fr-FR" dirty="0" err="1"/>
              <a:t>height_bg</a:t>
            </a:r>
            <a:r>
              <a:rPr lang="fr-FR" dirty="0"/>
              <a:t>=6.968839e+00;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=3.797875e+01; </a:t>
            </a:r>
            <a:r>
              <a:rPr lang="fr-FR" dirty="0" err="1"/>
              <a:t>y_sig</a:t>
            </a:r>
            <a:r>
              <a:rPr lang="fr-FR" dirty="0"/>
              <a:t>=3.814448e+00; </a:t>
            </a:r>
            <a:r>
              <a:rPr lang="fr-FR" dirty="0" err="1"/>
              <a:t>width_sig</a:t>
            </a:r>
            <a:r>
              <a:rPr lang="fr-FR" dirty="0"/>
              <a:t>=3.093484e+01; </a:t>
            </a:r>
            <a:r>
              <a:rPr lang="fr-FR" dirty="0" err="1"/>
              <a:t>height_sig</a:t>
            </a:r>
            <a:r>
              <a:rPr lang="fr-FR" dirty="0"/>
              <a:t>=4.436261e+01;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947E30-6AD2-26A6-07BA-75EAF26C5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" y="3298089"/>
            <a:ext cx="5938877" cy="29312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D5BBB3A-AE63-7C06-A366-6E8CE8919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068" y="3256730"/>
            <a:ext cx="4630071" cy="30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98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D3DD-60CC-01DE-0D48-1E7ED33E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4E0355-53DB-F3B3-2A8E-B4380CC39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345F87-7341-34D2-2CC3-EBE9F9CA0BE3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=1.063074e+02; </a:t>
            </a:r>
            <a:r>
              <a:rPr lang="fr-FR" dirty="0" err="1"/>
              <a:t>y_bg</a:t>
            </a:r>
            <a:r>
              <a:rPr lang="fr-FR" dirty="0"/>
              <a:t>=7.401275e+01; </a:t>
            </a:r>
            <a:r>
              <a:rPr lang="fr-FR" dirty="0" err="1"/>
              <a:t>width_bg</a:t>
            </a:r>
            <a:r>
              <a:rPr lang="fr-FR" dirty="0"/>
              <a:t>=6.288952e+00; </a:t>
            </a:r>
            <a:r>
              <a:rPr lang="fr-FR" dirty="0" err="1"/>
              <a:t>height_bg</a:t>
            </a:r>
            <a:r>
              <a:rPr lang="fr-FR" dirty="0"/>
              <a:t>=6.968839e+00;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=3.797875e+01; </a:t>
            </a:r>
            <a:r>
              <a:rPr lang="fr-FR" dirty="0" err="1"/>
              <a:t>y_sig</a:t>
            </a:r>
            <a:r>
              <a:rPr lang="fr-FR" dirty="0"/>
              <a:t>=3.814448e+00; </a:t>
            </a:r>
            <a:r>
              <a:rPr lang="fr-FR" dirty="0" err="1"/>
              <a:t>width_sig</a:t>
            </a:r>
            <a:r>
              <a:rPr lang="fr-FR" dirty="0"/>
              <a:t>=3.093484e+01; </a:t>
            </a:r>
            <a:r>
              <a:rPr lang="fr-FR" dirty="0" err="1"/>
              <a:t>height_sig</a:t>
            </a:r>
            <a:r>
              <a:rPr lang="fr-FR" dirty="0"/>
              <a:t>=4.436261e+01;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243EC05-7F53-B5C5-83DF-C40C24BDE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089" y="3912115"/>
            <a:ext cx="4011121" cy="26654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C83D53B-91BC-BBE8-0A47-12AADFB84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813" y="75902"/>
            <a:ext cx="1880033" cy="170717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103C9DE-AB24-329C-A123-99FAD0108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444" y="3817670"/>
            <a:ext cx="4011121" cy="270557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90C293C-A91E-80D0-7B4B-2279BCEEE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741" y="1244959"/>
            <a:ext cx="3717815" cy="263683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C87E503-76E8-049D-B633-3C0A142DD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8705" y="1244959"/>
            <a:ext cx="3491957" cy="2476649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6A3B73D-F1AE-E2A6-BFEA-AE15DA66DEF2}"/>
              </a:ext>
            </a:extLst>
          </p:cNvPr>
          <p:cNvCxnSpPr>
            <a:cxnSpLocks/>
          </p:cNvCxnSpPr>
          <p:nvPr/>
        </p:nvCxnSpPr>
        <p:spPr>
          <a:xfrm>
            <a:off x="3031152" y="1559242"/>
            <a:ext cx="269832" cy="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87F78F25-B7E5-77BF-E288-1A35F81B0B64}"/>
              </a:ext>
            </a:extLst>
          </p:cNvPr>
          <p:cNvSpPr txBox="1"/>
          <p:nvPr/>
        </p:nvSpPr>
        <p:spPr>
          <a:xfrm>
            <a:off x="4058827" y="1358842"/>
            <a:ext cx="169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Décalage du pic, présence d’ACC ?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7D7ADB4-56FD-2860-DFB1-5896A4BED429}"/>
              </a:ext>
            </a:extLst>
          </p:cNvPr>
          <p:cNvSpPr txBox="1"/>
          <p:nvPr/>
        </p:nvSpPr>
        <p:spPr>
          <a:xfrm>
            <a:off x="9489035" y="1900531"/>
            <a:ext cx="25298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Recalage du pic par rapport au 2ps fais sens si l’on détecte moins d’ACC en 7ps </a:t>
            </a:r>
          </a:p>
        </p:txBody>
      </p:sp>
    </p:spTree>
    <p:extLst>
      <p:ext uri="{BB962C8B-B14F-4D97-AF65-F5344CB8AC3E}">
        <p14:creationId xmlns:p14="http://schemas.microsoft.com/office/powerpoint/2010/main" val="2641232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5719-7C19-DD00-0C65-8D422761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6419B-45B7-4D93-8DC0-0283F028B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ACC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0E733D-9AAE-36DF-AD1A-23B3CC6AF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=[928.5,928.8,929.2,929.6,929.9,930.3,930.8,931.2,931.5,931.8,932.1,932.6,932.9,928.3,927.8,927.5,927.1,926.6,926.1,925.6,925,924.5,923.9,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CFE7C0D-AE8A-DABD-D23F-DEF28626A4D9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D38F11-592A-E466-EE24-9D6576C3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28" y="991297"/>
            <a:ext cx="2015220" cy="1895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C8DBDF-1F88-A834-3417-98E21E191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586" y="3376578"/>
            <a:ext cx="4105294" cy="27073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511839E-F961-F01D-6386-0D16BDD57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65" y="3127248"/>
            <a:ext cx="3682567" cy="34290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246068F-6A32-E824-C0EC-68308C2A0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980" y="3466224"/>
            <a:ext cx="3635714" cy="257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886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EEE7-C43A-D2DE-21E5-679EDD06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3D07E-0F61-BC2E-DEAD-A0AA234F2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</a:t>
            </a:r>
            <a:r>
              <a:rPr lang="fr-FR" dirty="0" err="1"/>
              <a:t>ACC_Cal</a:t>
            </a:r>
            <a:r>
              <a:rPr lang="fr-FR" dirty="0"/>
              <a:t> 2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D6FF6-FF4E-0874-27A8-6EC670898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6964" y="982581"/>
            <a:ext cx="771628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=[927,927.5,928,928.3,928.6,929.1,929.4,929.6,929.8,930.4,930.8,931.1,931.5,931.8,932.5,932.9,</a:t>
            </a:r>
            <a:r>
              <a:rPr lang="fr-FR" b="1" dirty="0"/>
              <a:t>933.9</a:t>
            </a:r>
            <a:r>
              <a:rPr lang="fr-FR" dirty="0"/>
              <a:t>,</a:t>
            </a:r>
            <a:r>
              <a:rPr lang="fr-FR" b="1" dirty="0"/>
              <a:t>935</a:t>
            </a:r>
            <a:r>
              <a:rPr lang="fr-FR" dirty="0"/>
              <a:t>,</a:t>
            </a:r>
            <a:r>
              <a:rPr lang="fr-FR" b="1" dirty="0"/>
              <a:t>926.8</a:t>
            </a:r>
            <a:r>
              <a:rPr lang="fr-FR" dirty="0"/>
              <a:t>,926.4,926,925.6,925.2,924.8,924,923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52F8B46E-0529-E84C-8FE4-62B122CA0D4A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2789E0-C087-8C47-14A8-DF0CF8A4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23" y="2799770"/>
            <a:ext cx="4209257" cy="387834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518F1F0-5FE7-D632-1815-322397E08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459" y="2154006"/>
            <a:ext cx="3150777" cy="223466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8B33FD8-4DDC-3458-A2FE-BA38B9DB1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058" y="4490194"/>
            <a:ext cx="3101178" cy="219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10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2919-F30A-3A52-311F-56ABB916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83751-24D6-C2BB-9D43-2005A976C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</a:t>
            </a:r>
            <a:r>
              <a:rPr lang="fr-FR" dirty="0" err="1"/>
              <a:t>ACC_Cal</a:t>
            </a:r>
            <a:r>
              <a:rPr lang="fr-FR" dirty="0"/>
              <a:t>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4F08315-C7E5-75B0-1AD0-7F3B20697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2450" y="1078624"/>
            <a:ext cx="771628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=[928.6,929.1,929.5,929.8,930.2,930.6,</a:t>
            </a:r>
            <a:r>
              <a:rPr lang="fr-FR" b="1" dirty="0"/>
              <a:t>931.1,</a:t>
            </a:r>
            <a:r>
              <a:rPr lang="fr-FR" dirty="0"/>
              <a:t>928,927.6,927.2,926.8,926.4,926,925.5,928.3]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1C29A448-3E99-ABC7-8A7F-A359EBCDEA8B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130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31201AC-3D9E-230E-5968-68006D565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437833" y="3038971"/>
            <a:ext cx="3734117" cy="364782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32D4210-58E2-1A9F-54B1-F22055CD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3038971"/>
            <a:ext cx="3360735" cy="310533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508A533-B0B0-79A2-389A-99FCCE05E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673" y="3201404"/>
            <a:ext cx="3920327" cy="278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89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9683-9415-5121-7C73-E042F1C0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3004F1-F167-56D9-8758-E44607ACF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C73AB0-EA17-D12D-0F2F-5132F3C6B9D1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=7.438046e+01; </a:t>
            </a:r>
            <a:r>
              <a:rPr lang="fr-FR" dirty="0" err="1"/>
              <a:t>y_bg</a:t>
            </a:r>
            <a:r>
              <a:rPr lang="fr-FR" dirty="0"/>
              <a:t>=9.090797e+01; </a:t>
            </a:r>
            <a:r>
              <a:rPr lang="fr-FR" dirty="0" err="1"/>
              <a:t>width_bg</a:t>
            </a:r>
            <a:r>
              <a:rPr lang="fr-FR" dirty="0"/>
              <a:t>=9.127135e+00; </a:t>
            </a:r>
            <a:r>
              <a:rPr lang="fr-FR" dirty="0" err="1"/>
              <a:t>height_bg</a:t>
            </a:r>
            <a:r>
              <a:rPr lang="fr-FR" dirty="0"/>
              <a:t>=9.373814e+00;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=1.047220e+02; </a:t>
            </a:r>
            <a:r>
              <a:rPr lang="fr-FR" dirty="0" err="1"/>
              <a:t>y_sig</a:t>
            </a:r>
            <a:r>
              <a:rPr lang="fr-FR" dirty="0"/>
              <a:t>=9.066129e+01; </a:t>
            </a:r>
            <a:r>
              <a:rPr lang="fr-FR" dirty="0" err="1"/>
              <a:t>width_sig</a:t>
            </a:r>
            <a:r>
              <a:rPr lang="fr-FR" dirty="0"/>
              <a:t>=8.387097e+00; </a:t>
            </a:r>
            <a:r>
              <a:rPr lang="fr-FR" dirty="0" err="1"/>
              <a:t>height_sig</a:t>
            </a:r>
            <a:r>
              <a:rPr lang="fr-FR" dirty="0"/>
              <a:t>=9.867173e+00;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03FCFD4-F126-BF7F-0A66-0B974899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639933"/>
            <a:ext cx="4493047" cy="292689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B2479F8-81EB-2EC7-CDCF-A9978F730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188" y="993798"/>
            <a:ext cx="2601354" cy="23968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7213E95-321D-A321-B736-E377E0C8B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963" y="3639933"/>
            <a:ext cx="4489837" cy="292689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8BB9CCD-72D0-9664-4ED0-4A02BB8EF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7888" y="993798"/>
            <a:ext cx="2601354" cy="234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54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8CB1-66ED-8E2B-A0EE-0FB1F595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004B1B-9102-BED8-1DD7-99052D3AA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89ED41-D7EB-E6CA-A46E-4D38CA43E564}"/>
              </a:ext>
            </a:extLst>
          </p:cNvPr>
          <p:cNvSpPr txBox="1"/>
          <p:nvPr/>
        </p:nvSpPr>
        <p:spPr>
          <a:xfrm>
            <a:off x="166878" y="291168"/>
            <a:ext cx="8666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=7.536717e+01; </a:t>
            </a:r>
            <a:r>
              <a:rPr lang="fr-FR" dirty="0" err="1"/>
              <a:t>y_bg</a:t>
            </a:r>
            <a:r>
              <a:rPr lang="fr-FR" dirty="0"/>
              <a:t>=9.115465e+01; </a:t>
            </a:r>
            <a:r>
              <a:rPr lang="fr-FR" dirty="0" err="1"/>
              <a:t>width_bg</a:t>
            </a:r>
            <a:r>
              <a:rPr lang="fr-FR" dirty="0"/>
              <a:t>=1.036053e+01; </a:t>
            </a:r>
            <a:r>
              <a:rPr lang="fr-FR" dirty="0" err="1"/>
              <a:t>height_bg</a:t>
            </a:r>
            <a:r>
              <a:rPr lang="fr-FR" dirty="0"/>
              <a:t>=1.159393e+01;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=5.686622e+01; </a:t>
            </a:r>
            <a:r>
              <a:rPr lang="fr-FR" dirty="0" err="1"/>
              <a:t>y_sig</a:t>
            </a:r>
            <a:r>
              <a:rPr lang="fr-FR" dirty="0"/>
              <a:t>=2.257780e+01; </a:t>
            </a:r>
            <a:r>
              <a:rPr lang="fr-FR" dirty="0" err="1"/>
              <a:t>width_sig</a:t>
            </a:r>
            <a:r>
              <a:rPr lang="fr-FR" dirty="0"/>
              <a:t>=1.529412e+01; </a:t>
            </a:r>
            <a:r>
              <a:rPr lang="fr-FR" dirty="0" err="1"/>
              <a:t>height_sig</a:t>
            </a:r>
            <a:r>
              <a:rPr lang="fr-FR" dirty="0"/>
              <a:t>=9.373814e+00;</a:t>
            </a:r>
          </a:p>
          <a:p>
            <a:endParaRPr lang="fr-FR" dirty="0"/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391765-A550-471A-759C-7E9DC7FB8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94" y="3639933"/>
            <a:ext cx="4457744" cy="292689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594DE00-9482-FC64-D77F-8284FFB50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037" y="1103362"/>
            <a:ext cx="2310257" cy="212863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DAB256F-D8F6-2E0D-60AF-77A782260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009" y="3639933"/>
            <a:ext cx="4249986" cy="281685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F9307F6-3826-5CE6-27E5-85606F503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294" y="1103316"/>
            <a:ext cx="2407763" cy="217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12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16FE-E777-7A53-A26C-7D731CC0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1EB55A-53A9-A899-62D1-D94428704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AA83CF-44D5-535D-F9D0-3ADEA2A11766}"/>
              </a:ext>
            </a:extLst>
          </p:cNvPr>
          <p:cNvSpPr txBox="1"/>
          <p:nvPr/>
        </p:nvSpPr>
        <p:spPr>
          <a:xfrm>
            <a:off x="166878" y="291168"/>
            <a:ext cx="8666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=1.121224e+02; </a:t>
            </a:r>
            <a:r>
              <a:rPr lang="fr-FR" dirty="0" err="1"/>
              <a:t>y_bg</a:t>
            </a:r>
            <a:r>
              <a:rPr lang="fr-FR" dirty="0"/>
              <a:t>=1.175493e+02; </a:t>
            </a:r>
            <a:r>
              <a:rPr lang="fr-FR" dirty="0" err="1"/>
              <a:t>width_bg</a:t>
            </a:r>
            <a:r>
              <a:rPr lang="fr-FR" dirty="0"/>
              <a:t>=4.193548e+00; </a:t>
            </a:r>
            <a:r>
              <a:rPr lang="fr-FR" dirty="0" err="1"/>
              <a:t>height_bg</a:t>
            </a:r>
            <a:r>
              <a:rPr lang="fr-FR" dirty="0"/>
              <a:t>=4.440228e+00;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=6.278653e+01; </a:t>
            </a:r>
            <a:r>
              <a:rPr lang="fr-FR" dirty="0" err="1"/>
              <a:t>y_sig</a:t>
            </a:r>
            <a:r>
              <a:rPr lang="fr-FR" dirty="0"/>
              <a:t>=6.377324e+01; </a:t>
            </a:r>
            <a:r>
              <a:rPr lang="fr-FR" dirty="0" err="1"/>
              <a:t>width_sig</a:t>
            </a:r>
            <a:r>
              <a:rPr lang="fr-FR" dirty="0"/>
              <a:t>=3.552182e+01; </a:t>
            </a:r>
            <a:r>
              <a:rPr lang="fr-FR" dirty="0" err="1"/>
              <a:t>height_sig</a:t>
            </a:r>
            <a:r>
              <a:rPr lang="fr-FR" dirty="0"/>
              <a:t>=1.850095e+01;</a:t>
            </a:r>
          </a:p>
          <a:p>
            <a:endParaRPr lang="fr-FR" dirty="0"/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3B1A941-5843-DFA8-31CA-A5B4A8C8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39933"/>
            <a:ext cx="4537323" cy="32180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C6934F5-5F0D-24A9-290D-7F8ABA182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914" y="1111649"/>
            <a:ext cx="2515077" cy="23173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EF722AB-ED02-97F9-A65A-8F406ACC1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700" y="3689472"/>
            <a:ext cx="4397623" cy="311898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BC0AB97-44CE-286E-BDAF-E9DAD85A0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750" y="1122927"/>
            <a:ext cx="2758068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136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5C73-75C3-D706-CC1B-2D82E760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2FC113-890B-72A7-764E-C39B71952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D8D667A-D832-95A0-CB02-DDA18F3C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6" y="3716918"/>
            <a:ext cx="4563339" cy="291785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B4E7A2A-A4E6-764E-1A56-E722E0D3B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816" y="1015130"/>
            <a:ext cx="2824509" cy="254916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6C6661D-0A94-2D09-0B73-D7504709D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682" y="983665"/>
            <a:ext cx="2824509" cy="254916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61B9A69-8C26-332A-3E50-6A5D0DD49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605" y="3729050"/>
            <a:ext cx="4563338" cy="289359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C6B202E-C3C7-C764-2876-95E1C8861C80}"/>
              </a:ext>
            </a:extLst>
          </p:cNvPr>
          <p:cNvSpPr txBox="1"/>
          <p:nvPr/>
        </p:nvSpPr>
        <p:spPr>
          <a:xfrm>
            <a:off x="117432" y="385488"/>
            <a:ext cx="6097554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fr-FR" sz="1400" b="0" i="0" dirty="0">
                <a:effectLst/>
                <a:latin typeface="Menlo"/>
              </a:rPr>
              <a:t>ROI BACKGROUND : x=73, y=91, largeur=6, hauteur=7</a:t>
            </a:r>
            <a:br>
              <a:rPr lang="fr-FR" sz="1400" b="0" i="0" dirty="0">
                <a:effectLst/>
                <a:latin typeface="Menlo"/>
              </a:rPr>
            </a:br>
            <a:r>
              <a:rPr lang="fr-FR" sz="1400" b="0" i="0" dirty="0">
                <a:effectLst/>
                <a:latin typeface="Menlo"/>
              </a:rPr>
              <a:t>ROI SIGNAL : x=61, y=22, largeur=8, hauteur=9</a:t>
            </a:r>
            <a:br>
              <a:rPr lang="fr-FR" sz="1400" b="0" i="0" dirty="0">
                <a:effectLst/>
                <a:latin typeface="Menlo"/>
              </a:rPr>
            </a:br>
            <a:r>
              <a:rPr lang="fr-FR" sz="1400" b="0" i="0" dirty="0">
                <a:effectLst/>
                <a:latin typeface="Menlo"/>
              </a:rPr>
              <a:t>ROI SIGNAL : x=97, y=78, largeur=8, hauteur=9</a:t>
            </a:r>
          </a:p>
        </p:txBody>
      </p:sp>
    </p:spTree>
    <p:extLst>
      <p:ext uri="{BB962C8B-B14F-4D97-AF65-F5344CB8AC3E}">
        <p14:creationId xmlns:p14="http://schemas.microsoft.com/office/powerpoint/2010/main" val="482715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2223-6F92-ED56-13D7-9FFEDCBC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BEAC9F6-3C9D-7F8B-D5F4-93B97C282D52}"/>
              </a:ext>
            </a:extLst>
          </p:cNvPr>
          <p:cNvSpPr txBox="1"/>
          <p:nvPr/>
        </p:nvSpPr>
        <p:spPr>
          <a:xfrm>
            <a:off x="0" y="649158"/>
            <a:ext cx="6097554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fr-FR" sz="1200" b="0" i="0" dirty="0">
                <a:effectLst/>
                <a:latin typeface="Menlo"/>
              </a:rPr>
              <a:t>ROI BACKGROUND : x=73, y=91, largeur=6, hauteur=7</a:t>
            </a:r>
            <a:br>
              <a:rPr lang="fr-FR" sz="1200" b="0" i="0" dirty="0">
                <a:effectLst/>
                <a:latin typeface="Menlo"/>
              </a:rPr>
            </a:br>
            <a:r>
              <a:rPr lang="fr-FR" sz="1200" b="0" i="0" dirty="0">
                <a:effectLst/>
                <a:latin typeface="Menlo"/>
              </a:rPr>
              <a:t>ROI SIGNAL : x=61, y=22, largeur=8, hauteur=9</a:t>
            </a:r>
            <a:br>
              <a:rPr lang="fr-FR" sz="1200" b="0" i="0" dirty="0">
                <a:effectLst/>
                <a:latin typeface="Menlo"/>
              </a:rPr>
            </a:br>
            <a:r>
              <a:rPr lang="fr-FR" sz="1200" b="0" i="0" dirty="0">
                <a:effectLst/>
                <a:latin typeface="Menlo"/>
              </a:rPr>
              <a:t>ROI SIGNAL : x=97, y=78, largeur=8, hauteur=9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6E69669-9B05-C0E5-A5EC-38FCAC2A32E2}"/>
              </a:ext>
            </a:extLst>
          </p:cNvPr>
          <p:cNvSpPr txBox="1"/>
          <p:nvPr/>
        </p:nvSpPr>
        <p:spPr>
          <a:xfrm>
            <a:off x="3957956" y="846897"/>
            <a:ext cx="3055717" cy="277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buNone/>
            </a:pPr>
            <a:r>
              <a:rPr lang="fr-FR" sz="1800" b="0" i="0" dirty="0">
                <a:effectLst/>
                <a:latin typeface="Menlo"/>
              </a:rPr>
              <a:t>Si l’on regarde la somme des deux ROIS : Modèle correspond bien aux mesures pour</a:t>
            </a:r>
          </a:p>
          <a:p>
            <a:pPr marL="171450" marR="0" indent="-171450" algn="l">
              <a:buFontTx/>
              <a:buChar char="-"/>
            </a:pPr>
            <a:r>
              <a:rPr lang="fr-FR" sz="1800" b="1" i="0" dirty="0">
                <a:effectLst/>
                <a:latin typeface="Menlo"/>
              </a:rPr>
              <a:t>A(ACC)=2.5</a:t>
            </a:r>
          </a:p>
          <a:p>
            <a:pPr marL="171450" marR="0" indent="-171450" algn="l">
              <a:buFontTx/>
              <a:buChar char="-"/>
            </a:pPr>
            <a:r>
              <a:rPr lang="fr-FR" sz="1800" b="1" dirty="0">
                <a:latin typeface="Menlo"/>
              </a:rPr>
              <a:t>A(Cal)=9</a:t>
            </a:r>
          </a:p>
          <a:p>
            <a:pPr marR="0" algn="l"/>
            <a:r>
              <a:rPr lang="fr-FR" sz="1800" b="1" i="0" dirty="0">
                <a:effectLst/>
                <a:latin typeface="Menlo"/>
                <a:sym typeface="Wingdings" panose="05000000000000000000" pitchFamily="2" charset="2"/>
              </a:rPr>
              <a:t> A(ACC)/A(Cal) ~0.2</a:t>
            </a:r>
            <a:r>
              <a:rPr lang="fr-FR" sz="1800" b="1" dirty="0">
                <a:latin typeface="Menlo"/>
                <a:sym typeface="Wingdings" panose="05000000000000000000" pitchFamily="2" charset="2"/>
              </a:rPr>
              <a:t>8</a:t>
            </a:r>
            <a:endParaRPr lang="fr-FR" sz="1800" b="1" i="0" dirty="0">
              <a:effectLst/>
              <a:latin typeface="Menlo"/>
            </a:endParaRPr>
          </a:p>
          <a:p>
            <a:pPr marL="171450" marR="0" indent="-171450" algn="l">
              <a:buFontTx/>
              <a:buChar char="-"/>
            </a:pPr>
            <a:r>
              <a:rPr lang="fr-FR" sz="1800" b="1" dirty="0">
                <a:latin typeface="Menlo"/>
              </a:rPr>
              <a:t>FWHM instrument = 14.5 cm-1</a:t>
            </a:r>
          </a:p>
          <a:p>
            <a:pPr marL="171450" marR="0" indent="-171450" algn="l">
              <a:lnSpc>
                <a:spcPts val="1286"/>
              </a:lnSpc>
              <a:buFontTx/>
              <a:buChar char="-"/>
            </a:pPr>
            <a:endParaRPr lang="fr-FR" sz="1800" b="1" i="0" dirty="0">
              <a:effectLst/>
              <a:latin typeface="Menlo"/>
            </a:endParaRP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FE4AFAA3-240F-A031-AB64-99CC2EF15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-48653"/>
            <a:ext cx="1139687" cy="749032"/>
          </a:xfrm>
        </p:spPr>
        <p:txBody>
          <a:bodyPr/>
          <a:lstStyle/>
          <a:p>
            <a:pPr marL="114300" indent="0">
              <a:buNone/>
            </a:pPr>
            <a:r>
              <a:rPr lang="fr-FR" sz="3600" b="1" dirty="0"/>
              <a:t>2ps</a:t>
            </a:r>
            <a:r>
              <a:rPr lang="fr-FR" dirty="0"/>
              <a:t>                                                     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28BE23C-3F1C-9AEA-7D09-142FEBC1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4" y="3887402"/>
            <a:ext cx="4563338" cy="289359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ECF5F87-B69C-D1BC-2F02-7256895E9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92" y="1277636"/>
            <a:ext cx="2824509" cy="254916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6A2ADFD-4E2E-1092-635B-12350E741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62" y="134227"/>
            <a:ext cx="4751607" cy="39196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FA04F06-56A9-D401-E89E-9C7675A55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967" y="4376886"/>
            <a:ext cx="2937095" cy="2404109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BCF91A11-2666-67E5-0A8A-ABC70FE294A1}"/>
              </a:ext>
            </a:extLst>
          </p:cNvPr>
          <p:cNvSpPr txBox="1"/>
          <p:nvPr/>
        </p:nvSpPr>
        <p:spPr>
          <a:xfrm>
            <a:off x="5087748" y="4927360"/>
            <a:ext cx="38332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buNone/>
            </a:pPr>
            <a:r>
              <a:rPr lang="fr-FR" sz="1800" dirty="0">
                <a:latin typeface="Menlo"/>
              </a:rPr>
              <a:t>Sur de la calcite pure pour déterminer </a:t>
            </a:r>
            <a:r>
              <a:rPr lang="fr-FR" sz="1800" b="1" dirty="0">
                <a:latin typeface="Menlo"/>
              </a:rPr>
              <a:t>FWHM(</a:t>
            </a:r>
            <a:r>
              <a:rPr lang="fr-FR" sz="1800" b="1" dirty="0" err="1">
                <a:latin typeface="Menlo"/>
              </a:rPr>
              <a:t>instr</a:t>
            </a:r>
            <a:r>
              <a:rPr lang="fr-FR" sz="1800" b="1" dirty="0">
                <a:latin typeface="Menlo"/>
              </a:rPr>
              <a:t>) = 14.5 cm-1 </a:t>
            </a:r>
          </a:p>
          <a:p>
            <a:pPr marL="0" marR="0" algn="l">
              <a:buNone/>
            </a:pPr>
            <a:r>
              <a:rPr lang="fr-FR" sz="1800" i="0" dirty="0">
                <a:effectLst/>
                <a:latin typeface="Menlo"/>
              </a:rPr>
              <a:t>Supérieur à précédemment. </a:t>
            </a:r>
          </a:p>
        </p:txBody>
      </p:sp>
    </p:spTree>
    <p:extLst>
      <p:ext uri="{BB962C8B-B14F-4D97-AF65-F5344CB8AC3E}">
        <p14:creationId xmlns:p14="http://schemas.microsoft.com/office/powerpoint/2010/main" val="40615019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1867</Words>
  <Application>Microsoft Office PowerPoint</Application>
  <PresentationFormat>Grand écran</PresentationFormat>
  <Paragraphs>279</Paragraphs>
  <Slides>44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Play</vt:lpstr>
      <vt:lpstr>Arial</vt:lpstr>
      <vt:lpstr>Menlo</vt:lpstr>
      <vt:lpstr>Thème Office</vt:lpstr>
      <vt:lpstr>I) Données Chahira  II) Chirp analysis </vt:lpstr>
      <vt:lpstr>Présentation PowerPoint</vt:lpstr>
      <vt:lpstr>7 ps chirp on calcite - 260522 </vt:lpstr>
      <vt:lpstr>7 ps chirp on calcite - 260529 </vt:lpstr>
      <vt:lpstr>2 ps chirp on calcite - 260522</vt:lpstr>
      <vt:lpstr>2 ps chirp on vatérite - 260527 </vt:lpstr>
      <vt:lpstr>7 ps chirp on vatérite - 260527 </vt:lpstr>
      <vt:lpstr>2 ps chirp on ACC- 260527 </vt:lpstr>
      <vt:lpstr>2 ps chirp on ACC- 260528 </vt:lpstr>
      <vt:lpstr>2 ps chirp on ACC- 260529 </vt:lpstr>
      <vt:lpstr>7 ps chirp on ACC- 260602 </vt:lpstr>
      <vt:lpstr>2 ps chirp on ACC- 260602 </vt:lpstr>
      <vt:lpstr>2 ps chirp on ACC- 260603 </vt:lpstr>
      <vt:lpstr>2 ps chirp on ACC- 260603 bis </vt:lpstr>
      <vt:lpstr>2 ps chirp on ACC- 260603 bis </vt:lpstr>
      <vt:lpstr>7 ps chirp on ACC- 260603 bis </vt:lpstr>
      <vt:lpstr>7 ps chirp on ACC- 260603 bis </vt:lpstr>
      <vt:lpstr>7 ps chirp on ACC- 260623  </vt:lpstr>
      <vt:lpstr>2 ps chirp on ACC- 260623  </vt:lpstr>
      <vt:lpstr>2 ps chirp on ACC- 260624 bis </vt:lpstr>
      <vt:lpstr>7 ps chirp on ACC- 260624 bis </vt:lpstr>
      <vt:lpstr>2 ps chirp on ACC + cal- 260626</vt:lpstr>
      <vt:lpstr>2 ps chirp on ACC + cal- 260626</vt:lpstr>
      <vt:lpstr>7 ps chirp on ACC + cal- 260626</vt:lpstr>
      <vt:lpstr>2 ps chirp on ACC + cal- 260626</vt:lpstr>
      <vt:lpstr>2 ps chirp on ACC + cal- 260626</vt:lpstr>
      <vt:lpstr>7 ps chirp on ACC + cal- 260626</vt:lpstr>
      <vt:lpstr>7 ps chirp on ACC + cal- 260626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260708 ACC</vt:lpstr>
      <vt:lpstr>260708 ACC_Cal 2 ps</vt:lpstr>
      <vt:lpstr>260708 ACC_Cal 7 ps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BUCOURT Sacha</dc:creator>
  <cp:lastModifiedBy>BUCOURT Sacha</cp:lastModifiedBy>
  <cp:revision>33</cp:revision>
  <dcterms:created xsi:type="dcterms:W3CDTF">2026-05-22T13:46:26Z</dcterms:created>
  <dcterms:modified xsi:type="dcterms:W3CDTF">2026-08-09T05:07:08Z</dcterms:modified>
</cp:coreProperties>
</file>
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65" r:id="rId2"/>
    <p:sldId id="357" r:id="rId3"/>
    <p:sldId id="376" r:id="rId4"/>
    <p:sldId id="327" r:id="rId5"/>
    <p:sldId id="377" r:id="rId6"/>
    <p:sldId id="366" r:id="rId7"/>
    <p:sldId id="328" r:id="rId8"/>
    <p:sldId id="281" r:id="rId9"/>
    <p:sldId id="379" r:id="rId10"/>
    <p:sldId id="380" r:id="rId11"/>
    <p:sldId id="381" r:id="rId12"/>
    <p:sldId id="382" r:id="rId13"/>
    <p:sldId id="378" r:id="rId14"/>
    <p:sldId id="375" r:id="rId15"/>
    <p:sldId id="364" r:id="rId16"/>
    <p:sldId id="370" r:id="rId17"/>
    <p:sldId id="368" r:id="rId18"/>
    <p:sldId id="374" r:id="rId19"/>
    <p:sldId id="343" r:id="rId20"/>
    <p:sldId id="342" r:id="rId21"/>
    <p:sldId id="355" r:id="rId22"/>
    <p:sldId id="341" r:id="rId23"/>
    <p:sldId id="353" r:id="rId24"/>
    <p:sldId id="373" r:id="rId25"/>
    <p:sldId id="358" r:id="rId26"/>
    <p:sldId id="372" r:id="rId27"/>
    <p:sldId id="362" r:id="rId28"/>
    <p:sldId id="256" r:id="rId29"/>
    <p:sldId id="257" r:id="rId30"/>
    <p:sldId id="383" r:id="rId31"/>
    <p:sldId id="384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èle" id="{38E46940-0790-4E8A-8502-5835EE473836}">
          <p14:sldIdLst>
            <p14:sldId id="365"/>
            <p14:sldId id="357"/>
            <p14:sldId id="376"/>
            <p14:sldId id="327"/>
            <p14:sldId id="377"/>
            <p14:sldId id="366"/>
            <p14:sldId id="328"/>
          </p14:sldIdLst>
        </p14:section>
        <p14:section name="Synthétique" id="{56AC251D-6E5C-4CFE-9930-84BF4168610A}">
          <p14:sldIdLst>
            <p14:sldId id="281"/>
            <p14:sldId id="379"/>
            <p14:sldId id="380"/>
            <p14:sldId id="381"/>
            <p14:sldId id="382"/>
            <p14:sldId id="378"/>
            <p14:sldId id="375"/>
            <p14:sldId id="364"/>
            <p14:sldId id="370"/>
            <p14:sldId id="368"/>
            <p14:sldId id="374"/>
            <p14:sldId id="343"/>
            <p14:sldId id="342"/>
            <p14:sldId id="355"/>
            <p14:sldId id="341"/>
          </p14:sldIdLst>
        </p14:section>
        <p14:section name="Corail" id="{CCA9B34D-82CD-4298-BF9C-03A0026B73BF}">
          <p14:sldIdLst>
            <p14:sldId id="353"/>
            <p14:sldId id="373"/>
            <p14:sldId id="358"/>
            <p14:sldId id="372"/>
          </p14:sldIdLst>
        </p14:section>
        <p14:section name="Section sans titre" id="{3A39EE99-5470-4380-A4A0-54DB7E0D4CAB}">
          <p14:sldIdLst>
            <p14:sldId id="362"/>
            <p14:sldId id="256"/>
            <p14:sldId id="257"/>
            <p14:sldId id="383"/>
            <p14:sldId id="3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0695" autoAdjust="0"/>
  </p:normalViewPr>
  <p:slideViewPr>
    <p:cSldViewPr snapToGrid="0">
      <p:cViewPr>
        <p:scale>
          <a:sx n="100" d="100"/>
          <a:sy n="100" d="100"/>
        </p:scale>
        <p:origin x="912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E4E35-8187-4757-AF44-D7829C233B30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ED21D-356C-4BDC-9372-2CBCC26085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252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9334E-B37A-1991-1181-E2FD1CCD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1EDA703-96FB-009C-48DB-0BBA489D6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8DE024-2608-4939-49EC-EA5054011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04B5A1-AE2C-145E-072C-DFF14DFC0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ED21D-356C-4BDC-9372-2CBCC260853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7498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ED21D-356C-4BDC-9372-2CBCC260853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8600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06B0-7B89-677B-086C-40A3495C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156835E-9D78-F50E-EBC3-F2C3F3033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4AD446C-CDA2-C39F-FFA7-6E7EF441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0B852E-46E6-1992-01EC-32A2F364B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ED21D-356C-4BDC-9372-2CBCC260853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2516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6C995-A49C-A864-65C1-8EC2701E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035EC71-5CAE-7FF7-FBA4-162BA04B7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49032CC-A38B-1DCF-8475-D10500F07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282108-0956-3445-0B24-1B507D8EF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ED21D-356C-4BDC-9372-2CBCC260853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5768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ED21D-356C-4BDC-9372-2CBCC260853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668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39BBD24F-692B-1823-3924-100E6AA34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4C0EAD0E-5524-2247-D6F1-769DB9217B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207149AB-3A81-D403-D28E-F326651C55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9430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372F6DEB-E320-82EB-07AD-164505E03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DABD5A6D-D954-2007-879F-47F8BC202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848F3B87-580B-D6DB-60A1-38F09C3921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504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E0EC93B3-5A9B-306A-C550-7402A759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640A6E3E-42B7-09F3-BD3F-8FCF6C8DD3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C4D311AE-3038-2E0C-D0AF-7E6F461D0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6491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9D95E076-3E36-E1E2-A57C-7EBA8068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FDC9B7D6-833C-8ACE-7F06-2A9B101B54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51D11FA3-F265-8B2E-8CC9-ADB1DB72E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8777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D7063C67-FD2E-7E41-6F4A-4D0A6AEEC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410DFF1A-5190-349E-A679-B6759D59A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7A347DEA-3589-310A-9A65-5C03EFBE4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9468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BEAA4-C176-8967-0CE0-67A8F2894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7BF31E-9C97-5A6E-197D-95D19BB71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EC671E4-EC2A-9BC8-C9F2-9ACF7C98F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52800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9E1A0-C20A-69B7-7C5C-084936591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A3AFEAB-78D1-F6A3-A93C-FA1065C48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EA34F73-B02F-13F2-1061-54EE3D704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8307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153BE-3759-D484-6CA9-4A9F9A10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08FA0A3-5D9D-189D-88AB-E05203E4E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781F072-2DDC-79C6-A686-36D9EAC69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3404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7A5A1-83EF-9B4E-4946-E3ED9912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B449450-14F3-75D1-D237-51530CD8D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FBF2E36-8340-6813-9131-29A3FDF7F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5761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6857-888C-6C75-C92B-B03C7A09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7D8FBE8-4319-E36F-9550-12C124533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89B380-B6CF-A06B-1667-7083A8A75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0982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B1AFC-ACDD-78E9-75FA-C1C9A40A2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9A7CE79-89C9-F2A3-1BF3-87179100B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FF64D01-3113-AE6F-91FC-DDF59F26F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1301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B09DF-153C-75A0-7A4C-A454C246D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5E68846-60AC-B183-5677-7F9D80951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7D50A49-C429-B033-45A3-0AF3A22E9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88757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3B081-6170-0216-B951-F26A13A4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4E117AC-2C58-D5AD-9834-64528129C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CA76E7-A5B9-57C4-BBCD-D204ADC18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92299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B9979-91FC-C5EA-F7D9-3552DE5A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1EE4A4-9489-9606-054C-96B16449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A0C0EDD-16AF-30C6-7426-9E83D70CA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020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97D62-8836-082C-A733-310A610B3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0697A6-E027-8C09-7012-935DA4443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AD7453-2053-5B67-A3D6-396DA9538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BEB927-1C25-B313-D7D6-5201CA945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F6DD7C-2C04-2286-16AF-6A641EA9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981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5B080-E275-4B60-F79F-6C0D1471D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45D95D-96EA-5587-9F86-591A93B08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A4DAB1-48C2-7433-5E0D-E32E64CC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50575B-F850-C1F0-150A-3DE6ECE0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653168-75C6-A52C-BC66-E734A91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554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23566-F9F4-86E3-076C-B5582426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030711-712C-BF2C-3CFB-FB4F85C16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2F7148-B737-116A-382B-6253507E0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60CBF7-85DB-BB63-BA1C-5AB76BE8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BF2964-7856-E568-703B-CCDAB6C1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239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FA3724-6DFC-A032-A3DD-C9BD87FC4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79CC89-8EBB-8E9A-C299-9C8FF62197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F747B4-0335-1AED-C56C-BF12D3A67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168405-0388-5D20-5B3C-8E914510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810B57-DD18-ECBF-93A3-4784AE414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6A21713-D34D-C310-BA6E-A776E867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3313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3B9108-3358-3155-D8F9-191876FD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85168B-CC81-E80F-3B30-6A21706F0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787ECE-24C4-C546-1B4C-90D57212C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679BF4E-AA8D-F083-2181-95AF16D75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0D7DF1-C9AE-4979-603C-9E3EF6AD5A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72D6130-CC64-FEC5-99E6-180D16E9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D6AE930-8C04-DF50-EA51-B89B8FE6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0E9E820-D7ED-5AC5-7477-B4D3D6AB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91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9F49E0-8781-3502-CE05-FDECA387F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63C0E1-C46E-10CC-B6CB-585C14CA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F1501ED-600A-3258-EA23-D190808AE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43CB3A-176D-4AE7-2ADC-AD669CB6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40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7D28B24-87EB-6133-62DD-9A2DB481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CC52DC-C860-CC45-A043-E960022D0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E5EBA4-8D36-4014-1970-DAABBED9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21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60B160-2994-8665-DF47-D1E40292E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0C6253-1070-34F3-A404-929630193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83E001-91CA-2309-DFDE-FBB314CDD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18DC21-0F75-CEF0-23F4-43CBA3DA7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0D8433-6031-431F-2015-57F0CDBA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5F9FA7-B681-E733-5CD5-EB3A30C9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51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3CE0E6-1176-4DD6-8C68-26610F7A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C0E54BD-59AC-CB5D-2140-E9AAA88EA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A476753-9708-8AA5-FC18-D3BB2E05E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06C69FC-FACA-FBDB-55D0-05D8E50C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BC6EC6-FC39-2A9C-CC46-DAF7F5F3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DD470F-9057-BD5E-B7B7-4D2BE5573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0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4856C9-1A23-124C-6A69-6335810E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27A9D1-3B8D-ABEB-94A2-E4F785270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F231F2-9E79-8DEE-0670-C19B6C9C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C9BB78-701A-C51C-E297-24C052842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D2C1A8-11D5-FB69-ABC1-9374A0C0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699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73DF7F1-D405-A9DF-EF93-D422296B7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868EB2B-D5FF-4232-B844-B1F59FC88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5FC76F-6C40-E840-E931-619CB8C5F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7268BF-20FD-83FE-3B7D-6AE5F3C1B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FB67D6-380A-4671-3282-94C8DC59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2494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3AC2A7-52F6-FC9B-6C27-4C1F8177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22EAC9-C154-C8A1-B5A0-F23AA517E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8F8FE8-B6DD-8CBC-7A7E-EAB612038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063B4-2C68-40F2-BC26-4CA99D7F971F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83123F-60B3-2180-C8AD-A60E532E3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2BA6EE-EF0E-58CC-6B7A-D4E9235BC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5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4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2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5.png"/><Relationship Id="rId4" Type="http://schemas.openxmlformats.org/officeDocument/2006/relationships/image" Target="../media/image43.png"/><Relationship Id="rId9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emf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3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64.png"/><Relationship Id="rId4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2" Type="http://schemas.openxmlformats.org/officeDocument/2006/relationships/image" Target="../media/image8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75.png"/><Relationship Id="rId10" Type="http://schemas.openxmlformats.org/officeDocument/2006/relationships/image" Target="../media/image81.png"/><Relationship Id="rId9" Type="http://schemas.openxmlformats.org/officeDocument/2006/relationships/image" Target="../media/image8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7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0.png"/><Relationship Id="rId4" Type="http://schemas.openxmlformats.org/officeDocument/2006/relationships/hyperlink" Target="https://www.thorlabs.com/resolution-test-targets/?gad_source=1&amp;gad_campaignid=868722670&amp;gclid=CjwKCAjwgJHXBhBGEiwAHohJq2udutuDkjciRWSItdH-rAbgtiYhzUScBzeOx8UYaiZrUYwLrF8JeRoCP48QAvD_BwE&amp;tabName=Overview#283063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4CF142-CFD7-B7CC-FE6F-6C90E1D5C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600" dirty="0"/>
              <a:t>Meeting 15/10/26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272E99-2EE9-A533-5089-4563357E7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fr-FR" dirty="0"/>
              <a:t>Modèle </a:t>
            </a:r>
          </a:p>
          <a:p>
            <a:pPr marL="914400" lvl="1" indent="-457200">
              <a:buAutoNum type="alphaLcParenR"/>
            </a:pPr>
            <a:r>
              <a:rPr lang="fr-FR" dirty="0"/>
              <a:t>Convolution Carbonate*Instrument</a:t>
            </a:r>
          </a:p>
          <a:p>
            <a:pPr marL="914400" lvl="1" indent="-457200">
              <a:buAutoNum type="alphaLcParenR"/>
            </a:pPr>
            <a:r>
              <a:rPr lang="fr-FR" dirty="0"/>
              <a:t>Carbonate</a:t>
            </a:r>
          </a:p>
          <a:p>
            <a:pPr marL="0" indent="0">
              <a:buNone/>
            </a:pPr>
            <a:r>
              <a:rPr lang="fr-FR" dirty="0"/>
              <a:t>2) Expérimentale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sz="2400" dirty="0"/>
              <a:t>a) fit sur A </a:t>
            </a:r>
            <a:endParaRPr lang="fr-FR" dirty="0"/>
          </a:p>
          <a:p>
            <a:pPr marL="0" indent="0">
              <a:buNone/>
            </a:pPr>
            <a:r>
              <a:rPr lang="fr-FR" sz="2400" dirty="0"/>
              <a:t>	b) ACC</a:t>
            </a:r>
          </a:p>
          <a:p>
            <a:pPr marL="0" indent="0">
              <a:buNone/>
            </a:pPr>
            <a:r>
              <a:rPr lang="fr-FR" sz="2400" dirty="0"/>
              <a:t>	c) </a:t>
            </a:r>
            <a:r>
              <a:rPr lang="fr-FR" sz="2400" dirty="0" err="1"/>
              <a:t>Vatérite</a:t>
            </a:r>
            <a:r>
              <a:rPr lang="fr-FR" sz="2400" dirty="0"/>
              <a:t> </a:t>
            </a:r>
          </a:p>
          <a:p>
            <a:pPr marL="0" indent="0">
              <a:buNone/>
            </a:pPr>
            <a:r>
              <a:rPr lang="fr-FR" sz="2400" dirty="0"/>
              <a:t>	d) Coral </a:t>
            </a:r>
          </a:p>
          <a:p>
            <a:pPr marL="0" indent="0">
              <a:buNone/>
            </a:pPr>
            <a:r>
              <a:rPr lang="fr-FR" sz="2400" dirty="0"/>
              <a:t>	e) Set up schéma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7379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7D0A-6800-5AFA-0949-D51649AD9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6B4E47-D5C7-37D3-48AA-BA3E08DCF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33" y="759951"/>
            <a:ext cx="12132253" cy="1109663"/>
          </a:xfrm>
        </p:spPr>
        <p:txBody>
          <a:bodyPr>
            <a:noAutofit/>
          </a:bodyPr>
          <a:lstStyle/>
          <a:p>
            <a:pPr algn="l"/>
            <a:r>
              <a:rPr lang="fr-FR" dirty="0"/>
              <a:t>Modèle Analytique – Réponse instrumentale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FC56DEF-E294-D35F-CCFB-2EBC3229E95D}"/>
              </a:ext>
            </a:extLst>
          </p:cNvPr>
          <p:cNvSpPr txBox="1"/>
          <p:nvPr/>
        </p:nvSpPr>
        <p:spPr>
          <a:xfrm>
            <a:off x="354591" y="2101276"/>
            <a:ext cx="27071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Modèle gaussien pour chaque phase :</a:t>
            </a:r>
          </a:p>
          <a:p>
            <a:endParaRPr lang="fr-FR" dirty="0"/>
          </a:p>
          <a:p>
            <a:r>
              <a:rPr lang="fr-FR" b="1" dirty="0"/>
              <a:t>Convolué avec </a:t>
            </a:r>
          </a:p>
          <a:p>
            <a:endParaRPr lang="fr-FR" dirty="0"/>
          </a:p>
          <a:p>
            <a:pPr algn="r"/>
            <a:r>
              <a:rPr lang="fr-FR" dirty="0"/>
              <a:t>Modèle gaussien de la réponse instrumentale :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5B35C7C-DA44-44DB-75DA-26DE0C964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959" y="4656756"/>
            <a:ext cx="2905530" cy="82879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3B64A33-04C0-97F6-2621-4CEEB7AF9A99}"/>
              </a:ext>
            </a:extLst>
          </p:cNvPr>
          <p:cNvSpPr txBox="1"/>
          <p:nvPr/>
        </p:nvSpPr>
        <p:spPr>
          <a:xfrm>
            <a:off x="354591" y="4770214"/>
            <a:ext cx="2295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800" dirty="0">
                <a:sym typeface="Wingdings" panose="05000000000000000000" pitchFamily="2" charset="2"/>
              </a:rPr>
              <a:t> </a:t>
            </a:r>
            <a:r>
              <a:rPr lang="fr-FR" sz="1800" dirty="0"/>
              <a:t>Analytiquement, on obtient  : 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43ED664-BE51-59EF-C7FD-268571150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04" y="3408638"/>
            <a:ext cx="3628333" cy="72396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3A88E15-A6E0-CAA9-E728-E406F7A76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2069" y="4709171"/>
            <a:ext cx="3482642" cy="723963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FC21EAF7-E6A7-3359-A999-736F4B176E27}"/>
              </a:ext>
            </a:extLst>
          </p:cNvPr>
          <p:cNvSpPr txBox="1"/>
          <p:nvPr/>
        </p:nvSpPr>
        <p:spPr>
          <a:xfrm>
            <a:off x="7269784" y="4886485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avec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86DBBB8-E232-4BC7-AF00-E8868A982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1770" y="1931762"/>
            <a:ext cx="4391638" cy="102884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D813ACC-28C5-A386-3CD4-DB8784B914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83" y="6009704"/>
            <a:ext cx="4885774" cy="68068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C1BDB23-B0C2-E086-EF08-E009F4FBB6A5}"/>
              </a:ext>
            </a:extLst>
          </p:cNvPr>
          <p:cNvSpPr txBox="1"/>
          <p:nvPr/>
        </p:nvSpPr>
        <p:spPr>
          <a:xfrm>
            <a:off x="6022228" y="6165378"/>
            <a:ext cx="581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ym typeface="Wingdings" panose="05000000000000000000" pitchFamily="2" charset="2"/>
              </a:rPr>
              <a:t></a:t>
            </a: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17DFF50-4BB4-A928-9FC1-A9EBD118C1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2061" y="5941952"/>
            <a:ext cx="5115639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63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7EEB5-1062-1066-9A79-94EC214A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96212662-4500-D3A2-4F4D-6BD8FBAE7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591448"/>
              </p:ext>
            </p:extLst>
          </p:nvPr>
        </p:nvGraphicFramePr>
        <p:xfrm>
          <a:off x="275087" y="55380"/>
          <a:ext cx="11641826" cy="3005137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663118">
                  <a:extLst>
                    <a:ext uri="{9D8B030D-6E8A-4147-A177-3AD203B41FA5}">
                      <a16:colId xmlns:a16="http://schemas.microsoft.com/office/drawing/2014/main" val="3251183835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1204036976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3725383711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2561449884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1270338505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2330157547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290116242"/>
                    </a:ext>
                  </a:extLst>
                </a:gridCol>
              </a:tblGrid>
              <a:tr h="640080">
                <a:tc grid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800" b="1" dirty="0"/>
                        <a:t>Résultat Raman spontané – échantillon synthétique ou géologique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070108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sample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Calcite </a:t>
                      </a:r>
                      <a:r>
                        <a:rPr lang="fr-FR" sz="1800" b="1" dirty="0" err="1"/>
                        <a:t>geologic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Aragonite </a:t>
                      </a:r>
                      <a:r>
                        <a:rPr lang="fr-FR" sz="1800" b="1" dirty="0" err="1"/>
                        <a:t>geologic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Vaterite</a:t>
                      </a:r>
                      <a:r>
                        <a:rPr lang="fr-FR" sz="1800" b="1" dirty="0"/>
                        <a:t>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ACC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CCHH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MHC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82828191"/>
                  </a:ext>
                </a:extLst>
              </a:tr>
              <a:tr h="719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Nu (cm</a:t>
                      </a:r>
                      <a:r>
                        <a:rPr lang="fr-FR" sz="1800" b="1" baseline="30000" dirty="0"/>
                        <a:t>-1</a:t>
                      </a:r>
                      <a:r>
                        <a:rPr lang="fr-FR" sz="1800" b="1" baseline="0" dirty="0"/>
                        <a:t>)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1075, (1080,) 1090.8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1100.1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1067.5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9803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FWHM (cm</a:t>
                      </a:r>
                      <a:r>
                        <a:rPr lang="fr-FR" sz="1800" b="1" baseline="30000" dirty="0"/>
                        <a:t>-1</a:t>
                      </a:r>
                      <a:r>
                        <a:rPr lang="fr-FR" sz="1800" b="1" baseline="0" dirty="0"/>
                        <a:t>)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8.2, (?), 8.3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6.3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7727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FWHM_déconvolué</a:t>
                      </a:r>
                      <a:r>
                        <a:rPr lang="fr-FR" sz="18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fr-FR" sz="1800" b="1" dirty="0"/>
                        <a:t> (cm-1)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7.9,(?),8.0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390908"/>
                  </a:ext>
                </a:extLst>
              </a:tr>
            </a:tbl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7D8F0D75-FB2B-86ED-D89C-0513FD478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176" y="4957840"/>
            <a:ext cx="2969041" cy="181611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33A3323-B4CA-4F19-8207-7E0BA4EAA4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141" y="4986506"/>
            <a:ext cx="2974988" cy="181611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AB1FE7F-1D7B-C59D-743A-097751D608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11" y="3092824"/>
            <a:ext cx="2979818" cy="181611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728679D-5885-EA54-22E9-68061D97FE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840" y="3092823"/>
            <a:ext cx="2991248" cy="181611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F904BA3-CCA8-965B-28A8-A1C0B87CBC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332" y="4981956"/>
            <a:ext cx="2955756" cy="181611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39AE003-3C0E-03FC-A59C-CE44BD7475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752" y="3092824"/>
            <a:ext cx="2988465" cy="1816114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AB399BB2-16A4-1128-5D81-CB38381BA13A}"/>
              </a:ext>
            </a:extLst>
          </p:cNvPr>
          <p:cNvSpPr txBox="1"/>
          <p:nvPr/>
        </p:nvSpPr>
        <p:spPr>
          <a:xfrm>
            <a:off x="3329953" y="3342156"/>
            <a:ext cx="1096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Calcite </a:t>
            </a:r>
            <a:r>
              <a:rPr lang="fr-FR" sz="1800" b="1" dirty="0" err="1"/>
              <a:t>geologic</a:t>
            </a:r>
            <a:endParaRPr lang="fr-FR" sz="1800" b="1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C12AE49-5629-CBCE-F28A-9CABCBD062A6}"/>
              </a:ext>
            </a:extLst>
          </p:cNvPr>
          <p:cNvSpPr txBox="1"/>
          <p:nvPr/>
        </p:nvSpPr>
        <p:spPr>
          <a:xfrm>
            <a:off x="3235302" y="5045998"/>
            <a:ext cx="12855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Aragonite </a:t>
            </a:r>
            <a:r>
              <a:rPr lang="fr-FR" sz="1800" b="1" dirty="0" err="1"/>
              <a:t>geologic</a:t>
            </a:r>
            <a:endParaRPr lang="fr-FR" sz="1800" b="1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6ACB4C2-81BD-CCD7-C0CA-3F18AB8AB21B}"/>
              </a:ext>
            </a:extLst>
          </p:cNvPr>
          <p:cNvSpPr txBox="1"/>
          <p:nvPr/>
        </p:nvSpPr>
        <p:spPr>
          <a:xfrm>
            <a:off x="6320931" y="3141725"/>
            <a:ext cx="13543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 err="1"/>
              <a:t>Vaterite</a:t>
            </a:r>
            <a:r>
              <a:rPr lang="fr-FR" sz="1800" b="1" dirty="0"/>
              <a:t> </a:t>
            </a:r>
            <a:r>
              <a:rPr lang="fr-FR" sz="1800" b="1" dirty="0" err="1"/>
              <a:t>synthetic</a:t>
            </a:r>
            <a:endParaRPr lang="fr-FR" sz="1800" b="1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33C771D-3E6B-9EAA-68DC-7853041F7E09}"/>
              </a:ext>
            </a:extLst>
          </p:cNvPr>
          <p:cNvSpPr txBox="1"/>
          <p:nvPr/>
        </p:nvSpPr>
        <p:spPr>
          <a:xfrm>
            <a:off x="6297578" y="4957839"/>
            <a:ext cx="1236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ACC </a:t>
            </a:r>
            <a:r>
              <a:rPr lang="fr-FR" sz="1800" b="1" dirty="0" err="1"/>
              <a:t>synthetic</a:t>
            </a:r>
            <a:endParaRPr lang="fr-FR" sz="1800" b="1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982C5B4-0063-BA8E-CDEA-3F4D9A14D34A}"/>
              </a:ext>
            </a:extLst>
          </p:cNvPr>
          <p:cNvSpPr txBox="1"/>
          <p:nvPr/>
        </p:nvSpPr>
        <p:spPr>
          <a:xfrm>
            <a:off x="9420890" y="3141724"/>
            <a:ext cx="1226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CCHH </a:t>
            </a:r>
            <a:r>
              <a:rPr lang="fr-FR" sz="1800" b="1" dirty="0" err="1"/>
              <a:t>synthetic</a:t>
            </a:r>
            <a:endParaRPr lang="fr-FR" sz="1800" b="1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45752BE-8719-BF8F-5EB8-6D91D8ABE7A5}"/>
              </a:ext>
            </a:extLst>
          </p:cNvPr>
          <p:cNvSpPr txBox="1"/>
          <p:nvPr/>
        </p:nvSpPr>
        <p:spPr>
          <a:xfrm>
            <a:off x="9420890" y="4981956"/>
            <a:ext cx="1177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MHC </a:t>
            </a:r>
            <a:r>
              <a:rPr lang="fr-FR" sz="1800" b="1" dirty="0" err="1"/>
              <a:t>synthetic</a:t>
            </a:r>
            <a:endParaRPr lang="fr-FR" sz="1800" b="1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45BD7D45-8747-6B5D-CDE9-7307D7919174}"/>
              </a:ext>
            </a:extLst>
          </p:cNvPr>
          <p:cNvSpPr txBox="1"/>
          <p:nvPr/>
        </p:nvSpPr>
        <p:spPr>
          <a:xfrm>
            <a:off x="145888" y="3600887"/>
            <a:ext cx="2728612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(</a:t>
            </a:r>
            <a:r>
              <a:rPr lang="fr-FR" sz="1400" b="1" dirty="0">
                <a:solidFill>
                  <a:srgbClr val="FF0000"/>
                </a:solidFill>
              </a:rPr>
              <a:t>*</a:t>
            </a:r>
            <a:r>
              <a:rPr lang="fr-FR" sz="1400" dirty="0"/>
              <a:t>) déconvolué par la </a:t>
            </a:r>
            <a:r>
              <a:rPr lang="fr-FR" sz="1400" i="1" dirty="0"/>
              <a:t>résolution théorique maximale</a:t>
            </a:r>
            <a:r>
              <a:rPr lang="fr-FR" sz="1400" b="1" dirty="0">
                <a:solidFill>
                  <a:srgbClr val="FF0000"/>
                </a:solidFill>
              </a:rPr>
              <a:t> </a:t>
            </a:r>
            <a:r>
              <a:rPr lang="fr-FR" sz="1400" dirty="0"/>
              <a:t>du </a:t>
            </a:r>
            <a:r>
              <a:rPr lang="fr-FR" sz="1400" dirty="0" err="1"/>
              <a:t>raman</a:t>
            </a:r>
            <a:r>
              <a:rPr lang="fr-FR" sz="1400" dirty="0"/>
              <a:t> spontané :</a:t>
            </a:r>
          </a:p>
          <a:p>
            <a:r>
              <a:rPr lang="fr-FR" sz="1400" dirty="0"/>
              <a:t>Paramètres : </a:t>
            </a:r>
          </a:p>
          <a:p>
            <a:r>
              <a:rPr lang="fr-FR" sz="1200" dirty="0"/>
              <a:t> - </a:t>
            </a:r>
            <a:r>
              <a:rPr lang="fr-FR" sz="1200" dirty="0" err="1"/>
              <a:t>grating</a:t>
            </a:r>
            <a:r>
              <a:rPr lang="fr-FR" sz="1200" dirty="0"/>
              <a:t> : 1800 (500nm)</a:t>
            </a:r>
            <a:br>
              <a:rPr lang="fr-FR" sz="1400" dirty="0"/>
            </a:br>
            <a:r>
              <a:rPr lang="fr-FR" sz="1200" dirty="0"/>
              <a:t> - Laser : 532nm_Edge</a:t>
            </a:r>
            <a:br>
              <a:rPr lang="fr-FR" sz="1400" dirty="0"/>
            </a:br>
            <a:r>
              <a:rPr lang="fr-FR" sz="1400" dirty="0"/>
              <a:t> </a:t>
            </a:r>
            <a:r>
              <a:rPr lang="fr-FR" sz="1200" dirty="0"/>
              <a:t>- objectif x20</a:t>
            </a:r>
            <a:endParaRPr lang="fr-FR" sz="1400" dirty="0"/>
          </a:p>
          <a:p>
            <a:endParaRPr lang="fr-FR" sz="1400" dirty="0"/>
          </a:p>
          <a:p>
            <a:r>
              <a:rPr lang="fr-FR" sz="1400" b="0" i="0" dirty="0">
                <a:solidFill>
                  <a:schemeClr val="tx1"/>
                </a:solidFill>
                <a:effectLst/>
                <a:latin typeface="+mn-lt"/>
              </a:rPr>
              <a:t>Spectral </a:t>
            </a:r>
            <a:r>
              <a:rPr lang="fr-FR" sz="1400" b="0" i="0" dirty="0" err="1">
                <a:solidFill>
                  <a:schemeClr val="tx1"/>
                </a:solidFill>
                <a:effectLst/>
                <a:latin typeface="+mn-lt"/>
              </a:rPr>
              <a:t>Resolutions</a:t>
            </a:r>
            <a:r>
              <a:rPr lang="fr-FR" sz="1400" b="0" i="0" dirty="0">
                <a:solidFill>
                  <a:schemeClr val="tx1"/>
                </a:solidFill>
                <a:effectLst/>
                <a:latin typeface="+mn-lt"/>
              </a:rPr>
              <a:t> (Hole50m, 100x Objective, FWHM) :</a:t>
            </a:r>
            <a:br>
              <a:rPr lang="fr-FR" sz="1400" dirty="0"/>
            </a:br>
            <a:r>
              <a:rPr lang="fr-FR" sz="1400" dirty="0"/>
              <a:t>- </a:t>
            </a:r>
            <a:r>
              <a:rPr lang="fr-FR" sz="1400" b="0" i="0" dirty="0" err="1">
                <a:solidFill>
                  <a:schemeClr val="tx1"/>
                </a:solidFill>
                <a:effectLst/>
                <a:latin typeface="+mn-lt"/>
              </a:rPr>
              <a:t>Grating</a:t>
            </a:r>
            <a:r>
              <a:rPr lang="fr-FR" sz="1400" b="0" i="0" dirty="0">
                <a:solidFill>
                  <a:schemeClr val="tx1"/>
                </a:solidFill>
                <a:effectLst/>
                <a:latin typeface="+mn-lt"/>
              </a:rPr>
              <a:t> 1800 g/mm: 585.25 nm 1.66cm-1 (&lt;</a:t>
            </a:r>
            <a:r>
              <a:rPr lang="fr-FR" sz="1400" b="1" i="0" dirty="0">
                <a:solidFill>
                  <a:schemeClr val="tx1"/>
                </a:solidFill>
                <a:effectLst/>
                <a:latin typeface="+mn-lt"/>
              </a:rPr>
              <a:t>2.3 cm-1</a:t>
            </a:r>
            <a:r>
              <a:rPr lang="fr-FR" sz="1400" b="1" i="0" dirty="0">
                <a:solidFill>
                  <a:srgbClr val="FF0000"/>
                </a:solidFill>
                <a:effectLst/>
                <a:latin typeface="+mn-lt"/>
              </a:rPr>
              <a:t>*</a:t>
            </a:r>
            <a:r>
              <a:rPr lang="fr-FR" sz="14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9973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3F62A-A533-FF35-45FD-72023A32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A50E68C5-353B-200A-4129-724E173DA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78329"/>
              </p:ext>
            </p:extLst>
          </p:nvPr>
        </p:nvGraphicFramePr>
        <p:xfrm>
          <a:off x="161332" y="120634"/>
          <a:ext cx="11854659" cy="3370897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041171">
                  <a:extLst>
                    <a:ext uri="{9D8B030D-6E8A-4147-A177-3AD203B41FA5}">
                      <a16:colId xmlns:a16="http://schemas.microsoft.com/office/drawing/2014/main" val="3251183835"/>
                    </a:ext>
                  </a:extLst>
                </a:gridCol>
                <a:gridCol w="1345873">
                  <a:extLst>
                    <a:ext uri="{9D8B030D-6E8A-4147-A177-3AD203B41FA5}">
                      <a16:colId xmlns:a16="http://schemas.microsoft.com/office/drawing/2014/main" val="1204036976"/>
                    </a:ext>
                  </a:extLst>
                </a:gridCol>
                <a:gridCol w="1693523">
                  <a:extLst>
                    <a:ext uri="{9D8B030D-6E8A-4147-A177-3AD203B41FA5}">
                      <a16:colId xmlns:a16="http://schemas.microsoft.com/office/drawing/2014/main" val="3725383711"/>
                    </a:ext>
                  </a:extLst>
                </a:gridCol>
                <a:gridCol w="1693523">
                  <a:extLst>
                    <a:ext uri="{9D8B030D-6E8A-4147-A177-3AD203B41FA5}">
                      <a16:colId xmlns:a16="http://schemas.microsoft.com/office/drawing/2014/main" val="2561449884"/>
                    </a:ext>
                  </a:extLst>
                </a:gridCol>
                <a:gridCol w="1693523">
                  <a:extLst>
                    <a:ext uri="{9D8B030D-6E8A-4147-A177-3AD203B41FA5}">
                      <a16:colId xmlns:a16="http://schemas.microsoft.com/office/drawing/2014/main" val="1270338505"/>
                    </a:ext>
                  </a:extLst>
                </a:gridCol>
                <a:gridCol w="1693523">
                  <a:extLst>
                    <a:ext uri="{9D8B030D-6E8A-4147-A177-3AD203B41FA5}">
                      <a16:colId xmlns:a16="http://schemas.microsoft.com/office/drawing/2014/main" val="2330157547"/>
                    </a:ext>
                  </a:extLst>
                </a:gridCol>
                <a:gridCol w="1693523">
                  <a:extLst>
                    <a:ext uri="{9D8B030D-6E8A-4147-A177-3AD203B41FA5}">
                      <a16:colId xmlns:a16="http://schemas.microsoft.com/office/drawing/2014/main" val="290116242"/>
                    </a:ext>
                  </a:extLst>
                </a:gridCol>
              </a:tblGrid>
              <a:tr h="640080">
                <a:tc grid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800" b="1" dirty="0"/>
                        <a:t>Résultat Raman spontané – échantillon synthétique ou géologique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070108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sample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Calcite </a:t>
                      </a:r>
                      <a:r>
                        <a:rPr lang="fr-FR" sz="1800" b="1" dirty="0" err="1"/>
                        <a:t>geologic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Aragonite </a:t>
                      </a:r>
                      <a:r>
                        <a:rPr lang="fr-FR" sz="1800" b="1" dirty="0" err="1"/>
                        <a:t>geologic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Vaterite</a:t>
                      </a:r>
                      <a:r>
                        <a:rPr lang="fr-FR" sz="1800" b="1" dirty="0"/>
                        <a:t>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ACC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CCHH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MHC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82828191"/>
                  </a:ext>
                </a:extLst>
              </a:tr>
              <a:tr h="719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Nu (cm</a:t>
                      </a:r>
                      <a:r>
                        <a:rPr lang="fr-FR" sz="1800" b="1" baseline="30000" dirty="0"/>
                        <a:t>-1</a:t>
                      </a:r>
                      <a:r>
                        <a:rPr lang="fr-FR" sz="1800" b="1" baseline="0" dirty="0"/>
                        <a:t>)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1075, (1080,) 1090.8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1100.1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1067.5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9803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FWHM_déconvolué</a:t>
                      </a:r>
                      <a:r>
                        <a:rPr lang="fr-FR" sz="18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fr-FR" sz="1800" b="1" dirty="0"/>
                        <a:t> (cm-1)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7.9,(?),8.0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3909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FWHM_mes</a:t>
                      </a:r>
                      <a:r>
                        <a:rPr lang="fr-FR" sz="1800" b="1" dirty="0"/>
                        <a:t> (2ps)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9.9,10.7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[11.2,14.2]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11.9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43244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FWHM_instr</a:t>
                      </a:r>
                      <a:r>
                        <a:rPr lang="fr-FR" sz="1800" b="1" dirty="0"/>
                        <a:t> (2ps)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9.3,10.2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9.3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[9.5,12.9]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10.6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082062"/>
                  </a:ext>
                </a:extLst>
              </a:tr>
            </a:tbl>
          </a:graphicData>
        </a:graphic>
      </p:graphicFrame>
      <p:sp>
        <p:nvSpPr>
          <p:cNvPr id="32" name="ZoneTexte 31">
            <a:extLst>
              <a:ext uri="{FF2B5EF4-FFF2-40B4-BE49-F238E27FC236}">
                <a16:creationId xmlns:a16="http://schemas.microsoft.com/office/drawing/2014/main" id="{829466EF-A2D7-C08B-72FC-BB936CC05064}"/>
              </a:ext>
            </a:extLst>
          </p:cNvPr>
          <p:cNvSpPr txBox="1"/>
          <p:nvPr/>
        </p:nvSpPr>
        <p:spPr>
          <a:xfrm>
            <a:off x="275087" y="4099524"/>
            <a:ext cx="81551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2000" dirty="0"/>
          </a:p>
          <a:p>
            <a:endParaRPr lang="fr-FR" sz="2000" dirty="0"/>
          </a:p>
        </p:txBody>
      </p:sp>
      <p:pic>
        <p:nvPicPr>
          <p:cNvPr id="6" name="Google Shape;437;g3c6a03a50ee_0_9" descr="Une image contenant ligne, Tracé, diagramme, texte&#10;&#10;Le contenu généré par l’IA peut être incorrect.">
            <a:extLst>
              <a:ext uri="{FF2B5EF4-FFF2-40B4-BE49-F238E27FC236}">
                <a16:creationId xmlns:a16="http://schemas.microsoft.com/office/drawing/2014/main" id="{A9B27FD1-03E1-089E-3647-3E700E2433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00319" y="4068637"/>
            <a:ext cx="3243982" cy="266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537;g3c74465a41f_0_22" descr="Une image contenant Tracé, ligne, diagramme, texte&#10;&#10;Le contenu généré par l’IA peut être incorrect.">
            <a:extLst>
              <a:ext uri="{FF2B5EF4-FFF2-40B4-BE49-F238E27FC236}">
                <a16:creationId xmlns:a16="http://schemas.microsoft.com/office/drawing/2014/main" id="{052FC4A3-EC60-D8AD-3094-ABE5B63465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1332" y="4068637"/>
            <a:ext cx="1976562" cy="1054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48;g3c74465a41f_0_29" descr="Une image contenant Tracé, diagramme, ligne, texte&#10;&#10;Le contenu généré par l’IA peut être incorrect.">
            <a:extLst>
              <a:ext uri="{FF2B5EF4-FFF2-40B4-BE49-F238E27FC236}">
                <a16:creationId xmlns:a16="http://schemas.microsoft.com/office/drawing/2014/main" id="{40BA4DF6-66EC-E159-9705-B223B932C19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28128" y="4079119"/>
            <a:ext cx="1976562" cy="1109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220CAB5-C90F-C306-7446-02438A3968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9723" y="5513004"/>
            <a:ext cx="1976562" cy="132632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0582A296-CE69-703E-F7DC-02EC8661F3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9723" y="4044657"/>
            <a:ext cx="1976562" cy="1310146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7C4DF38D-2063-C3F1-CD7C-F456FF66C7D2}"/>
              </a:ext>
            </a:extLst>
          </p:cNvPr>
          <p:cNvSpPr txBox="1"/>
          <p:nvPr/>
        </p:nvSpPr>
        <p:spPr>
          <a:xfrm>
            <a:off x="4831724" y="36550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CCHH </a:t>
            </a:r>
            <a:r>
              <a:rPr lang="fr-FR" sz="1800" b="1" dirty="0" err="1"/>
              <a:t>synthetic</a:t>
            </a:r>
            <a:endParaRPr lang="fr-FR" sz="1800" b="1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C8A6379-5204-05E3-495F-21611AE85CEC}"/>
              </a:ext>
            </a:extLst>
          </p:cNvPr>
          <p:cNvSpPr txBox="1"/>
          <p:nvPr/>
        </p:nvSpPr>
        <p:spPr>
          <a:xfrm>
            <a:off x="2418977" y="3689981"/>
            <a:ext cx="2118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Aragonite </a:t>
            </a:r>
            <a:r>
              <a:rPr lang="fr-FR" sz="1800" b="1" dirty="0" err="1"/>
              <a:t>geologic</a:t>
            </a:r>
            <a:endParaRPr lang="fr-FR" sz="1800" b="1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070BCA3-C782-7304-0B4B-702C51240892}"/>
              </a:ext>
            </a:extLst>
          </p:cNvPr>
          <p:cNvSpPr txBox="1"/>
          <p:nvPr/>
        </p:nvSpPr>
        <p:spPr>
          <a:xfrm>
            <a:off x="252940" y="36590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Calcite </a:t>
            </a:r>
            <a:r>
              <a:rPr lang="fr-FR" sz="1800" b="1" dirty="0" err="1"/>
              <a:t>geologic</a:t>
            </a:r>
            <a:endParaRPr lang="fr-FR" sz="1800" b="1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50631CC-E66E-5BF5-C56C-9D9AA25FBBAD}"/>
              </a:ext>
            </a:extLst>
          </p:cNvPr>
          <p:cNvSpPr txBox="1"/>
          <p:nvPr/>
        </p:nvSpPr>
        <p:spPr>
          <a:xfrm>
            <a:off x="9144000" y="36108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MHC </a:t>
            </a:r>
            <a:r>
              <a:rPr lang="fr-FR" sz="1800" b="1" dirty="0" err="1"/>
              <a:t>synthetic</a:t>
            </a:r>
            <a:endParaRPr lang="fr-FR" sz="1800" b="1" dirty="0"/>
          </a:p>
        </p:txBody>
      </p:sp>
      <p:pic>
        <p:nvPicPr>
          <p:cNvPr id="3" name="Google Shape;105;p3">
            <a:extLst>
              <a:ext uri="{FF2B5EF4-FFF2-40B4-BE49-F238E27FC236}">
                <a16:creationId xmlns:a16="http://schemas.microsoft.com/office/drawing/2014/main" id="{930AC3F1-F0C2-637E-08A0-40BADAC92C3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32491"/>
          <a:stretch>
            <a:fillRect/>
          </a:stretch>
        </p:blipFill>
        <p:spPr>
          <a:xfrm>
            <a:off x="275087" y="5354803"/>
            <a:ext cx="1873554" cy="11692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026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DBFDB-C49C-D442-E0AD-71B6C71D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DDC3362A-72E6-B8AF-C306-9955BA2F4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957221"/>
              </p:ext>
            </p:extLst>
          </p:nvPr>
        </p:nvGraphicFramePr>
        <p:xfrm>
          <a:off x="161332" y="120634"/>
          <a:ext cx="11854659" cy="3370897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041171">
                  <a:extLst>
                    <a:ext uri="{9D8B030D-6E8A-4147-A177-3AD203B41FA5}">
                      <a16:colId xmlns:a16="http://schemas.microsoft.com/office/drawing/2014/main" val="3251183835"/>
                    </a:ext>
                  </a:extLst>
                </a:gridCol>
                <a:gridCol w="1345873">
                  <a:extLst>
                    <a:ext uri="{9D8B030D-6E8A-4147-A177-3AD203B41FA5}">
                      <a16:colId xmlns:a16="http://schemas.microsoft.com/office/drawing/2014/main" val="1204036976"/>
                    </a:ext>
                  </a:extLst>
                </a:gridCol>
                <a:gridCol w="1693523">
                  <a:extLst>
                    <a:ext uri="{9D8B030D-6E8A-4147-A177-3AD203B41FA5}">
                      <a16:colId xmlns:a16="http://schemas.microsoft.com/office/drawing/2014/main" val="3725383711"/>
                    </a:ext>
                  </a:extLst>
                </a:gridCol>
                <a:gridCol w="1693523">
                  <a:extLst>
                    <a:ext uri="{9D8B030D-6E8A-4147-A177-3AD203B41FA5}">
                      <a16:colId xmlns:a16="http://schemas.microsoft.com/office/drawing/2014/main" val="2561449884"/>
                    </a:ext>
                  </a:extLst>
                </a:gridCol>
                <a:gridCol w="1693523">
                  <a:extLst>
                    <a:ext uri="{9D8B030D-6E8A-4147-A177-3AD203B41FA5}">
                      <a16:colId xmlns:a16="http://schemas.microsoft.com/office/drawing/2014/main" val="1270338505"/>
                    </a:ext>
                  </a:extLst>
                </a:gridCol>
                <a:gridCol w="1693523">
                  <a:extLst>
                    <a:ext uri="{9D8B030D-6E8A-4147-A177-3AD203B41FA5}">
                      <a16:colId xmlns:a16="http://schemas.microsoft.com/office/drawing/2014/main" val="2330157547"/>
                    </a:ext>
                  </a:extLst>
                </a:gridCol>
                <a:gridCol w="1693523">
                  <a:extLst>
                    <a:ext uri="{9D8B030D-6E8A-4147-A177-3AD203B41FA5}">
                      <a16:colId xmlns:a16="http://schemas.microsoft.com/office/drawing/2014/main" val="290116242"/>
                    </a:ext>
                  </a:extLst>
                </a:gridCol>
              </a:tblGrid>
              <a:tr h="640080">
                <a:tc grid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800" b="1" dirty="0"/>
                        <a:t>Résultat Raman spontané – échantillon synthétique ou géologique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070108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sample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Calcite </a:t>
                      </a:r>
                      <a:r>
                        <a:rPr lang="fr-FR" sz="1800" b="1" dirty="0" err="1"/>
                        <a:t>geologic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Aragonite </a:t>
                      </a:r>
                      <a:r>
                        <a:rPr lang="fr-FR" sz="1800" b="1" dirty="0" err="1"/>
                        <a:t>geologic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Vaterite</a:t>
                      </a:r>
                      <a:r>
                        <a:rPr lang="fr-FR" sz="1800" b="1" dirty="0"/>
                        <a:t>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ACC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CCHH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MHC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82828191"/>
                  </a:ext>
                </a:extLst>
              </a:tr>
              <a:tr h="719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Nu (cm</a:t>
                      </a:r>
                      <a:r>
                        <a:rPr lang="fr-FR" sz="1800" b="1" baseline="30000" dirty="0"/>
                        <a:t>-1</a:t>
                      </a:r>
                      <a:r>
                        <a:rPr lang="fr-FR" sz="1800" b="1" baseline="0" dirty="0"/>
                        <a:t>)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1075, (1080,) 1090.8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1100.1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1067.5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9803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FWHM_déconvolué</a:t>
                      </a:r>
                      <a:r>
                        <a:rPr lang="fr-FR" sz="18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fr-FR" sz="1800" b="1" dirty="0"/>
                        <a:t> (cm-1)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7.9,(?),8.0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3909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FWHM_mes</a:t>
                      </a:r>
                      <a:r>
                        <a:rPr lang="fr-FR" sz="1800" b="1" dirty="0"/>
                        <a:t> (7ps)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43244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FWHM_instr</a:t>
                      </a:r>
                      <a:r>
                        <a:rPr lang="fr-FR" sz="1800" b="1" dirty="0"/>
                        <a:t> (7ps)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082062"/>
                  </a:ext>
                </a:extLst>
              </a:tr>
            </a:tbl>
          </a:graphicData>
        </a:graphic>
      </p:graphicFrame>
      <p:sp>
        <p:nvSpPr>
          <p:cNvPr id="32" name="ZoneTexte 31">
            <a:extLst>
              <a:ext uri="{FF2B5EF4-FFF2-40B4-BE49-F238E27FC236}">
                <a16:creationId xmlns:a16="http://schemas.microsoft.com/office/drawing/2014/main" id="{CABC45E3-495B-AD8C-9A05-F897C4CC18F9}"/>
              </a:ext>
            </a:extLst>
          </p:cNvPr>
          <p:cNvSpPr txBox="1"/>
          <p:nvPr/>
        </p:nvSpPr>
        <p:spPr>
          <a:xfrm>
            <a:off x="275087" y="4099524"/>
            <a:ext cx="81551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2000" dirty="0"/>
          </a:p>
          <a:p>
            <a:endParaRPr lang="fr-FR" sz="200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BBA47D3-D0E5-173D-0DF0-26CAFF4BA668}"/>
              </a:ext>
            </a:extLst>
          </p:cNvPr>
          <p:cNvSpPr txBox="1"/>
          <p:nvPr/>
        </p:nvSpPr>
        <p:spPr>
          <a:xfrm>
            <a:off x="4831724" y="36550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CCHH </a:t>
            </a:r>
            <a:r>
              <a:rPr lang="fr-FR" sz="1800" b="1" dirty="0" err="1"/>
              <a:t>synthetic</a:t>
            </a:r>
            <a:endParaRPr lang="fr-FR" sz="1800" b="1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2FB460D-02EE-286B-8108-4E2B7EEDB2FD}"/>
              </a:ext>
            </a:extLst>
          </p:cNvPr>
          <p:cNvSpPr txBox="1"/>
          <p:nvPr/>
        </p:nvSpPr>
        <p:spPr>
          <a:xfrm>
            <a:off x="2418977" y="3689981"/>
            <a:ext cx="2118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Aragonite </a:t>
            </a:r>
            <a:r>
              <a:rPr lang="fr-FR" sz="1800" b="1" dirty="0" err="1"/>
              <a:t>geologic</a:t>
            </a:r>
            <a:endParaRPr lang="fr-FR" sz="1800" b="1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6960722-DA7A-2BD1-5E3D-206C4189A5E7}"/>
              </a:ext>
            </a:extLst>
          </p:cNvPr>
          <p:cNvSpPr txBox="1"/>
          <p:nvPr/>
        </p:nvSpPr>
        <p:spPr>
          <a:xfrm>
            <a:off x="252940" y="36590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Calcite </a:t>
            </a:r>
            <a:r>
              <a:rPr lang="fr-FR" sz="1800" b="1" dirty="0" err="1"/>
              <a:t>geologic</a:t>
            </a:r>
            <a:endParaRPr lang="fr-FR" sz="1800" b="1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4578793-4F71-40E5-7EF5-EBB6F02A1EA5}"/>
              </a:ext>
            </a:extLst>
          </p:cNvPr>
          <p:cNvSpPr txBox="1"/>
          <p:nvPr/>
        </p:nvSpPr>
        <p:spPr>
          <a:xfrm>
            <a:off x="9144000" y="36108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MHC </a:t>
            </a:r>
            <a:r>
              <a:rPr lang="fr-FR" sz="1800" b="1" dirty="0" err="1"/>
              <a:t>synthetic</a:t>
            </a:r>
            <a:endParaRPr lang="fr-FR" sz="1800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32E7460-2A1A-5348-733F-9CDE9867A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7252"/>
            <a:ext cx="3555682" cy="232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4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184D7-145B-8DB4-C251-2370EE668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71141D-E1A7-D9F0-1FED-CB7629572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07655" y="183886"/>
            <a:ext cx="5734411" cy="1109663"/>
          </a:xfrm>
        </p:spPr>
        <p:txBody>
          <a:bodyPr>
            <a:normAutofit fontScale="90000"/>
          </a:bodyPr>
          <a:lstStyle/>
          <a:p>
            <a:r>
              <a:rPr lang="fr-FR" sz="4000" dirty="0" err="1"/>
              <a:t>Chirp</a:t>
            </a:r>
            <a:r>
              <a:rPr lang="fr-FR" sz="4000" dirty="0"/>
              <a:t> – Calcul de </a:t>
            </a:r>
            <a:r>
              <a:rPr lang="fr-FR" sz="4000" dirty="0" err="1"/>
              <a:t>FWHM_instr</a:t>
            </a:r>
            <a:endParaRPr lang="fr-F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au 6">
                <a:extLst>
                  <a:ext uri="{FF2B5EF4-FFF2-40B4-BE49-F238E27FC236}">
                    <a16:creationId xmlns:a16="http://schemas.microsoft.com/office/drawing/2014/main" id="{0BE9739A-7294-26CF-4B68-99D6EAE766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8620885"/>
                  </p:ext>
                </p:extLst>
              </p:nvPr>
            </p:nvGraphicFramePr>
            <p:xfrm>
              <a:off x="5191766" y="2604836"/>
              <a:ext cx="6911740" cy="23774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51238">
                      <a:extLst>
                        <a:ext uri="{9D8B030D-6E8A-4147-A177-3AD203B41FA5}">
                          <a16:colId xmlns:a16="http://schemas.microsoft.com/office/drawing/2014/main" val="1187242739"/>
                        </a:ext>
                      </a:extLst>
                    </a:gridCol>
                    <a:gridCol w="1151238">
                      <a:extLst>
                        <a:ext uri="{9D8B030D-6E8A-4147-A177-3AD203B41FA5}">
                          <a16:colId xmlns:a16="http://schemas.microsoft.com/office/drawing/2014/main" val="3569624622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1326026841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230273949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762247172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1397279243"/>
                        </a:ext>
                      </a:extLst>
                    </a:gridCol>
                  </a:tblGrid>
                  <a:tr h="782345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effectLst/>
                            </a:rPr>
                            <a:t>Durée pulse (</a:t>
                          </a:r>
                          <a:r>
                            <a:rPr lang="el-GR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Δτ</a:t>
                          </a:r>
                          <a:r>
                            <a:rPr lang="fr-FR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fwhm_instr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mesurée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fwhm_calcite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(mesure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raman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)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effectLst/>
                            </a:rPr>
                            <a:t>Valeur convoluée théorique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1" dirty="0">
                              <a:effectLst/>
                            </a:rPr>
                            <a:t>valeurs expérimentales SRS</a:t>
                          </a:r>
                          <a:endParaRPr lang="fr-FR" sz="1400" b="1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6159894"/>
                      </a:ext>
                    </a:extLst>
                  </a:tr>
                  <a:tr h="782345"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no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chirp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3.0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ps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6.9 cm-1 (4.9 pour un pulse)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fr-FR" sz="1400" i="0" dirty="0" smtClean="0"/>
                                  <m:t>3.5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b="0" i="0" smtClean="0">
                                    <a:latin typeface="Cambria Math" panose="02040503050406030204" pitchFamily="18" charset="0"/>
                                  </a:rPr>
                                  <m:t>7.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smtClean="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fr-FR" sz="14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07327800"/>
                      </a:ext>
                    </a:extLst>
                  </a:tr>
                  <a:tr h="7823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24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chirp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24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9.9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ps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2,0 cm-1 (1.49 pour un pulse)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fr-FR" sz="1400" i="0" dirty="0" smtClean="0"/>
                                  <m:t>3.5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b="0" i="0" smtClean="0">
                                    <a:latin typeface="Cambria Math" panose="02040503050406030204" pitchFamily="18" charset="0"/>
                                  </a:rPr>
                                  <m:t>4.1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smtClean="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fr-FR" sz="1400" b="0" i="0" smtClean="0">
                                    <a:latin typeface="Cambria Math" panose="02040503050406030204" pitchFamily="18" charset="0"/>
                                  </a:rPr>
                                  <m:t>4.</m:t>
                                </m:r>
                                <m:r>
                                  <a:rPr lang="fr-FR" sz="140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303044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au 6">
                <a:extLst>
                  <a:ext uri="{FF2B5EF4-FFF2-40B4-BE49-F238E27FC236}">
                    <a16:creationId xmlns:a16="http://schemas.microsoft.com/office/drawing/2014/main" id="{0BE9739A-7294-26CF-4B68-99D6EAE766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8620885"/>
                  </p:ext>
                </p:extLst>
              </p:nvPr>
            </p:nvGraphicFramePr>
            <p:xfrm>
              <a:off x="5191766" y="2604836"/>
              <a:ext cx="6911740" cy="23774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51238">
                      <a:extLst>
                        <a:ext uri="{9D8B030D-6E8A-4147-A177-3AD203B41FA5}">
                          <a16:colId xmlns:a16="http://schemas.microsoft.com/office/drawing/2014/main" val="1187242739"/>
                        </a:ext>
                      </a:extLst>
                    </a:gridCol>
                    <a:gridCol w="1151238">
                      <a:extLst>
                        <a:ext uri="{9D8B030D-6E8A-4147-A177-3AD203B41FA5}">
                          <a16:colId xmlns:a16="http://schemas.microsoft.com/office/drawing/2014/main" val="3569624622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1326026841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230273949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762247172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1397279243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effectLst/>
                            </a:rPr>
                            <a:t>Durée pulse (</a:t>
                          </a:r>
                          <a:r>
                            <a:rPr lang="el-GR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Δτ</a:t>
                          </a:r>
                          <a:r>
                            <a:rPr lang="fr-FR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fwhm_instr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mesurée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fwhm_calcite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(mesure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raman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)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effectLst/>
                            </a:rPr>
                            <a:t>Valeur convoluée théorique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1" dirty="0">
                              <a:effectLst/>
                            </a:rPr>
                            <a:t>valeurs expérimentales SRS</a:t>
                          </a:r>
                          <a:endParaRPr lang="fr-FR" sz="1400" b="1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6159894"/>
                      </a:ext>
                    </a:extLst>
                  </a:tr>
                  <a:tr h="792480"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no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chirp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3.0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ps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6.9 cm-1 (4.9 pour un pulse)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8947" t="-100000" r="-200000" b="-103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1058" t="-100000" r="-101058" b="-103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1058" t="-100000" r="-1058" b="-103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7327800"/>
                      </a:ext>
                    </a:extLst>
                  </a:tr>
                  <a:tr h="7924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24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chirp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24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9.9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ps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2,0 cm-1 (1.49 pour un pulse)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8947" t="-201538" r="-20000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1058" t="-201538" r="-101058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1058" t="-201538" r="-1058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030447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EAB3768B-5C9A-BBD4-958E-8EFA6EB9E58E}"/>
              </a:ext>
            </a:extLst>
          </p:cNvPr>
          <p:cNvSpPr txBox="1"/>
          <p:nvPr/>
        </p:nvSpPr>
        <p:spPr>
          <a:xfrm>
            <a:off x="124044" y="4243612"/>
            <a:ext cx="46805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Fig. </a:t>
            </a:r>
            <a:r>
              <a:rPr lang="fr-FR" dirty="0" err="1"/>
              <a:t>Observed</a:t>
            </a:r>
            <a:r>
              <a:rPr lang="fr-FR" dirty="0"/>
              <a:t> </a:t>
            </a:r>
            <a:r>
              <a:rPr lang="fr-FR" dirty="0" err="1"/>
              <a:t>Sum</a:t>
            </a:r>
            <a:r>
              <a:rPr lang="fr-FR" dirty="0"/>
              <a:t> </a:t>
            </a:r>
            <a:r>
              <a:rPr lang="fr-FR" dirty="0" err="1"/>
              <a:t>Frequence</a:t>
            </a:r>
            <a:r>
              <a:rPr lang="fr-FR" dirty="0"/>
              <a:t> </a:t>
            </a:r>
            <a:r>
              <a:rPr lang="fr-FR" dirty="0" err="1"/>
              <a:t>Generation</a:t>
            </a:r>
            <a:r>
              <a:rPr lang="fr-FR" dirty="0"/>
              <a:t> (SFG) </a:t>
            </a:r>
            <a:r>
              <a:rPr lang="fr-FR" dirty="0" err="1"/>
              <a:t>between</a:t>
            </a:r>
            <a:r>
              <a:rPr lang="fr-FR" dirty="0"/>
              <a:t> Stokes and </a:t>
            </a:r>
            <a:r>
              <a:rPr lang="fr-FR" dirty="0" err="1"/>
              <a:t>pump</a:t>
            </a:r>
            <a:r>
              <a:rPr lang="fr-FR" dirty="0"/>
              <a:t> </a:t>
            </a:r>
            <a:r>
              <a:rPr lang="fr-FR" dirty="0" err="1"/>
              <a:t>beam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and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. Full </a:t>
            </a:r>
            <a:r>
              <a:rPr lang="fr-FR" dirty="0" err="1"/>
              <a:t>Widths</a:t>
            </a:r>
            <a:r>
              <a:rPr lang="fr-FR" dirty="0"/>
              <a:t> at Half Maximum (FWHM) </a:t>
            </a:r>
            <a:r>
              <a:rPr lang="fr-FR" dirty="0" err="1"/>
              <a:t>were</a:t>
            </a:r>
            <a:r>
              <a:rPr lang="fr-FR" dirty="0"/>
              <a:t> </a:t>
            </a:r>
            <a:r>
              <a:rPr lang="fr-FR" dirty="0" err="1"/>
              <a:t>calculated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Gaussian</a:t>
            </a:r>
            <a:r>
              <a:rPr lang="fr-FR" dirty="0"/>
              <a:t> </a:t>
            </a:r>
            <a:r>
              <a:rPr lang="fr-FR" dirty="0" err="1"/>
              <a:t>fitting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. 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B3FE928-2928-AE12-F7F9-E34B82BF0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79" y="1293549"/>
            <a:ext cx="4122121" cy="2856639"/>
          </a:xfrm>
          <a:prstGeom prst="rect">
            <a:avLst/>
          </a:prstGeom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E7F5F58F-431F-4880-1A25-F0E24084E84C}"/>
              </a:ext>
            </a:extLst>
          </p:cNvPr>
          <p:cNvCxnSpPr>
            <a:cxnSpLocks/>
          </p:cNvCxnSpPr>
          <p:nvPr/>
        </p:nvCxnSpPr>
        <p:spPr>
          <a:xfrm>
            <a:off x="7148052" y="1828620"/>
            <a:ext cx="0" cy="7375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8D10CB99-F04A-D1CE-02DC-A3B8E3302C44}"/>
              </a:ext>
            </a:extLst>
          </p:cNvPr>
          <p:cNvSpPr txBox="1"/>
          <p:nvPr/>
        </p:nvSpPr>
        <p:spPr>
          <a:xfrm>
            <a:off x="10753007" y="1548258"/>
            <a:ext cx="1582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6"/>
                </a:solidFill>
              </a:rPr>
              <a:t>Cas calcite synthétique</a:t>
            </a:r>
          </a:p>
          <a:p>
            <a:r>
              <a:rPr lang="fr-FR" dirty="0">
                <a:solidFill>
                  <a:schemeClr val="accent6"/>
                </a:solidFill>
              </a:rPr>
              <a:t>moyen 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72B1D9-C586-68F6-0493-6425A460DB0A}"/>
              </a:ext>
            </a:extLst>
          </p:cNvPr>
          <p:cNvSpPr/>
          <p:nvPr/>
        </p:nvSpPr>
        <p:spPr>
          <a:xfrm>
            <a:off x="10985500" y="2604836"/>
            <a:ext cx="1118006" cy="2377440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D5B9AADF-DBCA-E912-65B3-6379E5959975}"/>
              </a:ext>
            </a:extLst>
          </p:cNvPr>
          <p:cNvCxnSpPr>
            <a:cxnSpLocks/>
          </p:cNvCxnSpPr>
          <p:nvPr/>
        </p:nvCxnSpPr>
        <p:spPr>
          <a:xfrm flipV="1">
            <a:off x="8258073" y="4982276"/>
            <a:ext cx="0" cy="4165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 3">
            <a:extLst>
              <a:ext uri="{FF2B5EF4-FFF2-40B4-BE49-F238E27FC236}">
                <a16:creationId xmlns:a16="http://schemas.microsoft.com/office/drawing/2014/main" id="{CB713EEA-C97B-0895-DC90-29D54C1B5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921" y="178647"/>
            <a:ext cx="4947686" cy="194735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1A0BFE7-212A-AD99-E876-32EAE4221D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450" y="5206484"/>
            <a:ext cx="3894157" cy="85351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635A69A-6ADD-187E-0DDC-1D2363085619}"/>
              </a:ext>
            </a:extLst>
          </p:cNvPr>
          <p:cNvSpPr txBox="1"/>
          <p:nvPr/>
        </p:nvSpPr>
        <p:spPr>
          <a:xfrm>
            <a:off x="10476123" y="5136668"/>
            <a:ext cx="1764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Pour une gaussienne limité par la TF.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7273B0-ECED-02E9-6C42-20A3D19B3D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3450" y="6172103"/>
            <a:ext cx="4618120" cy="62489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0C4B5E5C-152E-88D3-2013-539CE38DC62D}"/>
              </a:ext>
            </a:extLst>
          </p:cNvPr>
          <p:cNvSpPr txBox="1"/>
          <p:nvPr/>
        </p:nvSpPr>
        <p:spPr>
          <a:xfrm>
            <a:off x="4302700" y="6253717"/>
            <a:ext cx="2071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i="0" dirty="0">
                <a:solidFill>
                  <a:schemeClr val="tx1"/>
                </a:solidFill>
                <a:effectLst/>
                <a:latin typeface="+mn-lt"/>
              </a:rPr>
              <a:t>Claudius Riek, Daniele </a:t>
            </a:r>
            <a:r>
              <a:rPr lang="fr-FR" sz="1200" i="0" dirty="0" err="1">
                <a:solidFill>
                  <a:schemeClr val="tx1"/>
                </a:solidFill>
                <a:effectLst/>
                <a:latin typeface="+mn-lt"/>
              </a:rPr>
              <a:t>BridaOpt</a:t>
            </a:r>
            <a:r>
              <a:rPr lang="fr-FR" sz="1200" i="0" dirty="0">
                <a:solidFill>
                  <a:schemeClr val="tx1"/>
                </a:solidFill>
                <a:effectLst/>
                <a:latin typeface="+mn-lt"/>
              </a:rPr>
              <a:t>. and al Lett. (2016) 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936309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5771-1918-D494-BFFE-93D53E23E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60BE4A-85DB-EA13-4242-2D9215D14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8852" y="-533609"/>
            <a:ext cx="9144000" cy="1109663"/>
          </a:xfrm>
        </p:spPr>
        <p:txBody>
          <a:bodyPr>
            <a:normAutofit/>
          </a:bodyPr>
          <a:lstStyle/>
          <a:p>
            <a:r>
              <a:rPr lang="fr-FR" sz="4000" dirty="0"/>
              <a:t>Modèle Carbonates 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9607E112-449D-3950-B5F7-2D24324DF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587268"/>
              </p:ext>
            </p:extLst>
          </p:nvPr>
        </p:nvGraphicFramePr>
        <p:xfrm>
          <a:off x="0" y="470342"/>
          <a:ext cx="11858168" cy="2462866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694024">
                  <a:extLst>
                    <a:ext uri="{9D8B030D-6E8A-4147-A177-3AD203B41FA5}">
                      <a16:colId xmlns:a16="http://schemas.microsoft.com/office/drawing/2014/main" val="3251183835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3137598316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3476095014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2721168428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1270338505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2330157547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290116242"/>
                    </a:ext>
                  </a:extLst>
                </a:gridCol>
              </a:tblGrid>
              <a:tr h="45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Paramètres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Calcite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Aragonite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Vaterite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ACC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CCHH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MHC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82828191"/>
                  </a:ext>
                </a:extLst>
              </a:tr>
              <a:tr h="577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Nu (cm</a:t>
                      </a:r>
                      <a:r>
                        <a:rPr lang="fr-FR" sz="1800" b="1" baseline="30000" dirty="0"/>
                        <a:t>-1</a:t>
                      </a:r>
                      <a:r>
                        <a:rPr lang="fr-FR" sz="1800" b="1" baseline="0" dirty="0"/>
                        <a:t>)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1085.5</a:t>
                      </a:r>
                      <a:r>
                        <a:rPr lang="fr-FR" sz="1800" b="0" baseline="30000" dirty="0"/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fr-FR" sz="1800" dirty="0"/>
                        <a:t>1085.9</a:t>
                      </a:r>
                      <a:r>
                        <a:rPr lang="fr-FR" sz="1800" b="0" baseline="30000" dirty="0"/>
                        <a:t>3</a:t>
                      </a:r>
                      <a:endParaRPr lang="fr-FR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  <a:r>
                        <a:rPr lang="fr-FR" sz="1800" b="0" baseline="30000" dirty="0"/>
                        <a:t>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/>
                        <a:t>1086</a:t>
                      </a:r>
                      <a:r>
                        <a:rPr lang="fr-FR" sz="1800" b="0" dirty="0"/>
                        <a:t>²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1084</a:t>
                      </a:r>
                      <a:r>
                        <a:rPr lang="fr-FR" sz="1800" b="0" baseline="30000" dirty="0"/>
                        <a:t>3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[</a:t>
                      </a:r>
                      <a:r>
                        <a:rPr lang="fr-FR" sz="1800" b="1" dirty="0"/>
                        <a:t>1075</a:t>
                      </a:r>
                      <a:r>
                        <a:rPr lang="fr-FR" sz="1800" dirty="0"/>
                        <a:t>, (</a:t>
                      </a:r>
                      <a:r>
                        <a:rPr lang="fr-FR" sz="1800" b="1" dirty="0"/>
                        <a:t>1080</a:t>
                      </a:r>
                      <a:r>
                        <a:rPr lang="fr-FR" sz="1800" dirty="0"/>
                        <a:t>,) </a:t>
                      </a:r>
                      <a:r>
                        <a:rPr lang="fr-FR" sz="1800" b="1" dirty="0"/>
                        <a:t>1090.8</a:t>
                      </a:r>
                      <a:r>
                        <a:rPr lang="fr-FR" sz="1800" dirty="0"/>
                        <a:t>]</a:t>
                      </a:r>
                      <a:r>
                        <a:rPr lang="fr-FR" sz="1800" b="0" baseline="30000" dirty="0"/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fr-FR" sz="1800" b="0" dirty="0"/>
                        <a:t>[1073.8, 1080, 1089.5]</a:t>
                      </a:r>
                      <a:r>
                        <a:rPr lang="fr-FR" sz="1800" b="0" baseline="30000" dirty="0"/>
                        <a:t> 3</a:t>
                      </a:r>
                      <a:endParaRPr lang="fr-FR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1077</a:t>
                      </a:r>
                      <a:r>
                        <a:rPr lang="fr-FR" sz="1800" b="1" baseline="30000" dirty="0"/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fr-FR" sz="1800" dirty="0"/>
                        <a:t>1075²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1073</a:t>
                      </a:r>
                      <a:r>
                        <a:rPr lang="fr-FR" sz="1800" baseline="300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1085</a:t>
                      </a:r>
                      <a:r>
                        <a:rPr lang="fr-FR" sz="1800" baseline="300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aseline="30000" dirty="0">
                        <a:solidFill>
                          <a:srgbClr val="22222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1100.1</a:t>
                      </a:r>
                      <a:r>
                        <a:rPr lang="fr-FR" sz="1800" b="0" baseline="30000" dirty="0"/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fr-FR" sz="1800" b="1" dirty="0"/>
                        <a:t>1097</a:t>
                      </a:r>
                      <a:r>
                        <a:rPr lang="fr-FR" sz="1800" dirty="0"/>
                        <a:t>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1067.5</a:t>
                      </a:r>
                      <a:r>
                        <a:rPr lang="fr-FR" sz="1800" b="0" baseline="30000" dirty="0"/>
                        <a:t>1</a:t>
                      </a:r>
                      <a:endParaRPr lang="fr-FR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980348"/>
                  </a:ext>
                </a:extLst>
              </a:tr>
              <a:tr h="330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FWHM_déconvolué</a:t>
                      </a:r>
                      <a:r>
                        <a:rPr lang="fr-FR" sz="1800" b="1" dirty="0"/>
                        <a:t> (cm-1)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3.5</a:t>
                      </a:r>
                      <a:r>
                        <a:rPr lang="fr-FR" sz="1800" b="0" baseline="30000" dirty="0"/>
                        <a:t>1</a:t>
                      </a:r>
                      <a:endParaRPr lang="fr-FR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3.5 </a:t>
                      </a:r>
                      <a:r>
                        <a:rPr lang="fr-FR" sz="1800" b="0" baseline="30000" dirty="0"/>
                        <a:t>1,6</a:t>
                      </a:r>
                      <a:endParaRPr lang="fr-FR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[7.9, (8 aussi?), 8]</a:t>
                      </a:r>
                      <a:r>
                        <a:rPr lang="fr-FR" sz="1800" b="1" baseline="30000" dirty="0"/>
                        <a:t>1</a:t>
                      </a:r>
                      <a:endParaRPr lang="fr-FR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35</a:t>
                      </a:r>
                      <a:r>
                        <a:rPr lang="fr-FR" sz="1800" b="1" baseline="30000" dirty="0"/>
                        <a:t>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30</a:t>
                      </a:r>
                      <a:r>
                        <a:rPr lang="fr-FR" sz="1800" b="0" baseline="30000" dirty="0"/>
                        <a:t>4</a:t>
                      </a:r>
                      <a:endParaRPr lang="fr-FR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5.9</a:t>
                      </a:r>
                      <a:r>
                        <a:rPr lang="fr-FR" sz="1800" b="0" baseline="30000" dirty="0"/>
                        <a:t>1</a:t>
                      </a:r>
                      <a:endParaRPr lang="fr-FR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5.3</a:t>
                      </a:r>
                      <a:r>
                        <a:rPr lang="fr-FR" sz="1800" b="0" baseline="30000" dirty="0"/>
                        <a:t>1</a:t>
                      </a:r>
                      <a:endParaRPr lang="fr-FR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772775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5B074CB8-30E3-35E7-9241-EF41F0E0BC37}"/>
              </a:ext>
            </a:extLst>
          </p:cNvPr>
          <p:cNvSpPr txBox="1"/>
          <p:nvPr/>
        </p:nvSpPr>
        <p:spPr>
          <a:xfrm>
            <a:off x="603536" y="5559504"/>
            <a:ext cx="1125463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aseline="30000" dirty="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  <a:r>
              <a:rPr lang="fr-FR" sz="1100" dirty="0">
                <a:solidFill>
                  <a:srgbClr val="222222"/>
                </a:solidFill>
                <a:latin typeface="Arial" panose="020B0604020202020204" pitchFamily="34" charset="0"/>
              </a:rPr>
              <a:t>Résultats </a:t>
            </a:r>
            <a:r>
              <a:rPr lang="fr-FR" sz="1100" dirty="0" err="1">
                <a:solidFill>
                  <a:srgbClr val="222222"/>
                </a:solidFill>
                <a:latin typeface="Arial" panose="020B0604020202020204" pitchFamily="34" charset="0"/>
              </a:rPr>
              <a:t>raman</a:t>
            </a:r>
            <a:r>
              <a:rPr lang="fr-FR" sz="1100" dirty="0">
                <a:solidFill>
                  <a:srgbClr val="222222"/>
                </a:solidFill>
                <a:latin typeface="Arial" panose="020B0604020202020204" pitchFamily="34" charset="0"/>
              </a:rPr>
              <a:t> spontané – </a:t>
            </a:r>
            <a:r>
              <a:rPr lang="fr-FR" sz="1100" b="1" dirty="0">
                <a:solidFill>
                  <a:srgbClr val="222222"/>
                </a:solidFill>
                <a:latin typeface="Arial" panose="020B0604020202020204" pitchFamily="34" charset="0"/>
              </a:rPr>
              <a:t>synthétique ou géologique (cal et ara)</a:t>
            </a:r>
            <a:endParaRPr lang="fr-FR" sz="1100" baseline="30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fr-FR" sz="1100" baseline="30000" dirty="0">
                <a:solidFill>
                  <a:srgbClr val="222222"/>
                </a:solidFill>
                <a:latin typeface="Arial" panose="020B0604020202020204" pitchFamily="34" charset="0"/>
              </a:rPr>
              <a:t>2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Dicko, Hamadou, et al. "3D Calcium carbonate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polymorphs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imaging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stimulated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Raman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scattering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biominerals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." </a:t>
            </a:r>
            <a:r>
              <a:rPr lang="fr-FR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Faraday Discussions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261 (2025): 286-297. – </a:t>
            </a:r>
            <a:r>
              <a:rPr lang="fr-F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biogénique (corail)</a:t>
            </a:r>
            <a:endParaRPr lang="fr-FR" sz="11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fr-FR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Colas, C. (2022). </a:t>
            </a:r>
            <a:r>
              <a:rPr lang="fr-FR" sz="1100" i="1" dirty="0">
                <a:latin typeface="Arial" panose="020B0604020202020204" pitchFamily="34" charset="0"/>
                <a:cs typeface="Arial" panose="020B0604020202020204" pitchFamily="34" charset="0"/>
              </a:rPr>
              <a:t>Bio-</a:t>
            </a:r>
            <a:r>
              <a:rPr lang="fr-FR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inspired</a:t>
            </a:r>
            <a:r>
              <a:rPr lang="fr-FR" sz="11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synthetic</a:t>
            </a:r>
            <a:r>
              <a:rPr lang="fr-FR" sz="11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crystals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 (Doctoral dissertation, Université Paris-Saclay).</a:t>
            </a:r>
          </a:p>
          <a:p>
            <a:r>
              <a:rPr lang="fr-FR" sz="1100" baseline="30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Duboisset et al., « </a:t>
            </a:r>
            <a:r>
              <a:rPr lang="fr-FR" sz="1100" dirty="0" err="1">
                <a:latin typeface="Arial" panose="020B0604020202020204" pitchFamily="34" charset="0"/>
                <a:cs typeface="Arial" panose="020B0604020202020204" pitchFamily="34" charset="0"/>
              </a:rPr>
              <a:t>Amorphous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-to-Crystal Transition in the Layer-by-Layer </a:t>
            </a:r>
            <a:r>
              <a:rPr lang="fr-FR" sz="1100" dirty="0" err="1"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 of Bivalve Shell </a:t>
            </a:r>
            <a:r>
              <a:rPr lang="fr-FR" sz="1100" dirty="0" err="1">
                <a:latin typeface="Arial" panose="020B0604020202020204" pitchFamily="34" charset="0"/>
                <a:cs typeface="Arial" panose="020B0604020202020204" pitchFamily="34" charset="0"/>
              </a:rPr>
              <a:t>Prisms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 ». – </a:t>
            </a:r>
            <a:r>
              <a:rPr lang="fr-FR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biogenique</a:t>
            </a:r>
            <a:r>
              <a:rPr lang="fr-FR" sz="1100" b="1" dirty="0">
                <a:latin typeface="Arial" panose="020B0604020202020204" pitchFamily="34" charset="0"/>
                <a:cs typeface="Arial" panose="020B0604020202020204" pitchFamily="34" charset="0"/>
              </a:rPr>
              <a:t> (huitre)</a:t>
            </a:r>
          </a:p>
          <a:p>
            <a:r>
              <a:rPr lang="en-U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Lia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Addadi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 et al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“Taking Advantage of Disorder: Amorphous Calcium Carbonate and Its Roles in Biomineralization” –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biogenique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juvenil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 huitre,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oursin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Farfan et al (2021)“Crystallographic and chemical signatures in coral skeletal aragonite” (National Museum of  Natural History, Washington, DC, USA) –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corail</a:t>
            </a:r>
            <a:endParaRPr lang="fr-FR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0D01F1B0-0BDC-A5A9-1700-7A2492DEC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847500"/>
              </p:ext>
            </p:extLst>
          </p:nvPr>
        </p:nvGraphicFramePr>
        <p:xfrm>
          <a:off x="0" y="3202350"/>
          <a:ext cx="11965856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408">
                  <a:extLst>
                    <a:ext uri="{9D8B030D-6E8A-4147-A177-3AD203B41FA5}">
                      <a16:colId xmlns:a16="http://schemas.microsoft.com/office/drawing/2014/main" val="1288489453"/>
                    </a:ext>
                  </a:extLst>
                </a:gridCol>
                <a:gridCol w="1709408">
                  <a:extLst>
                    <a:ext uri="{9D8B030D-6E8A-4147-A177-3AD203B41FA5}">
                      <a16:colId xmlns:a16="http://schemas.microsoft.com/office/drawing/2014/main" val="3546645173"/>
                    </a:ext>
                  </a:extLst>
                </a:gridCol>
                <a:gridCol w="1709408">
                  <a:extLst>
                    <a:ext uri="{9D8B030D-6E8A-4147-A177-3AD203B41FA5}">
                      <a16:colId xmlns:a16="http://schemas.microsoft.com/office/drawing/2014/main" val="2153859496"/>
                    </a:ext>
                  </a:extLst>
                </a:gridCol>
                <a:gridCol w="1709408">
                  <a:extLst>
                    <a:ext uri="{9D8B030D-6E8A-4147-A177-3AD203B41FA5}">
                      <a16:colId xmlns:a16="http://schemas.microsoft.com/office/drawing/2014/main" val="2814571671"/>
                    </a:ext>
                  </a:extLst>
                </a:gridCol>
                <a:gridCol w="1709408">
                  <a:extLst>
                    <a:ext uri="{9D8B030D-6E8A-4147-A177-3AD203B41FA5}">
                      <a16:colId xmlns:a16="http://schemas.microsoft.com/office/drawing/2014/main" val="89165594"/>
                    </a:ext>
                  </a:extLst>
                </a:gridCol>
                <a:gridCol w="1709408">
                  <a:extLst>
                    <a:ext uri="{9D8B030D-6E8A-4147-A177-3AD203B41FA5}">
                      <a16:colId xmlns:a16="http://schemas.microsoft.com/office/drawing/2014/main" val="2783805804"/>
                    </a:ext>
                  </a:extLst>
                </a:gridCol>
                <a:gridCol w="1709408">
                  <a:extLst>
                    <a:ext uri="{9D8B030D-6E8A-4147-A177-3AD203B41FA5}">
                      <a16:colId xmlns:a16="http://schemas.microsoft.com/office/drawing/2014/main" val="884758507"/>
                    </a:ext>
                  </a:extLst>
                </a:gridCol>
              </a:tblGrid>
              <a:tr h="320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 err="1"/>
                        <a:t>nu_LB</a:t>
                      </a:r>
                      <a:r>
                        <a:rPr lang="fr-FR" sz="1800" dirty="0"/>
                        <a:t> (cm⁻¹)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1084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1073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1073,1070(corail)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1097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642651"/>
                  </a:ext>
                </a:extLst>
              </a:tr>
              <a:tr h="183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nu_UB (cm⁻¹)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1086.5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1086.5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331635"/>
                  </a:ext>
                </a:extLst>
              </a:tr>
              <a:tr h="320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FWHM_LB (cm⁻¹)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0099489"/>
                  </a:ext>
                </a:extLst>
              </a:tr>
              <a:tr h="320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FWHM_UB (cm⁻¹)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7396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514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ADFE0A1A-05C6-E727-F84F-4575CE67D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C0649E30-7C16-4DA0-4699-0C3459E603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7223" y="14304"/>
            <a:ext cx="424723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ACC + cal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B1CE53B6-DE49-B540-1687-424AD4A6B8EA}"/>
              </a:ext>
            </a:extLst>
          </p:cNvPr>
          <p:cNvSpPr txBox="1"/>
          <p:nvPr/>
        </p:nvSpPr>
        <p:spPr>
          <a:xfrm>
            <a:off x="160552" y="767408"/>
            <a:ext cx="253388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200" dirty="0">
                <a:solidFill>
                  <a:schemeClr val="dk1"/>
                </a:solidFill>
              </a:rPr>
              <a:t>929.2,928.8,928.5,928.2,927.7,927.4,926.9,926.6,926.2,925.7,925,924.1,929.1,929.5,929.8,930.2,930.5,931,931.8,932.9]</a:t>
            </a:r>
            <a:endParaRPr lang="fr-FR"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E766690E-8D52-18FE-57D2-DFE0649C8020}"/>
              </a:ext>
            </a:extLst>
          </p:cNvPr>
          <p:cNvSpPr txBox="1"/>
          <p:nvPr/>
        </p:nvSpPr>
        <p:spPr>
          <a:xfrm>
            <a:off x="2773102" y="751540"/>
            <a:ext cx="4005600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>
                <a:solidFill>
                  <a:schemeClr val="dk1"/>
                </a:solidFill>
              </a:rPr>
              <a:t>Power 300</a:t>
            </a:r>
            <a:endParaRPr sz="12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>
                <a:solidFill>
                  <a:schemeClr val="dk1"/>
                </a:solidFill>
              </a:rPr>
              <a:t>Nb points 120²</a:t>
            </a:r>
            <a:endParaRPr sz="12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 err="1">
                <a:solidFill>
                  <a:schemeClr val="dk1"/>
                </a:solidFill>
              </a:rPr>
              <a:t>PixelRep</a:t>
            </a:r>
            <a:r>
              <a:rPr lang="fr-FR" sz="1200" dirty="0">
                <a:solidFill>
                  <a:schemeClr val="dk1"/>
                </a:solidFill>
              </a:rPr>
              <a:t> 80 </a:t>
            </a:r>
            <a:r>
              <a:rPr lang="fr-FR" sz="1200" dirty="0" err="1">
                <a:solidFill>
                  <a:schemeClr val="dk1"/>
                </a:solidFill>
              </a:rPr>
              <a:t>NbACC</a:t>
            </a:r>
            <a:r>
              <a:rPr lang="fr-FR" sz="1200" dirty="0">
                <a:solidFill>
                  <a:schemeClr val="dk1"/>
                </a:solidFill>
              </a:rPr>
              <a:t> 5</a:t>
            </a:r>
            <a:endParaRPr sz="12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>
                <a:solidFill>
                  <a:schemeClr val="dk1"/>
                </a:solidFill>
              </a:rPr>
              <a:t>scan range 100 µm</a:t>
            </a:r>
            <a:endParaRPr sz="12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3A2DE69-6FA2-6124-7095-F60B4F3E6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9861741" y="1182886"/>
            <a:ext cx="2210555" cy="224611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37444B2-D51B-F162-6019-BA734176C80C}"/>
              </a:ext>
            </a:extLst>
          </p:cNvPr>
          <p:cNvSpPr txBox="1"/>
          <p:nvPr/>
        </p:nvSpPr>
        <p:spPr>
          <a:xfrm>
            <a:off x="1642209" y="-9228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b="1" dirty="0"/>
              <a:t>2 </a:t>
            </a:r>
            <a:r>
              <a:rPr lang="fr-FR" sz="4400" b="1" dirty="0" err="1"/>
              <a:t>ps</a:t>
            </a:r>
            <a:r>
              <a:rPr lang="fr-FR" sz="4400" b="1" dirty="0"/>
              <a:t> </a:t>
            </a:r>
            <a:endParaRPr lang="fr-FR" b="1" dirty="0"/>
          </a:p>
        </p:txBody>
      </p:sp>
      <p:sp>
        <p:nvSpPr>
          <p:cNvPr id="14" name="Google Shape;158;g3e4efdd0c05_0_27">
            <a:extLst>
              <a:ext uri="{FF2B5EF4-FFF2-40B4-BE49-F238E27FC236}">
                <a16:creationId xmlns:a16="http://schemas.microsoft.com/office/drawing/2014/main" id="{9B5EA81D-4E21-D297-A88A-FCB4CE769146}"/>
              </a:ext>
            </a:extLst>
          </p:cNvPr>
          <p:cNvSpPr txBox="1"/>
          <p:nvPr/>
        </p:nvSpPr>
        <p:spPr>
          <a:xfrm>
            <a:off x="4819842" y="813573"/>
            <a:ext cx="2733631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400" dirty="0">
                <a:solidFill>
                  <a:schemeClr val="dk1"/>
                </a:solidFill>
              </a:rPr>
              <a:t>929.1,928.7,928.5,928.1,927.7,927.4,926.7,926.4,926,929.5,930,927.1]</a:t>
            </a:r>
            <a:endParaRPr lang="fr-FR"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9;g3e4efdd0c05_0_27">
            <a:extLst>
              <a:ext uri="{FF2B5EF4-FFF2-40B4-BE49-F238E27FC236}">
                <a16:creationId xmlns:a16="http://schemas.microsoft.com/office/drawing/2014/main" id="{4E5EEBE8-9D63-5841-9B4B-373EB6A4B429}"/>
              </a:ext>
            </a:extLst>
          </p:cNvPr>
          <p:cNvSpPr txBox="1"/>
          <p:nvPr/>
        </p:nvSpPr>
        <p:spPr>
          <a:xfrm>
            <a:off x="7495912" y="689984"/>
            <a:ext cx="4005600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chemeClr val="dk1"/>
                </a:solidFill>
              </a:rPr>
              <a:t>Power 350²</a:t>
            </a:r>
            <a:endParaRPr sz="14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chemeClr val="dk1"/>
                </a:solidFill>
              </a:rPr>
              <a:t>Nb points 120²</a:t>
            </a:r>
            <a:endParaRPr sz="14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 err="1">
                <a:solidFill>
                  <a:schemeClr val="dk1"/>
                </a:solidFill>
              </a:rPr>
              <a:t>PixelRep</a:t>
            </a:r>
            <a:r>
              <a:rPr lang="fr-FR" sz="1400" dirty="0">
                <a:solidFill>
                  <a:schemeClr val="dk1"/>
                </a:solidFill>
              </a:rPr>
              <a:t> 150 </a:t>
            </a:r>
            <a:r>
              <a:rPr lang="fr-FR" sz="1400" dirty="0" err="1">
                <a:solidFill>
                  <a:schemeClr val="dk1"/>
                </a:solidFill>
              </a:rPr>
              <a:t>NbACC</a:t>
            </a:r>
            <a:r>
              <a:rPr lang="fr-FR" sz="1400" dirty="0">
                <a:solidFill>
                  <a:schemeClr val="dk1"/>
                </a:solidFill>
              </a:rPr>
              <a:t> 10</a:t>
            </a:r>
            <a:endParaRPr sz="14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chemeClr val="dk1"/>
                </a:solidFill>
              </a:rPr>
              <a:t>scan range 100 µm</a:t>
            </a:r>
            <a:endParaRPr sz="14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8602C58-E43E-9DDE-E1C6-AA23CA530D42}"/>
              </a:ext>
            </a:extLst>
          </p:cNvPr>
          <p:cNvSpPr txBox="1"/>
          <p:nvPr/>
        </p:nvSpPr>
        <p:spPr>
          <a:xfrm>
            <a:off x="6596744" y="-2035"/>
            <a:ext cx="69523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b="1" dirty="0"/>
              <a:t>7 </a:t>
            </a:r>
            <a:r>
              <a:rPr lang="fr-FR" sz="4400" b="1" dirty="0" err="1"/>
              <a:t>ps</a:t>
            </a:r>
            <a:r>
              <a:rPr lang="fr-FR" sz="4400" b="1" dirty="0"/>
              <a:t> </a:t>
            </a:r>
            <a:endParaRPr lang="fr-FR" sz="1800" b="1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211D0345-54C9-8F3F-713C-7D3344C82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626" y="2079924"/>
            <a:ext cx="4688115" cy="3996780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1B0805E8-3090-0354-8B1D-46F29A0ED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726" y="2079924"/>
            <a:ext cx="4688116" cy="413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882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595A681B-1D36-05FE-46B9-621688191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B3CF28AA-3C7B-5CB0-A8D7-D745B6ABDB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7223" y="14304"/>
            <a:ext cx="424723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ACC + cal 260626</a:t>
            </a: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9D0535A-1176-FBBA-A9BC-F26D870DF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9861741" y="1182886"/>
            <a:ext cx="2210555" cy="224611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173536D-BCC8-72BE-F8A8-D11D16ADFB79}"/>
              </a:ext>
            </a:extLst>
          </p:cNvPr>
          <p:cNvSpPr txBox="1"/>
          <p:nvPr/>
        </p:nvSpPr>
        <p:spPr>
          <a:xfrm>
            <a:off x="1347730" y="-154752"/>
            <a:ext cx="26770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b="1" dirty="0"/>
              <a:t>2 </a:t>
            </a:r>
            <a:r>
              <a:rPr lang="fr-FR" sz="4400" b="1" dirty="0" err="1"/>
              <a:t>ps</a:t>
            </a:r>
            <a:r>
              <a:rPr lang="fr-FR" sz="4400" b="1" dirty="0"/>
              <a:t> </a:t>
            </a:r>
            <a:endParaRPr lang="fr-FR" b="1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CDC9C9D-4148-5B5B-3635-F16D84104B0D}"/>
              </a:ext>
            </a:extLst>
          </p:cNvPr>
          <p:cNvSpPr txBox="1"/>
          <p:nvPr/>
        </p:nvSpPr>
        <p:spPr>
          <a:xfrm>
            <a:off x="5478637" y="-134797"/>
            <a:ext cx="18562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b="1" dirty="0"/>
              <a:t>7 </a:t>
            </a:r>
            <a:r>
              <a:rPr lang="fr-FR" sz="4400" b="1" dirty="0" err="1"/>
              <a:t>ps</a:t>
            </a:r>
            <a:r>
              <a:rPr lang="fr-FR" sz="4400" b="1" dirty="0"/>
              <a:t> </a:t>
            </a:r>
            <a:endParaRPr lang="fr-FR" sz="1800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34964A4-4305-D2C5-4163-02A058166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16" y="3012690"/>
            <a:ext cx="2976701" cy="268238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8FB9FD4-30DF-6B00-21F9-2E3C313AD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954" y="634644"/>
            <a:ext cx="3013463" cy="224611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D8A0625-1E22-6F53-AA43-1913CEBD04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7241" y="3012690"/>
            <a:ext cx="2976701" cy="268238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AF51B03-C336-F646-6521-682717F5DA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8935" y="638914"/>
            <a:ext cx="3115007" cy="2321803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45BE9D68-F92A-F626-570F-7788F6BE5647}"/>
              </a:ext>
            </a:extLst>
          </p:cNvPr>
          <p:cNvSpPr txBox="1"/>
          <p:nvPr/>
        </p:nvSpPr>
        <p:spPr>
          <a:xfrm>
            <a:off x="7876228" y="3429000"/>
            <a:ext cx="37630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0" i="0" dirty="0">
                <a:effectLst/>
                <a:latin typeface="+mn-lt"/>
              </a:rPr>
              <a:t>params.roi1 = [58+params.shift_row 60+params.shift_row</a:t>
            </a:r>
            <a:r>
              <a:rPr lang="fr-FR" sz="1200" b="0" i="0" dirty="0">
                <a:solidFill>
                  <a:schemeClr val="tx1"/>
                </a:solidFill>
                <a:effectLst/>
                <a:latin typeface="+mn-lt"/>
              </a:rPr>
              <a:t>...</a:t>
            </a:r>
            <a:endParaRPr lang="fr-FR" sz="1200" b="0" i="0" dirty="0">
              <a:effectLst/>
              <a:latin typeface="+mn-lt"/>
            </a:endParaRPr>
          </a:p>
          <a:p>
            <a:pPr>
              <a:buNone/>
            </a:pPr>
            <a:r>
              <a:rPr lang="fr-FR" sz="1200" b="0" i="0" dirty="0">
                <a:effectLst/>
                <a:latin typeface="+mn-lt"/>
              </a:rPr>
              <a:t>66+params.shift_col 68+params.shift_col]; params.roi2 = [44+params.shift_row 48+params.shift_row</a:t>
            </a:r>
            <a:r>
              <a:rPr lang="fr-FR" sz="1200" b="0" i="0" dirty="0">
                <a:solidFill>
                  <a:schemeClr val="tx1"/>
                </a:solidFill>
                <a:effectLst/>
                <a:latin typeface="+mn-lt"/>
              </a:rPr>
              <a:t>...</a:t>
            </a:r>
            <a:endParaRPr lang="fr-FR" sz="1200" b="0" i="0" dirty="0">
              <a:effectLst/>
              <a:latin typeface="+mn-lt"/>
            </a:endParaRPr>
          </a:p>
          <a:p>
            <a:pPr>
              <a:buNone/>
            </a:pPr>
            <a:r>
              <a:rPr lang="fr-FR" sz="1200" b="0" i="0" dirty="0">
                <a:effectLst/>
                <a:latin typeface="+mn-lt"/>
              </a:rPr>
              <a:t>73+params.shift_col 80+params.shift_col]; </a:t>
            </a:r>
            <a:endParaRPr lang="fr-FR" sz="700" b="0" i="0" dirty="0"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237615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2BB26ABC-B4E4-254C-CA43-0F6A59D90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C0FD2E1A-B558-A2AC-190A-0D52035153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7223" y="14304"/>
            <a:ext cx="424723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ACC + cal 260626</a:t>
            </a: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20239C4-D462-B5E0-3EBB-7622355F2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9861741" y="1182886"/>
            <a:ext cx="2210555" cy="2246114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16432577-0D14-E948-1537-C7508ED50229}"/>
              </a:ext>
            </a:extLst>
          </p:cNvPr>
          <p:cNvSpPr txBox="1"/>
          <p:nvPr/>
        </p:nvSpPr>
        <p:spPr>
          <a:xfrm>
            <a:off x="9657223" y="3559112"/>
            <a:ext cx="27559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params.roi1 = [58+params.shift_row 60+params.shift_row...</a:t>
            </a:r>
          </a:p>
          <a:p>
            <a:r>
              <a:rPr lang="fr-FR" sz="1200" dirty="0"/>
              <a:t>66+params.shift_col 68+params.shift_col];</a:t>
            </a:r>
          </a:p>
          <a:p>
            <a:r>
              <a:rPr lang="fr-FR" sz="1200" dirty="0"/>
              <a:t>params.roi2 = [43+params.shift_row 46+params.shift_row...</a:t>
            </a:r>
          </a:p>
          <a:p>
            <a:r>
              <a:rPr lang="fr-FR" sz="1200" dirty="0"/>
              <a:t>74+params.shift_col 77+params.shift_col];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A1A0579-ECF7-C1F0-B559-687A8E430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04" y="3327027"/>
            <a:ext cx="2389391" cy="197808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9C31E77-BC0C-595E-4A88-17DF92D642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2259" y="3317220"/>
            <a:ext cx="2068290" cy="1863788"/>
          </a:xfrm>
          <a:prstGeom prst="rect">
            <a:avLst/>
          </a:prstGeom>
        </p:spPr>
      </p:pic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045D7667-C731-BFE9-B098-61A075C7F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478761"/>
              </p:ext>
            </p:extLst>
          </p:nvPr>
        </p:nvGraphicFramePr>
        <p:xfrm>
          <a:off x="4781904" y="5334000"/>
          <a:ext cx="693013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203">
                  <a:extLst>
                    <a:ext uri="{9D8B030D-6E8A-4147-A177-3AD203B41FA5}">
                      <a16:colId xmlns:a16="http://schemas.microsoft.com/office/drawing/2014/main" val="1686248404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1651581824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3905708282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2562659957"/>
                    </a:ext>
                  </a:extLst>
                </a:gridCol>
              </a:tblGrid>
              <a:tr h="214650">
                <a:tc>
                  <a:txBody>
                    <a:bodyPr/>
                    <a:lstStyle/>
                    <a:p>
                      <a:r>
                        <a:rPr lang="fr-FR" sz="1400" dirty="0"/>
                        <a:t>260626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Nu (cm-1)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FWHM_phase</a:t>
                      </a:r>
                      <a:r>
                        <a:rPr lang="fr-FR" sz="1400" dirty="0"/>
                        <a:t> (cm-1)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11394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2ps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 (fixé)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4629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2ps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36580</a:t>
                      </a:r>
                      <a:endParaRPr lang="fr-F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929246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7ps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 (fixé)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8268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7ps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 (fixé)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65749"/>
                  </a:ext>
                </a:extLst>
              </a:tr>
            </a:tbl>
          </a:graphicData>
        </a:graphic>
      </p:graphicFrame>
      <p:pic>
        <p:nvPicPr>
          <p:cNvPr id="23" name="Image 22">
            <a:extLst>
              <a:ext uri="{FF2B5EF4-FFF2-40B4-BE49-F238E27FC236}">
                <a16:creationId xmlns:a16="http://schemas.microsoft.com/office/drawing/2014/main" id="{1D83BA06-6F67-4B84-DF4D-980DB524D8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3714" y="3332355"/>
            <a:ext cx="2389392" cy="1989699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1962C63A-5B0B-293F-2A66-3B7FD47725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1156" y="3258265"/>
            <a:ext cx="2208017" cy="1989700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E0E81C5C-F977-20DE-3D24-6EA2E99F1F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1904" y="28885"/>
            <a:ext cx="4247236" cy="3128558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83DFAEF3-58D5-3C34-5B75-030D46144089}"/>
              </a:ext>
            </a:extLst>
          </p:cNvPr>
          <p:cNvSpPr txBox="1"/>
          <p:nvPr/>
        </p:nvSpPr>
        <p:spPr>
          <a:xfrm>
            <a:off x="5239462" y="659009"/>
            <a:ext cx="1856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7 </a:t>
            </a:r>
            <a:r>
              <a:rPr lang="fr-FR" sz="2400" b="1" dirty="0" err="1"/>
              <a:t>ps</a:t>
            </a:r>
            <a:r>
              <a:rPr lang="fr-FR" sz="2400" b="1" dirty="0"/>
              <a:t> </a:t>
            </a:r>
            <a:endParaRPr lang="fr-FR" sz="1050" b="1" dirty="0"/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E7460FE7-55AC-5ECA-D0D8-79CA25B422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65" y="14304"/>
            <a:ext cx="4247236" cy="3128558"/>
          </a:xfrm>
          <a:prstGeom prst="rect">
            <a:avLst/>
          </a:prstGeom>
        </p:spPr>
      </p:pic>
      <p:sp>
        <p:nvSpPr>
          <p:cNvPr id="47" name="ZoneTexte 46">
            <a:extLst>
              <a:ext uri="{FF2B5EF4-FFF2-40B4-BE49-F238E27FC236}">
                <a16:creationId xmlns:a16="http://schemas.microsoft.com/office/drawing/2014/main" id="{FE400C1A-DE7C-D3E6-BD36-C4B5175947FD}"/>
              </a:ext>
            </a:extLst>
          </p:cNvPr>
          <p:cNvSpPr txBox="1"/>
          <p:nvPr/>
        </p:nvSpPr>
        <p:spPr>
          <a:xfrm>
            <a:off x="628920" y="659008"/>
            <a:ext cx="2677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2 </a:t>
            </a:r>
            <a:r>
              <a:rPr lang="fr-FR" sz="2400" b="1" dirty="0" err="1"/>
              <a:t>ps</a:t>
            </a:r>
            <a:r>
              <a:rPr lang="fr-FR" sz="2400" b="1" dirty="0"/>
              <a:t> </a:t>
            </a:r>
            <a:endParaRPr lang="fr-FR" sz="1050" b="1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DBDD5089-41B6-A7C4-8FD5-EB93A4D5EDE4}"/>
              </a:ext>
            </a:extLst>
          </p:cNvPr>
          <p:cNvSpPr txBox="1"/>
          <p:nvPr/>
        </p:nvSpPr>
        <p:spPr>
          <a:xfrm>
            <a:off x="5239462" y="1182884"/>
            <a:ext cx="1746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fwhm_instr_7ps = 2.5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B6F531ED-1105-A6A4-91E3-0A46195A189C}"/>
              </a:ext>
            </a:extLst>
          </p:cNvPr>
          <p:cNvSpPr txBox="1"/>
          <p:nvPr/>
        </p:nvSpPr>
        <p:spPr>
          <a:xfrm>
            <a:off x="498215" y="1182885"/>
            <a:ext cx="1744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fwhm_instr_2ps = 9.3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1EC6B14-42CE-A391-DFBB-58D9BFFCAC53}"/>
              </a:ext>
            </a:extLst>
          </p:cNvPr>
          <p:cNvSpPr txBox="1"/>
          <p:nvPr/>
        </p:nvSpPr>
        <p:spPr>
          <a:xfrm>
            <a:off x="7912738" y="197343"/>
            <a:ext cx="6952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X 0.1</a:t>
            </a:r>
            <a:endParaRPr lang="fr-FR" sz="1050" b="1" dirty="0">
              <a:solidFill>
                <a:srgbClr val="FF0000"/>
              </a:solidFill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D4F9B6E4-CB01-3BF6-E6F9-DD9A86A37DD4}"/>
              </a:ext>
            </a:extLst>
          </p:cNvPr>
          <p:cNvSpPr txBox="1"/>
          <p:nvPr/>
        </p:nvSpPr>
        <p:spPr>
          <a:xfrm>
            <a:off x="3062275" y="203243"/>
            <a:ext cx="6952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X 0.1</a:t>
            </a:r>
            <a:endParaRPr lang="fr-FR" sz="1050" b="1" dirty="0">
              <a:solidFill>
                <a:srgbClr val="FF0000"/>
              </a:solidFill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55B54E67-21B4-F17F-0324-B861BB70DAA1}"/>
              </a:ext>
            </a:extLst>
          </p:cNvPr>
          <p:cNvSpPr txBox="1"/>
          <p:nvPr/>
        </p:nvSpPr>
        <p:spPr>
          <a:xfrm>
            <a:off x="3429351" y="1813470"/>
            <a:ext cx="6952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X 1</a:t>
            </a:r>
            <a:endParaRPr lang="fr-FR" sz="1050" b="1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BD0096C5-6D3A-0363-6FFB-519D7C992A58}"/>
              </a:ext>
            </a:extLst>
          </p:cNvPr>
          <p:cNvSpPr txBox="1"/>
          <p:nvPr/>
        </p:nvSpPr>
        <p:spPr>
          <a:xfrm>
            <a:off x="8304669" y="2240120"/>
            <a:ext cx="6952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X 1</a:t>
            </a:r>
            <a:endParaRPr lang="fr-FR" sz="1050" b="1" dirty="0"/>
          </a:p>
        </p:txBody>
      </p:sp>
      <p:pic>
        <p:nvPicPr>
          <p:cNvPr id="60" name="Image 59">
            <a:extLst>
              <a:ext uri="{FF2B5EF4-FFF2-40B4-BE49-F238E27FC236}">
                <a16:creationId xmlns:a16="http://schemas.microsoft.com/office/drawing/2014/main" id="{CCE3D90E-D395-4CAC-9C13-2FC086FADB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7477" y="5305115"/>
            <a:ext cx="2668928" cy="1483572"/>
          </a:xfrm>
          <a:prstGeom prst="rect">
            <a:avLst/>
          </a:prstGeom>
        </p:spPr>
      </p:pic>
      <p:sp>
        <p:nvSpPr>
          <p:cNvPr id="62" name="ZoneTexte 61">
            <a:extLst>
              <a:ext uri="{FF2B5EF4-FFF2-40B4-BE49-F238E27FC236}">
                <a16:creationId xmlns:a16="http://schemas.microsoft.com/office/drawing/2014/main" id="{2376E07C-CB0C-3D87-ADEF-F450C2A66115}"/>
              </a:ext>
            </a:extLst>
          </p:cNvPr>
          <p:cNvSpPr txBox="1"/>
          <p:nvPr/>
        </p:nvSpPr>
        <p:spPr>
          <a:xfrm>
            <a:off x="222736" y="5429222"/>
            <a:ext cx="1744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Si l’on fixe FWHM_2ps = 31 cm-1</a:t>
            </a:r>
          </a:p>
        </p:txBody>
      </p:sp>
    </p:spTree>
    <p:extLst>
      <p:ext uri="{BB962C8B-B14F-4D97-AF65-F5344CB8AC3E}">
        <p14:creationId xmlns:p14="http://schemas.microsoft.com/office/powerpoint/2010/main" val="4087026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3CD6611D-2798-D9AE-3EF5-9AB81B025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20C2A5C-CAEF-925C-EC87-0B26DF4D3375}"/>
              </a:ext>
            </a:extLst>
          </p:cNvPr>
          <p:cNvSpPr txBox="1"/>
          <p:nvPr/>
        </p:nvSpPr>
        <p:spPr>
          <a:xfrm>
            <a:off x="2386263" y="986079"/>
            <a:ext cx="26770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b="1" dirty="0"/>
              <a:t>2 </a:t>
            </a:r>
            <a:r>
              <a:rPr lang="fr-FR" sz="4400" b="1" dirty="0" err="1"/>
              <a:t>ps</a:t>
            </a:r>
            <a:r>
              <a:rPr lang="fr-FR" sz="4400" b="1" dirty="0"/>
              <a:t> </a:t>
            </a:r>
            <a:endParaRPr lang="fr-FR" b="1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C3DFD35-0BC0-83C6-6B66-9CC5C51703D7}"/>
              </a:ext>
            </a:extLst>
          </p:cNvPr>
          <p:cNvSpPr txBox="1"/>
          <p:nvPr/>
        </p:nvSpPr>
        <p:spPr>
          <a:xfrm>
            <a:off x="9260370" y="1023822"/>
            <a:ext cx="18562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b="1" dirty="0"/>
              <a:t>7 </a:t>
            </a:r>
            <a:r>
              <a:rPr lang="fr-FR" sz="4400" b="1" dirty="0" err="1"/>
              <a:t>ps</a:t>
            </a:r>
            <a:r>
              <a:rPr lang="fr-FR" sz="4400" b="1" dirty="0"/>
              <a:t> </a:t>
            </a:r>
            <a:endParaRPr lang="fr-FR" sz="1800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1DD3347-53D0-0E16-FB0A-33B052A8A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20" y="1948191"/>
            <a:ext cx="5614879" cy="381375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A153544-3F40-4590-322F-9228DC6D7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930" y="1948191"/>
            <a:ext cx="5614879" cy="383406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A087475-BA57-5AC2-F559-8A07A41D8FA0}"/>
              </a:ext>
            </a:extLst>
          </p:cNvPr>
          <p:cNvSpPr txBox="1"/>
          <p:nvPr/>
        </p:nvSpPr>
        <p:spPr>
          <a:xfrm>
            <a:off x="329520" y="131229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dirty="0"/>
              <a:t>ACC + cal 260626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8505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F0D8ABC7-9F64-B155-46B6-2BB3C7803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BB3D024-8B2E-3AA8-8BB4-AEAAFEFF80F9}"/>
              </a:ext>
            </a:extLst>
          </p:cNvPr>
          <p:cNvSpPr txBox="1"/>
          <p:nvPr/>
        </p:nvSpPr>
        <p:spPr>
          <a:xfrm>
            <a:off x="4771287" y="184516"/>
            <a:ext cx="371957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b="1" dirty="0"/>
              <a:t>2 </a:t>
            </a:r>
            <a:r>
              <a:rPr lang="fr-FR" sz="4400" b="1" dirty="0" err="1"/>
              <a:t>ps</a:t>
            </a:r>
            <a:r>
              <a:rPr lang="fr-FR" sz="4400" b="1" dirty="0"/>
              <a:t> vs 7 </a:t>
            </a:r>
            <a:r>
              <a:rPr lang="fr-FR" sz="4400" b="1" dirty="0" err="1"/>
              <a:t>ps</a:t>
            </a:r>
            <a:r>
              <a:rPr lang="fr-FR" sz="4400" b="1" dirty="0"/>
              <a:t> </a:t>
            </a:r>
            <a:endParaRPr lang="fr-FR" b="1" dirty="0"/>
          </a:p>
          <a:p>
            <a:r>
              <a:rPr lang="fr-FR" sz="4400" b="1" dirty="0"/>
              <a:t> </a:t>
            </a:r>
            <a:endParaRPr lang="fr-FR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74FB932-FD29-59CA-0A79-2ADDFC074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21" y="1136440"/>
            <a:ext cx="5641179" cy="458512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E167BA4-0197-F463-8FBE-A1E19EF12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948" y="1136439"/>
            <a:ext cx="5641179" cy="448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728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843C-F9E5-39DB-4A39-852C15DE8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87B45643-C40F-D80C-6F63-6E4298C2F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6564" y="43414"/>
            <a:ext cx="3444964" cy="749032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fr-FR" sz="14400" b="1" dirty="0"/>
              <a:t>260708 </a:t>
            </a:r>
            <a:r>
              <a:rPr lang="fr-FR" sz="14400" b="1" dirty="0" err="1"/>
              <a:t>ACC_Cal</a:t>
            </a:r>
            <a:r>
              <a:rPr lang="fr-FR" sz="14400" b="1" dirty="0"/>
              <a:t>  </a:t>
            </a:r>
            <a:r>
              <a:rPr lang="fr-FR" sz="14400" b="1" dirty="0" err="1"/>
              <a:t>synt</a:t>
            </a:r>
            <a:r>
              <a:rPr lang="fr-FR" sz="144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BEC3139-76EE-0554-6898-408EC8176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9519469" y="906085"/>
            <a:ext cx="2384957" cy="232984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76CCCB-E80D-27A3-124C-036E709D7560}"/>
              </a:ext>
            </a:extLst>
          </p:cNvPr>
          <p:cNvSpPr/>
          <p:nvPr/>
        </p:nvSpPr>
        <p:spPr>
          <a:xfrm>
            <a:off x="10697977" y="1337276"/>
            <a:ext cx="209048" cy="1943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C71CFE-798F-A93F-C4BA-C9DB7D820D86}"/>
              </a:ext>
            </a:extLst>
          </p:cNvPr>
          <p:cNvSpPr/>
          <p:nvPr/>
        </p:nvSpPr>
        <p:spPr>
          <a:xfrm>
            <a:off x="11243575" y="2226761"/>
            <a:ext cx="129540" cy="1265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B9EA1C27-D813-CF6D-0B81-39FF6B699DE0}"/>
              </a:ext>
            </a:extLst>
          </p:cNvPr>
          <p:cNvCxnSpPr>
            <a:cxnSpLocks/>
          </p:cNvCxnSpPr>
          <p:nvPr/>
        </p:nvCxnSpPr>
        <p:spPr>
          <a:xfrm>
            <a:off x="11514730" y="3203866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4C45BF94-F86C-392F-9560-AD12B6EA55E7}"/>
              </a:ext>
            </a:extLst>
          </p:cNvPr>
          <p:cNvSpPr txBox="1"/>
          <p:nvPr/>
        </p:nvSpPr>
        <p:spPr>
          <a:xfrm>
            <a:off x="11223675" y="2834534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DF9EF9F9-0727-F199-896A-8D4BFBDAC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254" y="104690"/>
            <a:ext cx="3064646" cy="2619592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A5742544-9F60-352A-C67B-E71D2A600E79}"/>
              </a:ext>
            </a:extLst>
          </p:cNvPr>
          <p:cNvSpPr txBox="1"/>
          <p:nvPr/>
        </p:nvSpPr>
        <p:spPr>
          <a:xfrm>
            <a:off x="7038981" y="78611"/>
            <a:ext cx="1356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7ps</a:t>
            </a:r>
            <a:endParaRPr lang="fr-FR" sz="3600" dirty="0">
              <a:solidFill>
                <a:schemeClr val="bg1"/>
              </a:solidFill>
            </a:endParaRP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23DE5654-26FF-67AB-558E-14A79FF8CF94}"/>
              </a:ext>
            </a:extLst>
          </p:cNvPr>
          <p:cNvCxnSpPr>
            <a:cxnSpLocks/>
          </p:cNvCxnSpPr>
          <p:nvPr/>
        </p:nvCxnSpPr>
        <p:spPr>
          <a:xfrm>
            <a:off x="7517517" y="2391591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670C3268-EF35-840B-AC23-4E28225284FF}"/>
              </a:ext>
            </a:extLst>
          </p:cNvPr>
          <p:cNvSpPr txBox="1"/>
          <p:nvPr/>
        </p:nvSpPr>
        <p:spPr>
          <a:xfrm>
            <a:off x="7226462" y="2022259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FB29A0E7-9082-8454-10B5-EC38F64E4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3282" y="104690"/>
            <a:ext cx="3097056" cy="2606115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1969826-6516-810D-3403-536B759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701274"/>
              </p:ext>
            </p:extLst>
          </p:nvPr>
        </p:nvGraphicFramePr>
        <p:xfrm>
          <a:off x="449380" y="5377956"/>
          <a:ext cx="693013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203">
                  <a:extLst>
                    <a:ext uri="{9D8B030D-6E8A-4147-A177-3AD203B41FA5}">
                      <a16:colId xmlns:a16="http://schemas.microsoft.com/office/drawing/2014/main" val="1686248404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1651581824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3905708282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2562659957"/>
                    </a:ext>
                  </a:extLst>
                </a:gridCol>
              </a:tblGrid>
              <a:tr h="214650">
                <a:tc>
                  <a:txBody>
                    <a:bodyPr/>
                    <a:lstStyle/>
                    <a:p>
                      <a:r>
                        <a:rPr lang="fr-FR" sz="1400" dirty="0"/>
                        <a:t>260708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Nu (cm-1)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FWHM_phase</a:t>
                      </a:r>
                      <a:r>
                        <a:rPr lang="fr-FR" sz="1400" dirty="0"/>
                        <a:t> (cm-1)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11394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2ps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4629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2ps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929246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7ps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8268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7ps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65749"/>
                  </a:ext>
                </a:extLst>
              </a:tr>
            </a:tbl>
          </a:graphicData>
        </a:graphic>
      </p:graphicFrame>
      <p:pic>
        <p:nvPicPr>
          <p:cNvPr id="16" name="Image 15">
            <a:extLst>
              <a:ext uri="{FF2B5EF4-FFF2-40B4-BE49-F238E27FC236}">
                <a16:creationId xmlns:a16="http://schemas.microsoft.com/office/drawing/2014/main" id="{0DCBE913-F16C-0CB2-B3B9-F271D577E2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3282" y="111428"/>
            <a:ext cx="3097056" cy="2606115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88AACDC8-DDD3-4AD0-214C-D15F113A3768}"/>
              </a:ext>
            </a:extLst>
          </p:cNvPr>
          <p:cNvSpPr txBox="1"/>
          <p:nvPr/>
        </p:nvSpPr>
        <p:spPr>
          <a:xfrm>
            <a:off x="3101376" y="0"/>
            <a:ext cx="1356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2ps</a:t>
            </a:r>
            <a:endParaRPr lang="fr-FR" sz="3600" dirty="0">
              <a:solidFill>
                <a:schemeClr val="bg1"/>
              </a:solidFill>
            </a:endParaRP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BF1E1185-EC75-7130-36C9-7F7113E1EA03}"/>
              </a:ext>
            </a:extLst>
          </p:cNvPr>
          <p:cNvCxnSpPr>
            <a:cxnSpLocks/>
          </p:cNvCxnSpPr>
          <p:nvPr/>
        </p:nvCxnSpPr>
        <p:spPr>
          <a:xfrm>
            <a:off x="3594017" y="2399214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6CB4EE20-4AF8-A4B0-E79A-63F9A9F97FA7}"/>
              </a:ext>
            </a:extLst>
          </p:cNvPr>
          <p:cNvSpPr txBox="1"/>
          <p:nvPr/>
        </p:nvSpPr>
        <p:spPr>
          <a:xfrm>
            <a:off x="3302962" y="2029882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17BEA6B4-0441-72E5-36A1-1EAA380A82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779" y="2591073"/>
            <a:ext cx="3819421" cy="2813425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B46813F1-FA3A-8CAF-1E30-187AABF799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7584" y="3717184"/>
            <a:ext cx="3564416" cy="2735296"/>
          </a:xfrm>
          <a:prstGeom prst="rect">
            <a:avLst/>
          </a:prstGeom>
        </p:spPr>
      </p:pic>
      <p:sp>
        <p:nvSpPr>
          <p:cNvPr id="42" name="ZoneTexte 41">
            <a:extLst>
              <a:ext uri="{FF2B5EF4-FFF2-40B4-BE49-F238E27FC236}">
                <a16:creationId xmlns:a16="http://schemas.microsoft.com/office/drawing/2014/main" id="{A8407EDD-2FD9-5445-1223-6245A402FAAB}"/>
              </a:ext>
            </a:extLst>
          </p:cNvPr>
          <p:cNvSpPr txBox="1"/>
          <p:nvPr/>
        </p:nvSpPr>
        <p:spPr>
          <a:xfrm>
            <a:off x="692998" y="3161643"/>
            <a:ext cx="16164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fwhm_instr_2ps = 13.8</a:t>
            </a:r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FC207E10-C8EA-112A-5BBF-4542715BFE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8801" y="2573873"/>
            <a:ext cx="3819421" cy="2817560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4F1F1D5A-9077-442E-A8F1-5313E15D4E9F}"/>
              </a:ext>
            </a:extLst>
          </p:cNvPr>
          <p:cNvSpPr txBox="1"/>
          <p:nvPr/>
        </p:nvSpPr>
        <p:spPr>
          <a:xfrm>
            <a:off x="4731604" y="3767854"/>
            <a:ext cx="16164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fwhm_instr_7ps = 2.9</a:t>
            </a:r>
          </a:p>
        </p:txBody>
      </p: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C12EA586-020B-1FA6-CD56-69937D53DF1D}"/>
              </a:ext>
            </a:extLst>
          </p:cNvPr>
          <p:cNvCxnSpPr/>
          <p:nvPr/>
        </p:nvCxnSpPr>
        <p:spPr>
          <a:xfrm flipV="1">
            <a:off x="7946265" y="4181874"/>
            <a:ext cx="798490" cy="5189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8AA29AB7-ED89-D187-1B3F-2860ED87ACC2}"/>
              </a:ext>
            </a:extLst>
          </p:cNvPr>
          <p:cNvCxnSpPr>
            <a:cxnSpLocks/>
          </p:cNvCxnSpPr>
          <p:nvPr/>
        </p:nvCxnSpPr>
        <p:spPr>
          <a:xfrm>
            <a:off x="7946265" y="5303243"/>
            <a:ext cx="643943" cy="9563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28A81E0-2466-B103-8FA5-007EAC082581}"/>
              </a:ext>
            </a:extLst>
          </p:cNvPr>
          <p:cNvSpPr/>
          <p:nvPr/>
        </p:nvSpPr>
        <p:spPr>
          <a:xfrm>
            <a:off x="4335038" y="4673990"/>
            <a:ext cx="3944034" cy="612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3696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88720-CE47-ED79-69C2-962104F47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C060D6B4-A726-9F2D-C565-E9F37B433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9537" y="35818"/>
            <a:ext cx="3516880" cy="749032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fr-FR" sz="14400" b="1" dirty="0"/>
              <a:t>260708 </a:t>
            </a:r>
            <a:r>
              <a:rPr lang="fr-FR" sz="14400" b="1" dirty="0" err="1"/>
              <a:t>ACC_Cal</a:t>
            </a:r>
            <a:r>
              <a:rPr lang="fr-FR" sz="14400" b="1" dirty="0"/>
              <a:t>  </a:t>
            </a:r>
            <a:r>
              <a:rPr lang="fr-FR" sz="14400" b="1" dirty="0" err="1"/>
              <a:t>synt</a:t>
            </a:r>
            <a:r>
              <a:rPr lang="fr-FR" sz="144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B6F4309-E20F-FA56-2916-17B61B670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9519469" y="906085"/>
            <a:ext cx="2384957" cy="232984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D6D48C-18C9-6232-78F4-B3FC24942F5E}"/>
              </a:ext>
            </a:extLst>
          </p:cNvPr>
          <p:cNvSpPr/>
          <p:nvPr/>
        </p:nvSpPr>
        <p:spPr>
          <a:xfrm>
            <a:off x="10697977" y="1337276"/>
            <a:ext cx="209048" cy="1943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2B7223-CEF9-031E-4912-79FAE2189D47}"/>
              </a:ext>
            </a:extLst>
          </p:cNvPr>
          <p:cNvSpPr/>
          <p:nvPr/>
        </p:nvSpPr>
        <p:spPr>
          <a:xfrm>
            <a:off x="11138850" y="2184399"/>
            <a:ext cx="84825" cy="799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49D75737-E8DB-3A48-0F6A-71C4A43DD890}"/>
              </a:ext>
            </a:extLst>
          </p:cNvPr>
          <p:cNvCxnSpPr>
            <a:cxnSpLocks/>
          </p:cNvCxnSpPr>
          <p:nvPr/>
        </p:nvCxnSpPr>
        <p:spPr>
          <a:xfrm>
            <a:off x="11514730" y="3203866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174560E3-ABDE-87D5-2702-DC151F2388FC}"/>
              </a:ext>
            </a:extLst>
          </p:cNvPr>
          <p:cNvSpPr txBox="1"/>
          <p:nvPr/>
        </p:nvSpPr>
        <p:spPr>
          <a:xfrm>
            <a:off x="11223675" y="2834534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7EA7F079-DFB0-8159-912A-72B2BBD91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388" y="35818"/>
            <a:ext cx="3064646" cy="261959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ABBA3F6-2226-51D3-2F82-9D83E6456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0052" y="47854"/>
            <a:ext cx="3064646" cy="2578843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E610843F-DDE0-27E1-DFD7-2821DE18736D}"/>
              </a:ext>
            </a:extLst>
          </p:cNvPr>
          <p:cNvSpPr txBox="1"/>
          <p:nvPr/>
        </p:nvSpPr>
        <p:spPr>
          <a:xfrm>
            <a:off x="3143510" y="-68872"/>
            <a:ext cx="1356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2ps</a:t>
            </a:r>
            <a:endParaRPr lang="fr-FR" sz="3600" dirty="0">
              <a:solidFill>
                <a:schemeClr val="bg1"/>
              </a:solidFill>
            </a:endParaRP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E3CF47AD-8AFF-1440-3B3F-B7C986D997CF}"/>
              </a:ext>
            </a:extLst>
          </p:cNvPr>
          <p:cNvCxnSpPr>
            <a:cxnSpLocks/>
          </p:cNvCxnSpPr>
          <p:nvPr/>
        </p:nvCxnSpPr>
        <p:spPr>
          <a:xfrm>
            <a:off x="3636151" y="2330342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BDE5E2A6-5588-ED58-1113-0CA3166B514B}"/>
              </a:ext>
            </a:extLst>
          </p:cNvPr>
          <p:cNvSpPr txBox="1"/>
          <p:nvPr/>
        </p:nvSpPr>
        <p:spPr>
          <a:xfrm>
            <a:off x="3345096" y="1961010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E7900EF8-B339-5CB5-10ED-1AD6393440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94577"/>
            <a:ext cx="3812960" cy="2808666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E5C17A65-E656-159B-8590-F034DDC6B5B2}"/>
              </a:ext>
            </a:extLst>
          </p:cNvPr>
          <p:cNvSpPr txBox="1"/>
          <p:nvPr/>
        </p:nvSpPr>
        <p:spPr>
          <a:xfrm>
            <a:off x="355561" y="3069487"/>
            <a:ext cx="16164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fwhm_instr_2ps = 13.8</a:t>
            </a:r>
          </a:p>
        </p:txBody>
      </p:sp>
      <p:graphicFrame>
        <p:nvGraphicFramePr>
          <p:cNvPr id="34" name="Tableau 33">
            <a:extLst>
              <a:ext uri="{FF2B5EF4-FFF2-40B4-BE49-F238E27FC236}">
                <a16:creationId xmlns:a16="http://schemas.microsoft.com/office/drawing/2014/main" id="{BCEB3F7D-3F76-954D-32F1-D00064CC2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169633"/>
              </p:ext>
            </p:extLst>
          </p:nvPr>
        </p:nvGraphicFramePr>
        <p:xfrm>
          <a:off x="406826" y="5363652"/>
          <a:ext cx="693013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203">
                  <a:extLst>
                    <a:ext uri="{9D8B030D-6E8A-4147-A177-3AD203B41FA5}">
                      <a16:colId xmlns:a16="http://schemas.microsoft.com/office/drawing/2014/main" val="1686248404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1651581824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3905708282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2562659957"/>
                    </a:ext>
                  </a:extLst>
                </a:gridCol>
              </a:tblGrid>
              <a:tr h="214650">
                <a:tc>
                  <a:txBody>
                    <a:bodyPr/>
                    <a:lstStyle/>
                    <a:p>
                      <a:r>
                        <a:rPr lang="fr-FR" sz="1400" dirty="0"/>
                        <a:t>260708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Nu (cm-1)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FWHM_phase</a:t>
                      </a:r>
                      <a:r>
                        <a:rPr lang="fr-FR" sz="1400" dirty="0"/>
                        <a:t> (cm-1)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11394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2ps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4629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2ps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929246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7ps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8268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7ps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65749"/>
                  </a:ext>
                </a:extLst>
              </a:tr>
            </a:tbl>
          </a:graphicData>
        </a:graphic>
      </p:graphicFrame>
      <p:pic>
        <p:nvPicPr>
          <p:cNvPr id="40" name="Image 39">
            <a:extLst>
              <a:ext uri="{FF2B5EF4-FFF2-40B4-BE49-F238E27FC236}">
                <a16:creationId xmlns:a16="http://schemas.microsoft.com/office/drawing/2014/main" id="{CB5D142B-8A4F-A8AF-3366-A8B0631BA2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5365" y="9739"/>
            <a:ext cx="3064646" cy="2619592"/>
          </a:xfrm>
          <a:prstGeom prst="rect">
            <a:avLst/>
          </a:prstGeom>
        </p:spPr>
      </p:pic>
      <p:sp>
        <p:nvSpPr>
          <p:cNvPr id="41" name="ZoneTexte 40">
            <a:extLst>
              <a:ext uri="{FF2B5EF4-FFF2-40B4-BE49-F238E27FC236}">
                <a16:creationId xmlns:a16="http://schemas.microsoft.com/office/drawing/2014/main" id="{56CCB4CB-20A0-4D2A-196F-1CC1B7A3C210}"/>
              </a:ext>
            </a:extLst>
          </p:cNvPr>
          <p:cNvSpPr txBox="1"/>
          <p:nvPr/>
        </p:nvSpPr>
        <p:spPr>
          <a:xfrm>
            <a:off x="7081115" y="9739"/>
            <a:ext cx="1356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7ps</a:t>
            </a:r>
            <a:endParaRPr lang="fr-FR" sz="3600" dirty="0">
              <a:solidFill>
                <a:schemeClr val="bg1"/>
              </a:solidFill>
            </a:endParaRPr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2FC2F66D-BD81-5D6C-EB96-BF5E64EAE483}"/>
              </a:ext>
            </a:extLst>
          </p:cNvPr>
          <p:cNvCxnSpPr>
            <a:cxnSpLocks/>
          </p:cNvCxnSpPr>
          <p:nvPr/>
        </p:nvCxnSpPr>
        <p:spPr>
          <a:xfrm>
            <a:off x="7559651" y="2322719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CCCA4991-6C6F-9C0A-D7EC-B36E45CEB9FB}"/>
              </a:ext>
            </a:extLst>
          </p:cNvPr>
          <p:cNvSpPr txBox="1"/>
          <p:nvPr/>
        </p:nvSpPr>
        <p:spPr>
          <a:xfrm>
            <a:off x="7268596" y="1953387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B17DE37B-A689-E37C-D2FE-D0D53F00C7B4}"/>
              </a:ext>
            </a:extLst>
          </p:cNvPr>
          <p:cNvCxnSpPr/>
          <p:nvPr/>
        </p:nvCxnSpPr>
        <p:spPr>
          <a:xfrm flipV="1">
            <a:off x="7946265" y="4181874"/>
            <a:ext cx="798490" cy="5189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A809993A-ED20-65D2-29E8-C49C37E19B47}"/>
              </a:ext>
            </a:extLst>
          </p:cNvPr>
          <p:cNvCxnSpPr>
            <a:cxnSpLocks/>
          </p:cNvCxnSpPr>
          <p:nvPr/>
        </p:nvCxnSpPr>
        <p:spPr>
          <a:xfrm>
            <a:off x="7946265" y="5303243"/>
            <a:ext cx="643943" cy="9563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Image 64">
            <a:extLst>
              <a:ext uri="{FF2B5EF4-FFF2-40B4-BE49-F238E27FC236}">
                <a16:creationId xmlns:a16="http://schemas.microsoft.com/office/drawing/2014/main" id="{CCAB2E6D-00A4-CC28-692D-D595DAA42D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1895" y="2517618"/>
            <a:ext cx="3812959" cy="2812792"/>
          </a:xfrm>
          <a:prstGeom prst="rect">
            <a:avLst/>
          </a:prstGeom>
        </p:spPr>
      </p:pic>
      <p:sp>
        <p:nvSpPr>
          <p:cNvPr id="67" name="ZoneTexte 66">
            <a:extLst>
              <a:ext uri="{FF2B5EF4-FFF2-40B4-BE49-F238E27FC236}">
                <a16:creationId xmlns:a16="http://schemas.microsoft.com/office/drawing/2014/main" id="{EBCA16C2-4BA6-2802-6DCD-949779A40715}"/>
              </a:ext>
            </a:extLst>
          </p:cNvPr>
          <p:cNvSpPr txBox="1"/>
          <p:nvPr/>
        </p:nvSpPr>
        <p:spPr>
          <a:xfrm>
            <a:off x="4385665" y="3858709"/>
            <a:ext cx="16164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fwhm_instr_7ps = 2.9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1F61B89-5EC9-37D9-50C2-C3D5CAC72E64}"/>
              </a:ext>
            </a:extLst>
          </p:cNvPr>
          <p:cNvSpPr/>
          <p:nvPr/>
        </p:nvSpPr>
        <p:spPr>
          <a:xfrm>
            <a:off x="4002231" y="4700789"/>
            <a:ext cx="3944034" cy="612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1" name="Image 70">
            <a:extLst>
              <a:ext uri="{FF2B5EF4-FFF2-40B4-BE49-F238E27FC236}">
                <a16:creationId xmlns:a16="http://schemas.microsoft.com/office/drawing/2014/main" id="{42D53BCA-5339-C7FD-3EF3-E6046805C5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8279" y="4102050"/>
            <a:ext cx="3013119" cy="236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66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E358-78B2-81EE-5225-84261E911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61ACC567-E438-6C26-B853-684D5E631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56135" y="42488"/>
            <a:ext cx="5642924" cy="749032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fr-FR" sz="14400" b="1" dirty="0"/>
              <a:t>2ps vs 7ps - 260708 </a:t>
            </a:r>
            <a:r>
              <a:rPr lang="fr-FR" sz="14400" b="1" dirty="0" err="1"/>
              <a:t>ACC_Cal</a:t>
            </a:r>
            <a:r>
              <a:rPr lang="fr-FR" sz="14400" b="1" dirty="0"/>
              <a:t>  </a:t>
            </a:r>
            <a:r>
              <a:rPr lang="fr-FR" sz="14400" b="1" dirty="0" err="1"/>
              <a:t>synt</a:t>
            </a:r>
            <a:r>
              <a:rPr lang="fr-FR" sz="144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1D436C0-7275-1A5D-F070-11E5FE5DE3E0}"/>
              </a:ext>
            </a:extLst>
          </p:cNvPr>
          <p:cNvSpPr txBox="1"/>
          <p:nvPr/>
        </p:nvSpPr>
        <p:spPr>
          <a:xfrm>
            <a:off x="10316308" y="212838"/>
            <a:ext cx="1356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7ps</a:t>
            </a:r>
            <a:endParaRPr lang="fr-FR" sz="3600" dirty="0">
              <a:solidFill>
                <a:schemeClr val="bg1"/>
              </a:solidFill>
            </a:endParaRP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9CC29A4C-C51C-98F5-1B11-E9FFE2460E5D}"/>
              </a:ext>
            </a:extLst>
          </p:cNvPr>
          <p:cNvCxnSpPr>
            <a:cxnSpLocks/>
          </p:cNvCxnSpPr>
          <p:nvPr/>
        </p:nvCxnSpPr>
        <p:spPr>
          <a:xfrm>
            <a:off x="10794844" y="2525818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55283D9F-6180-1F91-B1A0-85D55292510F}"/>
              </a:ext>
            </a:extLst>
          </p:cNvPr>
          <p:cNvSpPr txBox="1"/>
          <p:nvPr/>
        </p:nvSpPr>
        <p:spPr>
          <a:xfrm>
            <a:off x="10503789" y="2156486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B12CA6E2-1FC2-E22D-8816-2FA1D7A8A72F}"/>
              </a:ext>
            </a:extLst>
          </p:cNvPr>
          <p:cNvCxnSpPr>
            <a:cxnSpLocks/>
          </p:cNvCxnSpPr>
          <p:nvPr/>
        </p:nvCxnSpPr>
        <p:spPr>
          <a:xfrm>
            <a:off x="2646758" y="3271077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C0B37200-47B2-145D-EFF8-297CB02BB059}"/>
              </a:ext>
            </a:extLst>
          </p:cNvPr>
          <p:cNvSpPr txBox="1"/>
          <p:nvPr/>
        </p:nvSpPr>
        <p:spPr>
          <a:xfrm>
            <a:off x="2355703" y="2901745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4246C139-9BA7-1EF0-D61B-C68D92F7ABF0}"/>
              </a:ext>
            </a:extLst>
          </p:cNvPr>
          <p:cNvCxnSpPr>
            <a:cxnSpLocks/>
          </p:cNvCxnSpPr>
          <p:nvPr/>
        </p:nvCxnSpPr>
        <p:spPr>
          <a:xfrm>
            <a:off x="6871344" y="2533441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86B5E0CA-D9C4-7E9C-7480-E32B7965CA26}"/>
              </a:ext>
            </a:extLst>
          </p:cNvPr>
          <p:cNvSpPr txBox="1"/>
          <p:nvPr/>
        </p:nvSpPr>
        <p:spPr>
          <a:xfrm>
            <a:off x="6989216" y="956460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x 0.55</a:t>
            </a:r>
          </a:p>
        </p:txBody>
      </p:sp>
      <p:sp>
        <p:nvSpPr>
          <p:cNvPr id="43" name="Flèche : en arc 42">
            <a:extLst>
              <a:ext uri="{FF2B5EF4-FFF2-40B4-BE49-F238E27FC236}">
                <a16:creationId xmlns:a16="http://schemas.microsoft.com/office/drawing/2014/main" id="{941E4BFF-D7B6-F1E7-9497-8EF9145F14C3}"/>
              </a:ext>
            </a:extLst>
          </p:cNvPr>
          <p:cNvSpPr/>
          <p:nvPr/>
        </p:nvSpPr>
        <p:spPr>
          <a:xfrm rot="16200000" flipV="1">
            <a:off x="6702658" y="922479"/>
            <a:ext cx="302144" cy="400373"/>
          </a:xfrm>
          <a:prstGeom prst="circularArrow">
            <a:avLst>
              <a:gd name="adj1" fmla="val 0"/>
              <a:gd name="adj2" fmla="val 1142319"/>
              <a:gd name="adj3" fmla="val 21014151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517105A-A2C7-15FA-49B3-CE46C29BB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45" y="2102055"/>
            <a:ext cx="5041497" cy="380417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6D17D3F-B7D2-AE48-46A6-D89303479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68" y="2102055"/>
            <a:ext cx="4680368" cy="3804178"/>
          </a:xfrm>
          <a:prstGeom prst="rect">
            <a:avLst/>
          </a:prstGeom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55AD878F-03A6-4896-5392-BAB3E6296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124052"/>
              </p:ext>
            </p:extLst>
          </p:nvPr>
        </p:nvGraphicFramePr>
        <p:xfrm>
          <a:off x="4842448" y="142465"/>
          <a:ext cx="693013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203">
                  <a:extLst>
                    <a:ext uri="{9D8B030D-6E8A-4147-A177-3AD203B41FA5}">
                      <a16:colId xmlns:a16="http://schemas.microsoft.com/office/drawing/2014/main" val="1686248404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1651581824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3905708282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2562659957"/>
                    </a:ext>
                  </a:extLst>
                </a:gridCol>
              </a:tblGrid>
              <a:tr h="214650">
                <a:tc>
                  <a:txBody>
                    <a:bodyPr/>
                    <a:lstStyle/>
                    <a:p>
                      <a:r>
                        <a:rPr lang="fr-FR" sz="1400" dirty="0"/>
                        <a:t>260708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Nu (cm-1)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FWHM_phase</a:t>
                      </a:r>
                      <a:r>
                        <a:rPr lang="fr-FR" sz="1400" dirty="0"/>
                        <a:t> (cm-1)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11394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2ps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4629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2ps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929246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7ps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8268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7ps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6574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4870A0F4-14E7-DC09-6AF6-8143AFE2A75A}"/>
              </a:ext>
            </a:extLst>
          </p:cNvPr>
          <p:cNvSpPr txBox="1"/>
          <p:nvPr/>
        </p:nvSpPr>
        <p:spPr>
          <a:xfrm>
            <a:off x="7126868" y="562922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x 0.55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B672062-B83C-1B8A-175D-85D0D9127EFB}"/>
              </a:ext>
            </a:extLst>
          </p:cNvPr>
          <p:cNvSpPr txBox="1"/>
          <p:nvPr/>
        </p:nvSpPr>
        <p:spPr>
          <a:xfrm>
            <a:off x="7126868" y="1168973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x 0.73</a:t>
            </a:r>
          </a:p>
        </p:txBody>
      </p:sp>
      <p:sp>
        <p:nvSpPr>
          <p:cNvPr id="12" name="Flèche : en arc 11">
            <a:extLst>
              <a:ext uri="{FF2B5EF4-FFF2-40B4-BE49-F238E27FC236}">
                <a16:creationId xmlns:a16="http://schemas.microsoft.com/office/drawing/2014/main" id="{9909E1E9-1314-9F07-ABB5-61E6A884C906}"/>
              </a:ext>
            </a:extLst>
          </p:cNvPr>
          <p:cNvSpPr/>
          <p:nvPr/>
        </p:nvSpPr>
        <p:spPr>
          <a:xfrm rot="16200000" flipV="1">
            <a:off x="6857923" y="1153452"/>
            <a:ext cx="302144" cy="400373"/>
          </a:xfrm>
          <a:prstGeom prst="circularArrow">
            <a:avLst>
              <a:gd name="adj1" fmla="val 0"/>
              <a:gd name="adj2" fmla="val 1142319"/>
              <a:gd name="adj3" fmla="val 21014151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" name="Flèche : en arc 14">
            <a:extLst>
              <a:ext uri="{FF2B5EF4-FFF2-40B4-BE49-F238E27FC236}">
                <a16:creationId xmlns:a16="http://schemas.microsoft.com/office/drawing/2014/main" id="{DB5BB741-AF93-B1BA-F392-33D7314A72B3}"/>
              </a:ext>
            </a:extLst>
          </p:cNvPr>
          <p:cNvSpPr/>
          <p:nvPr/>
        </p:nvSpPr>
        <p:spPr>
          <a:xfrm rot="16200000" flipV="1">
            <a:off x="6840310" y="528941"/>
            <a:ext cx="302144" cy="400373"/>
          </a:xfrm>
          <a:prstGeom prst="circularArrow">
            <a:avLst>
              <a:gd name="adj1" fmla="val 0"/>
              <a:gd name="adj2" fmla="val 1142319"/>
              <a:gd name="adj3" fmla="val 21014151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C472F4D5-4D73-5119-BF97-8E101A479E1B}"/>
              </a:ext>
            </a:extLst>
          </p:cNvPr>
          <p:cNvCxnSpPr>
            <a:cxnSpLocks/>
          </p:cNvCxnSpPr>
          <p:nvPr/>
        </p:nvCxnSpPr>
        <p:spPr>
          <a:xfrm>
            <a:off x="6560820" y="5425440"/>
            <a:ext cx="533177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E001F5E7-453E-56BA-9AB1-950D60F358AA}"/>
              </a:ext>
            </a:extLst>
          </p:cNvPr>
          <p:cNvSpPr txBox="1"/>
          <p:nvPr/>
        </p:nvSpPr>
        <p:spPr>
          <a:xfrm>
            <a:off x="11275116" y="512064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SNR</a:t>
            </a:r>
          </a:p>
        </p:txBody>
      </p:sp>
    </p:spTree>
    <p:extLst>
      <p:ext uri="{BB962C8B-B14F-4D97-AF65-F5344CB8AC3E}">
        <p14:creationId xmlns:p14="http://schemas.microsoft.com/office/powerpoint/2010/main" val="120458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AFCEC-21E3-450E-DABC-B156E06CA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DC274F36-5E28-52CA-CE23-60FB9DB0C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56135" y="42488"/>
            <a:ext cx="5642924" cy="749032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fr-FR" sz="14400" b="1" dirty="0"/>
              <a:t>2ps vs 7ps - 260708 </a:t>
            </a:r>
            <a:r>
              <a:rPr lang="fr-FR" sz="14400" b="1" dirty="0" err="1"/>
              <a:t>ACC_Cal</a:t>
            </a:r>
            <a:r>
              <a:rPr lang="fr-FR" sz="14400" b="1" dirty="0"/>
              <a:t>  </a:t>
            </a:r>
            <a:r>
              <a:rPr lang="fr-FR" sz="14400" b="1" dirty="0" err="1"/>
              <a:t>synt</a:t>
            </a:r>
            <a:r>
              <a:rPr lang="fr-FR" sz="144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ABED340-FB77-779B-1703-73A17F3A5DD4}"/>
              </a:ext>
            </a:extLst>
          </p:cNvPr>
          <p:cNvSpPr txBox="1"/>
          <p:nvPr/>
        </p:nvSpPr>
        <p:spPr>
          <a:xfrm>
            <a:off x="10316308" y="212838"/>
            <a:ext cx="1356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7ps</a:t>
            </a:r>
            <a:endParaRPr lang="fr-FR" sz="3600" dirty="0">
              <a:solidFill>
                <a:schemeClr val="bg1"/>
              </a:solidFill>
            </a:endParaRP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B7CE607F-9E43-5D43-E7CD-84CBDB011FF8}"/>
              </a:ext>
            </a:extLst>
          </p:cNvPr>
          <p:cNvCxnSpPr>
            <a:cxnSpLocks/>
          </p:cNvCxnSpPr>
          <p:nvPr/>
        </p:nvCxnSpPr>
        <p:spPr>
          <a:xfrm>
            <a:off x="10794844" y="2525818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58A6C6CD-0E6D-A131-659E-72F68189E238}"/>
              </a:ext>
            </a:extLst>
          </p:cNvPr>
          <p:cNvSpPr txBox="1"/>
          <p:nvPr/>
        </p:nvSpPr>
        <p:spPr>
          <a:xfrm>
            <a:off x="10503789" y="2156486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0DB29059-38A6-5B14-D210-4E71FC2B955B}"/>
              </a:ext>
            </a:extLst>
          </p:cNvPr>
          <p:cNvCxnSpPr>
            <a:cxnSpLocks/>
          </p:cNvCxnSpPr>
          <p:nvPr/>
        </p:nvCxnSpPr>
        <p:spPr>
          <a:xfrm>
            <a:off x="2646758" y="3271077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9554DD00-FB48-6175-C876-CFAD1F746C5A}"/>
              </a:ext>
            </a:extLst>
          </p:cNvPr>
          <p:cNvSpPr txBox="1"/>
          <p:nvPr/>
        </p:nvSpPr>
        <p:spPr>
          <a:xfrm>
            <a:off x="2355703" y="2901745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4DEDB0D4-76CF-CAE4-E541-F7F71096DAAE}"/>
              </a:ext>
            </a:extLst>
          </p:cNvPr>
          <p:cNvCxnSpPr>
            <a:cxnSpLocks/>
          </p:cNvCxnSpPr>
          <p:nvPr/>
        </p:nvCxnSpPr>
        <p:spPr>
          <a:xfrm>
            <a:off x="6871344" y="2533441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AE325897-C12F-8F38-A6D1-EAAD9BFEB76B}"/>
              </a:ext>
            </a:extLst>
          </p:cNvPr>
          <p:cNvSpPr txBox="1"/>
          <p:nvPr/>
        </p:nvSpPr>
        <p:spPr>
          <a:xfrm>
            <a:off x="1161412" y="2235336"/>
            <a:ext cx="7529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/>
              <a:t>2ps</a:t>
            </a:r>
            <a:r>
              <a:rPr lang="fr-FR" sz="1800"/>
              <a:t> - Fwhm_instr = 13.5 (14 mesuré)</a:t>
            </a:r>
            <a:endParaRPr lang="fr-FR" sz="18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49C109E-7144-A482-8127-541BD47E6E60}"/>
              </a:ext>
            </a:extLst>
          </p:cNvPr>
          <p:cNvSpPr txBox="1"/>
          <p:nvPr/>
        </p:nvSpPr>
        <p:spPr>
          <a:xfrm>
            <a:off x="7556310" y="2260893"/>
            <a:ext cx="616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7ps</a:t>
            </a:r>
            <a:r>
              <a:rPr lang="fr-FR" sz="1800" dirty="0"/>
              <a:t> - </a:t>
            </a:r>
            <a:r>
              <a:rPr lang="fr-FR" sz="1800" dirty="0" err="1"/>
              <a:t>Fwhm_instr</a:t>
            </a:r>
            <a:r>
              <a:rPr lang="fr-FR" sz="1800" dirty="0"/>
              <a:t> = 2.8 (4.4 mesuré)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0BC06ABA-0842-6A65-37AC-99D1EB4FF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212383"/>
              </p:ext>
            </p:extLst>
          </p:nvPr>
        </p:nvGraphicFramePr>
        <p:xfrm>
          <a:off x="4842448" y="142465"/>
          <a:ext cx="693013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203">
                  <a:extLst>
                    <a:ext uri="{9D8B030D-6E8A-4147-A177-3AD203B41FA5}">
                      <a16:colId xmlns:a16="http://schemas.microsoft.com/office/drawing/2014/main" val="1686248404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1651581824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3905708282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2562659957"/>
                    </a:ext>
                  </a:extLst>
                </a:gridCol>
              </a:tblGrid>
              <a:tr h="214650">
                <a:tc>
                  <a:txBody>
                    <a:bodyPr/>
                    <a:lstStyle/>
                    <a:p>
                      <a:r>
                        <a:rPr lang="fr-FR" sz="1400" dirty="0"/>
                        <a:t>260708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Nu (cm-1)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FWHM_phase</a:t>
                      </a:r>
                      <a:r>
                        <a:rPr lang="fr-FR" sz="1400" dirty="0"/>
                        <a:t> (cm-1)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11394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2ps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4629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2ps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929246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7ps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8268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7ps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65749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F866398-A806-653E-A5F2-6A927DD97FA1}"/>
              </a:ext>
            </a:extLst>
          </p:cNvPr>
          <p:cNvSpPr txBox="1"/>
          <p:nvPr/>
        </p:nvSpPr>
        <p:spPr>
          <a:xfrm>
            <a:off x="7126868" y="562922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x 0.55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B2CBB44-D553-91FD-A10F-E08411E2039E}"/>
              </a:ext>
            </a:extLst>
          </p:cNvPr>
          <p:cNvSpPr txBox="1"/>
          <p:nvPr/>
        </p:nvSpPr>
        <p:spPr>
          <a:xfrm>
            <a:off x="7126868" y="1168973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x 0.73</a:t>
            </a:r>
          </a:p>
        </p:txBody>
      </p:sp>
      <p:sp>
        <p:nvSpPr>
          <p:cNvPr id="24" name="Flèche : en arc 23">
            <a:extLst>
              <a:ext uri="{FF2B5EF4-FFF2-40B4-BE49-F238E27FC236}">
                <a16:creationId xmlns:a16="http://schemas.microsoft.com/office/drawing/2014/main" id="{AEA51E0A-CA56-299C-4F8F-5F608D469169}"/>
              </a:ext>
            </a:extLst>
          </p:cNvPr>
          <p:cNvSpPr/>
          <p:nvPr/>
        </p:nvSpPr>
        <p:spPr>
          <a:xfrm rot="16200000" flipV="1">
            <a:off x="6857923" y="1153452"/>
            <a:ext cx="302144" cy="400373"/>
          </a:xfrm>
          <a:prstGeom prst="circularArrow">
            <a:avLst>
              <a:gd name="adj1" fmla="val 0"/>
              <a:gd name="adj2" fmla="val 1142319"/>
              <a:gd name="adj3" fmla="val 21014151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7" name="Flèche : en arc 26">
            <a:extLst>
              <a:ext uri="{FF2B5EF4-FFF2-40B4-BE49-F238E27FC236}">
                <a16:creationId xmlns:a16="http://schemas.microsoft.com/office/drawing/2014/main" id="{224FA0B0-B7A6-0B7B-7123-9BB44796EED4}"/>
              </a:ext>
            </a:extLst>
          </p:cNvPr>
          <p:cNvSpPr/>
          <p:nvPr/>
        </p:nvSpPr>
        <p:spPr>
          <a:xfrm rot="16200000" flipV="1">
            <a:off x="6840310" y="528941"/>
            <a:ext cx="302144" cy="400373"/>
          </a:xfrm>
          <a:prstGeom prst="circularArrow">
            <a:avLst>
              <a:gd name="adj1" fmla="val 0"/>
              <a:gd name="adj2" fmla="val 1142319"/>
              <a:gd name="adj3" fmla="val 21014151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6F3FCA81-CD47-C848-1208-11B7CD6DD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99" y="2749053"/>
            <a:ext cx="5805362" cy="3966482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565EC03B-9AF0-0AD1-E46A-821FD4DEB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978" y="2942589"/>
            <a:ext cx="5449608" cy="373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3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2187-4F3B-4B31-73F9-4783A0A16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488CAB53-09BE-85C2-3EFF-A94A2A58B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56135" y="42488"/>
            <a:ext cx="5642924" cy="749032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fr-FR" sz="14400" b="1" dirty="0"/>
              <a:t>2ps vs 7ps - 260708 </a:t>
            </a:r>
            <a:r>
              <a:rPr lang="fr-FR" sz="14400" b="1" dirty="0" err="1"/>
              <a:t>ACC_Cal</a:t>
            </a:r>
            <a:r>
              <a:rPr lang="fr-FR" sz="14400" b="1" dirty="0"/>
              <a:t>  </a:t>
            </a:r>
            <a:r>
              <a:rPr lang="fr-FR" sz="14400" b="1" dirty="0" err="1"/>
              <a:t>synt</a:t>
            </a:r>
            <a:r>
              <a:rPr lang="fr-FR" sz="144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B58CF158-3DF0-2340-ADBA-EBBA950B4FD6}"/>
              </a:ext>
            </a:extLst>
          </p:cNvPr>
          <p:cNvCxnSpPr>
            <a:cxnSpLocks/>
          </p:cNvCxnSpPr>
          <p:nvPr/>
        </p:nvCxnSpPr>
        <p:spPr>
          <a:xfrm>
            <a:off x="10794844" y="2525818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EEF961A4-7E3C-643D-DB5F-3A154493AE11}"/>
              </a:ext>
            </a:extLst>
          </p:cNvPr>
          <p:cNvSpPr txBox="1"/>
          <p:nvPr/>
        </p:nvSpPr>
        <p:spPr>
          <a:xfrm>
            <a:off x="10503789" y="2156486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0DB7F7A-934F-152D-6353-65F99A1AF02E}"/>
              </a:ext>
            </a:extLst>
          </p:cNvPr>
          <p:cNvCxnSpPr>
            <a:cxnSpLocks/>
          </p:cNvCxnSpPr>
          <p:nvPr/>
        </p:nvCxnSpPr>
        <p:spPr>
          <a:xfrm>
            <a:off x="2646758" y="3271077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839A8725-4B0D-B4CF-E068-7BFA183B0CB0}"/>
              </a:ext>
            </a:extLst>
          </p:cNvPr>
          <p:cNvSpPr txBox="1"/>
          <p:nvPr/>
        </p:nvSpPr>
        <p:spPr>
          <a:xfrm>
            <a:off x="2355703" y="2901745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50755FD-051A-9943-0A7E-E4FEA1D36B9E}"/>
              </a:ext>
            </a:extLst>
          </p:cNvPr>
          <p:cNvCxnSpPr>
            <a:cxnSpLocks/>
          </p:cNvCxnSpPr>
          <p:nvPr/>
        </p:nvCxnSpPr>
        <p:spPr>
          <a:xfrm>
            <a:off x="6871344" y="2533441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C21E3483-4461-B5B2-99A6-174DDFA3D464}"/>
              </a:ext>
            </a:extLst>
          </p:cNvPr>
          <p:cNvSpPr txBox="1"/>
          <p:nvPr/>
        </p:nvSpPr>
        <p:spPr>
          <a:xfrm>
            <a:off x="127453" y="1043115"/>
            <a:ext cx="3825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2ps</a:t>
            </a:r>
            <a:r>
              <a:rPr lang="fr-FR" dirty="0"/>
              <a:t> - </a:t>
            </a:r>
            <a:r>
              <a:rPr lang="fr-FR" dirty="0" err="1"/>
              <a:t>Fwhm_instr</a:t>
            </a:r>
            <a:r>
              <a:rPr lang="fr-FR" dirty="0"/>
              <a:t> = 13.6 (14 mesuré)</a:t>
            </a:r>
          </a:p>
          <a:p>
            <a:r>
              <a:rPr lang="fr-FR" dirty="0"/>
              <a:t>params.roi1 = [90 95 100 105];</a:t>
            </a:r>
          </a:p>
          <a:p>
            <a:r>
              <a:rPr lang="fr-FR" dirty="0"/>
              <a:t>params.roi2 = [23 30 60 69];</a:t>
            </a:r>
          </a:p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F52A7A6-EE50-53EF-9161-4BE2C0063DE9}"/>
              </a:ext>
            </a:extLst>
          </p:cNvPr>
          <p:cNvSpPr txBox="1"/>
          <p:nvPr/>
        </p:nvSpPr>
        <p:spPr>
          <a:xfrm>
            <a:off x="8569618" y="1273948"/>
            <a:ext cx="371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7ps</a:t>
            </a:r>
            <a:r>
              <a:rPr lang="fr-FR" dirty="0"/>
              <a:t> - </a:t>
            </a:r>
            <a:r>
              <a:rPr lang="fr-FR" dirty="0" err="1"/>
              <a:t>Fwhm_instr</a:t>
            </a:r>
            <a:r>
              <a:rPr lang="fr-FR" dirty="0"/>
              <a:t> = 2.8 (4.4 mesuré)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4AADD12-669F-A5C2-DEA8-EC677A4E2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827" y="283247"/>
            <a:ext cx="2168173" cy="184246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E13496F-44C2-A9D3-6B53-A63622766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733" y="270769"/>
            <a:ext cx="2168174" cy="1854939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57598D47-D75E-0986-28CF-A2CACDC2A8F9}"/>
              </a:ext>
            </a:extLst>
          </p:cNvPr>
          <p:cNvSpPr txBox="1"/>
          <p:nvPr/>
        </p:nvSpPr>
        <p:spPr>
          <a:xfrm>
            <a:off x="4187600" y="1489392"/>
            <a:ext cx="6314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/>
              <a:t>2ps</a:t>
            </a:r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8E3CB6F-C239-6C51-25B5-8852F0DE8E59}"/>
              </a:ext>
            </a:extLst>
          </p:cNvPr>
          <p:cNvSpPr txBox="1"/>
          <p:nvPr/>
        </p:nvSpPr>
        <p:spPr>
          <a:xfrm>
            <a:off x="6520180" y="1501654"/>
            <a:ext cx="627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/>
              <a:t>7ps</a:t>
            </a:r>
            <a:endParaRPr lang="fr-FR" dirty="0"/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F8A26505-58B9-C9B7-A30A-5F46BA503239}"/>
              </a:ext>
            </a:extLst>
          </p:cNvPr>
          <p:cNvCxnSpPr/>
          <p:nvPr/>
        </p:nvCxnSpPr>
        <p:spPr>
          <a:xfrm>
            <a:off x="6167120" y="42488"/>
            <a:ext cx="0" cy="6551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9710F4D7-3DA5-54E9-7DB9-684414AF8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381" y="2168024"/>
            <a:ext cx="5794045" cy="395875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DD2C914-B3E8-691E-0587-6088A0F5F138}"/>
              </a:ext>
            </a:extLst>
          </p:cNvPr>
          <p:cNvSpPr txBox="1"/>
          <p:nvPr/>
        </p:nvSpPr>
        <p:spPr>
          <a:xfrm>
            <a:off x="2837206" y="2081791"/>
            <a:ext cx="6314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2ps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3DA0DB6-B8E3-DA7F-63D0-912DF3E670D7}"/>
              </a:ext>
            </a:extLst>
          </p:cNvPr>
          <p:cNvSpPr txBox="1"/>
          <p:nvPr/>
        </p:nvSpPr>
        <p:spPr>
          <a:xfrm>
            <a:off x="4775361" y="233063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2,9</a:t>
            </a:r>
          </a:p>
        </p:txBody>
      </p:sp>
      <p:sp>
        <p:nvSpPr>
          <p:cNvPr id="15" name="Flèche : en arc 14">
            <a:extLst>
              <a:ext uri="{FF2B5EF4-FFF2-40B4-BE49-F238E27FC236}">
                <a16:creationId xmlns:a16="http://schemas.microsoft.com/office/drawing/2014/main" id="{3E7AB9BA-F7B7-B572-6D19-F5E2B3612DF6}"/>
              </a:ext>
            </a:extLst>
          </p:cNvPr>
          <p:cNvSpPr/>
          <p:nvPr/>
        </p:nvSpPr>
        <p:spPr>
          <a:xfrm rot="16200000" flipV="1">
            <a:off x="4796536" y="2586736"/>
            <a:ext cx="431800" cy="433577"/>
          </a:xfrm>
          <a:prstGeom prst="circularArrow">
            <a:avLst>
              <a:gd name="adj1" fmla="val 15894"/>
              <a:gd name="adj2" fmla="val 1092206"/>
              <a:gd name="adj3" fmla="val 4078263"/>
              <a:gd name="adj4" fmla="val 16590273"/>
              <a:gd name="adj5" fmla="val 171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85C2AB93-89B1-A45B-A25D-16AF865174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0733" y="2209572"/>
            <a:ext cx="5803812" cy="3965423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09E024EA-4CFA-F3C4-BAAF-755E43E9B1F6}"/>
              </a:ext>
            </a:extLst>
          </p:cNvPr>
          <p:cNvSpPr txBox="1"/>
          <p:nvPr/>
        </p:nvSpPr>
        <p:spPr>
          <a:xfrm>
            <a:off x="8899337" y="2018749"/>
            <a:ext cx="6517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7ps</a:t>
            </a:r>
            <a:endParaRPr lang="fr-FR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C1A6241-95B0-E381-2D96-0AFF00E70251}"/>
              </a:ext>
            </a:extLst>
          </p:cNvPr>
          <p:cNvSpPr txBox="1"/>
          <p:nvPr/>
        </p:nvSpPr>
        <p:spPr>
          <a:xfrm>
            <a:off x="11098032" y="22095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7</a:t>
            </a:r>
          </a:p>
        </p:txBody>
      </p:sp>
      <p:sp>
        <p:nvSpPr>
          <p:cNvPr id="30" name="Flèche : en arc 29">
            <a:extLst>
              <a:ext uri="{FF2B5EF4-FFF2-40B4-BE49-F238E27FC236}">
                <a16:creationId xmlns:a16="http://schemas.microsoft.com/office/drawing/2014/main" id="{9317CBBB-A39E-C0F7-0B10-7AC5567CA952}"/>
              </a:ext>
            </a:extLst>
          </p:cNvPr>
          <p:cNvSpPr/>
          <p:nvPr/>
        </p:nvSpPr>
        <p:spPr>
          <a:xfrm rot="16200000" flipV="1">
            <a:off x="11119207" y="2465677"/>
            <a:ext cx="431800" cy="433577"/>
          </a:xfrm>
          <a:prstGeom prst="circularArrow">
            <a:avLst>
              <a:gd name="adj1" fmla="val 15894"/>
              <a:gd name="adj2" fmla="val 1092206"/>
              <a:gd name="adj3" fmla="val 4078263"/>
              <a:gd name="adj4" fmla="val 16590273"/>
              <a:gd name="adj5" fmla="val 171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058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094050-C3E1-6B51-F4C2-E83A884E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87325"/>
            <a:ext cx="3733800" cy="1325563"/>
          </a:xfrm>
        </p:spPr>
        <p:txBody>
          <a:bodyPr/>
          <a:lstStyle/>
          <a:p>
            <a:r>
              <a:rPr lang="fr-FR" dirty="0"/>
              <a:t>Littérature </a:t>
            </a:r>
            <a:r>
              <a:rPr lang="fr-FR" dirty="0" err="1"/>
              <a:t>Vatérite</a:t>
            </a:r>
            <a:r>
              <a:rPr lang="fr-FR" dirty="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83EC50-7CB4-6D09-4513-3D5E9D14E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784" y="503237"/>
            <a:ext cx="6894298" cy="609646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E1B607D-033F-CDF7-A873-4C0EA84E1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18" y="1379265"/>
            <a:ext cx="4667901" cy="389626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4E5764F-3EF7-BB49-E6B4-EE2F8F73D686}"/>
              </a:ext>
            </a:extLst>
          </p:cNvPr>
          <p:cNvSpPr txBox="1"/>
          <p:nvPr/>
        </p:nvSpPr>
        <p:spPr>
          <a:xfrm>
            <a:off x="314900" y="5399376"/>
            <a:ext cx="46679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Wehrmeister, U., et al. (2010).</a:t>
            </a:r>
            <a:r>
              <a:rPr lang="fr-FR" dirty="0"/>
              <a:t> </a:t>
            </a:r>
            <a:r>
              <a:rPr lang="fr-FR" i="1" dirty="0"/>
              <a:t>Raman </a:t>
            </a:r>
            <a:r>
              <a:rPr lang="fr-FR" i="1" dirty="0" err="1"/>
              <a:t>spectroscopy</a:t>
            </a:r>
            <a:r>
              <a:rPr lang="fr-FR" i="1" dirty="0"/>
              <a:t> of </a:t>
            </a:r>
            <a:r>
              <a:rPr lang="fr-FR" i="1" dirty="0" err="1"/>
              <a:t>synthetic</a:t>
            </a:r>
            <a:r>
              <a:rPr lang="fr-FR" i="1" dirty="0"/>
              <a:t>, </a:t>
            </a:r>
            <a:r>
              <a:rPr lang="fr-FR" i="1" dirty="0" err="1"/>
              <a:t>geological</a:t>
            </a:r>
            <a:r>
              <a:rPr lang="fr-FR" i="1" dirty="0"/>
              <a:t> and </a:t>
            </a:r>
            <a:r>
              <a:rPr lang="fr-FR" i="1" dirty="0" err="1"/>
              <a:t>biological</a:t>
            </a:r>
            <a:r>
              <a:rPr lang="fr-FR" i="1" dirty="0"/>
              <a:t> </a:t>
            </a:r>
            <a:r>
              <a:rPr lang="fr-FR" i="1" dirty="0" err="1"/>
              <a:t>vaterite</a:t>
            </a:r>
            <a:r>
              <a:rPr lang="fr-FR" i="1" dirty="0"/>
              <a:t>: a Raman </a:t>
            </a:r>
            <a:r>
              <a:rPr lang="fr-FR" i="1" dirty="0" err="1"/>
              <a:t>spectroscopic</a:t>
            </a:r>
            <a:r>
              <a:rPr lang="fr-FR" i="1" dirty="0"/>
              <a:t> </a:t>
            </a:r>
            <a:r>
              <a:rPr lang="fr-FR" i="1" dirty="0" err="1"/>
              <a:t>study</a:t>
            </a:r>
            <a:r>
              <a:rPr lang="fr-FR" i="1" dirty="0"/>
              <a:t>.</a:t>
            </a:r>
            <a:r>
              <a:rPr lang="fr-FR" dirty="0"/>
              <a:t> Journal of Raman </a:t>
            </a:r>
            <a:r>
              <a:rPr lang="fr-FR" dirty="0" err="1"/>
              <a:t>Spectroscopy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8146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1F4A9-8BAF-C8A2-E881-F7596527E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D5F5752E-C1D2-5AFA-A8D5-83B8A3B72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991801" cy="749032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fr-FR" sz="9800" b="1" dirty="0"/>
              <a:t>7ps 260527 </a:t>
            </a:r>
            <a:r>
              <a:rPr lang="fr-FR" sz="9800" b="1" dirty="0" err="1"/>
              <a:t>Vatérite</a:t>
            </a:r>
            <a:r>
              <a:rPr lang="fr-FR" sz="98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AD355CA-DC99-5E5A-467A-71F6E4C82041}"/>
              </a:ext>
            </a:extLst>
          </p:cNvPr>
          <p:cNvGrpSpPr/>
          <p:nvPr/>
        </p:nvGrpSpPr>
        <p:grpSpPr>
          <a:xfrm>
            <a:off x="5271907" y="134227"/>
            <a:ext cx="2452255" cy="2213264"/>
            <a:chOff x="5341683" y="134227"/>
            <a:chExt cx="2452255" cy="2213264"/>
          </a:xfrm>
        </p:grpSpPr>
        <p:pic>
          <p:nvPicPr>
            <p:cNvPr id="6" name="Google Shape;137;g3e4efdd0c05_0_0">
              <a:extLst>
                <a:ext uri="{FF2B5EF4-FFF2-40B4-BE49-F238E27FC236}">
                  <a16:creationId xmlns:a16="http://schemas.microsoft.com/office/drawing/2014/main" id="{DD32D86B-D606-F6F4-291E-37F47116F33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341683" y="134227"/>
              <a:ext cx="2452255" cy="22132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6BFAD8-C17A-1A9B-9EA2-56342F1DC671}"/>
                </a:ext>
              </a:extLst>
            </p:cNvPr>
            <p:cNvSpPr/>
            <p:nvPr/>
          </p:nvSpPr>
          <p:spPr>
            <a:xfrm>
              <a:off x="6511536" y="396776"/>
              <a:ext cx="112548" cy="11196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0000"/>
                </a:solidFill>
              </a:endParaRPr>
            </a:p>
          </p:txBody>
        </p:sp>
      </p:grpSp>
      <p:sp>
        <p:nvSpPr>
          <p:cNvPr id="10" name="ZoneTexte 9">
            <a:extLst>
              <a:ext uri="{FF2B5EF4-FFF2-40B4-BE49-F238E27FC236}">
                <a16:creationId xmlns:a16="http://schemas.microsoft.com/office/drawing/2014/main" id="{21CCC65C-1F27-D8D5-1E49-CF4EA7A10AF3}"/>
              </a:ext>
            </a:extLst>
          </p:cNvPr>
          <p:cNvSpPr txBox="1"/>
          <p:nvPr/>
        </p:nvSpPr>
        <p:spPr>
          <a:xfrm>
            <a:off x="8082996" y="98978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Résultat du fit :</a:t>
            </a:r>
          </a:p>
          <a:p>
            <a:r>
              <a:rPr lang="fr-FR" dirty="0"/>
              <a:t>Phase VAT : </a:t>
            </a:r>
            <a:r>
              <a:rPr lang="fr-FR" dirty="0" err="1"/>
              <a:t>A_fit</a:t>
            </a:r>
            <a:r>
              <a:rPr lang="fr-FR" dirty="0"/>
              <a:t> = 1099</a:t>
            </a:r>
          </a:p>
          <a:p>
            <a:pPr lvl="1"/>
            <a:r>
              <a:rPr lang="fr-FR" dirty="0"/>
              <a:t>- Raie 1 : nu = 1074.23 cm^-1</a:t>
            </a:r>
          </a:p>
          <a:p>
            <a:pPr lvl="1"/>
            <a:r>
              <a:rPr lang="fr-FR" dirty="0"/>
              <a:t>- Raie 2 : nu = 1080.78 cm^-1</a:t>
            </a:r>
          </a:p>
          <a:p>
            <a:pPr lvl="1"/>
            <a:r>
              <a:rPr lang="fr-FR" dirty="0"/>
              <a:t>- Raie 3 : nu = 1090.09 cm^-1</a:t>
            </a:r>
          </a:p>
          <a:p>
            <a:pPr lvl="1"/>
            <a:r>
              <a:rPr lang="fr-FR" dirty="0"/>
              <a:t>- FWHM 1 : FWHM = 3.04 cm^-1</a:t>
            </a:r>
          </a:p>
          <a:p>
            <a:pPr lvl="1"/>
            <a:r>
              <a:rPr lang="fr-FR" dirty="0"/>
              <a:t>- FWHM 2 : FWHM = 2.85 cm^-1</a:t>
            </a:r>
          </a:p>
          <a:p>
            <a:pPr lvl="1"/>
            <a:r>
              <a:rPr lang="fr-FR" dirty="0"/>
              <a:t>- FWHM 3 : FWHM = 5.34 cm^-1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ADD10F0-082C-C897-2B4A-03B69E1FA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059" y="120637"/>
            <a:ext cx="3083858" cy="266131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04C8965-24CB-7543-BBD7-BEA8F0CC0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159" y="3241800"/>
            <a:ext cx="4810837" cy="364751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EEAA211-7761-C6A0-C575-018FBD2A64F3}"/>
              </a:ext>
            </a:extLst>
          </p:cNvPr>
          <p:cNvSpPr txBox="1"/>
          <p:nvPr/>
        </p:nvSpPr>
        <p:spPr>
          <a:xfrm>
            <a:off x="8103701" y="531699"/>
            <a:ext cx="691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0" i="0" dirty="0" err="1">
                <a:effectLst/>
                <a:latin typeface="+mn-lt"/>
              </a:rPr>
              <a:t>Ratio_model</a:t>
            </a:r>
            <a:r>
              <a:rPr lang="fr-FR" sz="1800" b="0" i="0" dirty="0">
                <a:effectLst/>
                <a:latin typeface="+mn-lt"/>
              </a:rPr>
              <a:t>  = [0.</a:t>
            </a:r>
            <a:r>
              <a:rPr lang="fr-FR" dirty="0"/>
              <a:t>45</a:t>
            </a:r>
            <a:r>
              <a:rPr lang="fr-FR" sz="1800" b="0" i="0" dirty="0">
                <a:effectLst/>
                <a:latin typeface="+mn-lt"/>
              </a:rPr>
              <a:t> 0.28 1];</a:t>
            </a:r>
            <a:endParaRPr lang="fr-FR" sz="1000" b="0" i="0" dirty="0">
              <a:effectLst/>
              <a:latin typeface="Menlo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DC988D3-4A8E-4F05-4433-1C2C49DF3A9D}"/>
              </a:ext>
            </a:extLst>
          </p:cNvPr>
          <p:cNvCxnSpPr>
            <a:cxnSpLocks/>
          </p:cNvCxnSpPr>
          <p:nvPr/>
        </p:nvCxnSpPr>
        <p:spPr>
          <a:xfrm flipH="1">
            <a:off x="6953557" y="5162550"/>
            <a:ext cx="18859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76A598A4-EFDF-3026-4EBE-E2F973B8129E}"/>
              </a:ext>
            </a:extLst>
          </p:cNvPr>
          <p:cNvCxnSpPr>
            <a:cxnSpLocks/>
          </p:cNvCxnSpPr>
          <p:nvPr/>
        </p:nvCxnSpPr>
        <p:spPr>
          <a:xfrm flipH="1">
            <a:off x="6953557" y="5543550"/>
            <a:ext cx="23002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5F1BCEAE-002A-2322-9958-AA9906002CFB}"/>
              </a:ext>
            </a:extLst>
          </p:cNvPr>
          <p:cNvSpPr txBox="1"/>
          <p:nvPr/>
        </p:nvSpPr>
        <p:spPr>
          <a:xfrm>
            <a:off x="6953557" y="4890317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/>
              <a:t>0.5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359C2B4-5BDD-6DE2-BB45-1605F4D0971D}"/>
              </a:ext>
            </a:extLst>
          </p:cNvPr>
          <p:cNvSpPr txBox="1"/>
          <p:nvPr/>
        </p:nvSpPr>
        <p:spPr>
          <a:xfrm>
            <a:off x="6953557" y="5273453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/>
              <a:t>0.35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D3426EC-6C24-C29D-3F81-489FCF5E37F2}"/>
              </a:ext>
            </a:extLst>
          </p:cNvPr>
          <p:cNvSpPr txBox="1"/>
          <p:nvPr/>
        </p:nvSpPr>
        <p:spPr>
          <a:xfrm>
            <a:off x="7236926" y="3863350"/>
            <a:ext cx="173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Synthetic samples made by Clémentine </a:t>
            </a:r>
            <a:endParaRPr lang="fr-FR" sz="120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23E67255-8E4E-FCF7-24FD-E15D5CBB9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999" y="2674973"/>
            <a:ext cx="5612088" cy="418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222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ADC89-820C-8691-DE4E-4214462E1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E460BE47-34BA-8E67-78B9-377F2900E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0027920" cy="749032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fr-FR" sz="5100" b="1" dirty="0"/>
              <a:t>2ps 260527 </a:t>
            </a:r>
            <a:r>
              <a:rPr lang="fr-FR" sz="5100" b="1" dirty="0" err="1"/>
              <a:t>Vatérite</a:t>
            </a:r>
            <a:r>
              <a:rPr lang="fr-FR" sz="51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pic>
        <p:nvPicPr>
          <p:cNvPr id="6" name="Google Shape;137;g3e4efdd0c05_0_0">
            <a:extLst>
              <a:ext uri="{FF2B5EF4-FFF2-40B4-BE49-F238E27FC236}">
                <a16:creationId xmlns:a16="http://schemas.microsoft.com/office/drawing/2014/main" id="{831F9502-F5F0-1519-8219-3CB32A5DCB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039127" y="736371"/>
            <a:ext cx="2452255" cy="221326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5E02C8-8EF1-A92A-3E90-67988E4FCE48}"/>
              </a:ext>
            </a:extLst>
          </p:cNvPr>
          <p:cNvSpPr/>
          <p:nvPr/>
        </p:nvSpPr>
        <p:spPr>
          <a:xfrm>
            <a:off x="6208981" y="969644"/>
            <a:ext cx="112548" cy="1119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9208E372-339E-3507-C0F4-93BA40F3E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168" y="632079"/>
            <a:ext cx="3083859" cy="284079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D85B80AE-4CEB-A96F-7C4F-D947A63CD347}"/>
              </a:ext>
            </a:extLst>
          </p:cNvPr>
          <p:cNvSpPr txBox="1"/>
          <p:nvPr/>
        </p:nvSpPr>
        <p:spPr>
          <a:xfrm>
            <a:off x="7735221" y="96017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Résultat du fit :</a:t>
            </a:r>
            <a:endParaRPr lang="fr-FR" dirty="0"/>
          </a:p>
          <a:p>
            <a:r>
              <a:rPr lang="fr-FR" dirty="0"/>
              <a:t>Phase VAT : </a:t>
            </a:r>
            <a:r>
              <a:rPr lang="fr-FR" dirty="0" err="1"/>
              <a:t>A_fit</a:t>
            </a:r>
            <a:r>
              <a:rPr lang="fr-FR" dirty="0"/>
              <a:t> = 8050.1</a:t>
            </a:r>
          </a:p>
          <a:p>
            <a:pPr lvl="1"/>
            <a:r>
              <a:rPr lang="fr-FR" dirty="0"/>
              <a:t>- Raie 1 : nu = 1073.8006 cm^-1</a:t>
            </a:r>
          </a:p>
          <a:p>
            <a:pPr lvl="1"/>
            <a:r>
              <a:rPr lang="fr-FR" dirty="0"/>
              <a:t>- Raie 2 : nu = 1080.2310 cm^-1</a:t>
            </a:r>
          </a:p>
          <a:p>
            <a:pPr lvl="1"/>
            <a:r>
              <a:rPr lang="fr-FR" dirty="0"/>
              <a:t>- Raie 3 : nu = 1091.7282 cm^-1</a:t>
            </a:r>
          </a:p>
          <a:p>
            <a:pPr lvl="1"/>
            <a:r>
              <a:rPr lang="fr-FR" dirty="0"/>
              <a:t>- FWHM 1 : FWHM = 10.0000 cm^-1</a:t>
            </a:r>
          </a:p>
          <a:p>
            <a:pPr lvl="1"/>
            <a:r>
              <a:rPr lang="fr-FR" dirty="0"/>
              <a:t>- FWHM 2 : FWHM = 3.0289 cm^-1</a:t>
            </a:r>
          </a:p>
          <a:p>
            <a:pPr lvl="1"/>
            <a:r>
              <a:rPr lang="fr-FR" dirty="0"/>
              <a:t>- FWHM 3 : FWHM = 5.5216 cm^-1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3DE36B19-4C87-CAEE-B59A-2AD2F452FE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168" y="608025"/>
            <a:ext cx="3136083" cy="2888904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11C5946-A1DA-EA54-03BF-41CD8F4A62DE}"/>
              </a:ext>
            </a:extLst>
          </p:cNvPr>
          <p:cNvSpPr txBox="1"/>
          <p:nvPr/>
        </p:nvSpPr>
        <p:spPr>
          <a:xfrm>
            <a:off x="7735221" y="350359"/>
            <a:ext cx="6915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dirty="0" err="1">
                <a:effectLst/>
                <a:latin typeface="+mn-lt"/>
              </a:rPr>
              <a:t>Ratio_model</a:t>
            </a:r>
            <a:r>
              <a:rPr lang="fr-FR" sz="1800" b="0" i="0" dirty="0">
                <a:effectLst/>
                <a:latin typeface="+mn-lt"/>
              </a:rPr>
              <a:t>  = </a:t>
            </a:r>
            <a:r>
              <a:rPr lang="fr-FR" dirty="0" err="1"/>
              <a:t>Ratio_model</a:t>
            </a:r>
            <a:r>
              <a:rPr lang="fr-FR" dirty="0"/>
              <a:t>  = [0.45 0.28 1];</a:t>
            </a:r>
            <a:endParaRPr lang="fr-FR" sz="1000" dirty="0">
              <a:latin typeface="Menlo"/>
            </a:endParaRPr>
          </a:p>
          <a:p>
            <a:pPr>
              <a:buNone/>
            </a:pPr>
            <a:endParaRPr lang="fr-FR" sz="1000" b="0" i="0" dirty="0">
              <a:effectLst/>
              <a:latin typeface="Menlo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2A440E2-92CF-63E0-F44E-A6C5F9230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1568" y="3520983"/>
            <a:ext cx="4329242" cy="322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16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E279-E16E-59A3-2FB1-6E2E27ABD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62CE60A7-112D-54F7-3F6B-077AA4683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0027920" cy="749032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fr-FR" sz="5100" b="1" dirty="0"/>
              <a:t>2 vs 7ps 260527 </a:t>
            </a:r>
            <a:r>
              <a:rPr lang="fr-FR" sz="5100" b="1" dirty="0" err="1"/>
              <a:t>Vatérite</a:t>
            </a:r>
            <a:r>
              <a:rPr lang="fr-FR" sz="51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7F9937E7-395B-F230-4F5C-3252AAB65C55}"/>
              </a:ext>
            </a:extLst>
          </p:cNvPr>
          <p:cNvGrpSpPr/>
          <p:nvPr/>
        </p:nvGrpSpPr>
        <p:grpSpPr>
          <a:xfrm>
            <a:off x="2632684" y="527937"/>
            <a:ext cx="2740212" cy="2717876"/>
            <a:chOff x="5039127" y="736371"/>
            <a:chExt cx="2452255" cy="2213264"/>
          </a:xfrm>
        </p:grpSpPr>
        <p:pic>
          <p:nvPicPr>
            <p:cNvPr id="6" name="Google Shape;137;g3e4efdd0c05_0_0">
              <a:extLst>
                <a:ext uri="{FF2B5EF4-FFF2-40B4-BE49-F238E27FC236}">
                  <a16:creationId xmlns:a16="http://schemas.microsoft.com/office/drawing/2014/main" id="{51426BF4-7F9B-F6F3-EC16-D538AFF1BD97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039127" y="736371"/>
              <a:ext cx="2452255" cy="22132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B0A2480-95BD-9304-54DA-1E1009906D16}"/>
                </a:ext>
              </a:extLst>
            </p:cNvPr>
            <p:cNvSpPr/>
            <p:nvPr/>
          </p:nvSpPr>
          <p:spPr>
            <a:xfrm>
              <a:off x="6233177" y="990807"/>
              <a:ext cx="64153" cy="627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0000"/>
                </a:solidFill>
              </a:endParaRPr>
            </a:p>
          </p:txBody>
        </p:sp>
      </p:grpSp>
      <p:pic>
        <p:nvPicPr>
          <p:cNvPr id="15" name="Image 14">
            <a:extLst>
              <a:ext uri="{FF2B5EF4-FFF2-40B4-BE49-F238E27FC236}">
                <a16:creationId xmlns:a16="http://schemas.microsoft.com/office/drawing/2014/main" id="{F40F418F-9114-29BA-8446-5D72FBF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338" y="3378560"/>
            <a:ext cx="4425198" cy="329878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8CEC086-BE33-D828-F329-DF65393CB4AB}"/>
              </a:ext>
            </a:extLst>
          </p:cNvPr>
          <p:cNvSpPr txBox="1"/>
          <p:nvPr/>
        </p:nvSpPr>
        <p:spPr>
          <a:xfrm>
            <a:off x="298430" y="2950328"/>
            <a:ext cx="1986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Nb points 125²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scan range 50 µm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40B5EEE-B02C-B8FF-0EEA-232675A115FC}"/>
              </a:ext>
            </a:extLst>
          </p:cNvPr>
          <p:cNvSpPr txBox="1"/>
          <p:nvPr/>
        </p:nvSpPr>
        <p:spPr>
          <a:xfrm>
            <a:off x="404103" y="4368788"/>
            <a:ext cx="1775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1 pix = 400 nm²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B4D1D046-2FBD-9B86-14E8-7DFA582067E8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1291700" y="3596659"/>
            <a:ext cx="0" cy="772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63BFB569-CE02-4572-0C3D-859A06FCA64C}"/>
              </a:ext>
            </a:extLst>
          </p:cNvPr>
          <p:cNvCxnSpPr>
            <a:cxnSpLocks/>
          </p:cNvCxnSpPr>
          <p:nvPr/>
        </p:nvCxnSpPr>
        <p:spPr>
          <a:xfrm>
            <a:off x="7599638" y="3150383"/>
            <a:ext cx="82998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7A0F97C8-8BB7-C2CD-F254-A0FA84FD710F}"/>
              </a:ext>
            </a:extLst>
          </p:cNvPr>
          <p:cNvCxnSpPr>
            <a:cxnSpLocks/>
          </p:cNvCxnSpPr>
          <p:nvPr/>
        </p:nvCxnSpPr>
        <p:spPr>
          <a:xfrm>
            <a:off x="7614285" y="3150383"/>
            <a:ext cx="5257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52B37E61-EC8D-E749-867C-E25490C20986}"/>
              </a:ext>
            </a:extLst>
          </p:cNvPr>
          <p:cNvCxnSpPr>
            <a:cxnSpLocks/>
          </p:cNvCxnSpPr>
          <p:nvPr/>
        </p:nvCxnSpPr>
        <p:spPr>
          <a:xfrm>
            <a:off x="4680997" y="3150383"/>
            <a:ext cx="5257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ZoneTexte 41">
            <a:extLst>
              <a:ext uri="{FF2B5EF4-FFF2-40B4-BE49-F238E27FC236}">
                <a16:creationId xmlns:a16="http://schemas.microsoft.com/office/drawing/2014/main" id="{8BE3074A-378F-32A7-6A4C-A9BBE72CDC03}"/>
              </a:ext>
            </a:extLst>
          </p:cNvPr>
          <p:cNvSpPr txBox="1"/>
          <p:nvPr/>
        </p:nvSpPr>
        <p:spPr>
          <a:xfrm>
            <a:off x="4555042" y="275491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10 µm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A80D06B2-3A39-A7EA-39B3-2D541710C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164" y="519852"/>
            <a:ext cx="3285038" cy="2834931"/>
          </a:xfrm>
          <a:prstGeom prst="rect">
            <a:avLst/>
          </a:prstGeom>
        </p:spPr>
      </p:pic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A91273D0-25E2-D0BA-D681-02B18C63CFAD}"/>
              </a:ext>
            </a:extLst>
          </p:cNvPr>
          <p:cNvCxnSpPr>
            <a:cxnSpLocks/>
          </p:cNvCxnSpPr>
          <p:nvPr/>
        </p:nvCxnSpPr>
        <p:spPr>
          <a:xfrm>
            <a:off x="7461885" y="2997983"/>
            <a:ext cx="5257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130755A2-1552-4FAC-AFCF-448FA2C576F8}"/>
              </a:ext>
            </a:extLst>
          </p:cNvPr>
          <p:cNvSpPr txBox="1"/>
          <p:nvPr/>
        </p:nvSpPr>
        <p:spPr>
          <a:xfrm>
            <a:off x="7335930" y="260251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10 µm</a:t>
            </a: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29D9301C-BCC8-4484-2215-72068124C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4354" y="547217"/>
            <a:ext cx="3316567" cy="2834929"/>
          </a:xfrm>
          <a:prstGeom prst="rect">
            <a:avLst/>
          </a:prstGeom>
        </p:spPr>
      </p:pic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6B06CA82-286F-8AAA-0904-A0F61661FEEF}"/>
              </a:ext>
            </a:extLst>
          </p:cNvPr>
          <p:cNvCxnSpPr>
            <a:cxnSpLocks/>
          </p:cNvCxnSpPr>
          <p:nvPr/>
        </p:nvCxnSpPr>
        <p:spPr>
          <a:xfrm>
            <a:off x="10844576" y="2997983"/>
            <a:ext cx="5257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363D10E4-25D9-16EB-1111-DFA167A2F5C5}"/>
              </a:ext>
            </a:extLst>
          </p:cNvPr>
          <p:cNvSpPr txBox="1"/>
          <p:nvPr/>
        </p:nvSpPr>
        <p:spPr>
          <a:xfrm>
            <a:off x="10718621" y="2602517"/>
            <a:ext cx="81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10 µm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18A2CC17-881E-46D2-1119-1D2267C9AD36}"/>
              </a:ext>
            </a:extLst>
          </p:cNvPr>
          <p:cNvSpPr txBox="1"/>
          <p:nvPr/>
        </p:nvSpPr>
        <p:spPr>
          <a:xfrm>
            <a:off x="7334464" y="493888"/>
            <a:ext cx="2725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7ps</a:t>
            </a:r>
            <a:endParaRPr lang="fr-FR" sz="3200" dirty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860C8DED-F8F2-12B9-6698-4BA150B67D75}"/>
              </a:ext>
            </a:extLst>
          </p:cNvPr>
          <p:cNvSpPr txBox="1"/>
          <p:nvPr/>
        </p:nvSpPr>
        <p:spPr>
          <a:xfrm>
            <a:off x="10790796" y="44021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2ps</a:t>
            </a:r>
            <a:endParaRPr lang="fr-FR" sz="3200" dirty="0"/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FA64098B-3BB6-6163-17D1-5AC444B862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9256" y="3391248"/>
            <a:ext cx="4634613" cy="3428999"/>
          </a:xfrm>
          <a:prstGeom prst="rect">
            <a:avLst/>
          </a:prstGeom>
        </p:spPr>
      </p:pic>
      <p:sp>
        <p:nvSpPr>
          <p:cNvPr id="51" name="ZoneTexte 50">
            <a:extLst>
              <a:ext uri="{FF2B5EF4-FFF2-40B4-BE49-F238E27FC236}">
                <a16:creationId xmlns:a16="http://schemas.microsoft.com/office/drawing/2014/main" id="{0C462D07-659F-D0B3-5D2E-58686917F766}"/>
              </a:ext>
            </a:extLst>
          </p:cNvPr>
          <p:cNvSpPr txBox="1"/>
          <p:nvPr/>
        </p:nvSpPr>
        <p:spPr>
          <a:xfrm>
            <a:off x="10769407" y="359665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2ps</a:t>
            </a:r>
            <a:endParaRPr lang="fr-FR" sz="3200" dirty="0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8D9F5B15-6DE8-E1AE-E746-0A5679FAE5F9}"/>
              </a:ext>
            </a:extLst>
          </p:cNvPr>
          <p:cNvCxnSpPr>
            <a:cxnSpLocks/>
          </p:cNvCxnSpPr>
          <p:nvPr/>
        </p:nvCxnSpPr>
        <p:spPr>
          <a:xfrm flipH="1">
            <a:off x="9468221" y="919724"/>
            <a:ext cx="596514" cy="28986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6EC3BC9E-E21B-FACB-01FB-2273A4B59E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5229" y="3375190"/>
            <a:ext cx="4639415" cy="345803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45E8E25-8A8C-88B0-2E1E-6EF2DDC9B162}"/>
              </a:ext>
            </a:extLst>
          </p:cNvPr>
          <p:cNvSpPr txBox="1"/>
          <p:nvPr/>
        </p:nvSpPr>
        <p:spPr>
          <a:xfrm>
            <a:off x="5901332" y="393536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7ps</a:t>
            </a:r>
            <a:endParaRPr lang="fr-FR" sz="3200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0774F66-3196-E725-E93A-ACB7FCE7ACCC}"/>
              </a:ext>
            </a:extLst>
          </p:cNvPr>
          <p:cNvCxnSpPr>
            <a:cxnSpLocks/>
          </p:cNvCxnSpPr>
          <p:nvPr/>
        </p:nvCxnSpPr>
        <p:spPr>
          <a:xfrm flipH="1">
            <a:off x="5720610" y="986283"/>
            <a:ext cx="1106926" cy="30777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605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B638A-EF94-9C8F-885C-81D2FFCFE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424635B3-903C-3DCB-853C-E6D24E66C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0027920" cy="749032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fr-FR" sz="5100" b="1" dirty="0"/>
              <a:t>2ps vs 7ps 260527 </a:t>
            </a:r>
            <a:r>
              <a:rPr lang="fr-FR" sz="5100" b="1" dirty="0" err="1"/>
              <a:t>Vatérite</a:t>
            </a:r>
            <a:r>
              <a:rPr lang="fr-FR" sz="51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36DFB279-8D85-1A9A-9860-0896FB1C9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54" y="989890"/>
            <a:ext cx="10382491" cy="551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13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9D1F3-1217-3F5B-324D-D56F1C11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805B31-6664-D46D-85C0-D21A1228B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92" y="-39193"/>
            <a:ext cx="4228769" cy="1102043"/>
          </a:xfrm>
        </p:spPr>
        <p:txBody>
          <a:bodyPr>
            <a:normAutofit fontScale="90000"/>
          </a:bodyPr>
          <a:lstStyle/>
          <a:p>
            <a:pPr algn="l"/>
            <a:r>
              <a:rPr lang="fr-FR" sz="4000" b="1" dirty="0" err="1"/>
              <a:t>Corals</a:t>
            </a:r>
            <a:r>
              <a:rPr lang="fr-FR" sz="4000" b="1" dirty="0"/>
              <a:t> 260715 2ps (#4 </a:t>
            </a:r>
            <a:r>
              <a:rPr lang="fr-FR" sz="4000" b="1" dirty="0" err="1"/>
              <a:t>stressed</a:t>
            </a:r>
            <a:r>
              <a:rPr lang="fr-FR" sz="4000" b="1" dirty="0"/>
              <a:t>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466E450-D8CF-B6F6-8F60-46F20EE2AA07}"/>
              </a:ext>
            </a:extLst>
          </p:cNvPr>
          <p:cNvSpPr txBox="1"/>
          <p:nvPr/>
        </p:nvSpPr>
        <p:spPr>
          <a:xfrm>
            <a:off x="7854741" y="176293"/>
            <a:ext cx="4129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0" i="0" dirty="0">
                <a:effectLst/>
                <a:latin typeface="+mn-lt"/>
              </a:rPr>
              <a:t>R2_min= 0.7;</a:t>
            </a:r>
          </a:p>
          <a:p>
            <a:pPr>
              <a:buNone/>
            </a:pPr>
            <a:r>
              <a:rPr lang="fr-FR" sz="1800" b="0" i="0" dirty="0" err="1">
                <a:effectLst/>
                <a:latin typeface="+mn-lt"/>
              </a:rPr>
              <a:t>threshold_sigma</a:t>
            </a:r>
            <a:r>
              <a:rPr lang="fr-FR" sz="1800" b="0" i="0" dirty="0">
                <a:effectLst/>
                <a:latin typeface="+mn-lt"/>
              </a:rPr>
              <a:t>= 4;</a:t>
            </a:r>
          </a:p>
          <a:p>
            <a:pPr>
              <a:buNone/>
            </a:pPr>
            <a:r>
              <a:rPr lang="fr-FR" sz="1800" b="0" i="0" dirty="0" err="1">
                <a:effectLst/>
                <a:latin typeface="+mn-lt"/>
              </a:rPr>
              <a:t>min_points_above_threshold</a:t>
            </a:r>
            <a:r>
              <a:rPr lang="fr-FR" sz="1800" b="0" i="0" dirty="0">
                <a:effectLst/>
                <a:latin typeface="+mn-lt"/>
              </a:rPr>
              <a:t> = 2;</a:t>
            </a:r>
            <a:endParaRPr lang="fr-FR" sz="1000" dirty="0">
              <a:latin typeface="Menlo"/>
            </a:endParaRPr>
          </a:p>
          <a:p>
            <a:pPr>
              <a:buNone/>
            </a:pPr>
            <a:r>
              <a:rPr lang="fr-FR" b="0" i="0" dirty="0">
                <a:effectLst/>
              </a:rPr>
              <a:t>ACC if A(ACC)</a:t>
            </a:r>
            <a:r>
              <a:rPr lang="fr-FR" dirty="0"/>
              <a:t>&gt;</a:t>
            </a:r>
            <a:r>
              <a:rPr lang="el-GR" b="1" dirty="0"/>
              <a:t> Γ </a:t>
            </a:r>
            <a:r>
              <a:rPr lang="fr-FR" dirty="0"/>
              <a:t>A(ARA) : </a:t>
            </a:r>
            <a:endParaRPr lang="fr-FR" b="0" i="0" dirty="0">
              <a:effectLst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9D11103-695B-3024-1C6D-F47BFAAFB0F0}"/>
              </a:ext>
            </a:extLst>
          </p:cNvPr>
          <p:cNvSpPr txBox="1"/>
          <p:nvPr/>
        </p:nvSpPr>
        <p:spPr>
          <a:xfrm>
            <a:off x="2440219" y="4229466"/>
            <a:ext cx="613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b="1" dirty="0"/>
              <a:t>Γ</a:t>
            </a:r>
            <a:r>
              <a:rPr lang="fr-FR" sz="3600" b="1" dirty="0"/>
              <a:t> = 1</a:t>
            </a:r>
            <a:endParaRPr lang="fr-FR" sz="3600" dirty="0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8A4E8F01-7786-EB05-F512-E4BE96383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961" y="1730640"/>
            <a:ext cx="6430296" cy="4951067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6F540607-8E94-51BE-EA96-3459967929E7}"/>
              </a:ext>
            </a:extLst>
          </p:cNvPr>
          <p:cNvSpPr txBox="1"/>
          <p:nvPr/>
        </p:nvSpPr>
        <p:spPr>
          <a:xfrm>
            <a:off x="5934811" y="1108213"/>
            <a:ext cx="613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b="1" dirty="0"/>
              <a:t>Γ</a:t>
            </a:r>
            <a:r>
              <a:rPr lang="fr-FR" sz="3600" b="1" dirty="0"/>
              <a:t> = 0.3</a:t>
            </a:r>
            <a:endParaRPr lang="fr-FR" sz="3600" dirty="0"/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F4FB9592-0A2C-262E-73A0-8D307CCD4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936" y="4206173"/>
            <a:ext cx="2348921" cy="2403723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84BFEE20-1A7B-9DF1-2BD5-14265479D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07" y="1753932"/>
            <a:ext cx="4951067" cy="495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92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F2D21-8650-8347-724F-73A9B202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25FD2-DBE2-1AE5-1DD0-E78B71C0E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92" y="-39193"/>
            <a:ext cx="4228769" cy="1102043"/>
          </a:xfrm>
        </p:spPr>
        <p:txBody>
          <a:bodyPr>
            <a:normAutofit fontScale="90000"/>
          </a:bodyPr>
          <a:lstStyle/>
          <a:p>
            <a:pPr algn="l"/>
            <a:r>
              <a:rPr lang="fr-FR" sz="4000" b="1" dirty="0" err="1"/>
              <a:t>Corals</a:t>
            </a:r>
            <a:r>
              <a:rPr lang="fr-FR" sz="4000" b="1" dirty="0"/>
              <a:t> 260715 7ps (#4 </a:t>
            </a:r>
            <a:r>
              <a:rPr lang="fr-FR" sz="4000" b="1" dirty="0" err="1"/>
              <a:t>stressed</a:t>
            </a:r>
            <a:r>
              <a:rPr lang="fr-FR" sz="4000" b="1" dirty="0"/>
              <a:t>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1201683-A6E2-DA1A-6F3C-9FF4BB29345E}"/>
              </a:ext>
            </a:extLst>
          </p:cNvPr>
          <p:cNvSpPr txBox="1"/>
          <p:nvPr/>
        </p:nvSpPr>
        <p:spPr>
          <a:xfrm>
            <a:off x="7854741" y="176293"/>
            <a:ext cx="4129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0" i="0" dirty="0">
                <a:effectLst/>
                <a:latin typeface="+mn-lt"/>
              </a:rPr>
              <a:t>R2_min= 0.6;</a:t>
            </a:r>
          </a:p>
          <a:p>
            <a:pPr>
              <a:buNone/>
            </a:pPr>
            <a:r>
              <a:rPr lang="fr-FR" sz="1800" b="0" i="0" dirty="0" err="1">
                <a:effectLst/>
                <a:latin typeface="+mn-lt"/>
              </a:rPr>
              <a:t>threshold_sigma</a:t>
            </a:r>
            <a:r>
              <a:rPr lang="fr-FR" sz="1800" b="0" i="0" dirty="0">
                <a:effectLst/>
                <a:latin typeface="+mn-lt"/>
              </a:rPr>
              <a:t>= 5;</a:t>
            </a:r>
          </a:p>
          <a:p>
            <a:pPr>
              <a:buNone/>
            </a:pPr>
            <a:r>
              <a:rPr lang="fr-FR" sz="1800" b="0" i="0" dirty="0" err="1">
                <a:effectLst/>
                <a:latin typeface="+mn-lt"/>
              </a:rPr>
              <a:t>min_points_above_threshold</a:t>
            </a:r>
            <a:r>
              <a:rPr lang="fr-FR" sz="1800" b="0" i="0" dirty="0">
                <a:effectLst/>
                <a:latin typeface="+mn-lt"/>
              </a:rPr>
              <a:t> = 1;</a:t>
            </a:r>
            <a:endParaRPr lang="fr-FR" sz="1000" dirty="0">
              <a:latin typeface="Menlo"/>
            </a:endParaRPr>
          </a:p>
          <a:p>
            <a:pPr>
              <a:buNone/>
            </a:pPr>
            <a:r>
              <a:rPr lang="fr-FR" b="0" i="0" dirty="0">
                <a:effectLst/>
              </a:rPr>
              <a:t>ACC if A(ACC)</a:t>
            </a:r>
            <a:r>
              <a:rPr lang="fr-FR" dirty="0"/>
              <a:t>&gt;</a:t>
            </a:r>
            <a:r>
              <a:rPr lang="el-GR" b="1" dirty="0"/>
              <a:t> Γ </a:t>
            </a:r>
            <a:r>
              <a:rPr lang="fr-FR" dirty="0"/>
              <a:t>A(ARA) : </a:t>
            </a:r>
            <a:endParaRPr lang="fr-FR" b="0" i="0" dirty="0">
              <a:effectLst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06930DA-75E6-A3E0-D427-8BD281D61CEB}"/>
              </a:ext>
            </a:extLst>
          </p:cNvPr>
          <p:cNvSpPr txBox="1"/>
          <p:nvPr/>
        </p:nvSpPr>
        <p:spPr>
          <a:xfrm>
            <a:off x="2440219" y="4229466"/>
            <a:ext cx="613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b="1" dirty="0"/>
              <a:t>Γ</a:t>
            </a:r>
            <a:r>
              <a:rPr lang="fr-FR" sz="3600" b="1" dirty="0"/>
              <a:t> = 1</a:t>
            </a:r>
            <a:endParaRPr lang="fr-FR" sz="3600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8479CCB4-4B16-AC36-74EF-246979F5D6DF}"/>
              </a:ext>
            </a:extLst>
          </p:cNvPr>
          <p:cNvSpPr txBox="1"/>
          <p:nvPr/>
        </p:nvSpPr>
        <p:spPr>
          <a:xfrm>
            <a:off x="5934811" y="1108213"/>
            <a:ext cx="613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b="1" dirty="0"/>
              <a:t>Γ</a:t>
            </a:r>
            <a:r>
              <a:rPr lang="fr-FR" sz="3600" b="1" dirty="0"/>
              <a:t> = 1</a:t>
            </a:r>
            <a:endParaRPr lang="fr-FR" sz="36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4B22361-16C2-4105-86A7-D99B55516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852" y="1730639"/>
            <a:ext cx="6430297" cy="495106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A06BB75-A387-B7AC-582E-324F601DF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936" y="4206173"/>
            <a:ext cx="2348921" cy="2403723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BA1163F-7C0A-DCA9-40E0-F4D2AEDB3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" y="2069035"/>
            <a:ext cx="5361313" cy="432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59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CEA3C-5351-1921-CBAF-129EBECC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29DC01-3DE8-CBB5-1D80-D9B4EA49D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63326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2800" b="1" dirty="0" err="1"/>
              <a:t>Corals</a:t>
            </a:r>
            <a:r>
              <a:rPr lang="fr-FR" sz="2800" b="1" dirty="0"/>
              <a:t> 260715 2ps vs 7ps (#4 </a:t>
            </a:r>
            <a:r>
              <a:rPr lang="fr-FR" sz="2800" b="1" dirty="0" err="1"/>
              <a:t>stressed</a:t>
            </a:r>
            <a:r>
              <a:rPr lang="fr-FR" sz="2800" b="1" dirty="0"/>
              <a:t>)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8F374BF-223C-787B-FE0B-63D26839ABA6}"/>
              </a:ext>
            </a:extLst>
          </p:cNvPr>
          <p:cNvSpPr txBox="1"/>
          <p:nvPr/>
        </p:nvSpPr>
        <p:spPr>
          <a:xfrm>
            <a:off x="0" y="525146"/>
            <a:ext cx="35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Réalisé sur la somme des pixels : 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EB300E05-724F-7558-5632-0057A86A2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24" y="5970445"/>
            <a:ext cx="3795089" cy="342930"/>
          </a:xfrm>
          <a:prstGeom prst="rect">
            <a:avLst/>
          </a:prstGeom>
        </p:spPr>
      </p:pic>
      <p:sp>
        <p:nvSpPr>
          <p:cNvPr id="50" name="ZoneTexte 49">
            <a:extLst>
              <a:ext uri="{FF2B5EF4-FFF2-40B4-BE49-F238E27FC236}">
                <a16:creationId xmlns:a16="http://schemas.microsoft.com/office/drawing/2014/main" id="{B50BBAEE-1C54-1FB2-22C8-88C2D9BE7E34}"/>
              </a:ext>
            </a:extLst>
          </p:cNvPr>
          <p:cNvSpPr txBox="1"/>
          <p:nvPr/>
        </p:nvSpPr>
        <p:spPr>
          <a:xfrm>
            <a:off x="2587953" y="6368314"/>
            <a:ext cx="183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Bckg</a:t>
            </a:r>
            <a:r>
              <a:rPr lang="fr-FR" dirty="0"/>
              <a:t> </a:t>
            </a:r>
            <a:r>
              <a:rPr lang="fr-FR" dirty="0" err="1"/>
              <a:t>variability</a:t>
            </a:r>
            <a:r>
              <a:rPr lang="fr-FR" dirty="0"/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40B2F10B-A698-6B4F-117E-3D8795514B85}"/>
                  </a:ext>
                </a:extLst>
              </p:cNvPr>
              <p:cNvSpPr txBox="1"/>
              <p:nvPr/>
            </p:nvSpPr>
            <p:spPr>
              <a:xfrm>
                <a:off x="4227213" y="6163169"/>
                <a:ext cx="4529864" cy="7439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bckg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𝑔𝑙𝑜𝑏𝑎𝑙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𝑚𝑒𝑑𝑖𝑎𝑛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i="0">
                                      <a:latin typeface="Cambria Math" panose="02040503050406030204" pitchFamily="18" charset="0"/>
                                    </a:rPr>
                                    <m:t>bckg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</m:d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i="0">
                                      <a:latin typeface="Cambria Math" panose="02040503050406030204" pitchFamily="18" charset="0"/>
                                    </a:rPr>
                                    <m:t>pixel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fr-FR" i="0">
                                  <a:latin typeface="Cambria Math" panose="02040503050406030204" pitchFamily="18" charset="0"/>
                                </a:rPr>
                                <m:t>norm</m:t>
                              </m:r>
                            </m:den>
                          </m:f>
                        </m:e>
                      </m:borderBox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40B2F10B-A698-6B4F-117E-3D8795514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213" y="6163169"/>
                <a:ext cx="4529864" cy="7439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Image 37">
            <a:extLst>
              <a:ext uri="{FF2B5EF4-FFF2-40B4-BE49-F238E27FC236}">
                <a16:creationId xmlns:a16="http://schemas.microsoft.com/office/drawing/2014/main" id="{77038095-0C63-BECE-D691-A76481F7AE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5321" y="894477"/>
            <a:ext cx="4385470" cy="3038633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215F6BBA-5800-85BC-4EB8-57FE1744128B}"/>
              </a:ext>
            </a:extLst>
          </p:cNvPr>
          <p:cNvSpPr txBox="1"/>
          <p:nvPr/>
        </p:nvSpPr>
        <p:spPr>
          <a:xfrm>
            <a:off x="6122199" y="881615"/>
            <a:ext cx="11113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b="1" dirty="0"/>
              <a:t>7ps</a:t>
            </a:r>
            <a:endParaRPr lang="fr-FR" dirty="0"/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532B0F14-BFAF-46A5-DADC-77B8D81030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9198" y="57150"/>
            <a:ext cx="2574970" cy="2133600"/>
          </a:xfrm>
          <a:prstGeom prst="rect">
            <a:avLst/>
          </a:prstGeom>
        </p:spPr>
      </p:pic>
      <p:pic>
        <p:nvPicPr>
          <p:cNvPr id="55" name="Image 54">
            <a:extLst>
              <a:ext uri="{FF2B5EF4-FFF2-40B4-BE49-F238E27FC236}">
                <a16:creationId xmlns:a16="http://schemas.microsoft.com/office/drawing/2014/main" id="{7794AED1-CB30-929D-5394-D7710D9EE0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068" y="209729"/>
            <a:ext cx="2249594" cy="2302079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130BA088-E1B1-1228-614D-1FA57CEED740}"/>
              </a:ext>
            </a:extLst>
          </p:cNvPr>
          <p:cNvSpPr/>
          <p:nvPr/>
        </p:nvSpPr>
        <p:spPr>
          <a:xfrm>
            <a:off x="10965577" y="2042160"/>
            <a:ext cx="426721" cy="29718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C171DE6-B199-8FC8-C1BA-616F1E5000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7338" y="949417"/>
            <a:ext cx="4385470" cy="2986227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F59D664-4384-0A91-5F02-B26D906223FA}"/>
              </a:ext>
            </a:extLst>
          </p:cNvPr>
          <p:cNvSpPr txBox="1"/>
          <p:nvPr/>
        </p:nvSpPr>
        <p:spPr>
          <a:xfrm>
            <a:off x="1837832" y="887555"/>
            <a:ext cx="21956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b="1" dirty="0"/>
              <a:t>2ps</a:t>
            </a:r>
            <a:endParaRPr lang="fr-FR" dirty="0"/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126B16F2-C620-F247-DFEF-CC36C3753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749702"/>
              </p:ext>
            </p:extLst>
          </p:nvPr>
        </p:nvGraphicFramePr>
        <p:xfrm>
          <a:off x="432124" y="4041069"/>
          <a:ext cx="1132572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217">
                  <a:extLst>
                    <a:ext uri="{9D8B030D-6E8A-4147-A177-3AD203B41FA5}">
                      <a16:colId xmlns:a16="http://schemas.microsoft.com/office/drawing/2014/main" val="1686248404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1651581824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3905708282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2562659957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2754650862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4174220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260715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FWHM_phase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FWHM_instr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N_pix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1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2ps 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8311 +/- 3747.4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1086.02 +/- 0.17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1.43 +/- 0.81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2ps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2823.2 +/- 2918.7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1073.11 +/- 0.36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33.92 +/- 6.33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92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7ps 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4275 +/- 794.18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1085.45 +/- 0.24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3.12 +/- 0.93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8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7ps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3741.6 +/- 2693.2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1073.83 +/- 1.53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32.04 +/- 8.97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65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959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02574-0FD6-5DB8-C1D3-59435D5BE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0643B-1886-FF0D-DF59-6866F737E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92" y="-39193"/>
            <a:ext cx="4228769" cy="1102043"/>
          </a:xfrm>
        </p:spPr>
        <p:txBody>
          <a:bodyPr>
            <a:normAutofit fontScale="90000"/>
          </a:bodyPr>
          <a:lstStyle/>
          <a:p>
            <a:pPr algn="l"/>
            <a:r>
              <a:rPr lang="fr-FR" sz="4000" b="1" dirty="0" err="1"/>
              <a:t>Corals</a:t>
            </a:r>
            <a:r>
              <a:rPr lang="fr-FR" sz="4000" b="1" dirty="0"/>
              <a:t> 260715 2ps vs 7ps (#4 </a:t>
            </a:r>
            <a:r>
              <a:rPr lang="fr-FR" sz="4000" b="1" dirty="0" err="1"/>
              <a:t>stressed</a:t>
            </a:r>
            <a:r>
              <a:rPr lang="fr-FR" sz="4000" b="1" dirty="0"/>
              <a:t>)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9A7D0108-0A74-3F29-49FC-7BDD36E85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999" y="3978442"/>
            <a:ext cx="3595773" cy="2695162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3FEF3777-39D9-0ACB-5130-C35A29C99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323" y="759289"/>
            <a:ext cx="3915825" cy="3074207"/>
          </a:xfrm>
          <a:prstGeom prst="rect">
            <a:avLst/>
          </a:prstGeom>
        </p:spPr>
      </p:pic>
      <p:graphicFrame>
        <p:nvGraphicFramePr>
          <p:cNvPr id="30" name="Tableau 29">
            <a:extLst>
              <a:ext uri="{FF2B5EF4-FFF2-40B4-BE49-F238E27FC236}">
                <a16:creationId xmlns:a16="http://schemas.microsoft.com/office/drawing/2014/main" id="{D8DFE135-A058-36D9-0874-F8FF2F1DC9D7}"/>
              </a:ext>
            </a:extLst>
          </p:cNvPr>
          <p:cNvGraphicFramePr>
            <a:graphicFrameLocks noGrp="1"/>
          </p:cNvGraphicFramePr>
          <p:nvPr/>
        </p:nvGraphicFramePr>
        <p:xfrm>
          <a:off x="131400" y="4772812"/>
          <a:ext cx="737592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217">
                  <a:extLst>
                    <a:ext uri="{9D8B030D-6E8A-4147-A177-3AD203B41FA5}">
                      <a16:colId xmlns:a16="http://schemas.microsoft.com/office/drawing/2014/main" val="1686248404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1651581824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3905708282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2562659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260715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FWHM_phase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1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2ps 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8311 +/- 3747.4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1086.02 +/- 0.17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1.43 +/- 0.81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2ps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2823.2 +/- 2918.7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1073.11 +/- 0.36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33.92 +/- 6.33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92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7ps 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4275 +/- 794.18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1085.45 +/- 0.24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3.12 +/- 0.93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8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7ps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3741.6 +/- 2693.2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1073.83 +/- 1.53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32.04 +/- 8.97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65749"/>
                  </a:ext>
                </a:extLst>
              </a:tr>
            </a:tbl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94A46883-FDB9-9FD8-FEBF-355FAF6A91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975" y="2734"/>
            <a:ext cx="2348921" cy="240372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9C9E9BE-EA6B-0545-D29F-BC1B94D2F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82" y="2355901"/>
            <a:ext cx="2633006" cy="239967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391B4962-DF03-B9E3-3DF4-B9111DBA0C24}"/>
              </a:ext>
            </a:extLst>
          </p:cNvPr>
          <p:cNvSpPr txBox="1"/>
          <p:nvPr/>
        </p:nvSpPr>
        <p:spPr>
          <a:xfrm>
            <a:off x="208186" y="1003108"/>
            <a:ext cx="4129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0" i="0" dirty="0">
                <a:effectLst/>
                <a:latin typeface="+mn-lt"/>
              </a:rPr>
              <a:t>R2_min= 0.7;</a:t>
            </a:r>
          </a:p>
          <a:p>
            <a:pPr>
              <a:buNone/>
            </a:pPr>
            <a:r>
              <a:rPr lang="fr-FR" sz="1800" b="0" i="0" dirty="0" err="1">
                <a:effectLst/>
                <a:latin typeface="+mn-lt"/>
              </a:rPr>
              <a:t>threshold_sigma</a:t>
            </a:r>
            <a:r>
              <a:rPr lang="fr-FR" sz="1800" b="0" i="0" dirty="0">
                <a:effectLst/>
                <a:latin typeface="+mn-lt"/>
              </a:rPr>
              <a:t>= 4;</a:t>
            </a:r>
          </a:p>
          <a:p>
            <a:pPr>
              <a:buNone/>
            </a:pPr>
            <a:r>
              <a:rPr lang="fr-FR" sz="1800" b="0" i="0" dirty="0" err="1">
                <a:effectLst/>
                <a:latin typeface="+mn-lt"/>
              </a:rPr>
              <a:t>min_points_above_threshold</a:t>
            </a:r>
            <a:r>
              <a:rPr lang="fr-FR" sz="1800" b="0" i="0" dirty="0">
                <a:effectLst/>
                <a:latin typeface="+mn-lt"/>
              </a:rPr>
              <a:t> = 2;</a:t>
            </a:r>
            <a:endParaRPr lang="fr-FR" sz="1000" dirty="0">
              <a:latin typeface="Menlo"/>
            </a:endParaRPr>
          </a:p>
          <a:p>
            <a:pPr>
              <a:buNone/>
            </a:pPr>
            <a:r>
              <a:rPr lang="fr-FR" b="0" i="0" dirty="0">
                <a:effectLst/>
              </a:rPr>
              <a:t>ACC if A(ACC)</a:t>
            </a:r>
            <a:r>
              <a:rPr lang="fr-FR" dirty="0"/>
              <a:t>&gt;</a:t>
            </a:r>
            <a:r>
              <a:rPr lang="el-GR" b="1" dirty="0"/>
              <a:t> Γ </a:t>
            </a:r>
            <a:r>
              <a:rPr lang="fr-FR" dirty="0"/>
              <a:t>A(ARA) : </a:t>
            </a:r>
            <a:endParaRPr lang="fr-FR" b="0" i="0" dirty="0">
              <a:effectLst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2677524C-3F44-380B-40FD-CF997ED73C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6722" y="2373137"/>
            <a:ext cx="2633006" cy="2399675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575EF9A4-CCD2-0B21-683F-1108A9995C95}"/>
              </a:ext>
            </a:extLst>
          </p:cNvPr>
          <p:cNvSpPr txBox="1"/>
          <p:nvPr/>
        </p:nvSpPr>
        <p:spPr>
          <a:xfrm>
            <a:off x="2440219" y="4229466"/>
            <a:ext cx="613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b="1" dirty="0"/>
              <a:t>Γ</a:t>
            </a:r>
            <a:r>
              <a:rPr lang="fr-FR" sz="3600" b="1" dirty="0"/>
              <a:t> = 1</a:t>
            </a:r>
            <a:endParaRPr lang="fr-FR" sz="36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5EAF23F-C2F9-0B05-40E0-5AB9D6A6CEF2}"/>
              </a:ext>
            </a:extLst>
          </p:cNvPr>
          <p:cNvSpPr txBox="1"/>
          <p:nvPr/>
        </p:nvSpPr>
        <p:spPr>
          <a:xfrm>
            <a:off x="5508610" y="4178835"/>
            <a:ext cx="613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b="1" dirty="0"/>
              <a:t>Γ</a:t>
            </a:r>
            <a:r>
              <a:rPr lang="fr-FR" sz="3600" b="1" dirty="0"/>
              <a:t> = 0.3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605719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76E5D-4190-529A-5917-3C388F83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D72EF94C-0EC5-D2E2-02A6-B9B407ECB0EA}"/>
              </a:ext>
            </a:extLst>
          </p:cNvPr>
          <p:cNvSpPr txBox="1">
            <a:spLocks/>
          </p:cNvSpPr>
          <p:nvPr/>
        </p:nvSpPr>
        <p:spPr>
          <a:xfrm>
            <a:off x="227387" y="268485"/>
            <a:ext cx="12132253" cy="11096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b="1" dirty="0"/>
              <a:t>SET UP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288B82A-EF9C-6BC9-A226-30318BAD4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224" y="749189"/>
            <a:ext cx="8588963" cy="572895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1FF4CBA-A37B-BD0E-60D8-4E013A9B9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00" y="4306035"/>
            <a:ext cx="2986087" cy="206936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58D6092-BA06-98CF-684A-4DF85B21A5A7}"/>
              </a:ext>
            </a:extLst>
          </p:cNvPr>
          <p:cNvSpPr txBox="1"/>
          <p:nvPr/>
        </p:nvSpPr>
        <p:spPr>
          <a:xfrm>
            <a:off x="1906229" y="1100902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(a)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4DD409B-EAFF-7D13-C41D-329167A7DB1A}"/>
              </a:ext>
            </a:extLst>
          </p:cNvPr>
          <p:cNvSpPr txBox="1"/>
          <p:nvPr/>
        </p:nvSpPr>
        <p:spPr>
          <a:xfrm>
            <a:off x="7050818" y="4018626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327296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45285C3-C15A-A02B-98F4-D4589F8EF9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481"/>
          <a:stretch>
            <a:fillRect/>
          </a:stretch>
        </p:blipFill>
        <p:spPr>
          <a:xfrm>
            <a:off x="369553" y="3429000"/>
            <a:ext cx="3942097" cy="319421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3EE7F7E-5F25-7535-1831-7D817D6A5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0" t="38874" r="41820" b="17557"/>
          <a:stretch>
            <a:fillRect/>
          </a:stretch>
        </p:blipFill>
        <p:spPr>
          <a:xfrm rot="16200000">
            <a:off x="3803886" y="489184"/>
            <a:ext cx="2086232" cy="2498001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3706B87-C3DA-8C88-8B79-45E5B59C2601}"/>
              </a:ext>
            </a:extLst>
          </p:cNvPr>
          <p:cNvSpPr txBox="1"/>
          <p:nvPr/>
        </p:nvSpPr>
        <p:spPr>
          <a:xfrm>
            <a:off x="4317764" y="4432300"/>
            <a:ext cx="16749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191</a:t>
            </a:r>
          </a:p>
          <a:p>
            <a:r>
              <a:rPr lang="fr-FR" dirty="0"/>
              <a:t>   -    = 67 pixels</a:t>
            </a:r>
          </a:p>
          <a:p>
            <a:r>
              <a:rPr lang="fr-FR" dirty="0"/>
              <a:t>124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9DC5865-A934-6E18-9DF9-9EACD46C7BCD}"/>
              </a:ext>
            </a:extLst>
          </p:cNvPr>
          <p:cNvCxnSpPr>
            <a:cxnSpLocks/>
          </p:cNvCxnSpPr>
          <p:nvPr/>
        </p:nvCxnSpPr>
        <p:spPr>
          <a:xfrm>
            <a:off x="1758950" y="4578350"/>
            <a:ext cx="25527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9367431-95F2-5D7F-7310-8735A7E02354}"/>
              </a:ext>
            </a:extLst>
          </p:cNvPr>
          <p:cNvCxnSpPr>
            <a:cxnSpLocks/>
          </p:cNvCxnSpPr>
          <p:nvPr/>
        </p:nvCxnSpPr>
        <p:spPr>
          <a:xfrm>
            <a:off x="1758950" y="5226050"/>
            <a:ext cx="25527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1D83EC5-116A-1CF9-4957-6528773BBA30}"/>
              </a:ext>
            </a:extLst>
          </p:cNvPr>
          <p:cNvCxnSpPr>
            <a:cxnSpLocks/>
          </p:cNvCxnSpPr>
          <p:nvPr/>
        </p:nvCxnSpPr>
        <p:spPr>
          <a:xfrm flipV="1">
            <a:off x="1804194" y="3429000"/>
            <a:ext cx="0" cy="192663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EB1BA269-5DC0-E1AB-8770-7CC8D1D6243E}"/>
              </a:ext>
            </a:extLst>
          </p:cNvPr>
          <p:cNvSpPr txBox="1"/>
          <p:nvPr/>
        </p:nvSpPr>
        <p:spPr>
          <a:xfrm>
            <a:off x="1552565" y="2806867"/>
            <a:ext cx="1576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   ~ 80 pixels</a:t>
            </a:r>
          </a:p>
          <a:p>
            <a:r>
              <a:rPr lang="fr-FR" dirty="0"/>
              <a:t>100              180</a:t>
            </a: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20C84A46-DDE6-55D2-0A38-E46E42D0CC4F}"/>
              </a:ext>
            </a:extLst>
          </p:cNvPr>
          <p:cNvCxnSpPr>
            <a:cxnSpLocks/>
          </p:cNvCxnSpPr>
          <p:nvPr/>
        </p:nvCxnSpPr>
        <p:spPr>
          <a:xfrm flipV="1">
            <a:off x="2809081" y="3429000"/>
            <a:ext cx="0" cy="192663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E87113BC-4210-C8F0-1656-497D8D4498AC}"/>
              </a:ext>
            </a:extLst>
          </p:cNvPr>
          <p:cNvSpPr txBox="1"/>
          <p:nvPr/>
        </p:nvSpPr>
        <p:spPr>
          <a:xfrm>
            <a:off x="6800047" y="741913"/>
            <a:ext cx="42291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Paramètres mires</a:t>
            </a:r>
            <a:r>
              <a:rPr lang="fr-FR" dirty="0"/>
              <a:t> : </a:t>
            </a:r>
          </a:p>
          <a:p>
            <a:r>
              <a:rPr lang="fr-FR" dirty="0" err="1">
                <a:hlinkClick r:id="rId4"/>
              </a:rPr>
              <a:t>Thorlabs</a:t>
            </a:r>
            <a:r>
              <a:rPr lang="fr-FR" dirty="0">
                <a:hlinkClick r:id="rId4"/>
              </a:rPr>
              <a:t> · </a:t>
            </a:r>
            <a:r>
              <a:rPr lang="fr-FR" dirty="0" err="1">
                <a:hlinkClick r:id="rId4"/>
              </a:rPr>
              <a:t>Resolution</a:t>
            </a:r>
            <a:r>
              <a:rPr lang="fr-FR" dirty="0">
                <a:hlinkClick r:id="rId4"/>
              </a:rPr>
              <a:t> Test </a:t>
            </a:r>
            <a:r>
              <a:rPr lang="fr-FR" dirty="0" err="1">
                <a:hlinkClick r:id="rId4"/>
              </a:rPr>
              <a:t>Targets</a:t>
            </a:r>
            <a:endParaRPr lang="fr-FR" dirty="0"/>
          </a:p>
          <a:p>
            <a:endParaRPr lang="fr-FR" dirty="0"/>
          </a:p>
          <a:p>
            <a:r>
              <a:rPr lang="fr-FR" dirty="0"/>
              <a:t>groupe 6, résolution 1 : 64 </a:t>
            </a:r>
            <a:r>
              <a:rPr lang="fr-FR" dirty="0" err="1"/>
              <a:t>lp</a:t>
            </a:r>
            <a:r>
              <a:rPr lang="fr-FR" dirty="0"/>
              <a:t>/mm</a:t>
            </a:r>
          </a:p>
          <a:p>
            <a:r>
              <a:rPr lang="fr-FR" dirty="0">
                <a:sym typeface="Wingdings" panose="05000000000000000000" pitchFamily="2" charset="2"/>
              </a:rPr>
              <a:t>largeur de 5 lignes = 67 pixels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fr-FR" dirty="0">
                <a:sym typeface="Wingdings" panose="05000000000000000000" pitchFamily="2" charset="2"/>
              </a:rPr>
              <a:t>1 </a:t>
            </a:r>
            <a:r>
              <a:rPr lang="fr-FR" dirty="0" err="1">
                <a:sym typeface="Wingdings" panose="05000000000000000000" pitchFamily="2" charset="2"/>
              </a:rPr>
              <a:t>pix</a:t>
            </a:r>
            <a:r>
              <a:rPr lang="fr-FR" dirty="0">
                <a:sym typeface="Wingdings" panose="05000000000000000000" pitchFamily="2" charset="2"/>
              </a:rPr>
              <a:t> = 1.2 µm 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F8ABF73-E56A-485D-579A-D91A7CDB87B1}"/>
              </a:ext>
            </a:extLst>
          </p:cNvPr>
          <p:cNvSpPr txBox="1"/>
          <p:nvPr/>
        </p:nvSpPr>
        <p:spPr>
          <a:xfrm>
            <a:off x="234685" y="1099999"/>
            <a:ext cx="33633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Paramètres acquisition  : </a:t>
            </a:r>
          </a:p>
          <a:p>
            <a:pPr marL="285750" indent="-285750">
              <a:buFontTx/>
              <a:buChar char="-"/>
            </a:pPr>
            <a:r>
              <a:rPr lang="fr-FR" sz="1800" dirty="0"/>
              <a:t>FOV_X = FOV_Y = 10</a:t>
            </a:r>
          </a:p>
          <a:p>
            <a:pPr marL="285750" indent="-285750">
              <a:buFontTx/>
              <a:buChar char="-"/>
            </a:pPr>
            <a:r>
              <a:rPr lang="fr-FR" sz="1800" dirty="0"/>
              <a:t>Calib X = Calib Y  = 0.1 </a:t>
            </a:r>
          </a:p>
          <a:p>
            <a:pPr marL="285750" indent="-285750">
              <a:buFontTx/>
              <a:buChar char="-"/>
            </a:pPr>
            <a:r>
              <a:rPr lang="fr-FR" sz="1800" dirty="0" err="1"/>
              <a:t>Pix</a:t>
            </a:r>
            <a:r>
              <a:rPr lang="fr-FR" sz="1800" dirty="0"/>
              <a:t> = 300²</a:t>
            </a:r>
            <a:endParaRPr lang="fr-FR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EAED0E4-44AD-0153-93AA-B0CE05ABFC6D}"/>
              </a:ext>
            </a:extLst>
          </p:cNvPr>
          <p:cNvSpPr txBox="1"/>
          <p:nvPr/>
        </p:nvSpPr>
        <p:spPr>
          <a:xfrm>
            <a:off x="369553" y="98324"/>
            <a:ext cx="4696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latin typeface="+mj-lt"/>
              </a:rPr>
              <a:t>Calcul FOV – objectif x20  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9D8188D7-F29F-3C80-E0C5-24C7A16172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0684" y="3226573"/>
            <a:ext cx="4192928" cy="3408336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90955C28-B049-1C82-9843-5E3506A1096C}"/>
              </a:ext>
            </a:extLst>
          </p:cNvPr>
          <p:cNvSpPr txBox="1"/>
          <p:nvPr/>
        </p:nvSpPr>
        <p:spPr>
          <a:xfrm>
            <a:off x="704047" y="60060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highlight>
                  <a:srgbClr val="FFFF00"/>
                </a:highlight>
              </a:rPr>
              <a:t>Dwell</a:t>
            </a:r>
            <a:r>
              <a:rPr lang="fr-FR" sz="1800" dirty="0">
                <a:highlight>
                  <a:srgbClr val="FFFF00"/>
                </a:highlight>
              </a:rPr>
              <a:t> time = 20µs 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7D91D838-AC1E-553F-1CFC-1BD928C9B7B1}"/>
              </a:ext>
            </a:extLst>
          </p:cNvPr>
          <p:cNvSpPr txBox="1"/>
          <p:nvPr/>
        </p:nvSpPr>
        <p:spPr>
          <a:xfrm>
            <a:off x="6800047" y="60060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highlight>
                  <a:srgbClr val="FFFF00"/>
                </a:highlight>
              </a:rPr>
              <a:t>Dwell</a:t>
            </a:r>
            <a:r>
              <a:rPr lang="fr-FR" sz="1800" dirty="0">
                <a:highlight>
                  <a:srgbClr val="FFFF00"/>
                </a:highlight>
              </a:rPr>
              <a:t> time = </a:t>
            </a:r>
            <a:r>
              <a:rPr lang="fr-FR" dirty="0">
                <a:highlight>
                  <a:srgbClr val="FFFF00"/>
                </a:highlight>
              </a:rPr>
              <a:t>100 </a:t>
            </a:r>
            <a:r>
              <a:rPr lang="fr-FR" sz="1800" dirty="0">
                <a:highlight>
                  <a:srgbClr val="FFFF00"/>
                </a:highlight>
              </a:rPr>
              <a:t>µs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04DE5F3-DD01-F195-A1BD-EC3B13C52AAF}"/>
              </a:ext>
            </a:extLst>
          </p:cNvPr>
          <p:cNvSpPr txBox="1"/>
          <p:nvPr/>
        </p:nvSpPr>
        <p:spPr>
          <a:xfrm>
            <a:off x="6800047" y="2569828"/>
            <a:ext cx="3307514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fr-FR" sz="1800" dirty="0">
                <a:sym typeface="Wingdings" panose="05000000000000000000" pitchFamily="2" charset="2"/>
              </a:rPr>
              <a:t>FOV = 10²  FOV = 360 µm² </a:t>
            </a:r>
          </a:p>
        </p:txBody>
      </p:sp>
    </p:spTree>
    <p:extLst>
      <p:ext uri="{BB962C8B-B14F-4D97-AF65-F5344CB8AC3E}">
        <p14:creationId xmlns:p14="http://schemas.microsoft.com/office/powerpoint/2010/main" val="2395078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E1B2-B242-0CD9-7F70-9663CC3A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>
            <a:extLst>
              <a:ext uri="{FF2B5EF4-FFF2-40B4-BE49-F238E27FC236}">
                <a16:creationId xmlns:a16="http://schemas.microsoft.com/office/drawing/2014/main" id="{1A0F6822-0D30-9050-C50D-52304B5AB8F5}"/>
              </a:ext>
            </a:extLst>
          </p:cNvPr>
          <p:cNvSpPr txBox="1"/>
          <p:nvPr/>
        </p:nvSpPr>
        <p:spPr>
          <a:xfrm>
            <a:off x="369553" y="159459"/>
            <a:ext cx="40071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>
                <a:latin typeface="+mj-lt"/>
              </a:rPr>
              <a:t>Fréquences parasites </a:t>
            </a:r>
            <a:endParaRPr lang="fr-FR" sz="3200" b="1" dirty="0">
              <a:latin typeface="+mj-l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6D1564A-E6A0-DBAF-92B3-BCDF08CF0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63" y="1414210"/>
            <a:ext cx="6158247" cy="450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188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DE824-E172-9491-5AF8-73D6E2433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>
            <a:extLst>
              <a:ext uri="{FF2B5EF4-FFF2-40B4-BE49-F238E27FC236}">
                <a16:creationId xmlns:a16="http://schemas.microsoft.com/office/drawing/2014/main" id="{607F8643-D6D8-A1D2-1DF6-B6D48F4AC8F0}"/>
              </a:ext>
            </a:extLst>
          </p:cNvPr>
          <p:cNvSpPr txBox="1"/>
          <p:nvPr/>
        </p:nvSpPr>
        <p:spPr>
          <a:xfrm>
            <a:off x="369553" y="159459"/>
            <a:ext cx="5591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latin typeface="+mj-lt"/>
              </a:rPr>
              <a:t>Puissance fonction de Lambda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BE0A0C2-A98A-1B23-A4F5-88B5278FD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15" y="1572959"/>
            <a:ext cx="5946498" cy="484774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463CC51-1C90-4D27-86FA-26B1BC717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794" y="648929"/>
            <a:ext cx="3889593" cy="31709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B141E7B-81C9-3263-4564-4F0430054DD4}"/>
              </a:ext>
            </a:extLst>
          </p:cNvPr>
          <p:cNvSpPr/>
          <p:nvPr/>
        </p:nvSpPr>
        <p:spPr>
          <a:xfrm>
            <a:off x="5014451" y="1986116"/>
            <a:ext cx="1199535" cy="7767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5B3C011E-E66F-D46E-7369-E97109A516EE}"/>
              </a:ext>
            </a:extLst>
          </p:cNvPr>
          <p:cNvCxnSpPr/>
          <p:nvPr/>
        </p:nvCxnSpPr>
        <p:spPr>
          <a:xfrm flipV="1">
            <a:off x="6213987" y="648929"/>
            <a:ext cx="1417807" cy="13273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52FABBA-2493-F9C2-E3AA-C9F531E94D54}"/>
              </a:ext>
            </a:extLst>
          </p:cNvPr>
          <p:cNvCxnSpPr>
            <a:cxnSpLocks/>
          </p:cNvCxnSpPr>
          <p:nvPr/>
        </p:nvCxnSpPr>
        <p:spPr>
          <a:xfrm>
            <a:off x="6213986" y="2762865"/>
            <a:ext cx="1417807" cy="9340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063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4B3E5-A5B6-2D02-3539-CA706BF0B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>
            <a:extLst>
              <a:ext uri="{FF2B5EF4-FFF2-40B4-BE49-F238E27FC236}">
                <a16:creationId xmlns:a16="http://schemas.microsoft.com/office/drawing/2014/main" id="{E917D198-65B3-9E01-A484-5AECDE5FD046}"/>
              </a:ext>
            </a:extLst>
          </p:cNvPr>
          <p:cNvSpPr txBox="1"/>
          <p:nvPr/>
        </p:nvSpPr>
        <p:spPr>
          <a:xfrm>
            <a:off x="530818" y="936207"/>
            <a:ext cx="3788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latin typeface="+mj-lt"/>
              </a:rPr>
              <a:t>Test scan sur calcite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3FF2C60-7DF8-EFAD-3280-6FDC26F47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53" y="1716958"/>
            <a:ext cx="4623954" cy="306274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AB4461F-16C6-ABEE-1DE4-DF57B2631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463" y="542988"/>
            <a:ext cx="2653392" cy="276532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5B5D50A-7CAA-5ABC-B779-2D35A1A54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463" y="3726426"/>
            <a:ext cx="2634419" cy="2765322"/>
          </a:xfrm>
          <a:prstGeom prst="rect">
            <a:avLst/>
          </a:prstGeom>
        </p:spPr>
      </p:pic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E509D7B2-0A67-852B-7022-0F2CF63918EB}"/>
              </a:ext>
            </a:extLst>
          </p:cNvPr>
          <p:cNvCxnSpPr>
            <a:cxnSpLocks/>
            <a:stCxn id="22" idx="7"/>
          </p:cNvCxnSpPr>
          <p:nvPr/>
        </p:nvCxnSpPr>
        <p:spPr>
          <a:xfrm flipV="1">
            <a:off x="4347806" y="2094271"/>
            <a:ext cx="2770749" cy="15415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9DDC4337-3FED-DEB0-4BD2-FC5DC51182CB}"/>
              </a:ext>
            </a:extLst>
          </p:cNvPr>
          <p:cNvCxnSpPr>
            <a:cxnSpLocks/>
            <a:stCxn id="25" idx="6"/>
          </p:cNvCxnSpPr>
          <p:nvPr/>
        </p:nvCxnSpPr>
        <p:spPr>
          <a:xfrm>
            <a:off x="1563329" y="4373819"/>
            <a:ext cx="5401099" cy="783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lipse 21">
            <a:extLst>
              <a:ext uri="{FF2B5EF4-FFF2-40B4-BE49-F238E27FC236}">
                <a16:creationId xmlns:a16="http://schemas.microsoft.com/office/drawing/2014/main" id="{685B79AC-9402-24A7-A8A0-E5DB5268A272}"/>
              </a:ext>
            </a:extLst>
          </p:cNvPr>
          <p:cNvSpPr/>
          <p:nvPr/>
        </p:nvSpPr>
        <p:spPr>
          <a:xfrm>
            <a:off x="4197400" y="3609975"/>
            <a:ext cx="176212" cy="176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472F1A2C-29C4-189F-EE08-85E1FDBAB97A}"/>
              </a:ext>
            </a:extLst>
          </p:cNvPr>
          <p:cNvSpPr/>
          <p:nvPr/>
        </p:nvSpPr>
        <p:spPr>
          <a:xfrm>
            <a:off x="1387117" y="4285712"/>
            <a:ext cx="176212" cy="176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22913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1976</Words>
  <Application>Microsoft Office PowerPoint</Application>
  <PresentationFormat>Grand écran</PresentationFormat>
  <Paragraphs>549</Paragraphs>
  <Slides>31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Google Sans Text</vt:lpstr>
      <vt:lpstr>Menlo</vt:lpstr>
      <vt:lpstr>Play</vt:lpstr>
      <vt:lpstr>Wingdings</vt:lpstr>
      <vt:lpstr>Thème Office</vt:lpstr>
      <vt:lpstr>Meeting 15/10/26</vt:lpstr>
      <vt:lpstr>Modèle Analytique – Réponse instrumentale </vt:lpstr>
      <vt:lpstr>Présentation PowerPoint</vt:lpstr>
      <vt:lpstr>Présentation PowerPoint</vt:lpstr>
      <vt:lpstr>Présentation PowerPoint</vt:lpstr>
      <vt:lpstr>Chirp – Calcul de FWHM_instr</vt:lpstr>
      <vt:lpstr>Modèle Carbonates </vt:lpstr>
      <vt:lpstr>ACC + cal 260626</vt:lpstr>
      <vt:lpstr>ACC + cal 260626</vt:lpstr>
      <vt:lpstr>ACC + cal 260626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Littérature Vatérite </vt:lpstr>
      <vt:lpstr>Présentation PowerPoint</vt:lpstr>
      <vt:lpstr>Présentation PowerPoint</vt:lpstr>
      <vt:lpstr>Présentation PowerPoint</vt:lpstr>
      <vt:lpstr>Présentation PowerPoint</vt:lpstr>
      <vt:lpstr>Corals 260715 2ps (#4 stressed)</vt:lpstr>
      <vt:lpstr>Corals 260715 7ps (#4 stressed)</vt:lpstr>
      <vt:lpstr>Corals 260715 2ps vs 7ps (#4 stressed)</vt:lpstr>
      <vt:lpstr>Corals 260715 2ps vs 7ps (#4 stressed)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BUCOURT Sacha</dc:creator>
  <cp:lastModifiedBy>BUCOURT Sacha</cp:lastModifiedBy>
  <cp:revision>79</cp:revision>
  <dcterms:created xsi:type="dcterms:W3CDTF">2026-07-01T11:56:10Z</dcterms:created>
  <dcterms:modified xsi:type="dcterms:W3CDTF">2026-10-30T17:22:33Z</dcterms:modified>
</cp:coreProperties>
</file>
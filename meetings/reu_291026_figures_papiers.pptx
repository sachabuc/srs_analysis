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365" r:id="rId2"/>
    <p:sldId id="357" r:id="rId3"/>
    <p:sldId id="376" r:id="rId4"/>
    <p:sldId id="327" r:id="rId5"/>
    <p:sldId id="377" r:id="rId6"/>
    <p:sldId id="366" r:id="rId7"/>
    <p:sldId id="328" r:id="rId8"/>
    <p:sldId id="281" r:id="rId9"/>
    <p:sldId id="379" r:id="rId10"/>
    <p:sldId id="380" r:id="rId11"/>
    <p:sldId id="381" r:id="rId12"/>
    <p:sldId id="382" r:id="rId13"/>
    <p:sldId id="378" r:id="rId14"/>
    <p:sldId id="375" r:id="rId15"/>
    <p:sldId id="364" r:id="rId16"/>
    <p:sldId id="370" r:id="rId17"/>
    <p:sldId id="368" r:id="rId18"/>
    <p:sldId id="374" r:id="rId19"/>
    <p:sldId id="343" r:id="rId20"/>
    <p:sldId id="342" r:id="rId21"/>
    <p:sldId id="355" r:id="rId22"/>
    <p:sldId id="341" r:id="rId23"/>
    <p:sldId id="353" r:id="rId24"/>
    <p:sldId id="373" r:id="rId25"/>
    <p:sldId id="358" r:id="rId26"/>
    <p:sldId id="372" r:id="rId27"/>
    <p:sldId id="362" r:id="rId28"/>
    <p:sldId id="256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65"/>
            <p14:sldId id="357"/>
            <p14:sldId id="376"/>
            <p14:sldId id="327"/>
            <p14:sldId id="377"/>
            <p14:sldId id="366"/>
            <p14:sldId id="328"/>
          </p14:sldIdLst>
        </p14:section>
        <p14:section name="Synthétique" id="{56AC251D-6E5C-4CFE-9930-84BF4168610A}">
          <p14:sldIdLst>
            <p14:sldId id="281"/>
            <p14:sldId id="379"/>
            <p14:sldId id="380"/>
            <p14:sldId id="381"/>
            <p14:sldId id="382"/>
            <p14:sldId id="378"/>
            <p14:sldId id="375"/>
            <p14:sldId id="364"/>
            <p14:sldId id="370"/>
            <p14:sldId id="368"/>
            <p14:sldId id="374"/>
            <p14:sldId id="343"/>
            <p14:sldId id="342"/>
            <p14:sldId id="355"/>
            <p14:sldId id="341"/>
          </p14:sldIdLst>
        </p14:section>
        <p14:section name="Corail" id="{CCA9B34D-82CD-4298-BF9C-03A0026B73BF}">
          <p14:sldIdLst>
            <p14:sldId id="353"/>
            <p14:sldId id="373"/>
            <p14:sldId id="358"/>
            <p14:sldId id="372"/>
          </p14:sldIdLst>
        </p14:section>
        <p14:section name="Section sans titre" id="{3A39EE99-5470-4380-A4A0-54DB7E0D4CAB}">
          <p14:sldIdLst>
            <p14:sldId id="362"/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7" autoAdjust="0"/>
    <p:restoredTop sz="90695" autoAdjust="0"/>
  </p:normalViewPr>
  <p:slideViewPr>
    <p:cSldViewPr snapToGrid="0">
      <p:cViewPr varScale="1">
        <p:scale>
          <a:sx n="97" d="100"/>
          <a:sy n="97" d="100"/>
        </p:scale>
        <p:origin x="10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9334E-B37A-1991-1181-E2FD1CCD8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1EDA703-96FB-009C-48DB-0BBA489D6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8DE024-2608-4939-49EC-EA50540114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904B5A1-AE2C-145E-072C-DFF14DFC01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74986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906B0-7B89-677B-086C-40A3495CB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156835E-9D78-F50E-EBC3-F2C3F30335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4AD446C-CDA2-C39F-FFA7-6E7EF4412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0B852E-46E6-1992-01EC-32A2F364B1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2516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C995-A49C-A864-65C1-8EC2701E9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35EC71-5CAE-7FF7-FBA4-162BA04B7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9032CC-A38B-1DCF-8475-D10500F07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9282108-0956-3445-0B24-1B507D8EF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3576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9BBD24F-692B-1823-3924-100E6AA34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4C0EAD0E-5524-2247-D6F1-769DB9217B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207149AB-3A81-D403-D28E-F326651C55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94303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372F6DEB-E320-82EB-07AD-164505E03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DABD5A6D-D954-2007-879F-47F8BC202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848F3B87-580B-D6DB-60A1-38F09C3921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504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E0EC93B3-5A9B-306A-C550-7402A7598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640A6E3E-42B7-09F3-BD3F-8FCF6C8DD3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C4D311AE-3038-2E0C-D0AF-7E6F461D0D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4911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9D95E076-3E36-E1E2-A57C-7EBA80683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FDC9B7D6-833C-8ACE-7F06-2A9B101B54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51D11FA3-F265-8B2E-8CC9-ADB1DB72ED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28777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>
          <a:extLst>
            <a:ext uri="{FF2B5EF4-FFF2-40B4-BE49-F238E27FC236}">
              <a16:creationId xmlns:a16="http://schemas.microsoft.com/office/drawing/2014/main" id="{D7063C67-FD2E-7E41-6F4A-4D0A6AEE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efdd0c05_0_27:notes">
            <a:extLst>
              <a:ext uri="{FF2B5EF4-FFF2-40B4-BE49-F238E27FC236}">
                <a16:creationId xmlns:a16="http://schemas.microsoft.com/office/drawing/2014/main" id="{410DFF1A-5190-349E-A679-B6759D59AA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g3e4efdd0c05_0_27:notes">
            <a:extLst>
              <a:ext uri="{FF2B5EF4-FFF2-40B4-BE49-F238E27FC236}">
                <a16:creationId xmlns:a16="http://schemas.microsoft.com/office/drawing/2014/main" id="{7A347DEA-3589-310A-9A65-5C03EFBE4C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994684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BEAA4-C176-8967-0CE0-67A8F2894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7BF31E-9C97-5A6E-197D-95D19BB715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EC671E4-EC2A-9BC8-C9F2-9ACF7C98F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5280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9E1A0-C20A-69B7-7C5C-084936591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3AFEAB-78D1-F6A3-A93C-FA1065C48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EA34F73-B02F-13F2-1061-54EE3D704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583072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53BE-3759-D484-6CA9-4A9F9A109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08FA0A3-5D9D-189D-88AB-E05203E4E4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781F072-2DDC-79C6-A686-36D9EAC69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534043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A5A1-83EF-9B4E-4946-E3ED9912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449450-14F3-75D1-D237-51530CD8D5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FBF2E36-8340-6813-9131-29A3FDF7F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65761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56857-888C-6C75-C92B-B03C7A097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7D8FBE8-4319-E36F-9550-12C124533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E89B380-B6CF-A06B-1667-7083A8A75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09826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28/10/2026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4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2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5.png"/><Relationship Id="rId4" Type="http://schemas.openxmlformats.org/officeDocument/2006/relationships/image" Target="../media/image43.png"/><Relationship Id="rId9" Type="http://schemas.openxmlformats.org/officeDocument/2006/relationships/image" Target="../media/image5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emf"/><Relationship Id="rId4" Type="http://schemas.openxmlformats.org/officeDocument/2006/relationships/image" Target="../media/image6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3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64.png"/><Relationship Id="rId4" Type="http://schemas.openxmlformats.org/officeDocument/2006/relationships/image" Target="../media/image7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2" Type="http://schemas.openxmlformats.org/officeDocument/2006/relationships/image" Target="../media/image8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75.png"/><Relationship Id="rId10" Type="http://schemas.openxmlformats.org/officeDocument/2006/relationships/image" Target="../media/image81.png"/><Relationship Id="rId9" Type="http://schemas.openxmlformats.org/officeDocument/2006/relationships/image" Target="../media/image8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7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4CF142-CFD7-B7CC-FE6F-6C90E1D5C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sz="6600" dirty="0"/>
              <a:t>Meeting 15/10/26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272E99-2EE9-A533-5089-4563357E7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fr-FR" dirty="0"/>
              <a:t>Modèle </a:t>
            </a:r>
          </a:p>
          <a:p>
            <a:pPr marL="914400" lvl="1" indent="-457200">
              <a:buAutoNum type="alphaLcParenR"/>
            </a:pPr>
            <a:r>
              <a:rPr lang="fr-FR" dirty="0"/>
              <a:t>Convolution Carbonate*Instrument</a:t>
            </a:r>
          </a:p>
          <a:p>
            <a:pPr marL="914400" lvl="1" indent="-457200">
              <a:buAutoNum type="alphaLcParenR"/>
            </a:pPr>
            <a:r>
              <a:rPr lang="fr-FR" dirty="0"/>
              <a:t>Carbonate</a:t>
            </a:r>
          </a:p>
          <a:p>
            <a:pPr marL="0" indent="0">
              <a:buNone/>
            </a:pPr>
            <a:r>
              <a:rPr lang="fr-FR" dirty="0"/>
              <a:t>2) Expérimentale</a:t>
            </a:r>
          </a:p>
          <a:p>
            <a:pPr marL="0" indent="0">
              <a:buNone/>
            </a:pPr>
            <a:r>
              <a:rPr lang="fr-FR" dirty="0"/>
              <a:t>	</a:t>
            </a:r>
            <a:r>
              <a:rPr lang="fr-FR" sz="2400" dirty="0"/>
              <a:t>a) fit sur A </a:t>
            </a:r>
            <a:endParaRPr lang="fr-FR" dirty="0"/>
          </a:p>
          <a:p>
            <a:pPr marL="0" indent="0">
              <a:buNone/>
            </a:pPr>
            <a:r>
              <a:rPr lang="fr-FR" sz="2400" dirty="0"/>
              <a:t>	b) ACC</a:t>
            </a:r>
          </a:p>
          <a:p>
            <a:pPr marL="0" indent="0">
              <a:buNone/>
            </a:pPr>
            <a:r>
              <a:rPr lang="fr-FR" sz="2400" dirty="0"/>
              <a:t>	c) </a:t>
            </a:r>
            <a:r>
              <a:rPr lang="fr-FR" sz="2400" dirty="0" err="1"/>
              <a:t>Vatérite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r>
              <a:rPr lang="fr-FR" sz="2400" dirty="0"/>
              <a:t>	d) Coral </a:t>
            </a:r>
          </a:p>
          <a:p>
            <a:pPr marL="0" indent="0">
              <a:buNone/>
            </a:pPr>
            <a:r>
              <a:rPr lang="fr-FR" sz="2400" dirty="0"/>
              <a:t>	e) Set up schéma 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57379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33" y="759951"/>
            <a:ext cx="12132253" cy="1109663"/>
          </a:xfrm>
        </p:spPr>
        <p:txBody>
          <a:bodyPr>
            <a:noAutofit/>
          </a:bodyPr>
          <a:lstStyle/>
          <a:p>
            <a:pPr algn="l"/>
            <a:r>
              <a:rPr lang="fr-FR" dirty="0"/>
              <a:t>Modèle Analytique – Réponse instrumentale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354591" y="2101276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959" y="4656756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354591" y="4770214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904" y="3408638"/>
            <a:ext cx="3628333" cy="72396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069" y="4709171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269784" y="4886485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86DBBB8-E232-4BC7-AF00-E8868A9820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1770" y="1931762"/>
            <a:ext cx="4391638" cy="102884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D813ACC-28C5-A386-3CD4-DB8784B914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883" y="6009704"/>
            <a:ext cx="4885774" cy="68068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C1BDB23-B0C2-E086-EF08-E009F4FBB6A5}"/>
              </a:ext>
            </a:extLst>
          </p:cNvPr>
          <p:cNvSpPr txBox="1"/>
          <p:nvPr/>
        </p:nvSpPr>
        <p:spPr>
          <a:xfrm>
            <a:off x="6022228" y="6165378"/>
            <a:ext cx="581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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17DFF50-4BB4-A928-9FC1-A9EBD118C1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061" y="5941952"/>
            <a:ext cx="5115639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7EEB5-1062-1066-9A79-94EC214AD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96212662-4500-D3A2-4F4D-6BD8FBAE7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591448"/>
              </p:ext>
            </p:extLst>
          </p:nvPr>
        </p:nvGraphicFramePr>
        <p:xfrm>
          <a:off x="275087" y="55380"/>
          <a:ext cx="11641826" cy="300513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7D8F0D75-FB2B-86ED-D89C-0513FD4780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9176" y="4957840"/>
            <a:ext cx="2969041" cy="1816114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33A3323-B4CA-4F19-8207-7E0BA4EAA4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1141" y="4986506"/>
            <a:ext cx="2974988" cy="181611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AB1FE7F-1D7B-C59D-743A-097751D608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6311" y="3092824"/>
            <a:ext cx="2979818" cy="181611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728679D-5885-EA54-22E9-68061D97FE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840" y="3092823"/>
            <a:ext cx="2991248" cy="181611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6F904BA3-CCA8-965B-28A8-A1C0B87CBC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7332" y="4981956"/>
            <a:ext cx="2955756" cy="181611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039AE003-3C0E-03FC-A59C-CE44BD7475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752" y="3092824"/>
            <a:ext cx="2988465" cy="1816114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B399BB2-16A4-1128-5D81-CB38381BA13A}"/>
              </a:ext>
            </a:extLst>
          </p:cNvPr>
          <p:cNvSpPr txBox="1"/>
          <p:nvPr/>
        </p:nvSpPr>
        <p:spPr>
          <a:xfrm>
            <a:off x="3329953" y="334215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8C12AE49-5629-CBCE-F28A-9CABCBD062A6}"/>
              </a:ext>
            </a:extLst>
          </p:cNvPr>
          <p:cNvSpPr txBox="1"/>
          <p:nvPr/>
        </p:nvSpPr>
        <p:spPr>
          <a:xfrm>
            <a:off x="3235302" y="504599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6ACB4C2-81BD-CCD7-C0CA-3F18AB8AB21B}"/>
              </a:ext>
            </a:extLst>
          </p:cNvPr>
          <p:cNvSpPr txBox="1"/>
          <p:nvPr/>
        </p:nvSpPr>
        <p:spPr>
          <a:xfrm>
            <a:off x="6320931" y="3141725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33C771D-3E6B-9EAA-68DC-7853041F7E09}"/>
              </a:ext>
            </a:extLst>
          </p:cNvPr>
          <p:cNvSpPr txBox="1"/>
          <p:nvPr/>
        </p:nvSpPr>
        <p:spPr>
          <a:xfrm>
            <a:off x="6297578" y="4957839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9982C5B4-0063-BA8E-CDEA-3F4D9A14D34A}"/>
              </a:ext>
            </a:extLst>
          </p:cNvPr>
          <p:cNvSpPr txBox="1"/>
          <p:nvPr/>
        </p:nvSpPr>
        <p:spPr>
          <a:xfrm>
            <a:off x="9420890" y="3141724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45752BE-8719-BF8F-5EB8-6D91D8ABE7A5}"/>
              </a:ext>
            </a:extLst>
          </p:cNvPr>
          <p:cNvSpPr txBox="1"/>
          <p:nvPr/>
        </p:nvSpPr>
        <p:spPr>
          <a:xfrm>
            <a:off x="9420890" y="4981956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45BD7D45-8747-6B5D-CDE9-7307D7919174}"/>
              </a:ext>
            </a:extLst>
          </p:cNvPr>
          <p:cNvSpPr txBox="1"/>
          <p:nvPr/>
        </p:nvSpPr>
        <p:spPr>
          <a:xfrm>
            <a:off x="145888" y="3600887"/>
            <a:ext cx="2728612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(</a:t>
            </a:r>
            <a:r>
              <a:rPr lang="fr-FR" sz="1400" b="1" dirty="0">
                <a:solidFill>
                  <a:srgbClr val="FF0000"/>
                </a:solidFill>
              </a:rPr>
              <a:t>*</a:t>
            </a:r>
            <a:r>
              <a:rPr lang="fr-FR" sz="1400" dirty="0"/>
              <a:t>) déconvolué par la </a:t>
            </a:r>
            <a:r>
              <a:rPr lang="fr-FR" sz="1400" i="1" dirty="0"/>
              <a:t>résolution théorique maximale</a:t>
            </a:r>
            <a:r>
              <a:rPr lang="fr-FR" sz="1400" b="1" dirty="0">
                <a:solidFill>
                  <a:srgbClr val="FF0000"/>
                </a:solidFill>
              </a:rPr>
              <a:t> </a:t>
            </a:r>
            <a:r>
              <a:rPr lang="fr-FR" sz="1400" dirty="0"/>
              <a:t>du </a:t>
            </a:r>
            <a:r>
              <a:rPr lang="fr-FR" sz="1400" dirty="0" err="1"/>
              <a:t>raman</a:t>
            </a:r>
            <a:r>
              <a:rPr lang="fr-FR" sz="1400" dirty="0"/>
              <a:t> spontané :</a:t>
            </a:r>
          </a:p>
          <a:p>
            <a:r>
              <a:rPr lang="fr-FR" sz="1400" dirty="0"/>
              <a:t>Paramètres : </a:t>
            </a:r>
          </a:p>
          <a:p>
            <a:r>
              <a:rPr lang="fr-FR" sz="1200" dirty="0"/>
              <a:t> - </a:t>
            </a:r>
            <a:r>
              <a:rPr lang="fr-FR" sz="1200" dirty="0" err="1"/>
              <a:t>grating</a:t>
            </a:r>
            <a:r>
              <a:rPr lang="fr-FR" sz="1200" dirty="0"/>
              <a:t> : 1800 (500nm)</a:t>
            </a:r>
            <a:br>
              <a:rPr lang="fr-FR" sz="1400" dirty="0"/>
            </a:br>
            <a:r>
              <a:rPr lang="fr-FR" sz="1200" dirty="0"/>
              <a:t> - Laser : 532nm_Edge</a:t>
            </a:r>
            <a:br>
              <a:rPr lang="fr-FR" sz="1400" dirty="0"/>
            </a:br>
            <a:r>
              <a:rPr lang="fr-FR" sz="1400" dirty="0"/>
              <a:t> </a:t>
            </a:r>
            <a:r>
              <a:rPr lang="fr-FR" sz="1200" dirty="0"/>
              <a:t>- objectif x20</a:t>
            </a:r>
            <a:endParaRPr lang="fr-FR" sz="1400" dirty="0"/>
          </a:p>
          <a:p>
            <a:endParaRPr lang="fr-FR" sz="1400" dirty="0"/>
          </a:p>
          <a:p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4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:</a:t>
            </a:r>
            <a:br>
              <a:rPr lang="fr-FR" sz="1400" dirty="0"/>
            </a:br>
            <a:r>
              <a:rPr lang="fr-FR" sz="1400" dirty="0"/>
              <a:t>- </a:t>
            </a:r>
            <a:r>
              <a:rPr lang="fr-FR" sz="14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4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400" b="1" i="0" dirty="0">
                <a:solidFill>
                  <a:srgbClr val="FF0000"/>
                </a:solidFill>
                <a:effectLst/>
                <a:latin typeface="+mn-lt"/>
              </a:rPr>
              <a:t>*</a:t>
            </a:r>
            <a:r>
              <a:rPr lang="fr-FR" sz="1400" b="0" i="0" dirty="0">
                <a:solidFill>
                  <a:schemeClr val="tx1"/>
                </a:solidFill>
                <a:effectLst/>
                <a:latin typeface="+mn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39973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78329"/>
              </p:ext>
            </p:extLst>
          </p:nvPr>
        </p:nvGraphicFramePr>
        <p:xfrm>
          <a:off x="161332" y="120634"/>
          <a:ext cx="11854659" cy="337089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2041171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345873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FWHM_mes</a:t>
                      </a:r>
                      <a:r>
                        <a:rPr lang="fr-FR" sz="1800" b="1" dirty="0"/>
                        <a:t> (2ps)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9.9,10.7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9.9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[11.2,14.2]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11.9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43244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FWHM_instr</a:t>
                      </a:r>
                      <a:r>
                        <a:rPr lang="fr-FR" sz="1800" b="1" dirty="0"/>
                        <a:t> (2ps)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9.3,10.2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9.3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[9.5,12.9]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10.6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8082062"/>
                  </a:ext>
                </a:extLst>
              </a:tr>
            </a:tbl>
          </a:graphicData>
        </a:graphic>
      </p:graphicFrame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275087" y="4099524"/>
            <a:ext cx="81551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6" name="Google Shape;437;g3c6a03a50ee_0_9" descr="Une image contenant ligne, Tracé, diagramme, texte&#10;&#10;Le contenu généré par l’IA peut être incorrect.">
            <a:extLst>
              <a:ext uri="{FF2B5EF4-FFF2-40B4-BE49-F238E27FC236}">
                <a16:creationId xmlns:a16="http://schemas.microsoft.com/office/drawing/2014/main" id="{A9B27FD1-03E1-089E-3647-3E700E2433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00319" y="4068637"/>
            <a:ext cx="3243982" cy="2668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537;g3c74465a41f_0_22" descr="Une image contenant Tracé, ligne, diagramme, texte&#10;&#10;Le contenu généré par l’IA peut être incorrect.">
            <a:extLst>
              <a:ext uri="{FF2B5EF4-FFF2-40B4-BE49-F238E27FC236}">
                <a16:creationId xmlns:a16="http://schemas.microsoft.com/office/drawing/2014/main" id="{052FC4A3-EC60-D8AD-3094-ABE5B63465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1332" y="4068637"/>
            <a:ext cx="1976562" cy="10547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48;g3c74465a41f_0_29" descr="Une image contenant Tracé, diagramme, ligne, texte&#10;&#10;Le contenu généré par l’IA peut être incorrect.">
            <a:extLst>
              <a:ext uri="{FF2B5EF4-FFF2-40B4-BE49-F238E27FC236}">
                <a16:creationId xmlns:a16="http://schemas.microsoft.com/office/drawing/2014/main" id="{40BA4DF6-66EC-E159-9705-B223B932C19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428128" y="4079119"/>
            <a:ext cx="1976562" cy="1109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220CAB5-C90F-C306-7446-02438A3968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9723" y="5513004"/>
            <a:ext cx="1976562" cy="132632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582A296-CE69-703E-F7DC-02EC8661F3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9723" y="4044657"/>
            <a:ext cx="1976562" cy="1310146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7C4DF38D-2063-C3F1-CD7C-F456FF66C7D2}"/>
              </a:ext>
            </a:extLst>
          </p:cNvPr>
          <p:cNvSpPr txBox="1"/>
          <p:nvPr/>
        </p:nvSpPr>
        <p:spPr>
          <a:xfrm>
            <a:off x="4831724" y="36550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0C8A6379-5204-05E3-495F-21611AE85CEC}"/>
              </a:ext>
            </a:extLst>
          </p:cNvPr>
          <p:cNvSpPr txBox="1"/>
          <p:nvPr/>
        </p:nvSpPr>
        <p:spPr>
          <a:xfrm>
            <a:off x="2418977" y="3689981"/>
            <a:ext cx="21182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1070BCA3-C782-7304-0B4B-702C51240892}"/>
              </a:ext>
            </a:extLst>
          </p:cNvPr>
          <p:cNvSpPr txBox="1"/>
          <p:nvPr/>
        </p:nvSpPr>
        <p:spPr>
          <a:xfrm>
            <a:off x="252940" y="36590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50631CC-E66E-5BF5-C56C-9D9AA25FBBAD}"/>
              </a:ext>
            </a:extLst>
          </p:cNvPr>
          <p:cNvSpPr txBox="1"/>
          <p:nvPr/>
        </p:nvSpPr>
        <p:spPr>
          <a:xfrm>
            <a:off x="9144000" y="36108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pic>
        <p:nvPicPr>
          <p:cNvPr id="3" name="Google Shape;105;p3">
            <a:extLst>
              <a:ext uri="{FF2B5EF4-FFF2-40B4-BE49-F238E27FC236}">
                <a16:creationId xmlns:a16="http://schemas.microsoft.com/office/drawing/2014/main" id="{930AC3F1-F0C2-637E-08A0-40BADAC92C33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 l="32491"/>
          <a:stretch>
            <a:fillRect/>
          </a:stretch>
        </p:blipFill>
        <p:spPr>
          <a:xfrm>
            <a:off x="275087" y="5354803"/>
            <a:ext cx="1873554" cy="11692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DBFDB-C49C-D442-E0AD-71B6C71D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DDC3362A-72E6-B8AF-C306-9955BA2F4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957221"/>
              </p:ext>
            </p:extLst>
          </p:nvPr>
        </p:nvGraphicFramePr>
        <p:xfrm>
          <a:off x="161332" y="120634"/>
          <a:ext cx="11854659" cy="337089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2041171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345873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3523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>
                          <a:solidFill>
                            <a:srgbClr val="FF0000"/>
                          </a:solidFill>
                        </a:rPr>
                        <a:t>*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7.9,(?),8.0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03909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FWHM_mes</a:t>
                      </a:r>
                      <a:r>
                        <a:rPr lang="fr-FR" sz="1800" b="1" dirty="0"/>
                        <a:t> (7ps)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43244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FWHM_instr</a:t>
                      </a:r>
                      <a:r>
                        <a:rPr lang="fr-FR" sz="1800" b="1" dirty="0"/>
                        <a:t> (7ps)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8082062"/>
                  </a:ext>
                </a:extLst>
              </a:tr>
            </a:tbl>
          </a:graphicData>
        </a:graphic>
      </p:graphicFrame>
      <p:sp>
        <p:nvSpPr>
          <p:cNvPr id="32" name="ZoneTexte 31">
            <a:extLst>
              <a:ext uri="{FF2B5EF4-FFF2-40B4-BE49-F238E27FC236}">
                <a16:creationId xmlns:a16="http://schemas.microsoft.com/office/drawing/2014/main" id="{CABC45E3-495B-AD8C-9A05-F897C4CC18F9}"/>
              </a:ext>
            </a:extLst>
          </p:cNvPr>
          <p:cNvSpPr txBox="1"/>
          <p:nvPr/>
        </p:nvSpPr>
        <p:spPr>
          <a:xfrm>
            <a:off x="275087" y="4099524"/>
            <a:ext cx="81551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fr-FR" sz="2000" dirty="0"/>
          </a:p>
          <a:p>
            <a:endParaRPr lang="fr-FR" sz="2000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BBA47D3-D0E5-173D-0DF0-26CAFF4BA668}"/>
              </a:ext>
            </a:extLst>
          </p:cNvPr>
          <p:cNvSpPr txBox="1"/>
          <p:nvPr/>
        </p:nvSpPr>
        <p:spPr>
          <a:xfrm>
            <a:off x="4831724" y="365508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A2FB460D-02EE-286B-8108-4E2B7EEDB2FD}"/>
              </a:ext>
            </a:extLst>
          </p:cNvPr>
          <p:cNvSpPr txBox="1"/>
          <p:nvPr/>
        </p:nvSpPr>
        <p:spPr>
          <a:xfrm>
            <a:off x="2418977" y="3689981"/>
            <a:ext cx="21182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86960722-DA7A-2BD1-5E3D-206C4189A5E7}"/>
              </a:ext>
            </a:extLst>
          </p:cNvPr>
          <p:cNvSpPr txBox="1"/>
          <p:nvPr/>
        </p:nvSpPr>
        <p:spPr>
          <a:xfrm>
            <a:off x="252940" y="36590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4578793-4F71-40E5-7EF5-EBB6F02A1EA5}"/>
              </a:ext>
            </a:extLst>
          </p:cNvPr>
          <p:cNvSpPr txBox="1"/>
          <p:nvPr/>
        </p:nvSpPr>
        <p:spPr>
          <a:xfrm>
            <a:off x="9144000" y="36108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32E7460-2A1A-5348-733F-9CDE9867A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7252"/>
            <a:ext cx="3555682" cy="2323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544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184D7-145B-8DB4-C251-2370EE668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141D-E1A7-D9F0-1FED-CB7629572A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07655" y="183886"/>
            <a:ext cx="5734411" cy="1109663"/>
          </a:xfrm>
        </p:spPr>
        <p:txBody>
          <a:bodyPr>
            <a:normAutofit fontScale="90000"/>
          </a:bodyPr>
          <a:lstStyle/>
          <a:p>
            <a:r>
              <a:rPr lang="fr-FR" sz="4000" dirty="0" err="1"/>
              <a:t>Chirp</a:t>
            </a:r>
            <a:r>
              <a:rPr lang="fr-FR" sz="4000" dirty="0"/>
              <a:t> – Calcul de </a:t>
            </a:r>
            <a:r>
              <a:rPr lang="fr-FR" sz="4000" dirty="0" err="1"/>
              <a:t>FWHM_instr</a:t>
            </a:r>
            <a:endParaRPr lang="fr-FR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8620885"/>
                  </p:ext>
                </p:extLst>
              </p:nvPr>
            </p:nvGraphicFramePr>
            <p:xfrm>
              <a:off x="5191766" y="2604836"/>
              <a:ext cx="6911740" cy="237744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51238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51238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823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782345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6.9 cm-1 (4.9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7.</m:t>
                                </m:r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782345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2,0 cm-1 (1.49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 b="0" i="0" smtClean="0">
                                    <a:latin typeface="Cambria Math" panose="02040503050406030204" pitchFamily="18" charset="0"/>
                                  </a:rPr>
                                  <m:t>4.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0BE9739A-7294-26CF-4B68-99D6EAE7664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8620885"/>
                  </p:ext>
                </p:extLst>
              </p:nvPr>
            </p:nvGraphicFramePr>
            <p:xfrm>
              <a:off x="5191766" y="2604836"/>
              <a:ext cx="6911740" cy="237744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51238">
                      <a:extLst>
                        <a:ext uri="{9D8B030D-6E8A-4147-A177-3AD203B41FA5}">
                          <a16:colId xmlns:a16="http://schemas.microsoft.com/office/drawing/2014/main" val="1187242739"/>
                        </a:ext>
                      </a:extLst>
                    </a:gridCol>
                    <a:gridCol w="1151238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52316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 (</a:t>
                          </a:r>
                          <a:r>
                            <a:rPr lang="el-G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Δτ</a:t>
                          </a:r>
                          <a:r>
                            <a:rPr lang="fr-FR" sz="1400" dirty="0"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)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mesurée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 (mesure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raman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)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no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3.0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6.9 cm-1 (4.9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47" t="-100000" r="-200000" b="-103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58" t="-100000" r="-101058" b="-103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58" t="-100000" r="-1058" b="-10305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chirp</a:t>
                          </a: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9.9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+mn-lt"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algn="ctr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2,0 cm-1 (1.49 pour un pulse)</a:t>
                          </a: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98947" t="-201538" r="-2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058" t="-201538" r="-101058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058" t="-201538" r="-1058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ZoneTexte 10">
            <a:extLst>
              <a:ext uri="{FF2B5EF4-FFF2-40B4-BE49-F238E27FC236}">
                <a16:creationId xmlns:a16="http://schemas.microsoft.com/office/drawing/2014/main" id="{EAB3768B-5C9A-BBD4-958E-8EFA6EB9E58E}"/>
              </a:ext>
            </a:extLst>
          </p:cNvPr>
          <p:cNvSpPr txBox="1"/>
          <p:nvPr/>
        </p:nvSpPr>
        <p:spPr>
          <a:xfrm>
            <a:off x="124044" y="4243612"/>
            <a:ext cx="468059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B3FE928-2928-AE12-F7F9-E34B82BF0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579" y="1293549"/>
            <a:ext cx="4122121" cy="2856639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E7F5F58F-431F-4880-1A25-F0E24084E84C}"/>
              </a:ext>
            </a:extLst>
          </p:cNvPr>
          <p:cNvCxnSpPr>
            <a:cxnSpLocks/>
          </p:cNvCxnSpPr>
          <p:nvPr/>
        </p:nvCxnSpPr>
        <p:spPr>
          <a:xfrm>
            <a:off x="7148052" y="1828620"/>
            <a:ext cx="0" cy="7375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8D10CB99-F04A-D1CE-02DC-A3B8E3302C44}"/>
              </a:ext>
            </a:extLst>
          </p:cNvPr>
          <p:cNvSpPr txBox="1"/>
          <p:nvPr/>
        </p:nvSpPr>
        <p:spPr>
          <a:xfrm>
            <a:off x="10753007" y="1548258"/>
            <a:ext cx="1582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6"/>
                </a:solidFill>
              </a:rPr>
              <a:t>Cas calcite synthétique</a:t>
            </a:r>
          </a:p>
          <a:p>
            <a:r>
              <a:rPr lang="fr-FR" dirty="0">
                <a:solidFill>
                  <a:schemeClr val="accent6"/>
                </a:solidFill>
              </a:rPr>
              <a:t>moyen 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72B1D9-C586-68F6-0493-6425A460DB0A}"/>
              </a:ext>
            </a:extLst>
          </p:cNvPr>
          <p:cNvSpPr/>
          <p:nvPr/>
        </p:nvSpPr>
        <p:spPr>
          <a:xfrm>
            <a:off x="10985500" y="2604836"/>
            <a:ext cx="1118006" cy="2377440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D5B9AADF-DBCA-E912-65B3-6379E5959975}"/>
              </a:ext>
            </a:extLst>
          </p:cNvPr>
          <p:cNvCxnSpPr>
            <a:cxnSpLocks/>
          </p:cNvCxnSpPr>
          <p:nvPr/>
        </p:nvCxnSpPr>
        <p:spPr>
          <a:xfrm flipV="1">
            <a:off x="8258073" y="4982276"/>
            <a:ext cx="0" cy="4165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CB713EEA-C97B-0895-DC90-29D54C1B54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9921" y="178647"/>
            <a:ext cx="4947686" cy="194735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1A0BFE7-212A-AD99-E876-32EAE4221D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450" y="5206484"/>
            <a:ext cx="3894157" cy="85351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9635A69A-6ADD-187E-0DDC-1D2363085619}"/>
              </a:ext>
            </a:extLst>
          </p:cNvPr>
          <p:cNvSpPr txBox="1"/>
          <p:nvPr/>
        </p:nvSpPr>
        <p:spPr>
          <a:xfrm>
            <a:off x="10476123" y="5136668"/>
            <a:ext cx="17641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 une gaussienne limité par la TF. 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F7273B0-ECED-02E9-6C42-20A3D19B3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3450" y="6172103"/>
            <a:ext cx="4618120" cy="62489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0C4B5E5C-152E-88D3-2013-539CE38DC62D}"/>
              </a:ext>
            </a:extLst>
          </p:cNvPr>
          <p:cNvSpPr txBox="1"/>
          <p:nvPr/>
        </p:nvSpPr>
        <p:spPr>
          <a:xfrm>
            <a:off x="4302700" y="6253717"/>
            <a:ext cx="20712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i="0" dirty="0">
                <a:solidFill>
                  <a:schemeClr val="tx1"/>
                </a:solidFill>
                <a:effectLst/>
                <a:latin typeface="+mn-lt"/>
              </a:rPr>
              <a:t>Claudius Riek, Daniele </a:t>
            </a:r>
            <a:r>
              <a:rPr lang="fr-FR" sz="1200" i="0" dirty="0" err="1">
                <a:solidFill>
                  <a:schemeClr val="tx1"/>
                </a:solidFill>
                <a:effectLst/>
                <a:latin typeface="+mn-lt"/>
              </a:rPr>
              <a:t>BridaOpt</a:t>
            </a:r>
            <a:r>
              <a:rPr lang="fr-FR" sz="1200" i="0" dirty="0">
                <a:solidFill>
                  <a:schemeClr val="tx1"/>
                </a:solidFill>
                <a:effectLst/>
                <a:latin typeface="+mn-lt"/>
              </a:rPr>
              <a:t>. and al Lett. (2016) 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936309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8852" y="-533609"/>
            <a:ext cx="9144000" cy="1109663"/>
          </a:xfrm>
        </p:spPr>
        <p:txBody>
          <a:bodyPr>
            <a:normAutofit/>
          </a:bodyPr>
          <a:lstStyle/>
          <a:p>
            <a:r>
              <a:rPr lang="fr-FR" sz="4000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1587268"/>
              </p:ext>
            </p:extLst>
          </p:nvPr>
        </p:nvGraphicFramePr>
        <p:xfrm>
          <a:off x="0" y="470342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FWHM_déconvolué</a:t>
                      </a:r>
                      <a:r>
                        <a:rPr lang="fr-FR" sz="1800" b="1" dirty="0"/>
                        <a:t> (cm-1)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[7.9, (8 aussi?), 8]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5.9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847500"/>
              </p:ext>
            </p:extLst>
          </p:nvPr>
        </p:nvGraphicFramePr>
        <p:xfrm>
          <a:off x="0" y="3202350"/>
          <a:ext cx="11965856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9408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709408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1073,1070(corail)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1830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320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ADFE0A1A-05C6-E727-F84F-4575CE67D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C0649E30-7C16-4DA0-4699-0C3459E603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7223" y="14304"/>
            <a:ext cx="4247235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ACC + cal 260626</a:t>
            </a:r>
            <a:endParaRPr dirty="0"/>
          </a:p>
        </p:txBody>
      </p:sp>
      <p:sp>
        <p:nvSpPr>
          <p:cNvPr id="158" name="Google Shape;158;g3e4efdd0c05_0_27">
            <a:extLst>
              <a:ext uri="{FF2B5EF4-FFF2-40B4-BE49-F238E27FC236}">
                <a16:creationId xmlns:a16="http://schemas.microsoft.com/office/drawing/2014/main" id="{B1CE53B6-DE49-B540-1687-424AD4A6B8EA}"/>
              </a:ext>
            </a:extLst>
          </p:cNvPr>
          <p:cNvSpPr txBox="1"/>
          <p:nvPr/>
        </p:nvSpPr>
        <p:spPr>
          <a:xfrm>
            <a:off x="160552" y="767408"/>
            <a:ext cx="2533882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200" dirty="0">
                <a:solidFill>
                  <a:schemeClr val="dk1"/>
                </a:solidFill>
              </a:rPr>
              <a:t>929.2,928.8,928.5,928.2,927.7,927.4,926.9,926.6,926.2,925.7,925,924.1,929.1,929.5,929.8,930.2,930.5,931,931.8,932.9]</a:t>
            </a:r>
            <a:endParaRPr lang="fr-FR" sz="12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e4efdd0c05_0_27">
            <a:extLst>
              <a:ext uri="{FF2B5EF4-FFF2-40B4-BE49-F238E27FC236}">
                <a16:creationId xmlns:a16="http://schemas.microsoft.com/office/drawing/2014/main" id="{E766690E-8D52-18FE-57D2-DFE0649C8020}"/>
              </a:ext>
            </a:extLst>
          </p:cNvPr>
          <p:cNvSpPr txBox="1"/>
          <p:nvPr/>
        </p:nvSpPr>
        <p:spPr>
          <a:xfrm>
            <a:off x="2773102" y="751540"/>
            <a:ext cx="4005600" cy="11079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>
                <a:solidFill>
                  <a:schemeClr val="dk1"/>
                </a:solidFill>
              </a:rPr>
              <a:t>Power 300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>
                <a:solidFill>
                  <a:schemeClr val="dk1"/>
                </a:solidFill>
              </a:rPr>
              <a:t>Nb points 120²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 err="1">
                <a:solidFill>
                  <a:schemeClr val="dk1"/>
                </a:solidFill>
              </a:rPr>
              <a:t>PixelRep</a:t>
            </a:r>
            <a:r>
              <a:rPr lang="fr-FR" sz="1200" dirty="0">
                <a:solidFill>
                  <a:schemeClr val="dk1"/>
                </a:solidFill>
              </a:rPr>
              <a:t> 80 </a:t>
            </a:r>
            <a:r>
              <a:rPr lang="fr-FR" sz="1200" dirty="0" err="1">
                <a:solidFill>
                  <a:schemeClr val="dk1"/>
                </a:solidFill>
              </a:rPr>
              <a:t>NbACC</a:t>
            </a:r>
            <a:r>
              <a:rPr lang="fr-FR" sz="1200" dirty="0">
                <a:solidFill>
                  <a:schemeClr val="dk1"/>
                </a:solidFill>
              </a:rPr>
              <a:t> 5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dirty="0">
                <a:solidFill>
                  <a:schemeClr val="dk1"/>
                </a:solidFill>
              </a:rPr>
              <a:t>scan range 100 µm</a:t>
            </a:r>
            <a:endParaRPr sz="12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3A2DE69-6FA2-6124-7095-F60B4F3E6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861741" y="1182886"/>
            <a:ext cx="2210555" cy="224611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737444B2-D51B-F162-6019-BA734176C80C}"/>
              </a:ext>
            </a:extLst>
          </p:cNvPr>
          <p:cNvSpPr txBox="1"/>
          <p:nvPr/>
        </p:nvSpPr>
        <p:spPr>
          <a:xfrm>
            <a:off x="1642209" y="-92287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2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b="1" dirty="0"/>
          </a:p>
        </p:txBody>
      </p:sp>
      <p:sp>
        <p:nvSpPr>
          <p:cNvPr id="14" name="Google Shape;158;g3e4efdd0c05_0_27">
            <a:extLst>
              <a:ext uri="{FF2B5EF4-FFF2-40B4-BE49-F238E27FC236}">
                <a16:creationId xmlns:a16="http://schemas.microsoft.com/office/drawing/2014/main" id="{9B5EA81D-4E21-D297-A88A-FCB4CE769146}"/>
              </a:ext>
            </a:extLst>
          </p:cNvPr>
          <p:cNvSpPr txBox="1"/>
          <p:nvPr/>
        </p:nvSpPr>
        <p:spPr>
          <a:xfrm>
            <a:off x="4819842" y="813573"/>
            <a:ext cx="2733631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fr-FR" sz="14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Wavelength</a:t>
            </a:r>
            <a:r>
              <a:rPr lang="fr-FR" sz="1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=[</a:t>
            </a:r>
            <a:r>
              <a:rPr lang="fr-FR" sz="1400" dirty="0">
                <a:solidFill>
                  <a:schemeClr val="dk1"/>
                </a:solidFill>
              </a:rPr>
              <a:t>929.1,928.7,928.5,928.1,927.7,927.4,926.7,926.4,926,929.5,930,927.1]</a:t>
            </a:r>
            <a:endParaRPr lang="fr-FR"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59;g3e4efdd0c05_0_27">
            <a:extLst>
              <a:ext uri="{FF2B5EF4-FFF2-40B4-BE49-F238E27FC236}">
                <a16:creationId xmlns:a16="http://schemas.microsoft.com/office/drawing/2014/main" id="{4E5EEBE8-9D63-5841-9B4B-373EB6A4B429}"/>
              </a:ext>
            </a:extLst>
          </p:cNvPr>
          <p:cNvSpPr txBox="1"/>
          <p:nvPr/>
        </p:nvSpPr>
        <p:spPr>
          <a:xfrm>
            <a:off x="7495912" y="689984"/>
            <a:ext cx="4005600" cy="123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>
                <a:solidFill>
                  <a:schemeClr val="dk1"/>
                </a:solidFill>
              </a:rPr>
              <a:t>Power 350²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>
                <a:solidFill>
                  <a:schemeClr val="dk1"/>
                </a:solidFill>
              </a:rPr>
              <a:t>Nb points 120²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 err="1">
                <a:solidFill>
                  <a:schemeClr val="dk1"/>
                </a:solidFill>
              </a:rPr>
              <a:t>PixelRep</a:t>
            </a:r>
            <a:r>
              <a:rPr lang="fr-FR" sz="1400" dirty="0">
                <a:solidFill>
                  <a:schemeClr val="dk1"/>
                </a:solidFill>
              </a:rPr>
              <a:t> 150 </a:t>
            </a:r>
            <a:r>
              <a:rPr lang="fr-FR" sz="1400" dirty="0" err="1">
                <a:solidFill>
                  <a:schemeClr val="dk1"/>
                </a:solidFill>
              </a:rPr>
              <a:t>NbACC</a:t>
            </a:r>
            <a:r>
              <a:rPr lang="fr-FR" sz="1400" dirty="0">
                <a:solidFill>
                  <a:schemeClr val="dk1"/>
                </a:solidFill>
              </a:rPr>
              <a:t> 10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400" dirty="0">
                <a:solidFill>
                  <a:schemeClr val="dk1"/>
                </a:solidFill>
              </a:rPr>
              <a:t>scan range 100 µm</a:t>
            </a:r>
            <a:endParaRPr sz="14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8602C58-E43E-9DDE-E1C6-AA23CA530D42}"/>
              </a:ext>
            </a:extLst>
          </p:cNvPr>
          <p:cNvSpPr txBox="1"/>
          <p:nvPr/>
        </p:nvSpPr>
        <p:spPr>
          <a:xfrm>
            <a:off x="6596744" y="-2035"/>
            <a:ext cx="69523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7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sz="1800" b="1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211D0345-54C9-8F3F-713C-7D3344C82B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3626" y="2079924"/>
            <a:ext cx="4688115" cy="3996780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1B0805E8-3090-0354-8B1D-46F29A0ED6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726" y="2079924"/>
            <a:ext cx="4688116" cy="413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882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595A681B-1D36-05FE-46B9-62168819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B3CF28AA-3C7B-5CB0-A8D7-D745B6ABDB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7223" y="14304"/>
            <a:ext cx="4247235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ACC + cal 260626</a:t>
            </a:r>
            <a:endParaRPr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9D0535A-1176-FBBA-A9BC-F26D870D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861741" y="1182886"/>
            <a:ext cx="2210555" cy="2246114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F173536D-BCC8-72BE-F8A8-D11D16ADFB79}"/>
              </a:ext>
            </a:extLst>
          </p:cNvPr>
          <p:cNvSpPr txBox="1"/>
          <p:nvPr/>
        </p:nvSpPr>
        <p:spPr>
          <a:xfrm>
            <a:off x="1347730" y="-154752"/>
            <a:ext cx="26770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2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b="1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CDC9C9D-4148-5B5B-3635-F16D84104B0D}"/>
              </a:ext>
            </a:extLst>
          </p:cNvPr>
          <p:cNvSpPr txBox="1"/>
          <p:nvPr/>
        </p:nvSpPr>
        <p:spPr>
          <a:xfrm>
            <a:off x="5478637" y="-134797"/>
            <a:ext cx="185622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7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sz="1800" b="1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4964A4-4305-D2C5-4163-02A058166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716" y="3012690"/>
            <a:ext cx="2976701" cy="268238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8FB9FD4-30DF-6B00-21F9-2E3C313AD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954" y="634644"/>
            <a:ext cx="3013463" cy="224611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D8A0625-1E22-6F53-AA43-1913CEBD04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7241" y="3012690"/>
            <a:ext cx="2976701" cy="268238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AF51B03-C336-F646-6521-682717F5DA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8935" y="638914"/>
            <a:ext cx="3115007" cy="232180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45BE9D68-F92A-F626-570F-7788F6BE5647}"/>
              </a:ext>
            </a:extLst>
          </p:cNvPr>
          <p:cNvSpPr txBox="1"/>
          <p:nvPr/>
        </p:nvSpPr>
        <p:spPr>
          <a:xfrm>
            <a:off x="7876228" y="3429000"/>
            <a:ext cx="37630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200" b="0" i="0" dirty="0">
                <a:effectLst/>
                <a:latin typeface="+mn-lt"/>
              </a:rPr>
              <a:t>params.roi1 = [58+params.shift_row 60+params.shift_row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...</a:t>
            </a:r>
            <a:endParaRPr lang="fr-FR" sz="1200" b="0" i="0" dirty="0">
              <a:effectLst/>
              <a:latin typeface="+mn-lt"/>
            </a:endParaRPr>
          </a:p>
          <a:p>
            <a:pPr>
              <a:buNone/>
            </a:pPr>
            <a:r>
              <a:rPr lang="fr-FR" sz="1200" b="0" i="0" dirty="0">
                <a:effectLst/>
                <a:latin typeface="+mn-lt"/>
              </a:rPr>
              <a:t>66+params.shift_col 68+params.shift_col]; params.roi2 = [44+params.shift_row 48+params.shift_row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...</a:t>
            </a:r>
            <a:endParaRPr lang="fr-FR" sz="1200" b="0" i="0" dirty="0">
              <a:effectLst/>
              <a:latin typeface="+mn-lt"/>
            </a:endParaRPr>
          </a:p>
          <a:p>
            <a:pPr>
              <a:buNone/>
            </a:pPr>
            <a:r>
              <a:rPr lang="fr-FR" sz="1200" b="0" i="0" dirty="0">
                <a:effectLst/>
                <a:latin typeface="+mn-lt"/>
              </a:rPr>
              <a:t>73+params.shift_col 80+params.shift_col]; </a:t>
            </a:r>
            <a:endParaRPr lang="fr-FR" sz="7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237615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2BB26ABC-B4E4-254C-CA43-0F6A59D90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e4efdd0c05_0_27">
            <a:extLst>
              <a:ext uri="{FF2B5EF4-FFF2-40B4-BE49-F238E27FC236}">
                <a16:creationId xmlns:a16="http://schemas.microsoft.com/office/drawing/2014/main" id="{C0FD2E1A-B558-A2AC-190A-0D52035153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7223" y="14304"/>
            <a:ext cx="4247235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fr-FR" dirty="0"/>
              <a:t>ACC + cal 260626</a:t>
            </a:r>
            <a:endParaRPr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20239C4-D462-B5E0-3EBB-7622355F2A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861741" y="1182886"/>
            <a:ext cx="2210555" cy="2246114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16432577-0D14-E948-1537-C7508ED50229}"/>
              </a:ext>
            </a:extLst>
          </p:cNvPr>
          <p:cNvSpPr txBox="1"/>
          <p:nvPr/>
        </p:nvSpPr>
        <p:spPr>
          <a:xfrm>
            <a:off x="9657223" y="3559112"/>
            <a:ext cx="27559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params.roi1 = [58+params.shift_row 60+params.shift_row...</a:t>
            </a:r>
          </a:p>
          <a:p>
            <a:r>
              <a:rPr lang="fr-FR" sz="1200" dirty="0"/>
              <a:t>66+params.shift_col 68+params.shift_col];</a:t>
            </a:r>
          </a:p>
          <a:p>
            <a:r>
              <a:rPr lang="fr-FR" sz="1200" dirty="0"/>
              <a:t>params.roi2 = [43+params.shift_row 46+params.shift_row...</a:t>
            </a:r>
          </a:p>
          <a:p>
            <a:r>
              <a:rPr lang="fr-FR" sz="1200" dirty="0"/>
              <a:t>74+params.shift_col 77+params.shift_col];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A1A0579-ECF7-C1F0-B559-687A8E430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04" y="3327027"/>
            <a:ext cx="2389391" cy="1978088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9C31E77-BC0C-595E-4A88-17DF92D64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259" y="3317220"/>
            <a:ext cx="2068290" cy="1863788"/>
          </a:xfrm>
          <a:prstGeom prst="rect">
            <a:avLst/>
          </a:prstGeom>
        </p:spPr>
      </p:pic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045D7667-C731-BFE9-B098-61A075C7F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478761"/>
              </p:ext>
            </p:extLst>
          </p:nvPr>
        </p:nvGraphicFramePr>
        <p:xfrm>
          <a:off x="4781904" y="5334000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260626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117960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 (fixé)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36580</a:t>
                      </a:r>
                      <a:endParaRPr lang="fr-F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 (fixé)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 (fixé)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23" name="Image 22">
            <a:extLst>
              <a:ext uri="{FF2B5EF4-FFF2-40B4-BE49-F238E27FC236}">
                <a16:creationId xmlns:a16="http://schemas.microsoft.com/office/drawing/2014/main" id="{1D83BA06-6F67-4B84-DF4D-980DB524D8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3714" y="3332355"/>
            <a:ext cx="2389392" cy="1989699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1962C63A-5B0B-293F-2A66-3B7FD47725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156" y="3258265"/>
            <a:ext cx="2208017" cy="1989700"/>
          </a:xfrm>
          <a:prstGeom prst="rect">
            <a:avLst/>
          </a:prstGeom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E0E81C5C-F977-20DE-3D24-6EA2E99F1F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1904" y="28885"/>
            <a:ext cx="4247236" cy="3128558"/>
          </a:xfrm>
          <a:prstGeom prst="rect">
            <a:avLst/>
          </a:prstGeom>
        </p:spPr>
      </p:pic>
      <p:sp>
        <p:nvSpPr>
          <p:cNvPr id="43" name="ZoneTexte 42">
            <a:extLst>
              <a:ext uri="{FF2B5EF4-FFF2-40B4-BE49-F238E27FC236}">
                <a16:creationId xmlns:a16="http://schemas.microsoft.com/office/drawing/2014/main" id="{83DFAEF3-58D5-3C34-5B75-030D46144089}"/>
              </a:ext>
            </a:extLst>
          </p:cNvPr>
          <p:cNvSpPr txBox="1"/>
          <p:nvPr/>
        </p:nvSpPr>
        <p:spPr>
          <a:xfrm>
            <a:off x="5239462" y="659009"/>
            <a:ext cx="18562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7 </a:t>
            </a:r>
            <a:r>
              <a:rPr lang="fr-FR" sz="2400" b="1" dirty="0" err="1"/>
              <a:t>ps</a:t>
            </a:r>
            <a:r>
              <a:rPr lang="fr-FR" sz="2400" b="1" dirty="0"/>
              <a:t> </a:t>
            </a:r>
            <a:endParaRPr lang="fr-FR" sz="1050" b="1" dirty="0"/>
          </a:p>
        </p:txBody>
      </p:sp>
      <p:pic>
        <p:nvPicPr>
          <p:cNvPr id="45" name="Image 44">
            <a:extLst>
              <a:ext uri="{FF2B5EF4-FFF2-40B4-BE49-F238E27FC236}">
                <a16:creationId xmlns:a16="http://schemas.microsoft.com/office/drawing/2014/main" id="{E7460FE7-55AC-5ECA-D0D8-79CA25B422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765" y="14304"/>
            <a:ext cx="4247236" cy="3128558"/>
          </a:xfrm>
          <a:prstGeom prst="rect">
            <a:avLst/>
          </a:prstGeom>
        </p:spPr>
      </p:pic>
      <p:sp>
        <p:nvSpPr>
          <p:cNvPr id="47" name="ZoneTexte 46">
            <a:extLst>
              <a:ext uri="{FF2B5EF4-FFF2-40B4-BE49-F238E27FC236}">
                <a16:creationId xmlns:a16="http://schemas.microsoft.com/office/drawing/2014/main" id="{FE400C1A-DE7C-D3E6-BD36-C4B5175947FD}"/>
              </a:ext>
            </a:extLst>
          </p:cNvPr>
          <p:cNvSpPr txBox="1"/>
          <p:nvPr/>
        </p:nvSpPr>
        <p:spPr>
          <a:xfrm>
            <a:off x="628920" y="659008"/>
            <a:ext cx="26770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2 </a:t>
            </a:r>
            <a:r>
              <a:rPr lang="fr-FR" sz="2400" b="1" dirty="0" err="1"/>
              <a:t>ps</a:t>
            </a:r>
            <a:r>
              <a:rPr lang="fr-FR" sz="2400" b="1" dirty="0"/>
              <a:t> </a:t>
            </a:r>
            <a:endParaRPr lang="fr-FR" sz="1050" b="1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DBDD5089-41B6-A7C4-8FD5-EB93A4D5EDE4}"/>
              </a:ext>
            </a:extLst>
          </p:cNvPr>
          <p:cNvSpPr txBox="1"/>
          <p:nvPr/>
        </p:nvSpPr>
        <p:spPr>
          <a:xfrm>
            <a:off x="5239462" y="1182884"/>
            <a:ext cx="17468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fwhm_instr_7ps = 2.5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B6F531ED-1105-A6A4-91E3-0A46195A189C}"/>
              </a:ext>
            </a:extLst>
          </p:cNvPr>
          <p:cNvSpPr txBox="1"/>
          <p:nvPr/>
        </p:nvSpPr>
        <p:spPr>
          <a:xfrm>
            <a:off x="498215" y="1182885"/>
            <a:ext cx="17447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fwhm_instr_2ps = 9.3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1EC6B14-42CE-A391-DFBB-58D9BFFCAC53}"/>
              </a:ext>
            </a:extLst>
          </p:cNvPr>
          <p:cNvSpPr txBox="1"/>
          <p:nvPr/>
        </p:nvSpPr>
        <p:spPr>
          <a:xfrm>
            <a:off x="7912738" y="197343"/>
            <a:ext cx="69523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X 0.1</a:t>
            </a:r>
            <a:endParaRPr lang="fr-FR" sz="1050" b="1" dirty="0">
              <a:solidFill>
                <a:srgbClr val="FF0000"/>
              </a:solidFill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D4F9B6E4-CB01-3BF6-E6F9-DD9A86A37DD4}"/>
              </a:ext>
            </a:extLst>
          </p:cNvPr>
          <p:cNvSpPr txBox="1"/>
          <p:nvPr/>
        </p:nvSpPr>
        <p:spPr>
          <a:xfrm>
            <a:off x="3062275" y="203243"/>
            <a:ext cx="69523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X 0.1</a:t>
            </a:r>
            <a:endParaRPr lang="fr-FR" sz="1050" b="1" dirty="0">
              <a:solidFill>
                <a:srgbClr val="FF0000"/>
              </a:solidFill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55B54E67-21B4-F17F-0324-B861BB70DAA1}"/>
              </a:ext>
            </a:extLst>
          </p:cNvPr>
          <p:cNvSpPr txBox="1"/>
          <p:nvPr/>
        </p:nvSpPr>
        <p:spPr>
          <a:xfrm>
            <a:off x="3429351" y="1813470"/>
            <a:ext cx="69523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X 1</a:t>
            </a:r>
            <a:endParaRPr lang="fr-FR" sz="1050" b="1" dirty="0"/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BD0096C5-6D3A-0363-6FFB-519D7C992A58}"/>
              </a:ext>
            </a:extLst>
          </p:cNvPr>
          <p:cNvSpPr txBox="1"/>
          <p:nvPr/>
        </p:nvSpPr>
        <p:spPr>
          <a:xfrm>
            <a:off x="8304669" y="2240120"/>
            <a:ext cx="69523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/>
              <a:t>X 1</a:t>
            </a:r>
            <a:endParaRPr lang="fr-FR" sz="1050" b="1" dirty="0"/>
          </a:p>
        </p:txBody>
      </p:sp>
      <p:pic>
        <p:nvPicPr>
          <p:cNvPr id="60" name="Image 59">
            <a:extLst>
              <a:ext uri="{FF2B5EF4-FFF2-40B4-BE49-F238E27FC236}">
                <a16:creationId xmlns:a16="http://schemas.microsoft.com/office/drawing/2014/main" id="{CCE3D90E-D395-4CAC-9C13-2FC086FADB9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477" y="5305115"/>
            <a:ext cx="2668928" cy="1483572"/>
          </a:xfrm>
          <a:prstGeom prst="rect">
            <a:avLst/>
          </a:prstGeom>
        </p:spPr>
      </p:pic>
      <p:sp>
        <p:nvSpPr>
          <p:cNvPr id="62" name="ZoneTexte 61">
            <a:extLst>
              <a:ext uri="{FF2B5EF4-FFF2-40B4-BE49-F238E27FC236}">
                <a16:creationId xmlns:a16="http://schemas.microsoft.com/office/drawing/2014/main" id="{2376E07C-CB0C-3D87-ADEF-F450C2A66115}"/>
              </a:ext>
            </a:extLst>
          </p:cNvPr>
          <p:cNvSpPr txBox="1"/>
          <p:nvPr/>
        </p:nvSpPr>
        <p:spPr>
          <a:xfrm>
            <a:off x="222736" y="5429222"/>
            <a:ext cx="17447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Si l’on fixe FWHM_2ps = 31 cm-1</a:t>
            </a:r>
          </a:p>
        </p:txBody>
      </p:sp>
    </p:spTree>
    <p:extLst>
      <p:ext uri="{BB962C8B-B14F-4D97-AF65-F5344CB8AC3E}">
        <p14:creationId xmlns:p14="http://schemas.microsoft.com/office/powerpoint/2010/main" val="4087026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3CD6611D-2798-D9AE-3EF5-9AB81B025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820C2A5C-CAEF-925C-EC87-0B26DF4D3375}"/>
              </a:ext>
            </a:extLst>
          </p:cNvPr>
          <p:cNvSpPr txBox="1"/>
          <p:nvPr/>
        </p:nvSpPr>
        <p:spPr>
          <a:xfrm>
            <a:off x="2386263" y="986079"/>
            <a:ext cx="26770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2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b="1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8C3DFD35-0BC0-83C6-6B66-9CC5C51703D7}"/>
              </a:ext>
            </a:extLst>
          </p:cNvPr>
          <p:cNvSpPr txBox="1"/>
          <p:nvPr/>
        </p:nvSpPr>
        <p:spPr>
          <a:xfrm>
            <a:off x="9260370" y="1023822"/>
            <a:ext cx="185622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7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sz="1800" b="1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1DD3347-53D0-0E16-FB0A-33B052A8A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20" y="1948191"/>
            <a:ext cx="5614879" cy="381375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A153544-3F40-4590-322F-9228DC6D76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930" y="1948191"/>
            <a:ext cx="5614879" cy="3834065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EA087475-BA57-5AC2-F559-8A07A41D8FA0}"/>
              </a:ext>
            </a:extLst>
          </p:cNvPr>
          <p:cNvSpPr txBox="1"/>
          <p:nvPr/>
        </p:nvSpPr>
        <p:spPr>
          <a:xfrm>
            <a:off x="329520" y="131229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/>
              <a:t>ACC + cal 260626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8505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>
          <a:extLst>
            <a:ext uri="{FF2B5EF4-FFF2-40B4-BE49-F238E27FC236}">
              <a16:creationId xmlns:a16="http://schemas.microsoft.com/office/drawing/2014/main" id="{F0D8ABC7-9F64-B155-46B6-2BB3C7803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BB3D024-8B2E-3AA8-8BB4-AEAAFEFF80F9}"/>
              </a:ext>
            </a:extLst>
          </p:cNvPr>
          <p:cNvSpPr txBox="1"/>
          <p:nvPr/>
        </p:nvSpPr>
        <p:spPr>
          <a:xfrm>
            <a:off x="4771287" y="184516"/>
            <a:ext cx="371957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b="1" dirty="0"/>
              <a:t>2 </a:t>
            </a:r>
            <a:r>
              <a:rPr lang="fr-FR" sz="4400" b="1" dirty="0" err="1"/>
              <a:t>ps</a:t>
            </a:r>
            <a:r>
              <a:rPr lang="fr-FR" sz="4400" b="1" dirty="0"/>
              <a:t> vs 7 </a:t>
            </a:r>
            <a:r>
              <a:rPr lang="fr-FR" sz="4400" b="1" dirty="0" err="1"/>
              <a:t>ps</a:t>
            </a:r>
            <a:r>
              <a:rPr lang="fr-FR" sz="4400" b="1" dirty="0"/>
              <a:t> </a:t>
            </a:r>
            <a:endParaRPr lang="fr-FR" b="1" dirty="0"/>
          </a:p>
          <a:p>
            <a:r>
              <a:rPr lang="fr-FR" sz="4400" b="1" dirty="0"/>
              <a:t> </a:t>
            </a:r>
            <a:endParaRPr lang="fr-FR" b="1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74FB932-FD29-59CA-0A79-2ADDFC074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821" y="1136440"/>
            <a:ext cx="5641179" cy="458512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E167BA4-0197-F463-8FBE-A1E19EF12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948" y="1136439"/>
            <a:ext cx="5641179" cy="448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728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8843C-F9E5-39DB-4A39-852C15DE8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87B45643-C40F-D80C-6F63-6E4298C2F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96564" y="43414"/>
            <a:ext cx="344496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BEC3139-76EE-0554-6898-408EC8176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519469" y="906085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076CCCB-E80D-27A3-124C-036E709D7560}"/>
              </a:ext>
            </a:extLst>
          </p:cNvPr>
          <p:cNvSpPr/>
          <p:nvPr/>
        </p:nvSpPr>
        <p:spPr>
          <a:xfrm>
            <a:off x="10697977" y="1337276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C71CFE-798F-A93F-C4BA-C9DB7D820D86}"/>
              </a:ext>
            </a:extLst>
          </p:cNvPr>
          <p:cNvSpPr/>
          <p:nvPr/>
        </p:nvSpPr>
        <p:spPr>
          <a:xfrm>
            <a:off x="11243575" y="2226761"/>
            <a:ext cx="129540" cy="12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B9EA1C27-D813-CF6D-0B81-39FF6B699DE0}"/>
              </a:ext>
            </a:extLst>
          </p:cNvPr>
          <p:cNvCxnSpPr>
            <a:cxnSpLocks/>
          </p:cNvCxnSpPr>
          <p:nvPr/>
        </p:nvCxnSpPr>
        <p:spPr>
          <a:xfrm>
            <a:off x="11514730" y="3203866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4C45BF94-F86C-392F-9560-AD12B6EA55E7}"/>
              </a:ext>
            </a:extLst>
          </p:cNvPr>
          <p:cNvSpPr txBox="1"/>
          <p:nvPr/>
        </p:nvSpPr>
        <p:spPr>
          <a:xfrm>
            <a:off x="11223675" y="2834534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DF9EF9F9-0727-F199-896A-8D4BFBDAC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254" y="104690"/>
            <a:ext cx="3064646" cy="2619592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A5742544-9F60-352A-C67B-E71D2A600E79}"/>
              </a:ext>
            </a:extLst>
          </p:cNvPr>
          <p:cNvSpPr txBox="1"/>
          <p:nvPr/>
        </p:nvSpPr>
        <p:spPr>
          <a:xfrm>
            <a:off x="7038981" y="78611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23DE5654-26FF-67AB-558E-14A79FF8CF94}"/>
              </a:ext>
            </a:extLst>
          </p:cNvPr>
          <p:cNvCxnSpPr>
            <a:cxnSpLocks/>
          </p:cNvCxnSpPr>
          <p:nvPr/>
        </p:nvCxnSpPr>
        <p:spPr>
          <a:xfrm>
            <a:off x="7517517" y="239159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70C3268-EF35-840B-AC23-4E28225284FF}"/>
              </a:ext>
            </a:extLst>
          </p:cNvPr>
          <p:cNvSpPr txBox="1"/>
          <p:nvPr/>
        </p:nvSpPr>
        <p:spPr>
          <a:xfrm>
            <a:off x="7226462" y="2022259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FB29A0E7-9082-8454-10B5-EC38F64E4F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282" y="104690"/>
            <a:ext cx="3097056" cy="2606115"/>
          </a:xfrm>
          <a:prstGeom prst="rect">
            <a:avLst/>
          </a:prstGeom>
        </p:spPr>
      </p:pic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D1969826-6516-810D-3403-536B75943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701274"/>
              </p:ext>
            </p:extLst>
          </p:nvPr>
        </p:nvGraphicFramePr>
        <p:xfrm>
          <a:off x="449380" y="5377956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6" name="Image 15">
            <a:extLst>
              <a:ext uri="{FF2B5EF4-FFF2-40B4-BE49-F238E27FC236}">
                <a16:creationId xmlns:a16="http://schemas.microsoft.com/office/drawing/2014/main" id="{0DCBE913-F16C-0CB2-B3B9-F271D577E2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3282" y="111428"/>
            <a:ext cx="3097056" cy="2606115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88AACDC8-DDD3-4AD0-214C-D15F113A3768}"/>
              </a:ext>
            </a:extLst>
          </p:cNvPr>
          <p:cNvSpPr txBox="1"/>
          <p:nvPr/>
        </p:nvSpPr>
        <p:spPr>
          <a:xfrm>
            <a:off x="3101376" y="0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BF1E1185-EC75-7130-36C9-7F7113E1EA03}"/>
              </a:ext>
            </a:extLst>
          </p:cNvPr>
          <p:cNvCxnSpPr>
            <a:cxnSpLocks/>
          </p:cNvCxnSpPr>
          <p:nvPr/>
        </p:nvCxnSpPr>
        <p:spPr>
          <a:xfrm>
            <a:off x="3594017" y="2399214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6CB4EE20-4AF8-A4B0-E79A-63F9A9F97FA7}"/>
              </a:ext>
            </a:extLst>
          </p:cNvPr>
          <p:cNvSpPr txBox="1"/>
          <p:nvPr/>
        </p:nvSpPr>
        <p:spPr>
          <a:xfrm>
            <a:off x="3302962" y="2029882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17BEA6B4-0441-72E5-36A1-1EAA380A82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779" y="2591073"/>
            <a:ext cx="3819421" cy="2813425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B46813F1-FA3A-8CAF-1E30-187AABF799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7584" y="3717184"/>
            <a:ext cx="3564416" cy="2735296"/>
          </a:xfrm>
          <a:prstGeom prst="rect">
            <a:avLst/>
          </a:prstGeom>
        </p:spPr>
      </p:pic>
      <p:sp>
        <p:nvSpPr>
          <p:cNvPr id="42" name="ZoneTexte 41">
            <a:extLst>
              <a:ext uri="{FF2B5EF4-FFF2-40B4-BE49-F238E27FC236}">
                <a16:creationId xmlns:a16="http://schemas.microsoft.com/office/drawing/2014/main" id="{A8407EDD-2FD9-5445-1223-6245A402FAAB}"/>
              </a:ext>
            </a:extLst>
          </p:cNvPr>
          <p:cNvSpPr txBox="1"/>
          <p:nvPr/>
        </p:nvSpPr>
        <p:spPr>
          <a:xfrm>
            <a:off x="692998" y="3161643"/>
            <a:ext cx="16164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fwhm_instr_2ps = 13.8</a:t>
            </a:r>
          </a:p>
        </p:txBody>
      </p:sp>
      <p:pic>
        <p:nvPicPr>
          <p:cNvPr id="46" name="Image 45">
            <a:extLst>
              <a:ext uri="{FF2B5EF4-FFF2-40B4-BE49-F238E27FC236}">
                <a16:creationId xmlns:a16="http://schemas.microsoft.com/office/drawing/2014/main" id="{FC207E10-C8EA-112A-5BBF-4542715BFE2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68801" y="2573873"/>
            <a:ext cx="3819421" cy="2817560"/>
          </a:xfrm>
          <a:prstGeom prst="rect">
            <a:avLst/>
          </a:prstGeom>
        </p:spPr>
      </p:pic>
      <p:sp>
        <p:nvSpPr>
          <p:cNvPr id="48" name="ZoneTexte 47">
            <a:extLst>
              <a:ext uri="{FF2B5EF4-FFF2-40B4-BE49-F238E27FC236}">
                <a16:creationId xmlns:a16="http://schemas.microsoft.com/office/drawing/2014/main" id="{4F1F1D5A-9077-442E-A8F1-5313E15D4E9F}"/>
              </a:ext>
            </a:extLst>
          </p:cNvPr>
          <p:cNvSpPr txBox="1"/>
          <p:nvPr/>
        </p:nvSpPr>
        <p:spPr>
          <a:xfrm>
            <a:off x="4731604" y="3767854"/>
            <a:ext cx="16164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fwhm_instr_7ps = 2.9</a:t>
            </a:r>
          </a:p>
        </p:txBody>
      </p: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C12EA586-020B-1FA6-CD56-69937D53DF1D}"/>
              </a:ext>
            </a:extLst>
          </p:cNvPr>
          <p:cNvCxnSpPr/>
          <p:nvPr/>
        </p:nvCxnSpPr>
        <p:spPr>
          <a:xfrm flipV="1">
            <a:off x="7946265" y="4181874"/>
            <a:ext cx="798490" cy="5189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8AA29AB7-ED89-D187-1B3F-2860ED87ACC2}"/>
              </a:ext>
            </a:extLst>
          </p:cNvPr>
          <p:cNvCxnSpPr>
            <a:cxnSpLocks/>
          </p:cNvCxnSpPr>
          <p:nvPr/>
        </p:nvCxnSpPr>
        <p:spPr>
          <a:xfrm>
            <a:off x="7946265" y="5303243"/>
            <a:ext cx="643943" cy="9563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B28A81E0-2466-B103-8FA5-007EAC082581}"/>
              </a:ext>
            </a:extLst>
          </p:cNvPr>
          <p:cNvSpPr/>
          <p:nvPr/>
        </p:nvSpPr>
        <p:spPr>
          <a:xfrm>
            <a:off x="4335038" y="4673990"/>
            <a:ext cx="3944034" cy="6128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3696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88720-CE47-ED79-69C2-962104F47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060D6B4-A726-9F2D-C565-E9F37B433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39537" y="35818"/>
            <a:ext cx="351688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B6F4309-E20F-FA56-2916-17B61B670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9519469" y="906085"/>
            <a:ext cx="2384957" cy="232984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7D6D48C-18C9-6232-78F4-B3FC24942F5E}"/>
              </a:ext>
            </a:extLst>
          </p:cNvPr>
          <p:cNvSpPr/>
          <p:nvPr/>
        </p:nvSpPr>
        <p:spPr>
          <a:xfrm>
            <a:off x="10697977" y="1337276"/>
            <a:ext cx="209048" cy="1943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2B7223-CEF9-031E-4912-79FAE2189D47}"/>
              </a:ext>
            </a:extLst>
          </p:cNvPr>
          <p:cNvSpPr/>
          <p:nvPr/>
        </p:nvSpPr>
        <p:spPr>
          <a:xfrm>
            <a:off x="11138850" y="2184399"/>
            <a:ext cx="84825" cy="799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49D75737-E8DB-3A48-0F6A-71C4A43DD890}"/>
              </a:ext>
            </a:extLst>
          </p:cNvPr>
          <p:cNvCxnSpPr>
            <a:cxnSpLocks/>
          </p:cNvCxnSpPr>
          <p:nvPr/>
        </p:nvCxnSpPr>
        <p:spPr>
          <a:xfrm>
            <a:off x="11514730" y="3203866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174560E3-ABDE-87D5-2702-DC151F2388FC}"/>
              </a:ext>
            </a:extLst>
          </p:cNvPr>
          <p:cNvSpPr txBox="1"/>
          <p:nvPr/>
        </p:nvSpPr>
        <p:spPr>
          <a:xfrm>
            <a:off x="11223675" y="2834534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7EA7F079-DFB0-8159-912A-72B2BBD912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4388" y="35818"/>
            <a:ext cx="3064646" cy="2619592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4ABBA3F6-2226-51D3-2F82-9D83E64564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052" y="47854"/>
            <a:ext cx="3064646" cy="2578843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E610843F-DDE0-27E1-DFD7-2821DE18736D}"/>
              </a:ext>
            </a:extLst>
          </p:cNvPr>
          <p:cNvSpPr txBox="1"/>
          <p:nvPr/>
        </p:nvSpPr>
        <p:spPr>
          <a:xfrm>
            <a:off x="3143510" y="-68872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2ps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E3CF47AD-8AFF-1440-3B3F-B7C986D997CF}"/>
              </a:ext>
            </a:extLst>
          </p:cNvPr>
          <p:cNvCxnSpPr>
            <a:cxnSpLocks/>
          </p:cNvCxnSpPr>
          <p:nvPr/>
        </p:nvCxnSpPr>
        <p:spPr>
          <a:xfrm>
            <a:off x="3636151" y="2330342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BDE5E2A6-5588-ED58-1113-0CA3166B514B}"/>
              </a:ext>
            </a:extLst>
          </p:cNvPr>
          <p:cNvSpPr txBox="1"/>
          <p:nvPr/>
        </p:nvSpPr>
        <p:spPr>
          <a:xfrm>
            <a:off x="3345096" y="1961010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E7900EF8-B339-5CB5-10ED-1AD6393440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494577"/>
            <a:ext cx="3812960" cy="2808666"/>
          </a:xfrm>
          <a:prstGeom prst="rect">
            <a:avLst/>
          </a:prstGeom>
        </p:spPr>
      </p:pic>
      <p:sp>
        <p:nvSpPr>
          <p:cNvPr id="32" name="ZoneTexte 31">
            <a:extLst>
              <a:ext uri="{FF2B5EF4-FFF2-40B4-BE49-F238E27FC236}">
                <a16:creationId xmlns:a16="http://schemas.microsoft.com/office/drawing/2014/main" id="{E5C17A65-E656-159B-8590-F034DDC6B5B2}"/>
              </a:ext>
            </a:extLst>
          </p:cNvPr>
          <p:cNvSpPr txBox="1"/>
          <p:nvPr/>
        </p:nvSpPr>
        <p:spPr>
          <a:xfrm>
            <a:off x="355561" y="3069487"/>
            <a:ext cx="16164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fwhm_instr_2ps = 13.8</a:t>
            </a:r>
          </a:p>
        </p:txBody>
      </p:sp>
      <p:graphicFrame>
        <p:nvGraphicFramePr>
          <p:cNvPr id="34" name="Tableau 33">
            <a:extLst>
              <a:ext uri="{FF2B5EF4-FFF2-40B4-BE49-F238E27FC236}">
                <a16:creationId xmlns:a16="http://schemas.microsoft.com/office/drawing/2014/main" id="{BCEB3F7D-3F76-954D-32F1-D00064CC26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169633"/>
              </p:ext>
            </p:extLst>
          </p:nvPr>
        </p:nvGraphicFramePr>
        <p:xfrm>
          <a:off x="406826" y="5363652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59549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61554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29285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0" name="Image 39">
            <a:extLst>
              <a:ext uri="{FF2B5EF4-FFF2-40B4-BE49-F238E27FC236}">
                <a16:creationId xmlns:a16="http://schemas.microsoft.com/office/drawing/2014/main" id="{CB5D142B-8A4F-A8AF-3366-A8B0631BA2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5365" y="9739"/>
            <a:ext cx="3064646" cy="2619592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56CCB4CB-20A0-4D2A-196F-1CC1B7A3C210}"/>
              </a:ext>
            </a:extLst>
          </p:cNvPr>
          <p:cNvSpPr txBox="1"/>
          <p:nvPr/>
        </p:nvSpPr>
        <p:spPr>
          <a:xfrm>
            <a:off x="7081115" y="9739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2FC2F66D-BD81-5D6C-EB96-BF5E64EAE483}"/>
              </a:ext>
            </a:extLst>
          </p:cNvPr>
          <p:cNvCxnSpPr>
            <a:cxnSpLocks/>
          </p:cNvCxnSpPr>
          <p:nvPr/>
        </p:nvCxnSpPr>
        <p:spPr>
          <a:xfrm>
            <a:off x="7559651" y="2322719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CCCA4991-6C6F-9C0A-D7EC-B36E45CEB9FB}"/>
              </a:ext>
            </a:extLst>
          </p:cNvPr>
          <p:cNvSpPr txBox="1"/>
          <p:nvPr/>
        </p:nvSpPr>
        <p:spPr>
          <a:xfrm>
            <a:off x="7268596" y="1953387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B17DE37B-A689-E37C-D2FE-D0D53F00C7B4}"/>
              </a:ext>
            </a:extLst>
          </p:cNvPr>
          <p:cNvCxnSpPr/>
          <p:nvPr/>
        </p:nvCxnSpPr>
        <p:spPr>
          <a:xfrm flipV="1">
            <a:off x="7946265" y="4181874"/>
            <a:ext cx="798490" cy="51891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A809993A-ED20-65D2-29E8-C49C37E19B47}"/>
              </a:ext>
            </a:extLst>
          </p:cNvPr>
          <p:cNvCxnSpPr>
            <a:cxnSpLocks/>
          </p:cNvCxnSpPr>
          <p:nvPr/>
        </p:nvCxnSpPr>
        <p:spPr>
          <a:xfrm>
            <a:off x="7946265" y="5303243"/>
            <a:ext cx="643943" cy="95631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5" name="Image 64">
            <a:extLst>
              <a:ext uri="{FF2B5EF4-FFF2-40B4-BE49-F238E27FC236}">
                <a16:creationId xmlns:a16="http://schemas.microsoft.com/office/drawing/2014/main" id="{CCAB2E6D-00A4-CC28-692D-D595DAA42D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1895" y="2517618"/>
            <a:ext cx="3812959" cy="2812792"/>
          </a:xfrm>
          <a:prstGeom prst="rect">
            <a:avLst/>
          </a:prstGeom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EBCA16C2-4BA6-2802-6DCD-949779A40715}"/>
              </a:ext>
            </a:extLst>
          </p:cNvPr>
          <p:cNvSpPr txBox="1"/>
          <p:nvPr/>
        </p:nvSpPr>
        <p:spPr>
          <a:xfrm>
            <a:off x="4385665" y="3858709"/>
            <a:ext cx="16164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fwhm_instr_7ps = 2.9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1F61B89-5EC9-37D9-50C2-C3D5CAC72E64}"/>
              </a:ext>
            </a:extLst>
          </p:cNvPr>
          <p:cNvSpPr/>
          <p:nvPr/>
        </p:nvSpPr>
        <p:spPr>
          <a:xfrm>
            <a:off x="4002231" y="4700789"/>
            <a:ext cx="3944034" cy="6128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" name="Image 70">
            <a:extLst>
              <a:ext uri="{FF2B5EF4-FFF2-40B4-BE49-F238E27FC236}">
                <a16:creationId xmlns:a16="http://schemas.microsoft.com/office/drawing/2014/main" id="{42D53BCA-5339-C7FD-3EF3-E6046805C5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48279" y="4102050"/>
            <a:ext cx="3013119" cy="236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766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8E358-78B2-81EE-5225-84261E911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1ACC567-E438-6C26-B853-684D5E6316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1D436C0-7275-1A5D-F070-11E5FE5DE3E0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9CC29A4C-C51C-98F5-1B11-E9FFE2460E5D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55283D9F-6180-1F91-B1A0-85D55292510F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B12CA6E2-1FC2-E22D-8816-2FA1D7A8A72F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C0B37200-47B2-145D-EFF8-297CB02BB059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246C139-9BA7-1EF0-D61B-C68D92F7ABF0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86B5E0CA-D9C4-7E9C-7480-E32B7965CA26}"/>
              </a:ext>
            </a:extLst>
          </p:cNvPr>
          <p:cNvSpPr txBox="1"/>
          <p:nvPr/>
        </p:nvSpPr>
        <p:spPr>
          <a:xfrm>
            <a:off x="6989216" y="956460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0.55</a:t>
            </a:r>
          </a:p>
        </p:txBody>
      </p:sp>
      <p:sp>
        <p:nvSpPr>
          <p:cNvPr id="43" name="Flèche : en arc 42">
            <a:extLst>
              <a:ext uri="{FF2B5EF4-FFF2-40B4-BE49-F238E27FC236}">
                <a16:creationId xmlns:a16="http://schemas.microsoft.com/office/drawing/2014/main" id="{941E4BFF-D7B6-F1E7-9497-8EF9145F14C3}"/>
              </a:ext>
            </a:extLst>
          </p:cNvPr>
          <p:cNvSpPr/>
          <p:nvPr/>
        </p:nvSpPr>
        <p:spPr>
          <a:xfrm rot="16200000" flipV="1">
            <a:off x="6702658" y="922479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517105A-A2C7-15FA-49B3-CE46C29BB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45" y="2102055"/>
            <a:ext cx="5041497" cy="3804178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56D17D3F-B7D2-AE48-46A6-D893034796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968" y="2102055"/>
            <a:ext cx="4680368" cy="3804178"/>
          </a:xfrm>
          <a:prstGeom prst="rect">
            <a:avLst/>
          </a:prstGeom>
        </p:spPr>
      </p:pic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55AD878F-03A6-4896-5392-BAB3E6296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5124052"/>
              </p:ext>
            </p:extLst>
          </p:nvPr>
        </p:nvGraphicFramePr>
        <p:xfrm>
          <a:off x="4842448" y="142465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4870A0F4-14E7-DC09-6AF6-8143AFE2A75A}"/>
              </a:ext>
            </a:extLst>
          </p:cNvPr>
          <p:cNvSpPr txBox="1"/>
          <p:nvPr/>
        </p:nvSpPr>
        <p:spPr>
          <a:xfrm>
            <a:off x="7126868" y="562922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0.55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9B672062-B83C-1B8A-175D-85D0D9127EFB}"/>
              </a:ext>
            </a:extLst>
          </p:cNvPr>
          <p:cNvSpPr txBox="1"/>
          <p:nvPr/>
        </p:nvSpPr>
        <p:spPr>
          <a:xfrm>
            <a:off x="7126868" y="1168973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0.73</a:t>
            </a:r>
          </a:p>
        </p:txBody>
      </p:sp>
      <p:sp>
        <p:nvSpPr>
          <p:cNvPr id="12" name="Flèche : en arc 11">
            <a:extLst>
              <a:ext uri="{FF2B5EF4-FFF2-40B4-BE49-F238E27FC236}">
                <a16:creationId xmlns:a16="http://schemas.microsoft.com/office/drawing/2014/main" id="{9909E1E9-1314-9F07-ABB5-61E6A884C906}"/>
              </a:ext>
            </a:extLst>
          </p:cNvPr>
          <p:cNvSpPr/>
          <p:nvPr/>
        </p:nvSpPr>
        <p:spPr>
          <a:xfrm rot="16200000" flipV="1">
            <a:off x="6857923" y="1153452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5" name="Flèche : en arc 14">
            <a:extLst>
              <a:ext uri="{FF2B5EF4-FFF2-40B4-BE49-F238E27FC236}">
                <a16:creationId xmlns:a16="http://schemas.microsoft.com/office/drawing/2014/main" id="{DB5BB741-AF93-B1BA-F392-33D7314A72B3}"/>
              </a:ext>
            </a:extLst>
          </p:cNvPr>
          <p:cNvSpPr/>
          <p:nvPr/>
        </p:nvSpPr>
        <p:spPr>
          <a:xfrm rot="16200000" flipV="1">
            <a:off x="6840310" y="528941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C472F4D5-4D73-5119-BF97-8E101A479E1B}"/>
              </a:ext>
            </a:extLst>
          </p:cNvPr>
          <p:cNvCxnSpPr>
            <a:cxnSpLocks/>
          </p:cNvCxnSpPr>
          <p:nvPr/>
        </p:nvCxnSpPr>
        <p:spPr>
          <a:xfrm>
            <a:off x="6560820" y="5425440"/>
            <a:ext cx="533177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E001F5E7-453E-56BA-9AB1-950D60F358AA}"/>
              </a:ext>
            </a:extLst>
          </p:cNvPr>
          <p:cNvSpPr txBox="1"/>
          <p:nvPr/>
        </p:nvSpPr>
        <p:spPr>
          <a:xfrm>
            <a:off x="11275116" y="5120640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SNR</a:t>
            </a:r>
          </a:p>
        </p:txBody>
      </p:sp>
    </p:spTree>
    <p:extLst>
      <p:ext uri="{BB962C8B-B14F-4D97-AF65-F5344CB8AC3E}">
        <p14:creationId xmlns:p14="http://schemas.microsoft.com/office/powerpoint/2010/main" val="120458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AFCEC-21E3-450E-DABC-B156E06CA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C274F36-5E28-52CA-CE23-60FB9DB0C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ABED340-FB77-779B-1703-73A17F3A5DD4}"/>
              </a:ext>
            </a:extLst>
          </p:cNvPr>
          <p:cNvSpPr txBox="1"/>
          <p:nvPr/>
        </p:nvSpPr>
        <p:spPr>
          <a:xfrm>
            <a:off x="10316308" y="212838"/>
            <a:ext cx="1356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dirty="0">
                <a:solidFill>
                  <a:schemeClr val="bg1"/>
                </a:solidFill>
              </a:rPr>
              <a:t>7ps</a:t>
            </a:r>
            <a:endParaRPr lang="fr-FR" sz="3600" dirty="0">
              <a:solidFill>
                <a:schemeClr val="bg1"/>
              </a:solidFill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7CE607F-9E43-5D43-E7CD-84CBDB011FF8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58A6C6CD-0E6D-A131-659E-72F68189E238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0DB29059-38A6-5B14-D210-4E71FC2B955B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9554DD00-FB48-6175-C876-CFAD1F746C5A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4DEDB0D4-76CF-CAE4-E541-F7F71096DAAE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ZoneTexte 3">
            <a:extLst>
              <a:ext uri="{FF2B5EF4-FFF2-40B4-BE49-F238E27FC236}">
                <a16:creationId xmlns:a16="http://schemas.microsoft.com/office/drawing/2014/main" id="{AE325897-C12F-8F38-A6D1-EAAD9BFEB76B}"/>
              </a:ext>
            </a:extLst>
          </p:cNvPr>
          <p:cNvSpPr txBox="1"/>
          <p:nvPr/>
        </p:nvSpPr>
        <p:spPr>
          <a:xfrm>
            <a:off x="1161412" y="2235336"/>
            <a:ext cx="7529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/>
              <a:t>2ps</a:t>
            </a:r>
            <a:r>
              <a:rPr lang="fr-FR" sz="1800"/>
              <a:t> - Fwhm_instr = 13.5 (14 mesuré)</a:t>
            </a:r>
            <a:endParaRPr lang="fr-FR" sz="18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49C109E-7144-A482-8127-541BD47E6E60}"/>
              </a:ext>
            </a:extLst>
          </p:cNvPr>
          <p:cNvSpPr txBox="1"/>
          <p:nvPr/>
        </p:nvSpPr>
        <p:spPr>
          <a:xfrm>
            <a:off x="7556310" y="2260893"/>
            <a:ext cx="6162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7ps</a:t>
            </a:r>
            <a:r>
              <a:rPr lang="fr-FR" sz="1800" dirty="0"/>
              <a:t> - </a:t>
            </a:r>
            <a:r>
              <a:rPr lang="fr-FR" sz="1800" dirty="0" err="1"/>
              <a:t>Fwhm_instr</a:t>
            </a:r>
            <a:r>
              <a:rPr lang="fr-FR" sz="1800" dirty="0"/>
              <a:t> = 2.8 (4.4 mesuré)</a:t>
            </a:r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BC06ABA-0842-6A65-37AC-99D1EB4FFB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212383"/>
              </p:ext>
            </p:extLst>
          </p:nvPr>
        </p:nvGraphicFramePr>
        <p:xfrm>
          <a:off x="4842448" y="142465"/>
          <a:ext cx="6930138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203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872645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214650">
                <a:tc>
                  <a:txBody>
                    <a:bodyPr/>
                    <a:lstStyle/>
                    <a:p>
                      <a:r>
                        <a:rPr lang="fr-FR" sz="1400" dirty="0"/>
                        <a:t>260708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/>
                        <a:t>Nu (cm-1)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err="1"/>
                        <a:t>FWHM_phase</a:t>
                      </a:r>
                      <a:r>
                        <a:rPr lang="fr-FR" sz="1400" dirty="0"/>
                        <a:t> (cm-1)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2ps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214650">
                <a:tc>
                  <a:txBody>
                    <a:bodyPr/>
                    <a:lstStyle/>
                    <a:p>
                      <a:r>
                        <a:rPr lang="fr-FR" sz="1400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F866398-A806-653E-A5F2-6A927DD97FA1}"/>
              </a:ext>
            </a:extLst>
          </p:cNvPr>
          <p:cNvSpPr txBox="1"/>
          <p:nvPr/>
        </p:nvSpPr>
        <p:spPr>
          <a:xfrm>
            <a:off x="7126868" y="562922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0.55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B2CBB44-D553-91FD-A10F-E08411E2039E}"/>
              </a:ext>
            </a:extLst>
          </p:cNvPr>
          <p:cNvSpPr txBox="1"/>
          <p:nvPr/>
        </p:nvSpPr>
        <p:spPr>
          <a:xfrm>
            <a:off x="7126868" y="1168973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x 0.73</a:t>
            </a:r>
          </a:p>
        </p:txBody>
      </p:sp>
      <p:sp>
        <p:nvSpPr>
          <p:cNvPr id="24" name="Flèche : en arc 23">
            <a:extLst>
              <a:ext uri="{FF2B5EF4-FFF2-40B4-BE49-F238E27FC236}">
                <a16:creationId xmlns:a16="http://schemas.microsoft.com/office/drawing/2014/main" id="{AEA51E0A-CA56-299C-4F8F-5F608D469169}"/>
              </a:ext>
            </a:extLst>
          </p:cNvPr>
          <p:cNvSpPr/>
          <p:nvPr/>
        </p:nvSpPr>
        <p:spPr>
          <a:xfrm rot="16200000" flipV="1">
            <a:off x="6857923" y="1153452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7" name="Flèche : en arc 26">
            <a:extLst>
              <a:ext uri="{FF2B5EF4-FFF2-40B4-BE49-F238E27FC236}">
                <a16:creationId xmlns:a16="http://schemas.microsoft.com/office/drawing/2014/main" id="{224FA0B0-B7A6-0B7B-7123-9BB44796EED4}"/>
              </a:ext>
            </a:extLst>
          </p:cNvPr>
          <p:cNvSpPr/>
          <p:nvPr/>
        </p:nvSpPr>
        <p:spPr>
          <a:xfrm rot="16200000" flipV="1">
            <a:off x="6840310" y="528941"/>
            <a:ext cx="302144" cy="400373"/>
          </a:xfrm>
          <a:prstGeom prst="circularArrow">
            <a:avLst>
              <a:gd name="adj1" fmla="val 0"/>
              <a:gd name="adj2" fmla="val 1142319"/>
              <a:gd name="adj3" fmla="val 21014151"/>
              <a:gd name="adj4" fmla="val 10800000"/>
              <a:gd name="adj5" fmla="val 125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6F3FCA81-CD47-C848-1208-11B7CD6DD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99" y="2749053"/>
            <a:ext cx="5805362" cy="3966482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565EC03B-9AF0-0AD1-E46A-821FD4DEB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978" y="2942589"/>
            <a:ext cx="5449608" cy="3730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4348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E2187-4F3B-4B31-73F9-4783A0A16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88CAB53-09BE-85C2-3EFF-A94A2A58B4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-56135" y="42488"/>
            <a:ext cx="5642924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4400" b="1" dirty="0"/>
              <a:t>2ps vs 7ps - 260708 </a:t>
            </a:r>
            <a:r>
              <a:rPr lang="fr-FR" sz="14400" b="1" dirty="0" err="1"/>
              <a:t>ACC_Cal</a:t>
            </a:r>
            <a:r>
              <a:rPr lang="fr-FR" sz="14400" b="1" dirty="0"/>
              <a:t>  </a:t>
            </a:r>
            <a:r>
              <a:rPr lang="fr-FR" sz="14400" b="1" dirty="0" err="1"/>
              <a:t>synt</a:t>
            </a:r>
            <a:r>
              <a:rPr lang="fr-FR" sz="144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58CF158-3DF0-2340-ADBA-EBBA950B4FD6}"/>
              </a:ext>
            </a:extLst>
          </p:cNvPr>
          <p:cNvCxnSpPr>
            <a:cxnSpLocks/>
          </p:cNvCxnSpPr>
          <p:nvPr/>
        </p:nvCxnSpPr>
        <p:spPr>
          <a:xfrm>
            <a:off x="10794844" y="2525818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ZoneTexte 34">
            <a:extLst>
              <a:ext uri="{FF2B5EF4-FFF2-40B4-BE49-F238E27FC236}">
                <a16:creationId xmlns:a16="http://schemas.microsoft.com/office/drawing/2014/main" id="{EEF961A4-7E3C-643D-DB5F-3A154493AE11}"/>
              </a:ext>
            </a:extLst>
          </p:cNvPr>
          <p:cNvSpPr txBox="1"/>
          <p:nvPr/>
        </p:nvSpPr>
        <p:spPr>
          <a:xfrm>
            <a:off x="10503789" y="2156486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0DB7F7A-934F-152D-6353-65F99A1AF02E}"/>
              </a:ext>
            </a:extLst>
          </p:cNvPr>
          <p:cNvCxnSpPr>
            <a:cxnSpLocks/>
          </p:cNvCxnSpPr>
          <p:nvPr/>
        </p:nvCxnSpPr>
        <p:spPr>
          <a:xfrm>
            <a:off x="2646758" y="3271077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ZoneTexte 36">
            <a:extLst>
              <a:ext uri="{FF2B5EF4-FFF2-40B4-BE49-F238E27FC236}">
                <a16:creationId xmlns:a16="http://schemas.microsoft.com/office/drawing/2014/main" id="{839A8725-4B0D-B4CF-E068-7BFA183B0CB0}"/>
              </a:ext>
            </a:extLst>
          </p:cNvPr>
          <p:cNvSpPr txBox="1"/>
          <p:nvPr/>
        </p:nvSpPr>
        <p:spPr>
          <a:xfrm>
            <a:off x="2355703" y="2901745"/>
            <a:ext cx="8178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50755FD-051A-9943-0A7E-E4FEA1D36B9E}"/>
              </a:ext>
            </a:extLst>
          </p:cNvPr>
          <p:cNvCxnSpPr>
            <a:cxnSpLocks/>
          </p:cNvCxnSpPr>
          <p:nvPr/>
        </p:nvCxnSpPr>
        <p:spPr>
          <a:xfrm>
            <a:off x="6871344" y="2533441"/>
            <a:ext cx="23574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C21E3483-4461-B5B2-99A6-174DDFA3D464}"/>
              </a:ext>
            </a:extLst>
          </p:cNvPr>
          <p:cNvSpPr txBox="1"/>
          <p:nvPr/>
        </p:nvSpPr>
        <p:spPr>
          <a:xfrm>
            <a:off x="127453" y="1043115"/>
            <a:ext cx="38259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2ps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13.6 (14 mesuré)</a:t>
            </a:r>
          </a:p>
          <a:p>
            <a:r>
              <a:rPr lang="fr-FR" dirty="0"/>
              <a:t>params.roi1 = [90 95 100 105];</a:t>
            </a:r>
          </a:p>
          <a:p>
            <a:r>
              <a:rPr lang="fr-FR" dirty="0"/>
              <a:t>params.roi2 = [23 30 60 69];</a:t>
            </a:r>
          </a:p>
          <a:p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F52A7A6-EE50-53EF-9161-4BE2C0063DE9}"/>
              </a:ext>
            </a:extLst>
          </p:cNvPr>
          <p:cNvSpPr txBox="1"/>
          <p:nvPr/>
        </p:nvSpPr>
        <p:spPr>
          <a:xfrm>
            <a:off x="8569618" y="1273948"/>
            <a:ext cx="3719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7ps</a:t>
            </a:r>
            <a:r>
              <a:rPr lang="fr-FR" dirty="0"/>
              <a:t> - </a:t>
            </a:r>
            <a:r>
              <a:rPr lang="fr-FR" dirty="0" err="1"/>
              <a:t>Fwhm_instr</a:t>
            </a:r>
            <a:r>
              <a:rPr lang="fr-FR" dirty="0"/>
              <a:t> = 2.8 (4.4 mesuré)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4AADD12-669F-A5C2-DEA8-EC677A4E2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827" y="283247"/>
            <a:ext cx="2168173" cy="184246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E13496F-44C2-A9D3-6B53-A63622766E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0733" y="270769"/>
            <a:ext cx="2168174" cy="1854939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57598D47-D75E-0986-28CF-A2CACDC2A8F9}"/>
              </a:ext>
            </a:extLst>
          </p:cNvPr>
          <p:cNvSpPr txBox="1"/>
          <p:nvPr/>
        </p:nvSpPr>
        <p:spPr>
          <a:xfrm>
            <a:off x="4187600" y="1489392"/>
            <a:ext cx="6314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2ps</a:t>
            </a:r>
            <a:endParaRPr lang="fr-FR" dirty="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78E3CB6F-C239-6C51-25B5-8852F0DE8E59}"/>
              </a:ext>
            </a:extLst>
          </p:cNvPr>
          <p:cNvSpPr txBox="1"/>
          <p:nvPr/>
        </p:nvSpPr>
        <p:spPr>
          <a:xfrm>
            <a:off x="6520180" y="1501654"/>
            <a:ext cx="627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7ps</a:t>
            </a:r>
            <a:endParaRPr lang="fr-FR" dirty="0"/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F8A26505-58B9-C9B7-A30A-5F46BA503239}"/>
              </a:ext>
            </a:extLst>
          </p:cNvPr>
          <p:cNvCxnSpPr/>
          <p:nvPr/>
        </p:nvCxnSpPr>
        <p:spPr>
          <a:xfrm>
            <a:off x="6167120" y="42488"/>
            <a:ext cx="0" cy="65513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Image 2">
            <a:extLst>
              <a:ext uri="{FF2B5EF4-FFF2-40B4-BE49-F238E27FC236}">
                <a16:creationId xmlns:a16="http://schemas.microsoft.com/office/drawing/2014/main" id="{9710F4D7-3DA5-54E9-7DB9-684414AF8F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81" y="2168024"/>
            <a:ext cx="5794045" cy="395875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DD2C914-B3E8-691E-0587-6088A0F5F138}"/>
              </a:ext>
            </a:extLst>
          </p:cNvPr>
          <p:cNvSpPr txBox="1"/>
          <p:nvPr/>
        </p:nvSpPr>
        <p:spPr>
          <a:xfrm>
            <a:off x="2837206" y="2081791"/>
            <a:ext cx="6314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2ps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3DA0DB6-B8E3-DA7F-63D0-912DF3E670D7}"/>
              </a:ext>
            </a:extLst>
          </p:cNvPr>
          <p:cNvSpPr txBox="1"/>
          <p:nvPr/>
        </p:nvSpPr>
        <p:spPr>
          <a:xfrm>
            <a:off x="4775361" y="2330631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2,9</a:t>
            </a:r>
          </a:p>
        </p:txBody>
      </p:sp>
      <p:sp>
        <p:nvSpPr>
          <p:cNvPr id="15" name="Flèche : en arc 14">
            <a:extLst>
              <a:ext uri="{FF2B5EF4-FFF2-40B4-BE49-F238E27FC236}">
                <a16:creationId xmlns:a16="http://schemas.microsoft.com/office/drawing/2014/main" id="{3E7AB9BA-F7B7-B572-6D19-F5E2B3612DF6}"/>
              </a:ext>
            </a:extLst>
          </p:cNvPr>
          <p:cNvSpPr/>
          <p:nvPr/>
        </p:nvSpPr>
        <p:spPr>
          <a:xfrm rot="16200000" flipV="1">
            <a:off x="4796536" y="2586736"/>
            <a:ext cx="431800" cy="433577"/>
          </a:xfrm>
          <a:prstGeom prst="circularArrow">
            <a:avLst>
              <a:gd name="adj1" fmla="val 15894"/>
              <a:gd name="adj2" fmla="val 1092206"/>
              <a:gd name="adj3" fmla="val 4078263"/>
              <a:gd name="adj4" fmla="val 16590273"/>
              <a:gd name="adj5" fmla="val 171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85C2AB93-89B1-A45B-A25D-16AF865174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0733" y="2209572"/>
            <a:ext cx="5803812" cy="396542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9E024EA-4CFA-F3C4-BAAF-755E43E9B1F6}"/>
              </a:ext>
            </a:extLst>
          </p:cNvPr>
          <p:cNvSpPr txBox="1"/>
          <p:nvPr/>
        </p:nvSpPr>
        <p:spPr>
          <a:xfrm>
            <a:off x="8899337" y="2018749"/>
            <a:ext cx="6517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7ps</a:t>
            </a:r>
            <a:endParaRPr lang="fr-FR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9C1A6241-95B0-E381-2D96-0AFF00E70251}"/>
              </a:ext>
            </a:extLst>
          </p:cNvPr>
          <p:cNvSpPr txBox="1"/>
          <p:nvPr/>
        </p:nvSpPr>
        <p:spPr>
          <a:xfrm>
            <a:off x="11098032" y="220957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</a:t>
            </a:r>
          </a:p>
        </p:txBody>
      </p:sp>
      <p:sp>
        <p:nvSpPr>
          <p:cNvPr id="30" name="Flèche : en arc 29">
            <a:extLst>
              <a:ext uri="{FF2B5EF4-FFF2-40B4-BE49-F238E27FC236}">
                <a16:creationId xmlns:a16="http://schemas.microsoft.com/office/drawing/2014/main" id="{9317CBBB-A39E-C0F7-0B10-7AC5567CA952}"/>
              </a:ext>
            </a:extLst>
          </p:cNvPr>
          <p:cNvSpPr/>
          <p:nvPr/>
        </p:nvSpPr>
        <p:spPr>
          <a:xfrm rot="16200000" flipV="1">
            <a:off x="11119207" y="2465677"/>
            <a:ext cx="431800" cy="433577"/>
          </a:xfrm>
          <a:prstGeom prst="circularArrow">
            <a:avLst>
              <a:gd name="adj1" fmla="val 15894"/>
              <a:gd name="adj2" fmla="val 1092206"/>
              <a:gd name="adj3" fmla="val 4078263"/>
              <a:gd name="adj4" fmla="val 16590273"/>
              <a:gd name="adj5" fmla="val 171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058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094050-C3E1-6B51-F4C2-E83A884E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187325"/>
            <a:ext cx="3733800" cy="1325563"/>
          </a:xfrm>
        </p:spPr>
        <p:txBody>
          <a:bodyPr/>
          <a:lstStyle/>
          <a:p>
            <a:r>
              <a:rPr lang="fr-FR" dirty="0"/>
              <a:t>Littérature </a:t>
            </a:r>
            <a:r>
              <a:rPr lang="fr-FR" dirty="0" err="1"/>
              <a:t>Vatérite</a:t>
            </a:r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783EC50-7CB4-6D09-4513-3D5E9D14E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84" y="503237"/>
            <a:ext cx="6894298" cy="609646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E1B607D-033F-CDF7-A873-4C0EA84E1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18" y="1379265"/>
            <a:ext cx="4667901" cy="389626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04E5764F-3EF7-BB49-E6B4-EE2F8F73D686}"/>
              </a:ext>
            </a:extLst>
          </p:cNvPr>
          <p:cNvSpPr txBox="1"/>
          <p:nvPr/>
        </p:nvSpPr>
        <p:spPr>
          <a:xfrm>
            <a:off x="314900" y="5399376"/>
            <a:ext cx="46679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Wehrmeister, U., et al. (2010).</a:t>
            </a:r>
            <a:r>
              <a:rPr lang="fr-FR" dirty="0"/>
              <a:t> </a:t>
            </a:r>
            <a:r>
              <a:rPr lang="fr-FR" i="1" dirty="0"/>
              <a:t>Raman </a:t>
            </a:r>
            <a:r>
              <a:rPr lang="fr-FR" i="1" dirty="0" err="1"/>
              <a:t>spectroscopy</a:t>
            </a:r>
            <a:r>
              <a:rPr lang="fr-FR" i="1" dirty="0"/>
              <a:t> of </a:t>
            </a:r>
            <a:r>
              <a:rPr lang="fr-FR" i="1" dirty="0" err="1"/>
              <a:t>synthetic</a:t>
            </a:r>
            <a:r>
              <a:rPr lang="fr-FR" i="1" dirty="0"/>
              <a:t>, </a:t>
            </a:r>
            <a:r>
              <a:rPr lang="fr-FR" i="1" dirty="0" err="1"/>
              <a:t>geological</a:t>
            </a:r>
            <a:r>
              <a:rPr lang="fr-FR" i="1" dirty="0"/>
              <a:t> and </a:t>
            </a:r>
            <a:r>
              <a:rPr lang="fr-FR" i="1" dirty="0" err="1"/>
              <a:t>biological</a:t>
            </a:r>
            <a:r>
              <a:rPr lang="fr-FR" i="1" dirty="0"/>
              <a:t> </a:t>
            </a:r>
            <a:r>
              <a:rPr lang="fr-FR" i="1" dirty="0" err="1"/>
              <a:t>vaterite</a:t>
            </a:r>
            <a:r>
              <a:rPr lang="fr-FR" i="1" dirty="0"/>
              <a:t>: a Raman </a:t>
            </a:r>
            <a:r>
              <a:rPr lang="fr-FR" i="1" dirty="0" err="1"/>
              <a:t>spectroscopic</a:t>
            </a:r>
            <a:r>
              <a:rPr lang="fr-FR" i="1" dirty="0"/>
              <a:t> </a:t>
            </a:r>
            <a:r>
              <a:rPr lang="fr-FR" i="1" dirty="0" err="1"/>
              <a:t>study</a:t>
            </a:r>
            <a:r>
              <a:rPr lang="fr-FR" i="1" dirty="0"/>
              <a:t>.</a:t>
            </a:r>
            <a:r>
              <a:rPr lang="fr-FR" dirty="0"/>
              <a:t> Journal of Raman </a:t>
            </a:r>
            <a:r>
              <a:rPr lang="fr-FR" dirty="0" err="1"/>
              <a:t>Spectroscopy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8146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991801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9800" b="1" dirty="0"/>
              <a:t>7ps 260527 </a:t>
            </a:r>
            <a:r>
              <a:rPr lang="fr-FR" sz="9800" b="1" dirty="0" err="1"/>
              <a:t>Vatérite</a:t>
            </a:r>
            <a:r>
              <a:rPr lang="fr-FR" sz="98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271907" y="134227"/>
            <a:ext cx="2452255" cy="2213264"/>
            <a:chOff x="5341683" y="134227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341683" y="134227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511536" y="396776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8082996" y="98978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Résultat du fit :</a:t>
            </a:r>
          </a:p>
          <a:p>
            <a:r>
              <a:rPr lang="fr-FR" dirty="0"/>
              <a:t>Phase VAT : </a:t>
            </a:r>
            <a:r>
              <a:rPr lang="fr-FR" dirty="0" err="1"/>
              <a:t>A_fit</a:t>
            </a:r>
            <a:r>
              <a:rPr lang="fr-FR" dirty="0"/>
              <a:t> = 1099</a:t>
            </a:r>
          </a:p>
          <a:p>
            <a:pPr lvl="1"/>
            <a:r>
              <a:rPr lang="fr-FR" dirty="0"/>
              <a:t>- Raie 1 : nu = 1074.23 cm^-1</a:t>
            </a:r>
          </a:p>
          <a:p>
            <a:pPr lvl="1"/>
            <a:r>
              <a:rPr lang="fr-FR" dirty="0"/>
              <a:t>- Raie 2 : nu = 1080.78 cm^-1</a:t>
            </a:r>
          </a:p>
          <a:p>
            <a:pPr lvl="1"/>
            <a:r>
              <a:rPr lang="fr-FR" dirty="0"/>
              <a:t>- Raie 3 : nu = 1090.09 cm^-1</a:t>
            </a:r>
          </a:p>
          <a:p>
            <a:pPr lvl="1"/>
            <a:r>
              <a:rPr lang="fr-FR" dirty="0"/>
              <a:t>- FWHM 1 : FWHM = 3.04 cm^-1</a:t>
            </a:r>
          </a:p>
          <a:p>
            <a:pPr lvl="1"/>
            <a:r>
              <a:rPr lang="fr-FR" dirty="0"/>
              <a:t>- FWHM 2 : FWHM = 2.85 cm^-1</a:t>
            </a:r>
          </a:p>
          <a:p>
            <a:pPr lvl="1"/>
            <a:r>
              <a:rPr lang="fr-FR" dirty="0"/>
              <a:t>- FWHM 3 : FWHM = 5.34 cm^-1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ADD10F0-082C-C897-2B4A-03B69E1FAB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9059" y="120637"/>
            <a:ext cx="3083858" cy="266131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204C8965-24CB-7543-BBD7-BEA8F0CC02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159" y="3241800"/>
            <a:ext cx="4810837" cy="36475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EEAA211-7761-C6A0-C575-018FBD2A64F3}"/>
              </a:ext>
            </a:extLst>
          </p:cNvPr>
          <p:cNvSpPr txBox="1"/>
          <p:nvPr/>
        </p:nvSpPr>
        <p:spPr>
          <a:xfrm>
            <a:off x="8103701" y="531699"/>
            <a:ext cx="6915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Ratio_model</a:t>
            </a:r>
            <a:r>
              <a:rPr lang="fr-FR" sz="1800" b="0" i="0" dirty="0">
                <a:effectLst/>
                <a:latin typeface="+mn-lt"/>
              </a:rPr>
              <a:t>  = [0.</a:t>
            </a:r>
            <a:r>
              <a:rPr lang="fr-FR" dirty="0"/>
              <a:t>45</a:t>
            </a:r>
            <a:r>
              <a:rPr lang="fr-FR" sz="1800" b="0" i="0" dirty="0">
                <a:effectLst/>
                <a:latin typeface="+mn-lt"/>
              </a:rPr>
              <a:t> 0.28 1];</a:t>
            </a:r>
            <a:endParaRPr lang="fr-FR" sz="1000" b="0" i="0" dirty="0">
              <a:effectLst/>
              <a:latin typeface="Menl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DC988D3-4A8E-4F05-4433-1C2C49DF3A9D}"/>
              </a:ext>
            </a:extLst>
          </p:cNvPr>
          <p:cNvCxnSpPr>
            <a:cxnSpLocks/>
          </p:cNvCxnSpPr>
          <p:nvPr/>
        </p:nvCxnSpPr>
        <p:spPr>
          <a:xfrm flipH="1">
            <a:off x="6953557" y="5162550"/>
            <a:ext cx="18859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76A598A4-EFDF-3026-4EBE-E2F973B8129E}"/>
              </a:ext>
            </a:extLst>
          </p:cNvPr>
          <p:cNvCxnSpPr>
            <a:cxnSpLocks/>
          </p:cNvCxnSpPr>
          <p:nvPr/>
        </p:nvCxnSpPr>
        <p:spPr>
          <a:xfrm flipH="1">
            <a:off x="6953557" y="5543550"/>
            <a:ext cx="23002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ZoneTexte 16">
            <a:extLst>
              <a:ext uri="{FF2B5EF4-FFF2-40B4-BE49-F238E27FC236}">
                <a16:creationId xmlns:a16="http://schemas.microsoft.com/office/drawing/2014/main" id="{5F1BCEAE-002A-2322-9958-AA9906002CFB}"/>
              </a:ext>
            </a:extLst>
          </p:cNvPr>
          <p:cNvSpPr txBox="1"/>
          <p:nvPr/>
        </p:nvSpPr>
        <p:spPr>
          <a:xfrm>
            <a:off x="6953557" y="4890317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0.5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359C2B4-5BDD-6DE2-BB45-1605F4D0971D}"/>
              </a:ext>
            </a:extLst>
          </p:cNvPr>
          <p:cNvSpPr txBox="1"/>
          <p:nvPr/>
        </p:nvSpPr>
        <p:spPr>
          <a:xfrm>
            <a:off x="6953557" y="5273453"/>
            <a:ext cx="5277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0.35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D3426EC-6C24-C29D-3F81-489FCF5E37F2}"/>
              </a:ext>
            </a:extLst>
          </p:cNvPr>
          <p:cNvSpPr txBox="1"/>
          <p:nvPr/>
        </p:nvSpPr>
        <p:spPr>
          <a:xfrm>
            <a:off x="7236926" y="3863350"/>
            <a:ext cx="17335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Synthetic samples made by Clémentine </a:t>
            </a:r>
            <a:endParaRPr lang="fr-FR" sz="1200" dirty="0"/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23E67255-8E4E-FCF7-24FD-E15D5CBB93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999" y="2674973"/>
            <a:ext cx="5612088" cy="418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96017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Résultat du fit :</a:t>
            </a:r>
            <a:endParaRPr lang="fr-FR" dirty="0"/>
          </a:p>
          <a:p>
            <a:r>
              <a:rPr lang="fr-FR" dirty="0"/>
              <a:t>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411C5946-A1DA-EA54-03BF-41CD8F4A62DE}"/>
              </a:ext>
            </a:extLst>
          </p:cNvPr>
          <p:cNvSpPr txBox="1"/>
          <p:nvPr/>
        </p:nvSpPr>
        <p:spPr>
          <a:xfrm>
            <a:off x="7735221" y="350359"/>
            <a:ext cx="69151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0" i="0" dirty="0" err="1">
                <a:effectLst/>
                <a:latin typeface="+mn-lt"/>
              </a:rPr>
              <a:t>Ratio_model</a:t>
            </a:r>
            <a:r>
              <a:rPr lang="fr-FR" sz="1800" b="0" i="0" dirty="0">
                <a:effectLst/>
                <a:latin typeface="+mn-lt"/>
              </a:rPr>
              <a:t>  = </a:t>
            </a:r>
            <a:r>
              <a:rPr lang="fr-FR" dirty="0" err="1"/>
              <a:t>Ratio_model</a:t>
            </a:r>
            <a:r>
              <a:rPr lang="fr-FR" dirty="0"/>
              <a:t>  = [0.45 0.28 1];</a:t>
            </a:r>
            <a:endParaRPr lang="fr-FR" sz="1000" dirty="0">
              <a:latin typeface="Menlo"/>
            </a:endParaRPr>
          </a:p>
          <a:p>
            <a:pPr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2A440E2-92CF-63E0-F44E-A6C5F9230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1568" y="3520983"/>
            <a:ext cx="4329242" cy="322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80D06B2-3A39-A7EA-39B3-2D541710C4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164" y="519852"/>
            <a:ext cx="3285038" cy="2834931"/>
          </a:xfrm>
          <a:prstGeom prst="rect">
            <a:avLst/>
          </a:prstGeom>
        </p:spPr>
      </p:pic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29D9301C-BCC8-4484-2215-72068124C9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4354" y="547217"/>
            <a:ext cx="3316567" cy="2834929"/>
          </a:xfrm>
          <a:prstGeom prst="rect">
            <a:avLst/>
          </a:prstGeom>
        </p:spPr>
      </p:pic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18A2CC17-881E-46D2-1119-1D2267C9AD36}"/>
              </a:ext>
            </a:extLst>
          </p:cNvPr>
          <p:cNvSpPr txBox="1"/>
          <p:nvPr/>
        </p:nvSpPr>
        <p:spPr>
          <a:xfrm>
            <a:off x="7334464" y="493888"/>
            <a:ext cx="2725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860C8DED-F8F2-12B9-6698-4BA150B67D75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pic>
        <p:nvPicPr>
          <p:cNvPr id="49" name="Image 48">
            <a:extLst>
              <a:ext uri="{FF2B5EF4-FFF2-40B4-BE49-F238E27FC236}">
                <a16:creationId xmlns:a16="http://schemas.microsoft.com/office/drawing/2014/main" id="{FA64098B-3BB6-6163-17D1-5AC444B862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9256" y="3391248"/>
            <a:ext cx="4634613" cy="3428999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0C462D07-659F-D0B3-5D2E-58686917F766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age 6">
            <a:extLst>
              <a:ext uri="{FF2B5EF4-FFF2-40B4-BE49-F238E27FC236}">
                <a16:creationId xmlns:a16="http://schemas.microsoft.com/office/drawing/2014/main" id="{6EC3BC9E-E21B-FACB-01FB-2273A4B59E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5229" y="3375190"/>
            <a:ext cx="4639415" cy="345803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45E8E25-8A8C-88B0-2E1E-6EF2DDC9B162}"/>
              </a:ext>
            </a:extLst>
          </p:cNvPr>
          <p:cNvSpPr txBox="1"/>
          <p:nvPr/>
        </p:nvSpPr>
        <p:spPr>
          <a:xfrm>
            <a:off x="5901332" y="3935366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720610" y="986283"/>
            <a:ext cx="1106926" cy="30777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92" y="-39193"/>
            <a:ext cx="4228769" cy="1102043"/>
          </a:xfrm>
        </p:spPr>
        <p:txBody>
          <a:bodyPr>
            <a:normAutofit fontScale="90000"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466E450-D8CF-B6F6-8F60-46F20EE2AA07}"/>
              </a:ext>
            </a:extLst>
          </p:cNvPr>
          <p:cNvSpPr txBox="1"/>
          <p:nvPr/>
        </p:nvSpPr>
        <p:spPr>
          <a:xfrm>
            <a:off x="7854741" y="176293"/>
            <a:ext cx="4129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>
                <a:effectLst/>
                <a:latin typeface="+mn-lt"/>
              </a:rPr>
              <a:t>R2_min= 0.7;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threshold_sigma</a:t>
            </a:r>
            <a:r>
              <a:rPr lang="fr-FR" sz="1800" b="0" i="0" dirty="0">
                <a:effectLst/>
                <a:latin typeface="+mn-lt"/>
              </a:rPr>
              <a:t>= 4;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min_points_above_threshold</a:t>
            </a:r>
            <a:r>
              <a:rPr lang="fr-FR" sz="1800" b="0" i="0" dirty="0">
                <a:effectLst/>
                <a:latin typeface="+mn-lt"/>
              </a:rPr>
              <a:t> = 2;</a:t>
            </a:r>
            <a:endParaRPr lang="fr-FR" sz="1000" dirty="0">
              <a:latin typeface="Menlo"/>
            </a:endParaRPr>
          </a:p>
          <a:p>
            <a:pPr>
              <a:buNone/>
            </a:pPr>
            <a:r>
              <a:rPr lang="fr-FR" b="0" i="0" dirty="0">
                <a:effectLst/>
              </a:rPr>
              <a:t>ACC if A(ACC)</a:t>
            </a:r>
            <a:r>
              <a:rPr lang="fr-FR" dirty="0"/>
              <a:t>&gt;</a:t>
            </a:r>
            <a:r>
              <a:rPr lang="el-GR" b="1" dirty="0"/>
              <a:t> Γ </a:t>
            </a:r>
            <a:r>
              <a:rPr lang="fr-FR" dirty="0"/>
              <a:t>A(ARA) : </a:t>
            </a:r>
            <a:endParaRPr lang="fr-FR" b="0" i="0" dirty="0">
              <a:effectLst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9D11103-695B-3024-1C6D-F47BFAAFB0F0}"/>
              </a:ext>
            </a:extLst>
          </p:cNvPr>
          <p:cNvSpPr txBox="1"/>
          <p:nvPr/>
        </p:nvSpPr>
        <p:spPr>
          <a:xfrm>
            <a:off x="2440219" y="4229466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8A4E8F01-7786-EB05-F512-E4BE96383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961" y="1730640"/>
            <a:ext cx="6430296" cy="4951067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F540607-8E94-51BE-EA96-3459967929E7}"/>
              </a:ext>
            </a:extLst>
          </p:cNvPr>
          <p:cNvSpPr txBox="1"/>
          <p:nvPr/>
        </p:nvSpPr>
        <p:spPr>
          <a:xfrm>
            <a:off x="5934811" y="1108213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0.3</a:t>
            </a:r>
            <a:endParaRPr lang="fr-FR" sz="3600" dirty="0"/>
          </a:p>
        </p:txBody>
      </p:sp>
      <p:pic>
        <p:nvPicPr>
          <p:cNvPr id="38" name="Image 37">
            <a:extLst>
              <a:ext uri="{FF2B5EF4-FFF2-40B4-BE49-F238E27FC236}">
                <a16:creationId xmlns:a16="http://schemas.microsoft.com/office/drawing/2014/main" id="{F4FB9592-0A2C-262E-73A0-8D307CCD49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936" y="4206173"/>
            <a:ext cx="2348921" cy="2403723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84BFEE20-1A7B-9DF1-2BD5-14265479D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407" y="1753932"/>
            <a:ext cx="4951067" cy="495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F2D21-8650-8347-724F-73A9B2027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F25FD2-DBE2-1AE5-1DD0-E78B71C0E1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92" y="-39193"/>
            <a:ext cx="4228769" cy="1102043"/>
          </a:xfrm>
        </p:spPr>
        <p:txBody>
          <a:bodyPr>
            <a:normAutofit fontScale="90000"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1201683-A6E2-DA1A-6F3C-9FF4BB29345E}"/>
              </a:ext>
            </a:extLst>
          </p:cNvPr>
          <p:cNvSpPr txBox="1"/>
          <p:nvPr/>
        </p:nvSpPr>
        <p:spPr>
          <a:xfrm>
            <a:off x="7854741" y="176293"/>
            <a:ext cx="4129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>
                <a:effectLst/>
                <a:latin typeface="+mn-lt"/>
              </a:rPr>
              <a:t>R2_min= 0.6;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threshold_sigma</a:t>
            </a:r>
            <a:r>
              <a:rPr lang="fr-FR" sz="1800" b="0" i="0" dirty="0">
                <a:effectLst/>
                <a:latin typeface="+mn-lt"/>
              </a:rPr>
              <a:t>= 5;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min_points_above_threshold</a:t>
            </a:r>
            <a:r>
              <a:rPr lang="fr-FR" sz="1800" b="0" i="0" dirty="0">
                <a:effectLst/>
                <a:latin typeface="+mn-lt"/>
              </a:rPr>
              <a:t> = 1;</a:t>
            </a:r>
            <a:endParaRPr lang="fr-FR" sz="1000" dirty="0">
              <a:latin typeface="Menlo"/>
            </a:endParaRPr>
          </a:p>
          <a:p>
            <a:pPr>
              <a:buNone/>
            </a:pPr>
            <a:r>
              <a:rPr lang="fr-FR" b="0" i="0" dirty="0">
                <a:effectLst/>
              </a:rPr>
              <a:t>ACC if A(ACC)</a:t>
            </a:r>
            <a:r>
              <a:rPr lang="fr-FR" dirty="0"/>
              <a:t>&gt;</a:t>
            </a:r>
            <a:r>
              <a:rPr lang="el-GR" b="1" dirty="0"/>
              <a:t> Γ </a:t>
            </a:r>
            <a:r>
              <a:rPr lang="fr-FR" dirty="0"/>
              <a:t>A(ARA) : </a:t>
            </a:r>
            <a:endParaRPr lang="fr-FR" b="0" i="0" dirty="0">
              <a:effectLst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B06930DA-75E6-A3E0-D427-8BD281D61CEB}"/>
              </a:ext>
            </a:extLst>
          </p:cNvPr>
          <p:cNvSpPr txBox="1"/>
          <p:nvPr/>
        </p:nvSpPr>
        <p:spPr>
          <a:xfrm>
            <a:off x="2440219" y="4229466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8479CCB4-4B16-AC36-74EF-246979F5D6DF}"/>
              </a:ext>
            </a:extLst>
          </p:cNvPr>
          <p:cNvSpPr txBox="1"/>
          <p:nvPr/>
        </p:nvSpPr>
        <p:spPr>
          <a:xfrm>
            <a:off x="5934811" y="1108213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4B22361-16C2-4105-86A7-D99B555162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852" y="1730639"/>
            <a:ext cx="6430297" cy="495106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A06BB75-A387-B7AC-582E-324F601DFE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6936" y="4206173"/>
            <a:ext cx="2348921" cy="2403723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BA1163F-7C0A-DCA9-40E0-F4D2AEDB3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" y="2069035"/>
            <a:ext cx="5361313" cy="432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4596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124" y="5970445"/>
            <a:ext cx="3795089" cy="342930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2587953" y="636831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/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>
                                  <a:latin typeface="Cambria Math" panose="02040503050406030204" pitchFamily="18" charset="0"/>
                                </a:rPr>
                                <m:t>bckg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𝑔𝑙𝑜𝑏𝑎𝑙</m:t>
                              </m:r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𝑚𝑒𝑑𝑖𝑎𝑛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bckg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e>
                          </m:d>
                          <m:r>
                            <a:rPr lang="fr-FR" i="0">
                              <a:latin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i="0">
                                      <a:latin typeface="Cambria Math" panose="02040503050406030204" pitchFamily="18" charset="0"/>
                                    </a:rPr>
                                    <m:t>pixel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i="0">
                                  <a:latin typeface="Cambria Math" panose="02040503050406030204" pitchFamily="18" charset="0"/>
                                </a:rPr>
                                <m:t>norm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" name="ZoneTexte 3">
                <a:extLst>
                  <a:ext uri="{FF2B5EF4-FFF2-40B4-BE49-F238E27FC236}">
                    <a16:creationId xmlns:a16="http://schemas.microsoft.com/office/drawing/2014/main" id="{40B2F10B-A698-6B4F-117E-3D8795514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213" y="6163169"/>
                <a:ext cx="4529864" cy="74392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Image 37">
            <a:extLst>
              <a:ext uri="{FF2B5EF4-FFF2-40B4-BE49-F238E27FC236}">
                <a16:creationId xmlns:a16="http://schemas.microsoft.com/office/drawing/2014/main" id="{77038095-0C63-BECE-D691-A76481F7AE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5321" y="894477"/>
            <a:ext cx="4385470" cy="3038633"/>
          </a:xfrm>
          <a:prstGeom prst="rect">
            <a:avLst/>
          </a:prstGeom>
        </p:spPr>
      </p:pic>
      <p:sp>
        <p:nvSpPr>
          <p:cNvPr id="45" name="ZoneTexte 44">
            <a:extLst>
              <a:ext uri="{FF2B5EF4-FFF2-40B4-BE49-F238E27FC236}">
                <a16:creationId xmlns:a16="http://schemas.microsoft.com/office/drawing/2014/main" id="{215F6BBA-5800-85BC-4EB8-57FE1744128B}"/>
              </a:ext>
            </a:extLst>
          </p:cNvPr>
          <p:cNvSpPr txBox="1"/>
          <p:nvPr/>
        </p:nvSpPr>
        <p:spPr>
          <a:xfrm>
            <a:off x="6122199" y="881615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51" name="Image 50">
            <a:extLst>
              <a:ext uri="{FF2B5EF4-FFF2-40B4-BE49-F238E27FC236}">
                <a16:creationId xmlns:a16="http://schemas.microsoft.com/office/drawing/2014/main" id="{532B0F14-BFAF-46A5-DADC-77B8D8103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9198" y="57150"/>
            <a:ext cx="2574970" cy="2133600"/>
          </a:xfrm>
          <a:prstGeom prst="rect">
            <a:avLst/>
          </a:prstGeom>
        </p:spPr>
      </p:pic>
      <p:pic>
        <p:nvPicPr>
          <p:cNvPr id="55" name="Image 54">
            <a:extLst>
              <a:ext uri="{FF2B5EF4-FFF2-40B4-BE49-F238E27FC236}">
                <a16:creationId xmlns:a16="http://schemas.microsoft.com/office/drawing/2014/main" id="{7794AED1-CB30-929D-5394-D7710D9EE0F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5068" y="209729"/>
            <a:ext cx="2249594" cy="2302079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130BA088-E1B1-1228-614D-1FA57CEED740}"/>
              </a:ext>
            </a:extLst>
          </p:cNvPr>
          <p:cNvSpPr/>
          <p:nvPr/>
        </p:nvSpPr>
        <p:spPr>
          <a:xfrm>
            <a:off x="10965577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C171DE6-B199-8FC8-C1BA-616F1E5000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7338" y="949417"/>
            <a:ext cx="4385470" cy="2986227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3F59D664-4384-0A91-5F02-B26D906223FA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126B16F2-C620-F247-DFEF-CC36C3753D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749702"/>
              </p:ext>
            </p:extLst>
          </p:nvPr>
        </p:nvGraphicFramePr>
        <p:xfrm>
          <a:off x="432124" y="4041069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02574-0FD6-5DB8-C1D3-59435D5BE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0643B-1886-FF0D-DF59-6866F737E0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492" y="-39193"/>
            <a:ext cx="4228769" cy="1102043"/>
          </a:xfrm>
        </p:spPr>
        <p:txBody>
          <a:bodyPr>
            <a:normAutofit fontScale="90000"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9A7D0108-0A74-3F29-49FC-7BDD36E85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3FEF3777-39D9-0ACB-5130-C35A29C99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D8DFE135-A058-36D9-0874-F8FF2F1DC9D7}"/>
              </a:ext>
            </a:extLst>
          </p:cNvPr>
          <p:cNvGraphicFramePr>
            <a:graphicFrameLocks noGrp="1"/>
          </p:cNvGraphicFramePr>
          <p:nvPr/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94A46883-FDB9-9FD8-FEBF-355FAF6A91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975" y="2734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B9C9E9BE-EA6B-0545-D29F-BC1B94D2F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82" y="2355901"/>
            <a:ext cx="2633006" cy="2399675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391B4962-DF03-B9E3-3DF4-B9111DBA0C24}"/>
              </a:ext>
            </a:extLst>
          </p:cNvPr>
          <p:cNvSpPr txBox="1"/>
          <p:nvPr/>
        </p:nvSpPr>
        <p:spPr>
          <a:xfrm>
            <a:off x="208186" y="1003108"/>
            <a:ext cx="41290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0" i="0" dirty="0">
                <a:effectLst/>
                <a:latin typeface="+mn-lt"/>
              </a:rPr>
              <a:t>R2_min= 0.7;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threshold_sigma</a:t>
            </a:r>
            <a:r>
              <a:rPr lang="fr-FR" sz="1800" b="0" i="0" dirty="0">
                <a:effectLst/>
                <a:latin typeface="+mn-lt"/>
              </a:rPr>
              <a:t>= 4;</a:t>
            </a:r>
          </a:p>
          <a:p>
            <a:pPr>
              <a:buNone/>
            </a:pPr>
            <a:r>
              <a:rPr lang="fr-FR" sz="1800" b="0" i="0" dirty="0" err="1">
                <a:effectLst/>
                <a:latin typeface="+mn-lt"/>
              </a:rPr>
              <a:t>min_points_above_threshold</a:t>
            </a:r>
            <a:r>
              <a:rPr lang="fr-FR" sz="1800" b="0" i="0" dirty="0">
                <a:effectLst/>
                <a:latin typeface="+mn-lt"/>
              </a:rPr>
              <a:t> = 2;</a:t>
            </a:r>
            <a:endParaRPr lang="fr-FR" sz="1000" dirty="0">
              <a:latin typeface="Menlo"/>
            </a:endParaRPr>
          </a:p>
          <a:p>
            <a:pPr>
              <a:buNone/>
            </a:pPr>
            <a:r>
              <a:rPr lang="fr-FR" b="0" i="0" dirty="0">
                <a:effectLst/>
              </a:rPr>
              <a:t>ACC if A(ACC)</a:t>
            </a:r>
            <a:r>
              <a:rPr lang="fr-FR" dirty="0"/>
              <a:t>&gt;</a:t>
            </a:r>
            <a:r>
              <a:rPr lang="el-GR" b="1" dirty="0"/>
              <a:t> Γ </a:t>
            </a:r>
            <a:r>
              <a:rPr lang="fr-FR" dirty="0"/>
              <a:t>A(ARA) : </a:t>
            </a:r>
            <a:endParaRPr lang="fr-FR" b="0" i="0" dirty="0">
              <a:effectLst/>
            </a:endParaRP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2677524C-3F44-380B-40FD-CF997ED73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6722" y="2373137"/>
            <a:ext cx="2633006" cy="2399675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575EF9A4-CCD2-0B21-683F-1108A9995C95}"/>
              </a:ext>
            </a:extLst>
          </p:cNvPr>
          <p:cNvSpPr txBox="1"/>
          <p:nvPr/>
        </p:nvSpPr>
        <p:spPr>
          <a:xfrm>
            <a:off x="2440219" y="4229466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1</a:t>
            </a:r>
            <a:endParaRPr lang="fr-FR" sz="36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F5EAF23F-C2F9-0B05-40E0-5AB9D6A6CEF2}"/>
              </a:ext>
            </a:extLst>
          </p:cNvPr>
          <p:cNvSpPr txBox="1"/>
          <p:nvPr/>
        </p:nvSpPr>
        <p:spPr>
          <a:xfrm>
            <a:off x="5508610" y="4178835"/>
            <a:ext cx="61367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3600" b="1" dirty="0"/>
              <a:t>Γ</a:t>
            </a:r>
            <a:r>
              <a:rPr lang="fr-FR" sz="3600" b="1" dirty="0"/>
              <a:t> = 0.3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16057195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76E5D-4190-529A-5917-3C388F837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re 1">
            <a:extLst>
              <a:ext uri="{FF2B5EF4-FFF2-40B4-BE49-F238E27FC236}">
                <a16:creationId xmlns:a16="http://schemas.microsoft.com/office/drawing/2014/main" id="{D72EF94C-0EC5-D2E2-02A6-B9B407ECB0EA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SET UP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288B82A-EF9C-6BC9-A226-30318BAD4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224" y="749189"/>
            <a:ext cx="8588963" cy="572895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41FF4CBA-A37B-BD0E-60D8-4E013A9B9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00" y="4306035"/>
            <a:ext cx="2986087" cy="2069365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458D6092-BA06-98CF-684A-4DF85B21A5A7}"/>
              </a:ext>
            </a:extLst>
          </p:cNvPr>
          <p:cNvSpPr txBox="1"/>
          <p:nvPr/>
        </p:nvSpPr>
        <p:spPr>
          <a:xfrm>
            <a:off x="1906229" y="1100902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(a)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4DD409B-EAFF-7D13-C41D-329167A7DB1A}"/>
              </a:ext>
            </a:extLst>
          </p:cNvPr>
          <p:cNvSpPr txBox="1"/>
          <p:nvPr/>
        </p:nvSpPr>
        <p:spPr>
          <a:xfrm>
            <a:off x="7050818" y="4018626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3272969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3877F7A5-2012-13C3-0B80-230A693285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49" y="2746608"/>
            <a:ext cx="4641851" cy="3787247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6F89898-4AB0-EF64-4A34-E549BE231E12}"/>
              </a:ext>
            </a:extLst>
          </p:cNvPr>
          <p:cNvCxnSpPr>
            <a:cxnSpLocks/>
          </p:cNvCxnSpPr>
          <p:nvPr/>
        </p:nvCxnSpPr>
        <p:spPr>
          <a:xfrm>
            <a:off x="3263900" y="2476500"/>
            <a:ext cx="0" cy="15748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F83EF46B-F202-A2A4-7F28-19DD64F6DA70}"/>
              </a:ext>
            </a:extLst>
          </p:cNvPr>
          <p:cNvCxnSpPr>
            <a:cxnSpLocks/>
          </p:cNvCxnSpPr>
          <p:nvPr/>
        </p:nvCxnSpPr>
        <p:spPr>
          <a:xfrm>
            <a:off x="4610100" y="2476500"/>
            <a:ext cx="0" cy="15748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34678B02-012F-D2E2-A243-F561461BEEAC}"/>
              </a:ext>
            </a:extLst>
          </p:cNvPr>
          <p:cNvSpPr txBox="1"/>
          <p:nvPr/>
        </p:nvSpPr>
        <p:spPr>
          <a:xfrm>
            <a:off x="3089274" y="1546279"/>
            <a:ext cx="18549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      ~98 pixels </a:t>
            </a:r>
          </a:p>
          <a:p>
            <a:r>
              <a:rPr lang="fr-FR" dirty="0">
                <a:highlight>
                  <a:srgbClr val="FFFF00"/>
                </a:highlight>
              </a:rPr>
              <a:t>148                    250</a:t>
            </a:r>
          </a:p>
          <a:p>
            <a:r>
              <a:rPr lang="fr-FR" dirty="0">
                <a:highlight>
                  <a:srgbClr val="00FFFF"/>
                </a:highlight>
              </a:rPr>
              <a:t>152                    245</a:t>
            </a:r>
          </a:p>
          <a:p>
            <a:pPr marL="342900" indent="-342900">
              <a:buAutoNum type="arabicPlain" startAt="148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9507812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1887</Words>
  <Application>Microsoft Office PowerPoint</Application>
  <PresentationFormat>Grand écran</PresentationFormat>
  <Paragraphs>530</Paragraphs>
  <Slides>28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Google Sans Text</vt:lpstr>
      <vt:lpstr>Menlo</vt:lpstr>
      <vt:lpstr>Play</vt:lpstr>
      <vt:lpstr>Wingdings</vt:lpstr>
      <vt:lpstr>Thème Office</vt:lpstr>
      <vt:lpstr>Meeting 15/10/26</vt:lpstr>
      <vt:lpstr>Modèle Analytique – Réponse instrumentale </vt:lpstr>
      <vt:lpstr>Présentation PowerPoint</vt:lpstr>
      <vt:lpstr>Présentation PowerPoint</vt:lpstr>
      <vt:lpstr>Présentation PowerPoint</vt:lpstr>
      <vt:lpstr>Chirp – Calcul de FWHM_instr</vt:lpstr>
      <vt:lpstr>Modèle Carbonates </vt:lpstr>
      <vt:lpstr>ACC + cal 260626</vt:lpstr>
      <vt:lpstr>ACC + cal 260626</vt:lpstr>
      <vt:lpstr>ACC + cal 260626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Littérature Vatérite 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7ps (#4 stressed)</vt:lpstr>
      <vt:lpstr>Corals 260715 2ps vs 7ps (#4 stressed)</vt:lpstr>
      <vt:lpstr>Corals 260715 2ps vs 7ps (#4 stressed)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BUCOURT Sacha</cp:lastModifiedBy>
  <cp:revision>76</cp:revision>
  <dcterms:created xsi:type="dcterms:W3CDTF">2026-07-01T11:56:10Z</dcterms:created>
  <dcterms:modified xsi:type="dcterms:W3CDTF">2026-10-29T13:40:04Z</dcterms:modified>
</cp:coreProperties>
</file>
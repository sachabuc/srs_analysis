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365" r:id="rId2"/>
    <p:sldId id="357" r:id="rId3"/>
    <p:sldId id="376" r:id="rId4"/>
    <p:sldId id="327" r:id="rId5"/>
    <p:sldId id="377" r:id="rId6"/>
    <p:sldId id="366" r:id="rId7"/>
    <p:sldId id="328" r:id="rId8"/>
    <p:sldId id="281" r:id="rId9"/>
    <p:sldId id="379" r:id="rId10"/>
    <p:sldId id="378" r:id="rId11"/>
    <p:sldId id="375" r:id="rId12"/>
    <p:sldId id="364" r:id="rId13"/>
    <p:sldId id="370" r:id="rId14"/>
    <p:sldId id="368" r:id="rId15"/>
    <p:sldId id="374" r:id="rId16"/>
    <p:sldId id="343" r:id="rId17"/>
    <p:sldId id="342" r:id="rId18"/>
    <p:sldId id="355" r:id="rId19"/>
    <p:sldId id="341" r:id="rId20"/>
    <p:sldId id="353" r:id="rId21"/>
    <p:sldId id="373" r:id="rId22"/>
    <p:sldId id="372" r:id="rId23"/>
    <p:sldId id="358" r:id="rId24"/>
    <p:sldId id="352" r:id="rId25"/>
    <p:sldId id="345" r:id="rId26"/>
    <p:sldId id="346" r:id="rId27"/>
    <p:sldId id="347" r:id="rId28"/>
    <p:sldId id="351" r:id="rId29"/>
    <p:sldId id="362" r:id="rId3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65"/>
            <p14:sldId id="357"/>
            <p14:sldId id="376"/>
            <p14:sldId id="327"/>
            <p14:sldId id="377"/>
            <p14:sldId id="366"/>
            <p14:sldId id="328"/>
          </p14:sldIdLst>
        </p14:section>
        <p14:section name="Synthétique" id="{56AC251D-6E5C-4CFE-9930-84BF4168610A}">
          <p14:sldIdLst>
            <p14:sldId id="281"/>
            <p14:sldId id="379"/>
            <p14:sldId id="378"/>
            <p14:sldId id="375"/>
            <p14:sldId id="364"/>
            <p14:sldId id="370"/>
            <p14:sldId id="368"/>
            <p14:sldId id="374"/>
            <p14:sldId id="343"/>
            <p14:sldId id="342"/>
            <p14:sldId id="355"/>
            <p14:sldId id="341"/>
          </p14:sldIdLst>
        </p14:section>
        <p14:section name="Corail" id="{CCA9B34D-82CD-4298-BF9C-03A0026B73BF}">
          <p14:sldIdLst>
            <p14:sldId id="353"/>
            <p14:sldId id="373"/>
            <p14:sldId id="372"/>
            <p14:sldId id="358"/>
            <p14:sldId id="352"/>
            <p14:sldId id="345"/>
            <p14:sldId id="346"/>
            <p14:sldId id="347"/>
            <p14:sldId id="351"/>
          </p14:sldIdLst>
        </p14:section>
        <p14:section name="Section sans titre" id="{3A39EE99-5470-4380-A4A0-54DB7E0D4CAB}">
          <p14:sldIdLst>
            <p14:sldId id="3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0695" autoAdjust="0"/>
  </p:normalViewPr>
  <p:slideViewPr>
    <p:cSldViewPr snapToGrid="0">
      <p:cViewPr varScale="1">
        <p:scale>
          <a:sx n="74" d="100"/>
          <a:sy n="74" d="100"/>
        </p:scale>
        <p:origin x="54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9334E-B37A-1991-1181-E2FD1CCD8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EDA703-96FB-009C-48DB-0BBA489D6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18DE024-2608-4939-49EC-EA50540114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904B5A1-AE2C-145E-072C-DFF14DFC01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7498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906B0-7B89-677B-086C-40A3495CB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156835E-9D78-F50E-EBC3-F2C3F30335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4AD446C-CDA2-C39F-FFA7-6E7EF441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C0B852E-46E6-1992-01EC-32A2F364B1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25161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C995-A49C-A864-65C1-8EC2701E9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035EC71-5CAE-7FF7-FBA4-162BA04B7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9032CC-A38B-1DCF-8475-D10500F078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9282108-0956-3445-0B24-1B507D8EF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57689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39BBD24F-692B-1823-3924-100E6AA34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4C0EAD0E-5524-2247-D6F1-769DB9217B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207149AB-3A81-D403-D28E-F326651C55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94303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372F6DEB-E320-82EB-07AD-164505E03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DABD5A6D-D954-2007-879F-47F8BC202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848F3B87-580B-D6DB-60A1-38F09C3921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5044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BEAA4-C176-8967-0CE0-67A8F289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7BF31E-9C97-5A6E-197D-95D19BB715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EC671E4-EC2A-9BC8-C9F2-9ACF7C98F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52800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9E1A0-C20A-69B7-7C5C-084936591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3AFEAB-78D1-F6A3-A93C-FA1065C48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EA34F73-B02F-13F2-1061-54EE3D704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583072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153BE-3759-D484-6CA9-4A9F9A109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08FA0A3-5D9D-189D-88AB-E05203E4E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781F072-2DDC-79C6-A686-36D9EAC692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534043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A5A1-83EF-9B4E-4946-E3ED9912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B449450-14F3-75D1-D237-51530CD8D5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FBF2E36-8340-6813-9131-29A3FDF7F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657615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56857-888C-6C75-C92B-B03C7A097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7D8FBE8-4319-E36F-9550-12C124533E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E89B380-B6CF-A06B-1667-7083A8A75C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09826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3B081-6170-0216-B951-F26A13A4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E117AC-2C58-D5AD-9834-64528129C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CA76E7-A5B9-57C4-BBCD-D204ADC18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92299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emf"/><Relationship Id="rId4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8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49.png"/><Relationship Id="rId4" Type="http://schemas.openxmlformats.org/officeDocument/2006/relationships/image" Target="../media/image5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73.png"/><Relationship Id="rId12" Type="http://schemas.openxmlformats.org/officeDocument/2006/relationships/image" Target="../media/image72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71.png"/><Relationship Id="rId10" Type="http://schemas.openxmlformats.org/officeDocument/2006/relationships/image" Target="../media/image70.png"/><Relationship Id="rId9" Type="http://schemas.openxmlformats.org/officeDocument/2006/relationships/image" Target="../media/image69.png"/><Relationship Id="rId14" Type="http://schemas.openxmlformats.org/officeDocument/2006/relationships/image" Target="../media/image6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60.png"/><Relationship Id="rId7" Type="http://schemas.openxmlformats.org/officeDocument/2006/relationships/image" Target="../media/image82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4CF142-CFD7-B7CC-FE6F-6C90E1D5C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sz="6600" dirty="0"/>
              <a:t>Meeting 15/10/26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272E99-2EE9-A533-5089-4563357E7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arenR"/>
            </a:pPr>
            <a:r>
              <a:rPr lang="fr-FR" dirty="0"/>
              <a:t>Modèle </a:t>
            </a:r>
          </a:p>
          <a:p>
            <a:pPr marL="914400" lvl="1" indent="-457200">
              <a:buAutoNum type="alphaLcParenR"/>
            </a:pPr>
            <a:r>
              <a:rPr lang="fr-FR" dirty="0"/>
              <a:t>Convolution Carbonate*Instrument</a:t>
            </a:r>
          </a:p>
          <a:p>
            <a:pPr marL="914400" lvl="1" indent="-457200">
              <a:buAutoNum type="alphaLcParenR"/>
            </a:pPr>
            <a:r>
              <a:rPr lang="fr-FR" dirty="0"/>
              <a:t>Carbonate</a:t>
            </a:r>
          </a:p>
          <a:p>
            <a:pPr marL="0" indent="0">
              <a:buNone/>
            </a:pPr>
            <a:r>
              <a:rPr lang="fr-FR" dirty="0"/>
              <a:t>2) Expérimentale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sz="2400" dirty="0"/>
              <a:t>a) fit sur A </a:t>
            </a:r>
            <a:endParaRPr lang="fr-FR" dirty="0"/>
          </a:p>
          <a:p>
            <a:pPr marL="0" indent="0">
              <a:buNone/>
            </a:pPr>
            <a:r>
              <a:rPr lang="fr-FR" sz="2400" dirty="0"/>
              <a:t>	b) ACC</a:t>
            </a:r>
          </a:p>
          <a:p>
            <a:pPr marL="0" indent="0">
              <a:buNone/>
            </a:pPr>
            <a:r>
              <a:rPr lang="fr-FR" sz="2400" dirty="0"/>
              <a:t>	c) </a:t>
            </a:r>
            <a:r>
              <a:rPr lang="fr-FR" sz="2400" dirty="0" err="1"/>
              <a:t>Vatérite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r>
              <a:rPr lang="fr-FR" sz="2400" dirty="0"/>
              <a:t>	d) Coral </a:t>
            </a:r>
          </a:p>
          <a:p>
            <a:pPr marL="0" indent="0">
              <a:buNone/>
            </a:pPr>
            <a:r>
              <a:rPr lang="fr-FR" sz="2400" dirty="0"/>
              <a:t>	e) Set up schéma 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7379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D7D0A-6800-5AFA-0949-D51649AD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6B4E47-D5C7-37D3-48AA-BA3E08DCFB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33" y="759951"/>
            <a:ext cx="12132253" cy="1109663"/>
          </a:xfrm>
        </p:spPr>
        <p:txBody>
          <a:bodyPr>
            <a:noAutofit/>
          </a:bodyPr>
          <a:lstStyle/>
          <a:p>
            <a:pPr algn="l"/>
            <a:r>
              <a:rPr lang="fr-FR" dirty="0"/>
              <a:t>Modèle Analytique – Réponse instrumentale 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FC56DEF-E294-D35F-CCFB-2EBC3229E95D}"/>
              </a:ext>
            </a:extLst>
          </p:cNvPr>
          <p:cNvSpPr txBox="1"/>
          <p:nvPr/>
        </p:nvSpPr>
        <p:spPr>
          <a:xfrm>
            <a:off x="354591" y="2101276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5B35C7C-DA44-44DB-75DA-26DE0C964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959" y="4656756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3B64A33-04C0-97F6-2621-4CEEB7AF9A99}"/>
              </a:ext>
            </a:extLst>
          </p:cNvPr>
          <p:cNvSpPr txBox="1"/>
          <p:nvPr/>
        </p:nvSpPr>
        <p:spPr>
          <a:xfrm>
            <a:off x="354591" y="4770214"/>
            <a:ext cx="22957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Analytiquement, on obtient  : 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643ED664-BE51-59EF-C7FD-268571150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904" y="3408638"/>
            <a:ext cx="3628333" cy="72396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3A88E15-A6E0-CAA9-E728-E406F7A76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2069" y="4709171"/>
            <a:ext cx="3482642" cy="723963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FC21EAF7-E6A7-3359-A999-736F4B176E27}"/>
              </a:ext>
            </a:extLst>
          </p:cNvPr>
          <p:cNvSpPr txBox="1"/>
          <p:nvPr/>
        </p:nvSpPr>
        <p:spPr>
          <a:xfrm>
            <a:off x="7269784" y="4886485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avec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86DBBB8-E232-4BC7-AF00-E8868A9820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1770" y="1931762"/>
            <a:ext cx="4391638" cy="102884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D813ACC-28C5-A386-3CD4-DB8784B914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883" y="6009704"/>
            <a:ext cx="4885774" cy="68068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C1BDB23-B0C2-E086-EF08-E009F4FBB6A5}"/>
              </a:ext>
            </a:extLst>
          </p:cNvPr>
          <p:cNvSpPr txBox="1"/>
          <p:nvPr/>
        </p:nvSpPr>
        <p:spPr>
          <a:xfrm>
            <a:off x="6022228" y="6165378"/>
            <a:ext cx="5814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</a:t>
            </a: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17DFF50-4BB4-A928-9FC1-A9EBD118C1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2061" y="5941952"/>
            <a:ext cx="5115639" cy="7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863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7EEB5-1062-1066-9A79-94EC214AD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6212662-4500-D3A2-4F4D-6BD8FBAE7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5591448"/>
              </p:ext>
            </p:extLst>
          </p:nvPr>
        </p:nvGraphicFramePr>
        <p:xfrm>
          <a:off x="275087" y="55380"/>
          <a:ext cx="11641826" cy="300513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FWHM_déconvolué</a:t>
                      </a:r>
                      <a:r>
                        <a:rPr lang="fr-FR" sz="1800" b="1" dirty="0">
                          <a:solidFill>
                            <a:srgbClr val="FF0000"/>
                          </a:solidFill>
                        </a:rPr>
                        <a:t>*</a:t>
                      </a:r>
                      <a:r>
                        <a:rPr lang="fr-FR" sz="1800" b="1" dirty="0"/>
                        <a:t> (cm-1)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7.9,(?),8.0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390908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7D8F0D75-FB2B-86ED-D89C-0513FD4780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9176" y="4957840"/>
            <a:ext cx="2969041" cy="181611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33A3323-B4CA-4F19-8207-7E0BA4EAA4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1141" y="4986506"/>
            <a:ext cx="2974988" cy="181611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AB1FE7F-1D7B-C59D-743A-097751D608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6311" y="3092824"/>
            <a:ext cx="2979818" cy="181611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B728679D-5885-EA54-22E9-68061D97FE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1840" y="3092823"/>
            <a:ext cx="2991248" cy="181611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6F904BA3-CCA8-965B-28A8-A1C0B87CBC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7332" y="4981956"/>
            <a:ext cx="2955756" cy="1816114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039AE003-3C0E-03FC-A59C-CE44BD7475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752" y="3092824"/>
            <a:ext cx="2988465" cy="1816114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B399BB2-16A4-1128-5D81-CB38381BA13A}"/>
              </a:ext>
            </a:extLst>
          </p:cNvPr>
          <p:cNvSpPr txBox="1"/>
          <p:nvPr/>
        </p:nvSpPr>
        <p:spPr>
          <a:xfrm>
            <a:off x="3329953" y="3342156"/>
            <a:ext cx="10962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8C12AE49-5629-CBCE-F28A-9CABCBD062A6}"/>
              </a:ext>
            </a:extLst>
          </p:cNvPr>
          <p:cNvSpPr txBox="1"/>
          <p:nvPr/>
        </p:nvSpPr>
        <p:spPr>
          <a:xfrm>
            <a:off x="3235302" y="5045998"/>
            <a:ext cx="12855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96ACB4C2-81BD-CCD7-C0CA-3F18AB8AB21B}"/>
              </a:ext>
            </a:extLst>
          </p:cNvPr>
          <p:cNvSpPr txBox="1"/>
          <p:nvPr/>
        </p:nvSpPr>
        <p:spPr>
          <a:xfrm>
            <a:off x="6320931" y="3141725"/>
            <a:ext cx="13543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 err="1"/>
              <a:t>Vaterite</a:t>
            </a:r>
            <a:r>
              <a:rPr lang="fr-FR" sz="1800" b="1" dirty="0"/>
              <a:t>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33C771D-3E6B-9EAA-68DC-7853041F7E09}"/>
              </a:ext>
            </a:extLst>
          </p:cNvPr>
          <p:cNvSpPr txBox="1"/>
          <p:nvPr/>
        </p:nvSpPr>
        <p:spPr>
          <a:xfrm>
            <a:off x="6297578" y="4957839"/>
            <a:ext cx="12364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ACC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9982C5B4-0063-BA8E-CDEA-3F4D9A14D34A}"/>
              </a:ext>
            </a:extLst>
          </p:cNvPr>
          <p:cNvSpPr txBox="1"/>
          <p:nvPr/>
        </p:nvSpPr>
        <p:spPr>
          <a:xfrm>
            <a:off x="9420890" y="3141724"/>
            <a:ext cx="1226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845752BE-8719-BF8F-5EB8-6D91D8ABE7A5}"/>
              </a:ext>
            </a:extLst>
          </p:cNvPr>
          <p:cNvSpPr txBox="1"/>
          <p:nvPr/>
        </p:nvSpPr>
        <p:spPr>
          <a:xfrm>
            <a:off x="9420890" y="4981956"/>
            <a:ext cx="1177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45BD7D45-8747-6B5D-CDE9-7307D7919174}"/>
              </a:ext>
            </a:extLst>
          </p:cNvPr>
          <p:cNvSpPr txBox="1"/>
          <p:nvPr/>
        </p:nvSpPr>
        <p:spPr>
          <a:xfrm>
            <a:off x="145888" y="3600887"/>
            <a:ext cx="2728612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(</a:t>
            </a:r>
            <a:r>
              <a:rPr lang="fr-FR" sz="1400" b="1" dirty="0">
                <a:solidFill>
                  <a:srgbClr val="FF0000"/>
                </a:solidFill>
              </a:rPr>
              <a:t>*</a:t>
            </a:r>
            <a:r>
              <a:rPr lang="fr-FR" sz="1400" dirty="0"/>
              <a:t>) déconvolué par la </a:t>
            </a:r>
            <a:r>
              <a:rPr lang="fr-FR" sz="1400" i="1" dirty="0"/>
              <a:t>résolution théorique maximale</a:t>
            </a:r>
            <a:r>
              <a:rPr lang="fr-FR" sz="1400" b="1" dirty="0">
                <a:solidFill>
                  <a:srgbClr val="FF0000"/>
                </a:solidFill>
              </a:rPr>
              <a:t> </a:t>
            </a:r>
            <a:r>
              <a:rPr lang="fr-FR" sz="1400" dirty="0"/>
              <a:t>du </a:t>
            </a:r>
            <a:r>
              <a:rPr lang="fr-FR" sz="1400" dirty="0" err="1"/>
              <a:t>raman</a:t>
            </a:r>
            <a:r>
              <a:rPr lang="fr-FR" sz="1400" dirty="0"/>
              <a:t> spontané :</a:t>
            </a:r>
          </a:p>
          <a:p>
            <a:r>
              <a:rPr lang="fr-FR" sz="1400" dirty="0"/>
              <a:t>Paramètres : </a:t>
            </a:r>
          </a:p>
          <a:p>
            <a:r>
              <a:rPr lang="fr-FR" sz="1200" dirty="0"/>
              <a:t> - </a:t>
            </a:r>
            <a:r>
              <a:rPr lang="fr-FR" sz="1200" dirty="0" err="1"/>
              <a:t>grating</a:t>
            </a:r>
            <a:r>
              <a:rPr lang="fr-FR" sz="1200" dirty="0"/>
              <a:t> : 1800 (500nm)</a:t>
            </a:r>
            <a:br>
              <a:rPr lang="fr-FR" sz="1400" dirty="0"/>
            </a:br>
            <a:r>
              <a:rPr lang="fr-FR" sz="1200" dirty="0"/>
              <a:t> - Laser : 532nm_Edge</a:t>
            </a:r>
            <a:br>
              <a:rPr lang="fr-FR" sz="1400" dirty="0"/>
            </a:br>
            <a:r>
              <a:rPr lang="fr-FR" sz="1400" dirty="0"/>
              <a:t> </a:t>
            </a:r>
            <a:r>
              <a:rPr lang="fr-FR" sz="1200" dirty="0"/>
              <a:t>- objectif x20</a:t>
            </a:r>
            <a:endParaRPr lang="fr-FR" sz="1400" dirty="0"/>
          </a:p>
          <a:p>
            <a:endParaRPr lang="fr-FR" sz="1400" dirty="0"/>
          </a:p>
          <a:p>
            <a:r>
              <a:rPr lang="fr-FR" sz="14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4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4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:</a:t>
            </a:r>
            <a:br>
              <a:rPr lang="fr-FR" sz="1400" dirty="0"/>
            </a:br>
            <a:r>
              <a:rPr lang="fr-FR" sz="1400" dirty="0"/>
              <a:t>- </a:t>
            </a:r>
            <a:r>
              <a:rPr lang="fr-FR" sz="14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4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4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400" b="1" i="0" dirty="0">
                <a:solidFill>
                  <a:srgbClr val="FF0000"/>
                </a:solidFill>
                <a:effectLst/>
                <a:latin typeface="+mn-lt"/>
              </a:rPr>
              <a:t>*</a:t>
            </a:r>
            <a:r>
              <a:rPr lang="fr-FR" sz="14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39973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78329"/>
              </p:ext>
            </p:extLst>
          </p:nvPr>
        </p:nvGraphicFramePr>
        <p:xfrm>
          <a:off x="161332" y="120634"/>
          <a:ext cx="11854659" cy="337089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2041171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345873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FWHM_déconvolué</a:t>
                      </a:r>
                      <a:r>
                        <a:rPr lang="fr-FR" sz="1800" b="1" dirty="0">
                          <a:solidFill>
                            <a:srgbClr val="FF0000"/>
                          </a:solidFill>
                        </a:rPr>
                        <a:t>*</a:t>
                      </a:r>
                      <a:r>
                        <a:rPr lang="fr-FR" sz="1800" b="1" dirty="0"/>
                        <a:t> (cm-1)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7.9,(?),8.0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3909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FWHM_mes</a:t>
                      </a:r>
                      <a:r>
                        <a:rPr lang="fr-FR" sz="1800" b="1" dirty="0"/>
                        <a:t> (2ps)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9.9,10.7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9.9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[11.2,14.2]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11.9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432442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FWHM_instr</a:t>
                      </a:r>
                      <a:r>
                        <a:rPr lang="fr-FR" sz="1800" b="1" dirty="0"/>
                        <a:t> (2ps)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9.3,10.2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9.3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[9.5,12.9]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8082062"/>
                  </a:ext>
                </a:extLst>
              </a:tr>
            </a:tbl>
          </a:graphicData>
        </a:graphic>
      </p:graphicFrame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275087" y="4099524"/>
            <a:ext cx="81551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sz="2000" dirty="0"/>
          </a:p>
          <a:p>
            <a:endParaRPr lang="fr-FR" sz="2000" dirty="0"/>
          </a:p>
        </p:txBody>
      </p:sp>
      <p:pic>
        <p:nvPicPr>
          <p:cNvPr id="6" name="Google Shape;437;g3c6a03a50ee_0_9" descr="Une image contenant ligne, Tracé, diagramme, texte&#10;&#10;Le contenu généré par l’IA peut être incorrect.">
            <a:extLst>
              <a:ext uri="{FF2B5EF4-FFF2-40B4-BE49-F238E27FC236}">
                <a16:creationId xmlns:a16="http://schemas.microsoft.com/office/drawing/2014/main" id="{A9B27FD1-03E1-089E-3647-3E700E2433E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00319" y="4068637"/>
            <a:ext cx="3243982" cy="2668729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537;g3c74465a41f_0_22" descr="Une image contenant Tracé, ligne, diagramme, texte&#10;&#10;Le contenu généré par l’IA peut être incorrect.">
            <a:extLst>
              <a:ext uri="{FF2B5EF4-FFF2-40B4-BE49-F238E27FC236}">
                <a16:creationId xmlns:a16="http://schemas.microsoft.com/office/drawing/2014/main" id="{052FC4A3-EC60-D8AD-3094-ABE5B634659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1332" y="4068637"/>
            <a:ext cx="1976562" cy="10547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48;g3c74465a41f_0_29" descr="Une image contenant Tracé, diagramme, ligne, texte&#10;&#10;Le contenu généré par l’IA peut être incorrect.">
            <a:extLst>
              <a:ext uri="{FF2B5EF4-FFF2-40B4-BE49-F238E27FC236}">
                <a16:creationId xmlns:a16="http://schemas.microsoft.com/office/drawing/2014/main" id="{40BA4DF6-66EC-E159-9705-B223B932C19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428128" y="4079119"/>
            <a:ext cx="1976562" cy="11096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3220CAB5-C90F-C306-7446-02438A3968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9723" y="5513004"/>
            <a:ext cx="1976562" cy="1326320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0582A296-CE69-703E-F7DC-02EC8661F3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9723" y="4044657"/>
            <a:ext cx="1976562" cy="1310146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7C4DF38D-2063-C3F1-CD7C-F456FF66C7D2}"/>
              </a:ext>
            </a:extLst>
          </p:cNvPr>
          <p:cNvSpPr txBox="1"/>
          <p:nvPr/>
        </p:nvSpPr>
        <p:spPr>
          <a:xfrm>
            <a:off x="4831724" y="365508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0C8A6379-5204-05E3-495F-21611AE85CEC}"/>
              </a:ext>
            </a:extLst>
          </p:cNvPr>
          <p:cNvSpPr txBox="1"/>
          <p:nvPr/>
        </p:nvSpPr>
        <p:spPr>
          <a:xfrm>
            <a:off x="2418977" y="3689981"/>
            <a:ext cx="21182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1070BCA3-C782-7304-0B4B-702C51240892}"/>
              </a:ext>
            </a:extLst>
          </p:cNvPr>
          <p:cNvSpPr txBox="1"/>
          <p:nvPr/>
        </p:nvSpPr>
        <p:spPr>
          <a:xfrm>
            <a:off x="252940" y="36590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850631CC-E66E-5BF5-C56C-9D9AA25FBBAD}"/>
              </a:ext>
            </a:extLst>
          </p:cNvPr>
          <p:cNvSpPr txBox="1"/>
          <p:nvPr/>
        </p:nvSpPr>
        <p:spPr>
          <a:xfrm>
            <a:off x="9144000" y="361086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pic>
        <p:nvPicPr>
          <p:cNvPr id="3" name="Google Shape;105;p3">
            <a:extLst>
              <a:ext uri="{FF2B5EF4-FFF2-40B4-BE49-F238E27FC236}">
                <a16:creationId xmlns:a16="http://schemas.microsoft.com/office/drawing/2014/main" id="{930AC3F1-F0C2-637E-08A0-40BADAC92C33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 l="32491"/>
          <a:stretch>
            <a:fillRect/>
          </a:stretch>
        </p:blipFill>
        <p:spPr>
          <a:xfrm>
            <a:off x="275087" y="5354803"/>
            <a:ext cx="1873554" cy="116927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DBFDB-C49C-D442-E0AD-71B6C71D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DC3362A-72E6-B8AF-C306-9955BA2F4D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957221"/>
              </p:ext>
            </p:extLst>
          </p:nvPr>
        </p:nvGraphicFramePr>
        <p:xfrm>
          <a:off x="161332" y="120634"/>
          <a:ext cx="11854659" cy="337089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2041171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345873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FWHM_déconvolué</a:t>
                      </a:r>
                      <a:r>
                        <a:rPr lang="fr-FR" sz="1800" b="1" dirty="0">
                          <a:solidFill>
                            <a:srgbClr val="FF0000"/>
                          </a:solidFill>
                        </a:rPr>
                        <a:t>*</a:t>
                      </a:r>
                      <a:r>
                        <a:rPr lang="fr-FR" sz="1800" b="1" dirty="0"/>
                        <a:t> (cm-1)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7.9,(?),8.0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3909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FWHM_mes</a:t>
                      </a:r>
                      <a:r>
                        <a:rPr lang="fr-FR" sz="1800" b="1" dirty="0"/>
                        <a:t> (7ps)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432442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FWHM_instr</a:t>
                      </a:r>
                      <a:r>
                        <a:rPr lang="fr-FR" sz="1800" b="1" dirty="0"/>
                        <a:t> (7ps)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8082062"/>
                  </a:ext>
                </a:extLst>
              </a:tr>
            </a:tbl>
          </a:graphicData>
        </a:graphic>
      </p:graphicFrame>
      <p:sp>
        <p:nvSpPr>
          <p:cNvPr id="32" name="ZoneTexte 31">
            <a:extLst>
              <a:ext uri="{FF2B5EF4-FFF2-40B4-BE49-F238E27FC236}">
                <a16:creationId xmlns:a16="http://schemas.microsoft.com/office/drawing/2014/main" id="{CABC45E3-495B-AD8C-9A05-F897C4CC18F9}"/>
              </a:ext>
            </a:extLst>
          </p:cNvPr>
          <p:cNvSpPr txBox="1"/>
          <p:nvPr/>
        </p:nvSpPr>
        <p:spPr>
          <a:xfrm>
            <a:off x="275087" y="4099524"/>
            <a:ext cx="81551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sz="2000" dirty="0"/>
          </a:p>
          <a:p>
            <a:endParaRPr lang="fr-FR" sz="2000" dirty="0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1BBA47D3-D0E5-173D-0DF0-26CAFF4BA668}"/>
              </a:ext>
            </a:extLst>
          </p:cNvPr>
          <p:cNvSpPr txBox="1"/>
          <p:nvPr/>
        </p:nvSpPr>
        <p:spPr>
          <a:xfrm>
            <a:off x="4831724" y="365508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2FB460D-02EE-286B-8108-4E2B7EEDB2FD}"/>
              </a:ext>
            </a:extLst>
          </p:cNvPr>
          <p:cNvSpPr txBox="1"/>
          <p:nvPr/>
        </p:nvSpPr>
        <p:spPr>
          <a:xfrm>
            <a:off x="2418977" y="3689981"/>
            <a:ext cx="21182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86960722-DA7A-2BD1-5E3D-206C4189A5E7}"/>
              </a:ext>
            </a:extLst>
          </p:cNvPr>
          <p:cNvSpPr txBox="1"/>
          <p:nvPr/>
        </p:nvSpPr>
        <p:spPr>
          <a:xfrm>
            <a:off x="252940" y="36590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D4578793-4F71-40E5-7EF5-EBB6F02A1EA5}"/>
              </a:ext>
            </a:extLst>
          </p:cNvPr>
          <p:cNvSpPr txBox="1"/>
          <p:nvPr/>
        </p:nvSpPr>
        <p:spPr>
          <a:xfrm>
            <a:off x="9144000" y="361086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32E7460-2A1A-5348-733F-9CDE9867A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7252"/>
            <a:ext cx="3555682" cy="2323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544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184D7-145B-8DB4-C251-2370EE668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141D-E1A7-D9F0-1FED-CB7629572A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07655" y="183886"/>
            <a:ext cx="5734411" cy="1109663"/>
          </a:xfrm>
        </p:spPr>
        <p:txBody>
          <a:bodyPr>
            <a:normAutofit fontScale="90000"/>
          </a:bodyPr>
          <a:lstStyle/>
          <a:p>
            <a:r>
              <a:rPr lang="fr-FR" sz="4000" dirty="0" err="1"/>
              <a:t>Chirp</a:t>
            </a:r>
            <a:r>
              <a:rPr lang="fr-FR" sz="4000" dirty="0"/>
              <a:t> – Calcul de </a:t>
            </a:r>
            <a:r>
              <a:rPr lang="fr-FR" sz="4000" dirty="0" err="1"/>
              <a:t>FWHM_instr</a:t>
            </a:r>
            <a:endParaRPr lang="fr-FR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0BE9739A-7294-26CF-4B68-99D6EAE76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88620885"/>
                  </p:ext>
                </p:extLst>
              </p:nvPr>
            </p:nvGraphicFramePr>
            <p:xfrm>
              <a:off x="5191766" y="2604836"/>
              <a:ext cx="6911740" cy="237744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51238">
                      <a:extLst>
                        <a:ext uri="{9D8B030D-6E8A-4147-A177-3AD203B41FA5}">
                          <a16:colId xmlns:a16="http://schemas.microsoft.com/office/drawing/2014/main" val="1187242739"/>
                        </a:ext>
                      </a:extLst>
                    </a:gridCol>
                    <a:gridCol w="1151238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823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 (</a:t>
                          </a:r>
                          <a:r>
                            <a:rPr lang="el-G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Δτ</a:t>
                          </a:r>
                          <a:r>
                            <a:rPr lang="fr-F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)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mesurée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(mesure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raman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)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782345"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no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3.0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6.9 cm-1 (4.9 pour un pulse)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7.</m:t>
                                </m:r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782345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9.9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2,0 cm-1 (1.49 pour un pulse)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4.1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4.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0BE9739A-7294-26CF-4B68-99D6EAE76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88620885"/>
                  </p:ext>
                </p:extLst>
              </p:nvPr>
            </p:nvGraphicFramePr>
            <p:xfrm>
              <a:off x="5191766" y="2604836"/>
              <a:ext cx="6911740" cy="237744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51238">
                      <a:extLst>
                        <a:ext uri="{9D8B030D-6E8A-4147-A177-3AD203B41FA5}">
                          <a16:colId xmlns:a16="http://schemas.microsoft.com/office/drawing/2014/main" val="1187242739"/>
                        </a:ext>
                      </a:extLst>
                    </a:gridCol>
                    <a:gridCol w="1151238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 (</a:t>
                          </a:r>
                          <a:r>
                            <a:rPr lang="el-G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Δτ</a:t>
                          </a:r>
                          <a:r>
                            <a:rPr lang="fr-F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)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mesurée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(mesure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raman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)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no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3.0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6.9 cm-1 (4.9 pour un pulse)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8947" t="-100000" r="-200000" b="-1030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058" t="-100000" r="-101058" b="-1030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058" t="-100000" r="-1058" b="-1030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9.9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2,0 cm-1 (1.49 pour un pulse)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8947" t="-201538" r="-2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058" t="-201538" r="-101058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058" t="-201538" r="-1058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ZoneTexte 10">
            <a:extLst>
              <a:ext uri="{FF2B5EF4-FFF2-40B4-BE49-F238E27FC236}">
                <a16:creationId xmlns:a16="http://schemas.microsoft.com/office/drawing/2014/main" id="{EAB3768B-5C9A-BBD4-958E-8EFA6EB9E58E}"/>
              </a:ext>
            </a:extLst>
          </p:cNvPr>
          <p:cNvSpPr txBox="1"/>
          <p:nvPr/>
        </p:nvSpPr>
        <p:spPr>
          <a:xfrm>
            <a:off x="124044" y="4243612"/>
            <a:ext cx="46805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Fig. </a:t>
            </a:r>
            <a:r>
              <a:rPr lang="fr-FR" dirty="0" err="1"/>
              <a:t>Observed</a:t>
            </a:r>
            <a:r>
              <a:rPr lang="fr-FR" dirty="0"/>
              <a:t> </a:t>
            </a:r>
            <a:r>
              <a:rPr lang="fr-FR" dirty="0" err="1"/>
              <a:t>Sum</a:t>
            </a:r>
            <a:r>
              <a:rPr lang="fr-FR" dirty="0"/>
              <a:t> </a:t>
            </a:r>
            <a:r>
              <a:rPr lang="fr-FR" dirty="0" err="1"/>
              <a:t>Frequence</a:t>
            </a:r>
            <a:r>
              <a:rPr lang="fr-FR" dirty="0"/>
              <a:t> </a:t>
            </a:r>
            <a:r>
              <a:rPr lang="fr-FR" dirty="0" err="1"/>
              <a:t>Generation</a:t>
            </a:r>
            <a:r>
              <a:rPr lang="fr-FR" dirty="0"/>
              <a:t> (SFG) </a:t>
            </a:r>
            <a:r>
              <a:rPr lang="fr-FR" dirty="0" err="1"/>
              <a:t>between</a:t>
            </a:r>
            <a:r>
              <a:rPr lang="fr-FR" dirty="0"/>
              <a:t> Stokes and </a:t>
            </a:r>
            <a:r>
              <a:rPr lang="fr-FR" dirty="0" err="1"/>
              <a:t>pump</a:t>
            </a:r>
            <a:r>
              <a:rPr lang="fr-FR" dirty="0"/>
              <a:t> </a:t>
            </a:r>
            <a:r>
              <a:rPr lang="fr-FR" dirty="0" err="1"/>
              <a:t>beam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and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. Full </a:t>
            </a:r>
            <a:r>
              <a:rPr lang="fr-FR" dirty="0" err="1"/>
              <a:t>Widths</a:t>
            </a:r>
            <a:r>
              <a:rPr lang="fr-FR" dirty="0"/>
              <a:t> at Half Maximum (FWHM) </a:t>
            </a:r>
            <a:r>
              <a:rPr lang="fr-FR" dirty="0" err="1"/>
              <a:t>were</a:t>
            </a:r>
            <a:r>
              <a:rPr lang="fr-FR" dirty="0"/>
              <a:t>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Gaussian</a:t>
            </a:r>
            <a:r>
              <a:rPr lang="fr-FR" dirty="0"/>
              <a:t> </a:t>
            </a:r>
            <a:r>
              <a:rPr lang="fr-FR" dirty="0" err="1"/>
              <a:t>fitting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. 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B3FE928-2928-AE12-F7F9-E34B82BF0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579" y="1293549"/>
            <a:ext cx="4122121" cy="2856639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7F5F58F-431F-4880-1A25-F0E24084E84C}"/>
              </a:ext>
            </a:extLst>
          </p:cNvPr>
          <p:cNvCxnSpPr>
            <a:cxnSpLocks/>
          </p:cNvCxnSpPr>
          <p:nvPr/>
        </p:nvCxnSpPr>
        <p:spPr>
          <a:xfrm>
            <a:off x="7148052" y="1828620"/>
            <a:ext cx="0" cy="7375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8D10CB99-F04A-D1CE-02DC-A3B8E3302C44}"/>
              </a:ext>
            </a:extLst>
          </p:cNvPr>
          <p:cNvSpPr txBox="1"/>
          <p:nvPr/>
        </p:nvSpPr>
        <p:spPr>
          <a:xfrm>
            <a:off x="10753007" y="1548258"/>
            <a:ext cx="15829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6"/>
                </a:solidFill>
              </a:rPr>
              <a:t>Cas calcite synthétique</a:t>
            </a:r>
          </a:p>
          <a:p>
            <a:r>
              <a:rPr lang="fr-FR" dirty="0">
                <a:solidFill>
                  <a:schemeClr val="accent6"/>
                </a:solidFill>
              </a:rPr>
              <a:t>moyen 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E72B1D9-C586-68F6-0493-6425A460DB0A}"/>
              </a:ext>
            </a:extLst>
          </p:cNvPr>
          <p:cNvSpPr/>
          <p:nvPr/>
        </p:nvSpPr>
        <p:spPr>
          <a:xfrm>
            <a:off x="10985500" y="2604836"/>
            <a:ext cx="1118006" cy="2377440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D5B9AADF-DBCA-E912-65B3-6379E5959975}"/>
              </a:ext>
            </a:extLst>
          </p:cNvPr>
          <p:cNvCxnSpPr>
            <a:cxnSpLocks/>
          </p:cNvCxnSpPr>
          <p:nvPr/>
        </p:nvCxnSpPr>
        <p:spPr>
          <a:xfrm flipV="1">
            <a:off x="8258073" y="4982276"/>
            <a:ext cx="0" cy="4165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Image 3">
            <a:extLst>
              <a:ext uri="{FF2B5EF4-FFF2-40B4-BE49-F238E27FC236}">
                <a16:creationId xmlns:a16="http://schemas.microsoft.com/office/drawing/2014/main" id="{CB713EEA-C97B-0895-DC90-29D54C1B54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9921" y="178647"/>
            <a:ext cx="4947686" cy="194735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1A0BFE7-212A-AD99-E876-32EAE4221D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450" y="5206484"/>
            <a:ext cx="3894157" cy="85351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9635A69A-6ADD-187E-0DDC-1D2363085619}"/>
              </a:ext>
            </a:extLst>
          </p:cNvPr>
          <p:cNvSpPr txBox="1"/>
          <p:nvPr/>
        </p:nvSpPr>
        <p:spPr>
          <a:xfrm>
            <a:off x="10476123" y="5136668"/>
            <a:ext cx="17641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 une gaussienne limité par la TF. 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F7273B0-ECED-02E9-6C42-20A3D19B3D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3450" y="6172103"/>
            <a:ext cx="4618120" cy="62489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0C4B5E5C-152E-88D3-2013-539CE38DC62D}"/>
              </a:ext>
            </a:extLst>
          </p:cNvPr>
          <p:cNvSpPr txBox="1"/>
          <p:nvPr/>
        </p:nvSpPr>
        <p:spPr>
          <a:xfrm>
            <a:off x="4302700" y="6253717"/>
            <a:ext cx="20712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0" dirty="0">
                <a:solidFill>
                  <a:schemeClr val="tx1"/>
                </a:solidFill>
                <a:effectLst/>
                <a:latin typeface="+mn-lt"/>
              </a:rPr>
              <a:t>Claudius Riek, Daniele </a:t>
            </a:r>
            <a:r>
              <a:rPr lang="fr-FR" sz="1200" i="0" dirty="0" err="1">
                <a:solidFill>
                  <a:schemeClr val="tx1"/>
                </a:solidFill>
                <a:effectLst/>
                <a:latin typeface="+mn-lt"/>
              </a:rPr>
              <a:t>BridaOpt</a:t>
            </a:r>
            <a:r>
              <a:rPr lang="fr-FR" sz="1200" i="0" dirty="0">
                <a:solidFill>
                  <a:schemeClr val="tx1"/>
                </a:solidFill>
                <a:effectLst/>
                <a:latin typeface="+mn-lt"/>
              </a:rPr>
              <a:t>. and al Lett. (2016) 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936309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8852" y="-533609"/>
            <a:ext cx="9144000" cy="1109663"/>
          </a:xfrm>
        </p:spPr>
        <p:txBody>
          <a:bodyPr>
            <a:normAutofit/>
          </a:bodyPr>
          <a:lstStyle/>
          <a:p>
            <a:r>
              <a:rPr lang="fr-FR" sz="4000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1587268"/>
              </p:ext>
            </p:extLst>
          </p:nvPr>
        </p:nvGraphicFramePr>
        <p:xfrm>
          <a:off x="0" y="470342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FWHM_déconvolué</a:t>
                      </a:r>
                      <a:r>
                        <a:rPr lang="fr-FR" sz="1800" b="1" dirty="0"/>
                        <a:t> (cm-1)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[7.9, (8 aussi?), 8]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5.9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847500"/>
              </p:ext>
            </p:extLst>
          </p:nvPr>
        </p:nvGraphicFramePr>
        <p:xfrm>
          <a:off x="0" y="3202350"/>
          <a:ext cx="11965856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408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1073,1070(corail)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1830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ADFE0A1A-05C6-E727-F84F-4575CE67D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C0649E30-7C16-4DA0-4699-0C3459E603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57223" y="14304"/>
            <a:ext cx="4247235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ACC + cal 260626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B1CE53B6-DE49-B540-1687-424AD4A6B8EA}"/>
              </a:ext>
            </a:extLst>
          </p:cNvPr>
          <p:cNvSpPr txBox="1"/>
          <p:nvPr/>
        </p:nvSpPr>
        <p:spPr>
          <a:xfrm>
            <a:off x="160552" y="767408"/>
            <a:ext cx="2533882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</a:t>
            </a:r>
            <a:r>
              <a:rPr lang="fr-FR" sz="1200" dirty="0">
                <a:solidFill>
                  <a:schemeClr val="dk1"/>
                </a:solidFill>
              </a:rPr>
              <a:t>929.2,928.8,928.5,928.2,927.7,927.4,926.9,926.6,926.2,925.7,925,924.1,929.1,929.5,929.8,930.2,930.5,931,931.8,932.9]</a:t>
            </a:r>
            <a:endParaRPr lang="fr-FR"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E766690E-8D52-18FE-57D2-DFE0649C8020}"/>
              </a:ext>
            </a:extLst>
          </p:cNvPr>
          <p:cNvSpPr txBox="1"/>
          <p:nvPr/>
        </p:nvSpPr>
        <p:spPr>
          <a:xfrm>
            <a:off x="2773102" y="751540"/>
            <a:ext cx="4005600" cy="11079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dirty="0">
                <a:solidFill>
                  <a:schemeClr val="dk1"/>
                </a:solidFill>
              </a:rPr>
              <a:t>Power 300</a:t>
            </a:r>
            <a:endParaRPr sz="12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dirty="0">
                <a:solidFill>
                  <a:schemeClr val="dk1"/>
                </a:solidFill>
              </a:rPr>
              <a:t>Nb points 120²</a:t>
            </a:r>
            <a:endParaRPr sz="12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dirty="0" err="1">
                <a:solidFill>
                  <a:schemeClr val="dk1"/>
                </a:solidFill>
              </a:rPr>
              <a:t>PixelRep</a:t>
            </a:r>
            <a:r>
              <a:rPr lang="fr-FR" sz="1200" dirty="0">
                <a:solidFill>
                  <a:schemeClr val="dk1"/>
                </a:solidFill>
              </a:rPr>
              <a:t> 80 </a:t>
            </a:r>
            <a:r>
              <a:rPr lang="fr-FR" sz="1200" dirty="0" err="1">
                <a:solidFill>
                  <a:schemeClr val="dk1"/>
                </a:solidFill>
              </a:rPr>
              <a:t>NbACC</a:t>
            </a:r>
            <a:r>
              <a:rPr lang="fr-FR" sz="1200" dirty="0">
                <a:solidFill>
                  <a:schemeClr val="dk1"/>
                </a:solidFill>
              </a:rPr>
              <a:t> 5</a:t>
            </a:r>
            <a:endParaRPr sz="12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dirty="0">
                <a:solidFill>
                  <a:schemeClr val="dk1"/>
                </a:solidFill>
              </a:rPr>
              <a:t>scan range 100 µm</a:t>
            </a:r>
            <a:endParaRPr sz="12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3A2DE69-6FA2-6124-7095-F60B4F3E6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9861741" y="1182886"/>
            <a:ext cx="2210555" cy="224611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737444B2-D51B-F162-6019-BA734176C80C}"/>
              </a:ext>
            </a:extLst>
          </p:cNvPr>
          <p:cNvSpPr txBox="1"/>
          <p:nvPr/>
        </p:nvSpPr>
        <p:spPr>
          <a:xfrm>
            <a:off x="1642209" y="-92287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b="1" dirty="0"/>
              <a:t>2 </a:t>
            </a:r>
            <a:r>
              <a:rPr lang="fr-FR" sz="4400" b="1" dirty="0" err="1"/>
              <a:t>ps</a:t>
            </a:r>
            <a:r>
              <a:rPr lang="fr-FR" sz="4400" b="1" dirty="0"/>
              <a:t> </a:t>
            </a:r>
            <a:endParaRPr lang="fr-FR" b="1" dirty="0"/>
          </a:p>
        </p:txBody>
      </p:sp>
      <p:sp>
        <p:nvSpPr>
          <p:cNvPr id="14" name="Google Shape;158;g3e4efdd0c05_0_27">
            <a:extLst>
              <a:ext uri="{FF2B5EF4-FFF2-40B4-BE49-F238E27FC236}">
                <a16:creationId xmlns:a16="http://schemas.microsoft.com/office/drawing/2014/main" id="{9B5EA81D-4E21-D297-A88A-FCB4CE769146}"/>
              </a:ext>
            </a:extLst>
          </p:cNvPr>
          <p:cNvSpPr txBox="1"/>
          <p:nvPr/>
        </p:nvSpPr>
        <p:spPr>
          <a:xfrm>
            <a:off x="4819842" y="813573"/>
            <a:ext cx="2733631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4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</a:t>
            </a:r>
            <a:r>
              <a:rPr lang="fr-FR" sz="1400" dirty="0">
                <a:solidFill>
                  <a:schemeClr val="dk1"/>
                </a:solidFill>
              </a:rPr>
              <a:t>929.1,928.7,928.5,928.1,927.7,927.4,926.7,926.4,926,929.5,930,927.1]</a:t>
            </a:r>
            <a:endParaRPr lang="fr-FR"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59;g3e4efdd0c05_0_27">
            <a:extLst>
              <a:ext uri="{FF2B5EF4-FFF2-40B4-BE49-F238E27FC236}">
                <a16:creationId xmlns:a16="http://schemas.microsoft.com/office/drawing/2014/main" id="{4E5EEBE8-9D63-5841-9B4B-373EB6A4B429}"/>
              </a:ext>
            </a:extLst>
          </p:cNvPr>
          <p:cNvSpPr txBox="1"/>
          <p:nvPr/>
        </p:nvSpPr>
        <p:spPr>
          <a:xfrm>
            <a:off x="7495912" y="689984"/>
            <a:ext cx="4005600" cy="1231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>
                <a:solidFill>
                  <a:schemeClr val="dk1"/>
                </a:solidFill>
              </a:rPr>
              <a:t>Power 350²</a:t>
            </a: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>
                <a:solidFill>
                  <a:schemeClr val="dk1"/>
                </a:solidFill>
              </a:rPr>
              <a:t>Nb points 120²</a:t>
            </a: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 err="1">
                <a:solidFill>
                  <a:schemeClr val="dk1"/>
                </a:solidFill>
              </a:rPr>
              <a:t>PixelRep</a:t>
            </a:r>
            <a:r>
              <a:rPr lang="fr-FR" sz="1400" dirty="0">
                <a:solidFill>
                  <a:schemeClr val="dk1"/>
                </a:solidFill>
              </a:rPr>
              <a:t> 150 </a:t>
            </a:r>
            <a:r>
              <a:rPr lang="fr-FR" sz="1400" dirty="0" err="1">
                <a:solidFill>
                  <a:schemeClr val="dk1"/>
                </a:solidFill>
              </a:rPr>
              <a:t>NbACC</a:t>
            </a:r>
            <a:r>
              <a:rPr lang="fr-FR" sz="1400" dirty="0">
                <a:solidFill>
                  <a:schemeClr val="dk1"/>
                </a:solidFill>
              </a:rPr>
              <a:t> 10</a:t>
            </a: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>
                <a:solidFill>
                  <a:schemeClr val="dk1"/>
                </a:solidFill>
              </a:rPr>
              <a:t>scan range 100 µm</a:t>
            </a: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8602C58-E43E-9DDE-E1C6-AA23CA530D42}"/>
              </a:ext>
            </a:extLst>
          </p:cNvPr>
          <p:cNvSpPr txBox="1"/>
          <p:nvPr/>
        </p:nvSpPr>
        <p:spPr>
          <a:xfrm>
            <a:off x="6596744" y="-2035"/>
            <a:ext cx="69523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b="1" dirty="0"/>
              <a:t>7 </a:t>
            </a:r>
            <a:r>
              <a:rPr lang="fr-FR" sz="4400" b="1" dirty="0" err="1"/>
              <a:t>ps</a:t>
            </a:r>
            <a:r>
              <a:rPr lang="fr-FR" sz="4400" b="1" dirty="0"/>
              <a:t> </a:t>
            </a:r>
            <a:endParaRPr lang="fr-FR" sz="1800" b="1" dirty="0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211D0345-54C9-8F3F-713C-7D3344C82B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3626" y="2079924"/>
            <a:ext cx="4688115" cy="3996780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1B0805E8-3090-0354-8B1D-46F29A0ED6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726" y="2079924"/>
            <a:ext cx="4688116" cy="413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882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595A681B-1D36-05FE-46B9-621688191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B3CF28AA-3C7B-5CB0-A8D7-D745B6ABDB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57223" y="14304"/>
            <a:ext cx="4247235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ACC + cal 260626</a:t>
            </a:r>
            <a:endParaRPr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9D0535A-1176-FBBA-A9BC-F26D870D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9861741" y="1182886"/>
            <a:ext cx="2210555" cy="224611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F173536D-BCC8-72BE-F8A8-D11D16ADFB79}"/>
              </a:ext>
            </a:extLst>
          </p:cNvPr>
          <p:cNvSpPr txBox="1"/>
          <p:nvPr/>
        </p:nvSpPr>
        <p:spPr>
          <a:xfrm>
            <a:off x="1559649" y="614006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b="1" dirty="0"/>
              <a:t>2 </a:t>
            </a:r>
            <a:r>
              <a:rPr lang="fr-FR" sz="4400" b="1" dirty="0" err="1"/>
              <a:t>ps</a:t>
            </a:r>
            <a:r>
              <a:rPr lang="fr-FR" sz="4400" b="1" dirty="0"/>
              <a:t> </a:t>
            </a:r>
            <a:endParaRPr lang="fr-FR" b="1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CDC9C9D-4148-5B5B-3635-F16D84104B0D}"/>
              </a:ext>
            </a:extLst>
          </p:cNvPr>
          <p:cNvSpPr txBox="1"/>
          <p:nvPr/>
        </p:nvSpPr>
        <p:spPr>
          <a:xfrm>
            <a:off x="5527798" y="596549"/>
            <a:ext cx="69523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b="1" dirty="0"/>
              <a:t>7 </a:t>
            </a:r>
            <a:r>
              <a:rPr lang="fr-FR" sz="4400" b="1" dirty="0" err="1"/>
              <a:t>ps</a:t>
            </a:r>
            <a:r>
              <a:rPr lang="fr-FR" sz="4400" b="1" dirty="0"/>
              <a:t> </a:t>
            </a:r>
            <a:endParaRPr lang="fr-FR" sz="1800" b="1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34964A4-4305-D2C5-4163-02A0581660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716" y="4135996"/>
            <a:ext cx="2976701" cy="268238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8FB9FD4-30DF-6B00-21F9-2E3C313AD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954" y="1757950"/>
            <a:ext cx="3013463" cy="224611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D8A0625-1E22-6F53-AA43-1913CEBD04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7649" y="4131726"/>
            <a:ext cx="2976701" cy="2682380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AF51B03-C336-F646-6521-682717F5DA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9343" y="1757950"/>
            <a:ext cx="3115007" cy="2321803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45BE9D68-F92A-F626-570F-7788F6BE5647}"/>
              </a:ext>
            </a:extLst>
          </p:cNvPr>
          <p:cNvSpPr txBox="1"/>
          <p:nvPr/>
        </p:nvSpPr>
        <p:spPr>
          <a:xfrm>
            <a:off x="7978020" y="3429000"/>
            <a:ext cx="37630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b="0" i="0" dirty="0">
                <a:effectLst/>
                <a:latin typeface="+mn-lt"/>
              </a:rPr>
              <a:t>params.roi1 = [58+params.shift_row 60+params.shift_row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...</a:t>
            </a:r>
            <a:endParaRPr lang="fr-FR" sz="1200" b="0" i="0" dirty="0">
              <a:effectLst/>
              <a:latin typeface="+mn-lt"/>
            </a:endParaRPr>
          </a:p>
          <a:p>
            <a:pPr>
              <a:buNone/>
            </a:pPr>
            <a:r>
              <a:rPr lang="fr-FR" sz="1200" b="0" i="0" dirty="0">
                <a:effectLst/>
                <a:latin typeface="+mn-lt"/>
              </a:rPr>
              <a:t>66+params.shift_col 68+params.shift_col]; params.roi2 = [44+params.shift_row 48+params.shift_row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...</a:t>
            </a:r>
            <a:endParaRPr lang="fr-FR" sz="1200" b="0" i="0" dirty="0">
              <a:effectLst/>
              <a:latin typeface="+mn-lt"/>
            </a:endParaRPr>
          </a:p>
          <a:p>
            <a:pPr>
              <a:buNone/>
            </a:pPr>
            <a:r>
              <a:rPr lang="fr-FR" sz="1200" b="0" i="0" dirty="0">
                <a:effectLst/>
                <a:latin typeface="+mn-lt"/>
              </a:rPr>
              <a:t>73+params.shift_col 80+params.shift_col]; </a:t>
            </a:r>
            <a:endParaRPr lang="fr-FR" sz="7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4237615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8843C-F9E5-39DB-4A39-852C15DE8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87B45643-C40F-D80C-6F63-6E4298C2F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BEC3139-76EE-0554-6898-408EC8176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9519469" y="906085"/>
            <a:ext cx="2384957" cy="232984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076CCCB-E80D-27A3-124C-036E709D7560}"/>
              </a:ext>
            </a:extLst>
          </p:cNvPr>
          <p:cNvSpPr/>
          <p:nvPr/>
        </p:nvSpPr>
        <p:spPr>
          <a:xfrm>
            <a:off x="10697977" y="1337276"/>
            <a:ext cx="209048" cy="1943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C71CFE-798F-A93F-C4BA-C9DB7D820D86}"/>
              </a:ext>
            </a:extLst>
          </p:cNvPr>
          <p:cNvSpPr/>
          <p:nvPr/>
        </p:nvSpPr>
        <p:spPr>
          <a:xfrm>
            <a:off x="11243575" y="2226761"/>
            <a:ext cx="129540" cy="1265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980160F-DF26-C4C2-2F32-9CC778111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052" y="906085"/>
            <a:ext cx="3097056" cy="2606115"/>
          </a:xfrm>
          <a:prstGeom prst="rect">
            <a:avLst/>
          </a:prstGeom>
        </p:spPr>
      </p:pic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B9EA1C27-D813-CF6D-0B81-39FF6B699DE0}"/>
              </a:ext>
            </a:extLst>
          </p:cNvPr>
          <p:cNvCxnSpPr>
            <a:cxnSpLocks/>
          </p:cNvCxnSpPr>
          <p:nvPr/>
        </p:nvCxnSpPr>
        <p:spPr>
          <a:xfrm>
            <a:off x="11514730" y="3203866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4C45BF94-F86C-392F-9560-AD12B6EA55E7}"/>
              </a:ext>
            </a:extLst>
          </p:cNvPr>
          <p:cNvSpPr txBox="1"/>
          <p:nvPr/>
        </p:nvSpPr>
        <p:spPr>
          <a:xfrm>
            <a:off x="11223675" y="2834534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DF9EF9F9-0727-F199-896A-8D4BFBDAC3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9024" y="888067"/>
            <a:ext cx="3064646" cy="2619592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A5742544-9F60-352A-C67B-E71D2A600E79}"/>
              </a:ext>
            </a:extLst>
          </p:cNvPr>
          <p:cNvSpPr txBox="1"/>
          <p:nvPr/>
        </p:nvSpPr>
        <p:spPr>
          <a:xfrm>
            <a:off x="7095751" y="86198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23DE5654-26FF-67AB-558E-14A79FF8CF94}"/>
              </a:ext>
            </a:extLst>
          </p:cNvPr>
          <p:cNvCxnSpPr>
            <a:cxnSpLocks/>
          </p:cNvCxnSpPr>
          <p:nvPr/>
        </p:nvCxnSpPr>
        <p:spPr>
          <a:xfrm>
            <a:off x="7574287" y="317496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670C3268-EF35-840B-AC23-4E28225284FF}"/>
              </a:ext>
            </a:extLst>
          </p:cNvPr>
          <p:cNvSpPr txBox="1"/>
          <p:nvPr/>
        </p:nvSpPr>
        <p:spPr>
          <a:xfrm>
            <a:off x="7283232" y="280563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9C60A678-4532-7807-AB73-E7AFECF14A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32" y="3545044"/>
            <a:ext cx="4381257" cy="3270470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4F634C04-D29F-FEA8-C8DD-4F124D89D563}"/>
              </a:ext>
            </a:extLst>
          </p:cNvPr>
          <p:cNvSpPr txBox="1"/>
          <p:nvPr/>
        </p:nvSpPr>
        <p:spPr>
          <a:xfrm>
            <a:off x="9979020" y="4703630"/>
            <a:ext cx="2062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FWHM fixé à FWHM</a:t>
            </a:r>
            <a:r>
              <a:rPr lang="fr-FR" baseline="-25000" dirty="0"/>
              <a:t>2ps</a:t>
            </a:r>
            <a:r>
              <a:rPr lang="fr-FR" dirty="0"/>
              <a:t>=30 cm</a:t>
            </a:r>
            <a:r>
              <a:rPr lang="fr-FR" baseline="30000" dirty="0"/>
              <a:t>-1</a:t>
            </a:r>
            <a:endParaRPr lang="fr-FR" dirty="0"/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FB29A0E7-9082-8454-10B5-EC38F64E4F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0052" y="888067"/>
            <a:ext cx="3097056" cy="2606115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88AACDC8-DDD3-4AD0-214C-D15F113A3768}"/>
              </a:ext>
            </a:extLst>
          </p:cNvPr>
          <p:cNvSpPr txBox="1"/>
          <p:nvPr/>
        </p:nvSpPr>
        <p:spPr>
          <a:xfrm>
            <a:off x="3158146" y="783377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2ps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BF1E1185-EC75-7130-36C9-7F7113E1EA03}"/>
              </a:ext>
            </a:extLst>
          </p:cNvPr>
          <p:cNvCxnSpPr>
            <a:cxnSpLocks/>
          </p:cNvCxnSpPr>
          <p:nvPr/>
        </p:nvCxnSpPr>
        <p:spPr>
          <a:xfrm>
            <a:off x="3650787" y="318259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6CB4EE20-4AF8-A4B0-E79A-63F9A9F97FA7}"/>
              </a:ext>
            </a:extLst>
          </p:cNvPr>
          <p:cNvSpPr txBox="1"/>
          <p:nvPr/>
        </p:nvSpPr>
        <p:spPr>
          <a:xfrm>
            <a:off x="3359732" y="2813259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C27C7D28-8173-0C03-9750-F6E7725571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1529" y="3587530"/>
            <a:ext cx="4381257" cy="327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696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88720-CE47-ED79-69C2-962104F47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060D6B4-A726-9F2D-C565-E9F37B433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B6F4309-E20F-FA56-2916-17B61B670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9519469" y="906085"/>
            <a:ext cx="2384957" cy="232984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7D6D48C-18C9-6232-78F4-B3FC24942F5E}"/>
              </a:ext>
            </a:extLst>
          </p:cNvPr>
          <p:cNvSpPr/>
          <p:nvPr/>
        </p:nvSpPr>
        <p:spPr>
          <a:xfrm>
            <a:off x="10697977" y="1337276"/>
            <a:ext cx="209048" cy="1943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2B7223-CEF9-031E-4912-79FAE2189D47}"/>
              </a:ext>
            </a:extLst>
          </p:cNvPr>
          <p:cNvSpPr/>
          <p:nvPr/>
        </p:nvSpPr>
        <p:spPr>
          <a:xfrm>
            <a:off x="11243575" y="2226761"/>
            <a:ext cx="129540" cy="1265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6F1ADE9-AD2E-A8AA-17BC-024AB08A0E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052" y="906085"/>
            <a:ext cx="3097056" cy="2606115"/>
          </a:xfrm>
          <a:prstGeom prst="rect">
            <a:avLst/>
          </a:prstGeom>
        </p:spPr>
      </p:pic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49D75737-E8DB-3A48-0F6A-71C4A43DD890}"/>
              </a:ext>
            </a:extLst>
          </p:cNvPr>
          <p:cNvCxnSpPr>
            <a:cxnSpLocks/>
          </p:cNvCxnSpPr>
          <p:nvPr/>
        </p:nvCxnSpPr>
        <p:spPr>
          <a:xfrm>
            <a:off x="11514730" y="3203866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174560E3-ABDE-87D5-2702-DC151F2388FC}"/>
              </a:ext>
            </a:extLst>
          </p:cNvPr>
          <p:cNvSpPr txBox="1"/>
          <p:nvPr/>
        </p:nvSpPr>
        <p:spPr>
          <a:xfrm>
            <a:off x="11223675" y="2834534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7EA7F079-DFB0-8159-912A-72B2BBD912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9024" y="888067"/>
            <a:ext cx="3064646" cy="2619592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56CCB4CB-20A0-4D2A-196F-1CC1B7A3C210}"/>
              </a:ext>
            </a:extLst>
          </p:cNvPr>
          <p:cNvSpPr txBox="1"/>
          <p:nvPr/>
        </p:nvSpPr>
        <p:spPr>
          <a:xfrm>
            <a:off x="7095751" y="86198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2FC2F66D-BD81-5D6C-EB96-BF5E64EAE483}"/>
              </a:ext>
            </a:extLst>
          </p:cNvPr>
          <p:cNvCxnSpPr>
            <a:cxnSpLocks/>
          </p:cNvCxnSpPr>
          <p:nvPr/>
        </p:nvCxnSpPr>
        <p:spPr>
          <a:xfrm>
            <a:off x="7574287" y="317496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CCCA4991-6C6F-9C0A-D7EC-B36E45CEB9FB}"/>
              </a:ext>
            </a:extLst>
          </p:cNvPr>
          <p:cNvSpPr txBox="1"/>
          <p:nvPr/>
        </p:nvSpPr>
        <p:spPr>
          <a:xfrm>
            <a:off x="7283232" y="280563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3CE1774B-7F9B-E4EE-CBDA-0BA8390B6A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32" y="3545044"/>
            <a:ext cx="4381257" cy="3270470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FEE92D51-FC98-1417-CB5F-104EE97DC603}"/>
              </a:ext>
            </a:extLst>
          </p:cNvPr>
          <p:cNvSpPr txBox="1"/>
          <p:nvPr/>
        </p:nvSpPr>
        <p:spPr>
          <a:xfrm>
            <a:off x="9979020" y="4703630"/>
            <a:ext cx="2062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FWHM fixé à FWHM</a:t>
            </a:r>
            <a:r>
              <a:rPr lang="fr-FR" baseline="-25000" dirty="0"/>
              <a:t>2ps</a:t>
            </a:r>
            <a:r>
              <a:rPr lang="fr-FR" dirty="0"/>
              <a:t>=30 cm</a:t>
            </a:r>
            <a:r>
              <a:rPr lang="fr-FR" baseline="30000" dirty="0"/>
              <a:t>-1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BA857402-CF08-D24B-6D3C-CA4B5102C2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0052" y="888067"/>
            <a:ext cx="3097056" cy="2606115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E610843F-DDE0-27E1-DFD7-2821DE18736D}"/>
              </a:ext>
            </a:extLst>
          </p:cNvPr>
          <p:cNvSpPr txBox="1"/>
          <p:nvPr/>
        </p:nvSpPr>
        <p:spPr>
          <a:xfrm>
            <a:off x="3158146" y="783377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2ps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E3CF47AD-8AFF-1440-3B3F-B7C986D997CF}"/>
              </a:ext>
            </a:extLst>
          </p:cNvPr>
          <p:cNvCxnSpPr>
            <a:cxnSpLocks/>
          </p:cNvCxnSpPr>
          <p:nvPr/>
        </p:nvCxnSpPr>
        <p:spPr>
          <a:xfrm>
            <a:off x="3650787" y="318259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BDE5E2A6-5588-ED58-1113-0CA3166B514B}"/>
              </a:ext>
            </a:extLst>
          </p:cNvPr>
          <p:cNvSpPr txBox="1"/>
          <p:nvPr/>
        </p:nvSpPr>
        <p:spPr>
          <a:xfrm>
            <a:off x="3359732" y="2813259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1DB30B5-108B-3890-EDE4-3AA91EDA640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76776" y="3622074"/>
            <a:ext cx="4381257" cy="327047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CE5D4707-FF33-8B39-602B-A36BEE2E341B}"/>
              </a:ext>
            </a:extLst>
          </p:cNvPr>
          <p:cNvSpPr txBox="1"/>
          <p:nvPr/>
        </p:nvSpPr>
        <p:spPr>
          <a:xfrm>
            <a:off x="9979020" y="5520724"/>
            <a:ext cx="19333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Nu fixé à nu</a:t>
            </a:r>
            <a:r>
              <a:rPr lang="fr-FR" baseline="-25000" dirty="0"/>
              <a:t>2ps</a:t>
            </a:r>
            <a:r>
              <a:rPr lang="fr-FR" dirty="0"/>
              <a:t>=1081 cm</a:t>
            </a:r>
            <a:r>
              <a:rPr lang="fr-FR" baseline="30000" dirty="0"/>
              <a:t>-1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576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8E358-78B2-81EE-5225-84261E911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1ACC567-E438-6C26-B853-684D5E631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1D436C0-7275-1A5D-F070-11E5FE5DE3E0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9CC29A4C-C51C-98F5-1B11-E9FFE2460E5D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55283D9F-6180-1F91-B1A0-85D55292510F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B12CA6E2-1FC2-E22D-8816-2FA1D7A8A72F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C0B37200-47B2-145D-EFF8-297CB02BB059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4246C139-9BA7-1EF0-D61B-C68D92F7ABF0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ZoneTexte 25">
            <a:extLst>
              <a:ext uri="{FF2B5EF4-FFF2-40B4-BE49-F238E27FC236}">
                <a16:creationId xmlns:a16="http://schemas.microsoft.com/office/drawing/2014/main" id="{86B5E0CA-D9C4-7E9C-7480-E32B7965CA26}"/>
              </a:ext>
            </a:extLst>
          </p:cNvPr>
          <p:cNvSpPr txBox="1"/>
          <p:nvPr/>
        </p:nvSpPr>
        <p:spPr>
          <a:xfrm>
            <a:off x="6989216" y="956460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0.55</a:t>
            </a:r>
          </a:p>
        </p:txBody>
      </p:sp>
      <p:sp>
        <p:nvSpPr>
          <p:cNvPr id="43" name="Flèche : en arc 42">
            <a:extLst>
              <a:ext uri="{FF2B5EF4-FFF2-40B4-BE49-F238E27FC236}">
                <a16:creationId xmlns:a16="http://schemas.microsoft.com/office/drawing/2014/main" id="{941E4BFF-D7B6-F1E7-9497-8EF9145F14C3}"/>
              </a:ext>
            </a:extLst>
          </p:cNvPr>
          <p:cNvSpPr/>
          <p:nvPr/>
        </p:nvSpPr>
        <p:spPr>
          <a:xfrm rot="16200000" flipV="1">
            <a:off x="6702658" y="922479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517105A-A2C7-15FA-49B3-CE46C29BB1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0145" y="2102055"/>
            <a:ext cx="5041497" cy="3804178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56D17D3F-B7D2-AE48-46A6-D893034796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968" y="2102055"/>
            <a:ext cx="4680368" cy="3804178"/>
          </a:xfrm>
          <a:prstGeom prst="rect">
            <a:avLst/>
          </a:prstGeom>
        </p:spPr>
      </p:pic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55AD878F-03A6-4896-5392-BAB3E6296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5124052"/>
              </p:ext>
            </p:extLst>
          </p:nvPr>
        </p:nvGraphicFramePr>
        <p:xfrm>
          <a:off x="4842448" y="142465"/>
          <a:ext cx="6930138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203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214650">
                <a:tc>
                  <a:txBody>
                    <a:bodyPr/>
                    <a:lstStyle/>
                    <a:p>
                      <a:r>
                        <a:rPr lang="fr-FR" sz="1400" dirty="0"/>
                        <a:t>260708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Nu (cm-1)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FWHM_phase</a:t>
                      </a:r>
                      <a:r>
                        <a:rPr lang="fr-FR" sz="1400" dirty="0"/>
                        <a:t> (cm-1)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2ps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61552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4870A0F4-14E7-DC09-6AF6-8143AFE2A75A}"/>
              </a:ext>
            </a:extLst>
          </p:cNvPr>
          <p:cNvSpPr txBox="1"/>
          <p:nvPr/>
        </p:nvSpPr>
        <p:spPr>
          <a:xfrm>
            <a:off x="7126868" y="562922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0.55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9B672062-B83C-1B8A-175D-85D0D9127EFB}"/>
              </a:ext>
            </a:extLst>
          </p:cNvPr>
          <p:cNvSpPr txBox="1"/>
          <p:nvPr/>
        </p:nvSpPr>
        <p:spPr>
          <a:xfrm>
            <a:off x="7126868" y="1168973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0.73</a:t>
            </a:r>
          </a:p>
        </p:txBody>
      </p:sp>
      <p:sp>
        <p:nvSpPr>
          <p:cNvPr id="12" name="Flèche : en arc 11">
            <a:extLst>
              <a:ext uri="{FF2B5EF4-FFF2-40B4-BE49-F238E27FC236}">
                <a16:creationId xmlns:a16="http://schemas.microsoft.com/office/drawing/2014/main" id="{9909E1E9-1314-9F07-ABB5-61E6A884C906}"/>
              </a:ext>
            </a:extLst>
          </p:cNvPr>
          <p:cNvSpPr/>
          <p:nvPr/>
        </p:nvSpPr>
        <p:spPr>
          <a:xfrm rot="16200000" flipV="1">
            <a:off x="6857923" y="1153452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5" name="Flèche : en arc 14">
            <a:extLst>
              <a:ext uri="{FF2B5EF4-FFF2-40B4-BE49-F238E27FC236}">
                <a16:creationId xmlns:a16="http://schemas.microsoft.com/office/drawing/2014/main" id="{DB5BB741-AF93-B1BA-F392-33D7314A72B3}"/>
              </a:ext>
            </a:extLst>
          </p:cNvPr>
          <p:cNvSpPr/>
          <p:nvPr/>
        </p:nvSpPr>
        <p:spPr>
          <a:xfrm rot="16200000" flipV="1">
            <a:off x="6840310" y="528941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C472F4D5-4D73-5119-BF97-8E101A479E1B}"/>
              </a:ext>
            </a:extLst>
          </p:cNvPr>
          <p:cNvCxnSpPr>
            <a:cxnSpLocks/>
          </p:cNvCxnSpPr>
          <p:nvPr/>
        </p:nvCxnSpPr>
        <p:spPr>
          <a:xfrm>
            <a:off x="6560820" y="5425440"/>
            <a:ext cx="533177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E001F5E7-453E-56BA-9AB1-950D60F358AA}"/>
              </a:ext>
            </a:extLst>
          </p:cNvPr>
          <p:cNvSpPr txBox="1"/>
          <p:nvPr/>
        </p:nvSpPr>
        <p:spPr>
          <a:xfrm>
            <a:off x="11275116" y="5120640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SNR</a:t>
            </a:r>
          </a:p>
        </p:txBody>
      </p:sp>
    </p:spTree>
    <p:extLst>
      <p:ext uri="{BB962C8B-B14F-4D97-AF65-F5344CB8AC3E}">
        <p14:creationId xmlns:p14="http://schemas.microsoft.com/office/powerpoint/2010/main" val="120458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AFCEC-21E3-450E-DABC-B156E06CA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C274F36-5E28-52CA-CE23-60FB9DB0C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ABED340-FB77-779B-1703-73A17F3A5DD4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7CE607F-9E43-5D43-E7CD-84CBDB011FF8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58A6C6CD-0E6D-A131-659E-72F68189E238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0DB29059-38A6-5B14-D210-4E71FC2B955B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9554DD00-FB48-6175-C876-CFAD1F746C5A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4DEDB0D4-76CF-CAE4-E541-F7F71096DAAE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ZoneTexte 3">
            <a:extLst>
              <a:ext uri="{FF2B5EF4-FFF2-40B4-BE49-F238E27FC236}">
                <a16:creationId xmlns:a16="http://schemas.microsoft.com/office/drawing/2014/main" id="{AE325897-C12F-8F38-A6D1-EAAD9BFEB76B}"/>
              </a:ext>
            </a:extLst>
          </p:cNvPr>
          <p:cNvSpPr txBox="1"/>
          <p:nvPr/>
        </p:nvSpPr>
        <p:spPr>
          <a:xfrm>
            <a:off x="1161412" y="2235336"/>
            <a:ext cx="75295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/>
              <a:t>2ps</a:t>
            </a:r>
            <a:r>
              <a:rPr lang="fr-FR" sz="1800"/>
              <a:t> - Fwhm_instr = 13.5 (14 mesuré)</a:t>
            </a:r>
            <a:endParaRPr lang="fr-FR" sz="18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49C109E-7144-A482-8127-541BD47E6E60}"/>
              </a:ext>
            </a:extLst>
          </p:cNvPr>
          <p:cNvSpPr txBox="1"/>
          <p:nvPr/>
        </p:nvSpPr>
        <p:spPr>
          <a:xfrm>
            <a:off x="7556310" y="2260893"/>
            <a:ext cx="6162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7ps</a:t>
            </a:r>
            <a:r>
              <a:rPr lang="fr-FR" sz="1800" dirty="0"/>
              <a:t> - </a:t>
            </a:r>
            <a:r>
              <a:rPr lang="fr-FR" sz="1800" dirty="0" err="1"/>
              <a:t>Fwhm_instr</a:t>
            </a:r>
            <a:r>
              <a:rPr lang="fr-FR" sz="1800" dirty="0"/>
              <a:t> = 2.8 (4.4 mesuré)</a:t>
            </a:r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BC06ABA-0842-6A65-37AC-99D1EB4FFB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1212383"/>
              </p:ext>
            </p:extLst>
          </p:nvPr>
        </p:nvGraphicFramePr>
        <p:xfrm>
          <a:off x="4842448" y="142465"/>
          <a:ext cx="6930138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203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214650">
                <a:tc>
                  <a:txBody>
                    <a:bodyPr/>
                    <a:lstStyle/>
                    <a:p>
                      <a:r>
                        <a:rPr lang="fr-FR" sz="1400" dirty="0"/>
                        <a:t>260708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Nu (cm-1)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FWHM_phase</a:t>
                      </a:r>
                      <a:r>
                        <a:rPr lang="fr-FR" sz="1400" dirty="0"/>
                        <a:t> (cm-1)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2ps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61552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F866398-A806-653E-A5F2-6A927DD97FA1}"/>
              </a:ext>
            </a:extLst>
          </p:cNvPr>
          <p:cNvSpPr txBox="1"/>
          <p:nvPr/>
        </p:nvSpPr>
        <p:spPr>
          <a:xfrm>
            <a:off x="7126868" y="562922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0.55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B2CBB44-D553-91FD-A10F-E08411E2039E}"/>
              </a:ext>
            </a:extLst>
          </p:cNvPr>
          <p:cNvSpPr txBox="1"/>
          <p:nvPr/>
        </p:nvSpPr>
        <p:spPr>
          <a:xfrm>
            <a:off x="7126868" y="1168973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0.73</a:t>
            </a:r>
          </a:p>
        </p:txBody>
      </p:sp>
      <p:sp>
        <p:nvSpPr>
          <p:cNvPr id="24" name="Flèche : en arc 23">
            <a:extLst>
              <a:ext uri="{FF2B5EF4-FFF2-40B4-BE49-F238E27FC236}">
                <a16:creationId xmlns:a16="http://schemas.microsoft.com/office/drawing/2014/main" id="{AEA51E0A-CA56-299C-4F8F-5F608D469169}"/>
              </a:ext>
            </a:extLst>
          </p:cNvPr>
          <p:cNvSpPr/>
          <p:nvPr/>
        </p:nvSpPr>
        <p:spPr>
          <a:xfrm rot="16200000" flipV="1">
            <a:off x="6857923" y="1153452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7" name="Flèche : en arc 26">
            <a:extLst>
              <a:ext uri="{FF2B5EF4-FFF2-40B4-BE49-F238E27FC236}">
                <a16:creationId xmlns:a16="http://schemas.microsoft.com/office/drawing/2014/main" id="{224FA0B0-B7A6-0B7B-7123-9BB44796EED4}"/>
              </a:ext>
            </a:extLst>
          </p:cNvPr>
          <p:cNvSpPr/>
          <p:nvPr/>
        </p:nvSpPr>
        <p:spPr>
          <a:xfrm rot="16200000" flipV="1">
            <a:off x="6840310" y="528941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6F3FCA81-CD47-C848-1208-11B7CD6DD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99" y="2749053"/>
            <a:ext cx="5805362" cy="3966482"/>
          </a:xfrm>
          <a:prstGeom prst="rect">
            <a:avLst/>
          </a:prstGeom>
        </p:spPr>
      </p:pic>
      <p:sp>
        <p:nvSpPr>
          <p:cNvPr id="38" name="ZoneTexte 37">
            <a:extLst>
              <a:ext uri="{FF2B5EF4-FFF2-40B4-BE49-F238E27FC236}">
                <a16:creationId xmlns:a16="http://schemas.microsoft.com/office/drawing/2014/main" id="{B9836C16-8E11-CFD9-671D-F65902A8A16E}"/>
              </a:ext>
            </a:extLst>
          </p:cNvPr>
          <p:cNvSpPr txBox="1"/>
          <p:nvPr/>
        </p:nvSpPr>
        <p:spPr>
          <a:xfrm>
            <a:off x="4780807" y="2809574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2,8</a:t>
            </a:r>
          </a:p>
        </p:txBody>
      </p:sp>
      <p:sp>
        <p:nvSpPr>
          <p:cNvPr id="41" name="Flèche : en arc 40">
            <a:extLst>
              <a:ext uri="{FF2B5EF4-FFF2-40B4-BE49-F238E27FC236}">
                <a16:creationId xmlns:a16="http://schemas.microsoft.com/office/drawing/2014/main" id="{247AEE50-F749-30E7-7561-D181CE0EE07E}"/>
              </a:ext>
            </a:extLst>
          </p:cNvPr>
          <p:cNvSpPr/>
          <p:nvPr/>
        </p:nvSpPr>
        <p:spPr>
          <a:xfrm rot="16200000" flipV="1">
            <a:off x="4813373" y="3054288"/>
            <a:ext cx="409017" cy="433577"/>
          </a:xfrm>
          <a:prstGeom prst="circularArrow">
            <a:avLst>
              <a:gd name="adj1" fmla="val 15894"/>
              <a:gd name="adj2" fmla="val 1092206"/>
              <a:gd name="adj3" fmla="val 4078263"/>
              <a:gd name="adj4" fmla="val 16590273"/>
              <a:gd name="adj5" fmla="val 171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565EC03B-9AF0-0AD1-E46A-821FD4DEBC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2978" y="2942589"/>
            <a:ext cx="5449608" cy="3730040"/>
          </a:xfrm>
          <a:prstGeom prst="rect">
            <a:avLst/>
          </a:prstGeom>
        </p:spPr>
      </p:pic>
      <p:sp>
        <p:nvSpPr>
          <p:cNvPr id="45" name="ZoneTexte 44">
            <a:extLst>
              <a:ext uri="{FF2B5EF4-FFF2-40B4-BE49-F238E27FC236}">
                <a16:creationId xmlns:a16="http://schemas.microsoft.com/office/drawing/2014/main" id="{64923707-1A98-CC2E-012D-79577D719FF3}"/>
              </a:ext>
            </a:extLst>
          </p:cNvPr>
          <p:cNvSpPr txBox="1"/>
          <p:nvPr/>
        </p:nvSpPr>
        <p:spPr>
          <a:xfrm>
            <a:off x="10617361" y="287096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4.1</a:t>
            </a:r>
          </a:p>
        </p:txBody>
      </p:sp>
      <p:sp>
        <p:nvSpPr>
          <p:cNvPr id="47" name="Flèche : en arc 46">
            <a:extLst>
              <a:ext uri="{FF2B5EF4-FFF2-40B4-BE49-F238E27FC236}">
                <a16:creationId xmlns:a16="http://schemas.microsoft.com/office/drawing/2014/main" id="{B5CC02DE-FACB-CC26-6C1B-4E2CAD8BFC0D}"/>
              </a:ext>
            </a:extLst>
          </p:cNvPr>
          <p:cNvSpPr/>
          <p:nvPr/>
        </p:nvSpPr>
        <p:spPr>
          <a:xfrm rot="16200000" flipV="1">
            <a:off x="10626280" y="3139327"/>
            <a:ext cx="456311" cy="433577"/>
          </a:xfrm>
          <a:prstGeom prst="circularArrow">
            <a:avLst>
              <a:gd name="adj1" fmla="val 15894"/>
              <a:gd name="adj2" fmla="val 1092206"/>
              <a:gd name="adj3" fmla="val 4078263"/>
              <a:gd name="adj4" fmla="val 16590273"/>
              <a:gd name="adj5" fmla="val 171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34348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E2187-4F3B-4B31-73F9-4783A0A16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88CAB53-09BE-85C2-3EFF-A94A2A58B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58CF158-3DF0-2340-ADBA-EBBA950B4FD6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EEF961A4-7E3C-643D-DB5F-3A154493AE11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0DB7F7A-934F-152D-6353-65F99A1AF02E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839A8725-4B0D-B4CF-E068-7BFA183B0CB0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50755FD-051A-9943-0A7E-E4FEA1D36B9E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C21E3483-4461-B5B2-99A6-174DDFA3D464}"/>
              </a:ext>
            </a:extLst>
          </p:cNvPr>
          <p:cNvSpPr txBox="1"/>
          <p:nvPr/>
        </p:nvSpPr>
        <p:spPr>
          <a:xfrm>
            <a:off x="127453" y="1043115"/>
            <a:ext cx="38259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2ps</a:t>
            </a:r>
            <a:r>
              <a:rPr lang="fr-FR" dirty="0"/>
              <a:t> - </a:t>
            </a:r>
            <a:r>
              <a:rPr lang="fr-FR" dirty="0" err="1"/>
              <a:t>Fwhm_instr</a:t>
            </a:r>
            <a:r>
              <a:rPr lang="fr-FR" dirty="0"/>
              <a:t> = 13.6 (14 mesuré)</a:t>
            </a:r>
          </a:p>
          <a:p>
            <a:r>
              <a:rPr lang="fr-FR" dirty="0"/>
              <a:t>params.roi1 = [90 95 100 105];</a:t>
            </a:r>
          </a:p>
          <a:p>
            <a:r>
              <a:rPr lang="fr-FR" dirty="0"/>
              <a:t>params.roi2 = [23 30 60 69];</a:t>
            </a:r>
          </a:p>
          <a:p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F52A7A6-EE50-53EF-9161-4BE2C0063DE9}"/>
              </a:ext>
            </a:extLst>
          </p:cNvPr>
          <p:cNvSpPr txBox="1"/>
          <p:nvPr/>
        </p:nvSpPr>
        <p:spPr>
          <a:xfrm>
            <a:off x="8569618" y="1273948"/>
            <a:ext cx="3719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7ps</a:t>
            </a:r>
            <a:r>
              <a:rPr lang="fr-FR" dirty="0"/>
              <a:t> - </a:t>
            </a:r>
            <a:r>
              <a:rPr lang="fr-FR" dirty="0" err="1"/>
              <a:t>Fwhm_instr</a:t>
            </a:r>
            <a:r>
              <a:rPr lang="fr-FR" dirty="0"/>
              <a:t> = 2.8 (4.4 mesuré)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4AADD12-669F-A5C2-DEA8-EC677A4E2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827" y="283247"/>
            <a:ext cx="2168173" cy="18424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E13496F-44C2-A9D3-6B53-A63622766E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0733" y="270769"/>
            <a:ext cx="2168174" cy="1854939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57598D47-D75E-0986-28CF-A2CACDC2A8F9}"/>
              </a:ext>
            </a:extLst>
          </p:cNvPr>
          <p:cNvSpPr txBox="1"/>
          <p:nvPr/>
        </p:nvSpPr>
        <p:spPr>
          <a:xfrm>
            <a:off x="4187600" y="1489392"/>
            <a:ext cx="6314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2ps</a:t>
            </a:r>
            <a:endParaRPr lang="fr-FR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78E3CB6F-C239-6C51-25B5-8852F0DE8E59}"/>
              </a:ext>
            </a:extLst>
          </p:cNvPr>
          <p:cNvSpPr txBox="1"/>
          <p:nvPr/>
        </p:nvSpPr>
        <p:spPr>
          <a:xfrm>
            <a:off x="6520180" y="1501654"/>
            <a:ext cx="627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7ps</a:t>
            </a:r>
            <a:endParaRPr lang="fr-FR" dirty="0"/>
          </a:p>
        </p:txBody>
      </p: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F8A26505-58B9-C9B7-A30A-5F46BA503239}"/>
              </a:ext>
            </a:extLst>
          </p:cNvPr>
          <p:cNvCxnSpPr/>
          <p:nvPr/>
        </p:nvCxnSpPr>
        <p:spPr>
          <a:xfrm>
            <a:off x="6167120" y="42488"/>
            <a:ext cx="0" cy="65513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9710F4D7-3DA5-54E9-7DB9-684414AF8F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381" y="2168024"/>
            <a:ext cx="5794045" cy="395875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DD2C914-B3E8-691E-0587-6088A0F5F138}"/>
              </a:ext>
            </a:extLst>
          </p:cNvPr>
          <p:cNvSpPr txBox="1"/>
          <p:nvPr/>
        </p:nvSpPr>
        <p:spPr>
          <a:xfrm>
            <a:off x="2837206" y="2081791"/>
            <a:ext cx="6314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2ps</a:t>
            </a: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3DA0DB6-B8E3-DA7F-63D0-912DF3E670D7}"/>
              </a:ext>
            </a:extLst>
          </p:cNvPr>
          <p:cNvSpPr txBox="1"/>
          <p:nvPr/>
        </p:nvSpPr>
        <p:spPr>
          <a:xfrm>
            <a:off x="4775361" y="233063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2,9</a:t>
            </a:r>
          </a:p>
        </p:txBody>
      </p:sp>
      <p:sp>
        <p:nvSpPr>
          <p:cNvPr id="15" name="Flèche : en arc 14">
            <a:extLst>
              <a:ext uri="{FF2B5EF4-FFF2-40B4-BE49-F238E27FC236}">
                <a16:creationId xmlns:a16="http://schemas.microsoft.com/office/drawing/2014/main" id="{3E7AB9BA-F7B7-B572-6D19-F5E2B3612DF6}"/>
              </a:ext>
            </a:extLst>
          </p:cNvPr>
          <p:cNvSpPr/>
          <p:nvPr/>
        </p:nvSpPr>
        <p:spPr>
          <a:xfrm rot="16200000" flipV="1">
            <a:off x="4796536" y="2586736"/>
            <a:ext cx="431800" cy="433577"/>
          </a:xfrm>
          <a:prstGeom prst="circularArrow">
            <a:avLst>
              <a:gd name="adj1" fmla="val 15894"/>
              <a:gd name="adj2" fmla="val 1092206"/>
              <a:gd name="adj3" fmla="val 4078263"/>
              <a:gd name="adj4" fmla="val 16590273"/>
              <a:gd name="adj5" fmla="val 171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85C2AB93-89B1-A45B-A25D-16AF865174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0733" y="2209572"/>
            <a:ext cx="5803812" cy="396542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9E024EA-4CFA-F3C4-BAAF-755E43E9B1F6}"/>
              </a:ext>
            </a:extLst>
          </p:cNvPr>
          <p:cNvSpPr txBox="1"/>
          <p:nvPr/>
        </p:nvSpPr>
        <p:spPr>
          <a:xfrm>
            <a:off x="8899337" y="2018749"/>
            <a:ext cx="65176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7ps</a:t>
            </a:r>
            <a:endParaRPr lang="fr-FR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9C1A6241-95B0-E381-2D96-0AFF00E70251}"/>
              </a:ext>
            </a:extLst>
          </p:cNvPr>
          <p:cNvSpPr txBox="1"/>
          <p:nvPr/>
        </p:nvSpPr>
        <p:spPr>
          <a:xfrm>
            <a:off x="11098032" y="220957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</a:t>
            </a:r>
          </a:p>
        </p:txBody>
      </p:sp>
      <p:sp>
        <p:nvSpPr>
          <p:cNvPr id="30" name="Flèche : en arc 29">
            <a:extLst>
              <a:ext uri="{FF2B5EF4-FFF2-40B4-BE49-F238E27FC236}">
                <a16:creationId xmlns:a16="http://schemas.microsoft.com/office/drawing/2014/main" id="{9317CBBB-A39E-C0F7-0B10-7AC5567CA952}"/>
              </a:ext>
            </a:extLst>
          </p:cNvPr>
          <p:cNvSpPr/>
          <p:nvPr/>
        </p:nvSpPr>
        <p:spPr>
          <a:xfrm rot="16200000" flipV="1">
            <a:off x="11119207" y="2465677"/>
            <a:ext cx="431800" cy="433577"/>
          </a:xfrm>
          <a:prstGeom prst="circularArrow">
            <a:avLst>
              <a:gd name="adj1" fmla="val 15894"/>
              <a:gd name="adj2" fmla="val 1092206"/>
              <a:gd name="adj3" fmla="val 4078263"/>
              <a:gd name="adj4" fmla="val 16590273"/>
              <a:gd name="adj5" fmla="val 171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058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094050-C3E1-6B51-F4C2-E83A884E9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187325"/>
            <a:ext cx="3733800" cy="1325563"/>
          </a:xfrm>
        </p:spPr>
        <p:txBody>
          <a:bodyPr/>
          <a:lstStyle/>
          <a:p>
            <a:r>
              <a:rPr lang="fr-FR" dirty="0"/>
              <a:t>Littérature </a:t>
            </a:r>
            <a:r>
              <a:rPr lang="fr-FR" dirty="0" err="1"/>
              <a:t>Vatérite</a:t>
            </a:r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783EC50-7CB4-6D09-4513-3D5E9D14E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784" y="503237"/>
            <a:ext cx="6894298" cy="609646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E1B607D-033F-CDF7-A873-4C0EA84E1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18" y="1379265"/>
            <a:ext cx="4667901" cy="3896269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04E5764F-3EF7-BB49-E6B4-EE2F8F73D686}"/>
              </a:ext>
            </a:extLst>
          </p:cNvPr>
          <p:cNvSpPr txBox="1"/>
          <p:nvPr/>
        </p:nvSpPr>
        <p:spPr>
          <a:xfrm>
            <a:off x="314900" y="5399376"/>
            <a:ext cx="46679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Wehrmeister, U., et al. (2010).</a:t>
            </a:r>
            <a:r>
              <a:rPr lang="fr-FR" dirty="0"/>
              <a:t> </a:t>
            </a:r>
            <a:r>
              <a:rPr lang="fr-FR" i="1" dirty="0"/>
              <a:t>Raman </a:t>
            </a:r>
            <a:r>
              <a:rPr lang="fr-FR" i="1" dirty="0" err="1"/>
              <a:t>spectroscopy</a:t>
            </a:r>
            <a:r>
              <a:rPr lang="fr-FR" i="1" dirty="0"/>
              <a:t> of </a:t>
            </a:r>
            <a:r>
              <a:rPr lang="fr-FR" i="1" dirty="0" err="1"/>
              <a:t>synthetic</a:t>
            </a:r>
            <a:r>
              <a:rPr lang="fr-FR" i="1" dirty="0"/>
              <a:t>, </a:t>
            </a:r>
            <a:r>
              <a:rPr lang="fr-FR" i="1" dirty="0" err="1"/>
              <a:t>geological</a:t>
            </a:r>
            <a:r>
              <a:rPr lang="fr-FR" i="1" dirty="0"/>
              <a:t> and </a:t>
            </a:r>
            <a:r>
              <a:rPr lang="fr-FR" i="1" dirty="0" err="1"/>
              <a:t>biological</a:t>
            </a:r>
            <a:r>
              <a:rPr lang="fr-FR" i="1" dirty="0"/>
              <a:t> </a:t>
            </a:r>
            <a:r>
              <a:rPr lang="fr-FR" i="1" dirty="0" err="1"/>
              <a:t>vaterite</a:t>
            </a:r>
            <a:r>
              <a:rPr lang="fr-FR" i="1" dirty="0"/>
              <a:t>: a Raman </a:t>
            </a:r>
            <a:r>
              <a:rPr lang="fr-FR" i="1" dirty="0" err="1"/>
              <a:t>spectroscopic</a:t>
            </a:r>
            <a:r>
              <a:rPr lang="fr-FR" i="1" dirty="0"/>
              <a:t> </a:t>
            </a:r>
            <a:r>
              <a:rPr lang="fr-FR" i="1" dirty="0" err="1"/>
              <a:t>study</a:t>
            </a:r>
            <a:r>
              <a:rPr lang="fr-FR" i="1" dirty="0"/>
              <a:t>.</a:t>
            </a:r>
            <a:r>
              <a:rPr lang="fr-FR" dirty="0"/>
              <a:t> Journal of Raman </a:t>
            </a:r>
            <a:r>
              <a:rPr lang="fr-FR" dirty="0" err="1"/>
              <a:t>Spectroscopy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81468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991801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9800" b="1" dirty="0"/>
              <a:t>7ps 260527 </a:t>
            </a:r>
            <a:r>
              <a:rPr lang="fr-FR" sz="9800" b="1" dirty="0" err="1"/>
              <a:t>Vatérite</a:t>
            </a:r>
            <a:r>
              <a:rPr lang="fr-FR" sz="98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5271907" y="134227"/>
            <a:ext cx="2452255" cy="2213264"/>
            <a:chOff x="5341683" y="134227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341683" y="134227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511536" y="396776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8082996" y="989788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Résultat du fit :</a:t>
            </a:r>
          </a:p>
          <a:p>
            <a:r>
              <a:rPr lang="fr-FR" dirty="0"/>
              <a:t>Phase VAT : </a:t>
            </a:r>
            <a:r>
              <a:rPr lang="fr-FR" dirty="0" err="1"/>
              <a:t>A_fit</a:t>
            </a:r>
            <a:r>
              <a:rPr lang="fr-FR" dirty="0"/>
              <a:t> = 1099</a:t>
            </a:r>
          </a:p>
          <a:p>
            <a:pPr lvl="1"/>
            <a:r>
              <a:rPr lang="fr-FR" dirty="0"/>
              <a:t>- Raie 1 : nu = 1074.23 cm^-1</a:t>
            </a:r>
          </a:p>
          <a:p>
            <a:pPr lvl="1"/>
            <a:r>
              <a:rPr lang="fr-FR" dirty="0"/>
              <a:t>- Raie 2 : nu = 1080.78 cm^-1</a:t>
            </a:r>
          </a:p>
          <a:p>
            <a:pPr lvl="1"/>
            <a:r>
              <a:rPr lang="fr-FR" dirty="0"/>
              <a:t>- Raie 3 : nu = 1090.09 cm^-1</a:t>
            </a:r>
          </a:p>
          <a:p>
            <a:pPr lvl="1"/>
            <a:r>
              <a:rPr lang="fr-FR" dirty="0"/>
              <a:t>- FWHM 1 : FWHM = 3.04 cm^-1</a:t>
            </a:r>
          </a:p>
          <a:p>
            <a:pPr lvl="1"/>
            <a:r>
              <a:rPr lang="fr-FR" dirty="0"/>
              <a:t>- FWHM 2 : FWHM = 2.85 cm^-1</a:t>
            </a:r>
          </a:p>
          <a:p>
            <a:pPr lvl="1"/>
            <a:r>
              <a:rPr lang="fr-FR" dirty="0"/>
              <a:t>- FWHM 3 : FWHM = 5.34 cm^-1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ADD10F0-082C-C897-2B4A-03B69E1FAB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9059" y="120637"/>
            <a:ext cx="3083858" cy="266131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204C8965-24CB-7543-BBD7-BEA8F0CC02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159" y="3241800"/>
            <a:ext cx="4810837" cy="3647515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EEAA211-7761-C6A0-C575-018FBD2A64F3}"/>
              </a:ext>
            </a:extLst>
          </p:cNvPr>
          <p:cNvSpPr txBox="1"/>
          <p:nvPr/>
        </p:nvSpPr>
        <p:spPr>
          <a:xfrm>
            <a:off x="8103701" y="531699"/>
            <a:ext cx="6915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Ratio_model</a:t>
            </a:r>
            <a:r>
              <a:rPr lang="fr-FR" sz="1800" b="0" i="0" dirty="0">
                <a:effectLst/>
                <a:latin typeface="+mn-lt"/>
              </a:rPr>
              <a:t>  = [0.</a:t>
            </a:r>
            <a:r>
              <a:rPr lang="fr-FR" dirty="0"/>
              <a:t>45</a:t>
            </a:r>
            <a:r>
              <a:rPr lang="fr-FR" sz="1800" b="0" i="0" dirty="0">
                <a:effectLst/>
                <a:latin typeface="+mn-lt"/>
              </a:rPr>
              <a:t> 0.28 1];</a:t>
            </a:r>
            <a:endParaRPr lang="fr-FR" sz="1000" b="0" i="0" dirty="0">
              <a:effectLst/>
              <a:latin typeface="Menl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7DC988D3-4A8E-4F05-4433-1C2C49DF3A9D}"/>
              </a:ext>
            </a:extLst>
          </p:cNvPr>
          <p:cNvCxnSpPr>
            <a:cxnSpLocks/>
          </p:cNvCxnSpPr>
          <p:nvPr/>
        </p:nvCxnSpPr>
        <p:spPr>
          <a:xfrm flipH="1">
            <a:off x="6953557" y="5162550"/>
            <a:ext cx="18859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76A598A4-EFDF-3026-4EBE-E2F973B8129E}"/>
              </a:ext>
            </a:extLst>
          </p:cNvPr>
          <p:cNvCxnSpPr>
            <a:cxnSpLocks/>
          </p:cNvCxnSpPr>
          <p:nvPr/>
        </p:nvCxnSpPr>
        <p:spPr>
          <a:xfrm flipH="1">
            <a:off x="6953557" y="5543550"/>
            <a:ext cx="23002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5F1BCEAE-002A-2322-9958-AA9906002CFB}"/>
              </a:ext>
            </a:extLst>
          </p:cNvPr>
          <p:cNvSpPr txBox="1"/>
          <p:nvPr/>
        </p:nvSpPr>
        <p:spPr>
          <a:xfrm>
            <a:off x="6953557" y="4890317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0.5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359C2B4-5BDD-6DE2-BB45-1605F4D0971D}"/>
              </a:ext>
            </a:extLst>
          </p:cNvPr>
          <p:cNvSpPr txBox="1"/>
          <p:nvPr/>
        </p:nvSpPr>
        <p:spPr>
          <a:xfrm>
            <a:off x="6953557" y="5273453"/>
            <a:ext cx="5277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0.35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D3426EC-6C24-C29D-3F81-489FCF5E37F2}"/>
              </a:ext>
            </a:extLst>
          </p:cNvPr>
          <p:cNvSpPr txBox="1"/>
          <p:nvPr/>
        </p:nvSpPr>
        <p:spPr>
          <a:xfrm>
            <a:off x="7236926" y="3863350"/>
            <a:ext cx="17335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Synthetic samples made by Clémentine </a:t>
            </a:r>
            <a:endParaRPr lang="fr-FR" sz="1200" dirty="0"/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23E67255-8E4E-FCF7-24FD-E15D5CBB93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999" y="2674973"/>
            <a:ext cx="5612088" cy="4183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960175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Résultat du fit :</a:t>
            </a:r>
            <a:endParaRPr lang="fr-FR" dirty="0"/>
          </a:p>
          <a:p>
            <a:r>
              <a:rPr lang="fr-FR" dirty="0"/>
              <a:t>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411C5946-A1DA-EA54-03BF-41CD8F4A62DE}"/>
              </a:ext>
            </a:extLst>
          </p:cNvPr>
          <p:cNvSpPr txBox="1"/>
          <p:nvPr/>
        </p:nvSpPr>
        <p:spPr>
          <a:xfrm>
            <a:off x="7735221" y="350359"/>
            <a:ext cx="69151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0" i="0" dirty="0" err="1">
                <a:effectLst/>
                <a:latin typeface="+mn-lt"/>
              </a:rPr>
              <a:t>Ratio_model</a:t>
            </a:r>
            <a:r>
              <a:rPr lang="fr-FR" sz="1800" b="0" i="0" dirty="0">
                <a:effectLst/>
                <a:latin typeface="+mn-lt"/>
              </a:rPr>
              <a:t>  = </a:t>
            </a:r>
            <a:r>
              <a:rPr lang="fr-FR" dirty="0" err="1"/>
              <a:t>Ratio_model</a:t>
            </a:r>
            <a:r>
              <a:rPr lang="fr-FR" dirty="0"/>
              <a:t>  = [0.45 0.28 1];</a:t>
            </a:r>
            <a:endParaRPr lang="fr-FR" sz="1000" dirty="0">
              <a:latin typeface="Menlo"/>
            </a:endParaRPr>
          </a:p>
          <a:p>
            <a:pPr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2A440E2-92CF-63E0-F44E-A6C5F92308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1568" y="3520983"/>
            <a:ext cx="4329242" cy="322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E279-E16E-59A3-2FB1-6E2E27A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2CE60A7-112D-54F7-3F6B-077AA4683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7F9937E7-395B-F230-4F5C-3252AAB65C55}"/>
              </a:ext>
            </a:extLst>
          </p:cNvPr>
          <p:cNvGrpSpPr/>
          <p:nvPr/>
        </p:nvGrpSpPr>
        <p:grpSpPr>
          <a:xfrm>
            <a:off x="2632684" y="527937"/>
            <a:ext cx="2740212" cy="2717876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51426BF4-7F9B-F6F3-EC16-D538AFF1BD97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B0A2480-95BD-9304-54DA-1E1009906D16}"/>
                </a:ext>
              </a:extLst>
            </p:cNvPr>
            <p:cNvSpPr/>
            <p:nvPr/>
          </p:nvSpPr>
          <p:spPr>
            <a:xfrm>
              <a:off x="6233177" y="990807"/>
              <a:ext cx="64153" cy="627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15" name="Image 14">
            <a:extLst>
              <a:ext uri="{FF2B5EF4-FFF2-40B4-BE49-F238E27FC236}">
                <a16:creationId xmlns:a16="http://schemas.microsoft.com/office/drawing/2014/main" id="{F40F418F-9114-29BA-8446-5D72FBF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2338" y="3378560"/>
            <a:ext cx="4425198" cy="329878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78CEC086-BE33-D828-F329-DF65393CB4AB}"/>
              </a:ext>
            </a:extLst>
          </p:cNvPr>
          <p:cNvSpPr txBox="1"/>
          <p:nvPr/>
        </p:nvSpPr>
        <p:spPr>
          <a:xfrm>
            <a:off x="298430" y="2950328"/>
            <a:ext cx="1986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Nb points 125²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scan range 50 µm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0B5EEE-B02C-B8FF-0EEA-232675A115FC}"/>
              </a:ext>
            </a:extLst>
          </p:cNvPr>
          <p:cNvSpPr txBox="1"/>
          <p:nvPr/>
        </p:nvSpPr>
        <p:spPr>
          <a:xfrm>
            <a:off x="404103" y="4368788"/>
            <a:ext cx="1775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1 pix = 400 nm²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B4D1D046-2FBD-9B86-14E8-7DFA582067E8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1291700" y="3596659"/>
            <a:ext cx="0" cy="7721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3BFB569-CE02-4572-0C3D-859A06FCA64C}"/>
              </a:ext>
            </a:extLst>
          </p:cNvPr>
          <p:cNvCxnSpPr>
            <a:cxnSpLocks/>
          </p:cNvCxnSpPr>
          <p:nvPr/>
        </p:nvCxnSpPr>
        <p:spPr>
          <a:xfrm>
            <a:off x="7599638" y="3150383"/>
            <a:ext cx="82998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7A0F97C8-8BB7-C2CD-F254-A0FA84FD710F}"/>
              </a:ext>
            </a:extLst>
          </p:cNvPr>
          <p:cNvCxnSpPr>
            <a:cxnSpLocks/>
          </p:cNvCxnSpPr>
          <p:nvPr/>
        </p:nvCxnSpPr>
        <p:spPr>
          <a:xfrm>
            <a:off x="7614285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52B37E61-EC8D-E749-867C-E25490C20986}"/>
              </a:ext>
            </a:extLst>
          </p:cNvPr>
          <p:cNvCxnSpPr>
            <a:cxnSpLocks/>
          </p:cNvCxnSpPr>
          <p:nvPr/>
        </p:nvCxnSpPr>
        <p:spPr>
          <a:xfrm>
            <a:off x="4680997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ZoneTexte 41">
            <a:extLst>
              <a:ext uri="{FF2B5EF4-FFF2-40B4-BE49-F238E27FC236}">
                <a16:creationId xmlns:a16="http://schemas.microsoft.com/office/drawing/2014/main" id="{8BE3074A-378F-32A7-6A4C-A9BBE72CDC03}"/>
              </a:ext>
            </a:extLst>
          </p:cNvPr>
          <p:cNvSpPr txBox="1"/>
          <p:nvPr/>
        </p:nvSpPr>
        <p:spPr>
          <a:xfrm>
            <a:off x="4555042" y="27549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A80D06B2-3A39-A7EA-39B3-2D541710C4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164" y="519852"/>
            <a:ext cx="3285038" cy="2834931"/>
          </a:xfrm>
          <a:prstGeom prst="rect">
            <a:avLst/>
          </a:prstGeom>
        </p:spPr>
      </p:pic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91273D0-25E2-D0BA-D681-02B18C63CFAD}"/>
              </a:ext>
            </a:extLst>
          </p:cNvPr>
          <p:cNvCxnSpPr>
            <a:cxnSpLocks/>
          </p:cNvCxnSpPr>
          <p:nvPr/>
        </p:nvCxnSpPr>
        <p:spPr>
          <a:xfrm>
            <a:off x="7461885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130755A2-1552-4FAC-AFCF-448FA2C576F8}"/>
              </a:ext>
            </a:extLst>
          </p:cNvPr>
          <p:cNvSpPr txBox="1"/>
          <p:nvPr/>
        </p:nvSpPr>
        <p:spPr>
          <a:xfrm>
            <a:off x="7335930" y="26025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29D9301C-BCC8-4484-2215-72068124C9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4354" y="547217"/>
            <a:ext cx="3316567" cy="2834929"/>
          </a:xfrm>
          <a:prstGeom prst="rect">
            <a:avLst/>
          </a:prstGeom>
        </p:spPr>
      </p:pic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6B06CA82-286F-8AAA-0904-A0F61661FEEF}"/>
              </a:ext>
            </a:extLst>
          </p:cNvPr>
          <p:cNvCxnSpPr>
            <a:cxnSpLocks/>
          </p:cNvCxnSpPr>
          <p:nvPr/>
        </p:nvCxnSpPr>
        <p:spPr>
          <a:xfrm>
            <a:off x="10844576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363D10E4-25D9-16EB-1111-DFA167A2F5C5}"/>
              </a:ext>
            </a:extLst>
          </p:cNvPr>
          <p:cNvSpPr txBox="1"/>
          <p:nvPr/>
        </p:nvSpPr>
        <p:spPr>
          <a:xfrm>
            <a:off x="10718621" y="2602517"/>
            <a:ext cx="81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18A2CC17-881E-46D2-1119-1D2267C9AD36}"/>
              </a:ext>
            </a:extLst>
          </p:cNvPr>
          <p:cNvSpPr txBox="1"/>
          <p:nvPr/>
        </p:nvSpPr>
        <p:spPr>
          <a:xfrm>
            <a:off x="7334464" y="493888"/>
            <a:ext cx="2725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860C8DED-F8F2-12B9-6698-4BA150B67D75}"/>
              </a:ext>
            </a:extLst>
          </p:cNvPr>
          <p:cNvSpPr txBox="1"/>
          <p:nvPr/>
        </p:nvSpPr>
        <p:spPr>
          <a:xfrm>
            <a:off x="10790796" y="44021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FA64098B-3BB6-6163-17D1-5AC444B862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9256" y="3391248"/>
            <a:ext cx="4634613" cy="3428999"/>
          </a:xfrm>
          <a:prstGeom prst="rect">
            <a:avLst/>
          </a:prstGeom>
        </p:spPr>
      </p:pic>
      <p:sp>
        <p:nvSpPr>
          <p:cNvPr id="51" name="ZoneTexte 50">
            <a:extLst>
              <a:ext uri="{FF2B5EF4-FFF2-40B4-BE49-F238E27FC236}">
                <a16:creationId xmlns:a16="http://schemas.microsoft.com/office/drawing/2014/main" id="{0C462D07-659F-D0B3-5D2E-58686917F766}"/>
              </a:ext>
            </a:extLst>
          </p:cNvPr>
          <p:cNvSpPr txBox="1"/>
          <p:nvPr/>
        </p:nvSpPr>
        <p:spPr>
          <a:xfrm>
            <a:off x="10769407" y="359665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8D9F5B15-6DE8-E1AE-E746-0A5679FAE5F9}"/>
              </a:ext>
            </a:extLst>
          </p:cNvPr>
          <p:cNvCxnSpPr>
            <a:cxnSpLocks/>
          </p:cNvCxnSpPr>
          <p:nvPr/>
        </p:nvCxnSpPr>
        <p:spPr>
          <a:xfrm flipH="1">
            <a:off x="9468221" y="919724"/>
            <a:ext cx="596514" cy="28986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Image 6">
            <a:extLst>
              <a:ext uri="{FF2B5EF4-FFF2-40B4-BE49-F238E27FC236}">
                <a16:creationId xmlns:a16="http://schemas.microsoft.com/office/drawing/2014/main" id="{6EC3BC9E-E21B-FACB-01FB-2273A4B59E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95229" y="3375190"/>
            <a:ext cx="4639415" cy="345803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45E8E25-8A8C-88B0-2E1E-6EF2DDC9B162}"/>
              </a:ext>
            </a:extLst>
          </p:cNvPr>
          <p:cNvSpPr txBox="1"/>
          <p:nvPr/>
        </p:nvSpPr>
        <p:spPr>
          <a:xfrm>
            <a:off x="5901332" y="3935366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30774F66-3196-E725-E93A-ACB7FCE7ACCC}"/>
              </a:ext>
            </a:extLst>
          </p:cNvPr>
          <p:cNvCxnSpPr>
            <a:cxnSpLocks/>
          </p:cNvCxnSpPr>
          <p:nvPr/>
        </p:nvCxnSpPr>
        <p:spPr>
          <a:xfrm flipH="1">
            <a:off x="5720610" y="986283"/>
            <a:ext cx="1106926" cy="30777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6055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492" y="-39193"/>
            <a:ext cx="4228769" cy="1102043"/>
          </a:xfrm>
        </p:spPr>
        <p:txBody>
          <a:bodyPr>
            <a:normAutofit fontScale="90000"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6466E450-D8CF-B6F6-8F60-46F20EE2AA07}"/>
              </a:ext>
            </a:extLst>
          </p:cNvPr>
          <p:cNvSpPr txBox="1"/>
          <p:nvPr/>
        </p:nvSpPr>
        <p:spPr>
          <a:xfrm>
            <a:off x="7854741" y="176293"/>
            <a:ext cx="4129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0" i="0" dirty="0">
                <a:effectLst/>
                <a:latin typeface="+mn-lt"/>
              </a:rPr>
              <a:t>R2_min= 0.7;</a:t>
            </a:r>
          </a:p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threshold_sigma</a:t>
            </a:r>
            <a:r>
              <a:rPr lang="fr-FR" sz="1800" b="0" i="0" dirty="0">
                <a:effectLst/>
                <a:latin typeface="+mn-lt"/>
              </a:rPr>
              <a:t>= 4;</a:t>
            </a:r>
          </a:p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min_points_above_threshold</a:t>
            </a:r>
            <a:r>
              <a:rPr lang="fr-FR" sz="1800" b="0" i="0" dirty="0">
                <a:effectLst/>
                <a:latin typeface="+mn-lt"/>
              </a:rPr>
              <a:t> = 2;</a:t>
            </a:r>
            <a:endParaRPr lang="fr-FR" sz="1000" dirty="0">
              <a:latin typeface="Menlo"/>
            </a:endParaRPr>
          </a:p>
          <a:p>
            <a:pPr>
              <a:buNone/>
            </a:pPr>
            <a:r>
              <a:rPr lang="fr-FR" b="0" i="0" dirty="0">
                <a:effectLst/>
              </a:rPr>
              <a:t>ACC if A(ACC)</a:t>
            </a:r>
            <a:r>
              <a:rPr lang="fr-FR" dirty="0"/>
              <a:t>&gt;</a:t>
            </a:r>
            <a:r>
              <a:rPr lang="el-GR" b="1" dirty="0"/>
              <a:t> Γ </a:t>
            </a:r>
            <a:r>
              <a:rPr lang="fr-FR" dirty="0"/>
              <a:t>A(ARA) : </a:t>
            </a:r>
            <a:endParaRPr lang="fr-FR" b="0" i="0" dirty="0">
              <a:effectLst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9D11103-695B-3024-1C6D-F47BFAAFB0F0}"/>
              </a:ext>
            </a:extLst>
          </p:cNvPr>
          <p:cNvSpPr txBox="1"/>
          <p:nvPr/>
        </p:nvSpPr>
        <p:spPr>
          <a:xfrm>
            <a:off x="2440219" y="4229466"/>
            <a:ext cx="61367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3600" b="1" dirty="0"/>
              <a:t>Γ</a:t>
            </a:r>
            <a:r>
              <a:rPr lang="fr-FR" sz="3600" b="1" dirty="0"/>
              <a:t> = 1</a:t>
            </a:r>
            <a:endParaRPr lang="fr-FR" sz="3600" dirty="0"/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8A4E8F01-7786-EB05-F512-E4BE96383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7961" y="1730640"/>
            <a:ext cx="6430296" cy="4951067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6F540607-8E94-51BE-EA96-3459967929E7}"/>
              </a:ext>
            </a:extLst>
          </p:cNvPr>
          <p:cNvSpPr txBox="1"/>
          <p:nvPr/>
        </p:nvSpPr>
        <p:spPr>
          <a:xfrm>
            <a:off x="5934811" y="1108213"/>
            <a:ext cx="61367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3600" b="1" dirty="0"/>
              <a:t>Γ</a:t>
            </a:r>
            <a:r>
              <a:rPr lang="fr-FR" sz="3600" b="1" dirty="0"/>
              <a:t> = 0.3</a:t>
            </a:r>
            <a:endParaRPr lang="fr-FR" sz="3600" dirty="0"/>
          </a:p>
        </p:txBody>
      </p:sp>
      <p:pic>
        <p:nvPicPr>
          <p:cNvPr id="38" name="Image 37">
            <a:extLst>
              <a:ext uri="{FF2B5EF4-FFF2-40B4-BE49-F238E27FC236}">
                <a16:creationId xmlns:a16="http://schemas.microsoft.com/office/drawing/2014/main" id="{F4FB9592-0A2C-262E-73A0-8D307CCD4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6936" y="4206173"/>
            <a:ext cx="2348921" cy="2403723"/>
          </a:xfrm>
          <a:prstGeom prst="rect">
            <a:avLst/>
          </a:prstGeom>
        </p:spPr>
      </p:pic>
      <p:pic>
        <p:nvPicPr>
          <p:cNvPr id="40" name="Image 39">
            <a:extLst>
              <a:ext uri="{FF2B5EF4-FFF2-40B4-BE49-F238E27FC236}">
                <a16:creationId xmlns:a16="http://schemas.microsoft.com/office/drawing/2014/main" id="{84BFEE20-1A7B-9DF1-2BD5-14265479D2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407" y="1753932"/>
            <a:ext cx="4951067" cy="495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F2D21-8650-8347-724F-73A9B2027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F25FD2-DBE2-1AE5-1DD0-E78B71C0E1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492" y="-39193"/>
            <a:ext cx="4228769" cy="1102043"/>
          </a:xfrm>
        </p:spPr>
        <p:txBody>
          <a:bodyPr>
            <a:normAutofit fontScale="90000"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D1201683-A6E2-DA1A-6F3C-9FF4BB29345E}"/>
              </a:ext>
            </a:extLst>
          </p:cNvPr>
          <p:cNvSpPr txBox="1"/>
          <p:nvPr/>
        </p:nvSpPr>
        <p:spPr>
          <a:xfrm>
            <a:off x="7854741" y="176293"/>
            <a:ext cx="4129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0" i="0" dirty="0">
                <a:effectLst/>
                <a:latin typeface="+mn-lt"/>
              </a:rPr>
              <a:t>R2_min= 0.6;</a:t>
            </a:r>
          </a:p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threshold_sigma</a:t>
            </a:r>
            <a:r>
              <a:rPr lang="fr-FR" sz="1800" b="0" i="0" dirty="0">
                <a:effectLst/>
                <a:latin typeface="+mn-lt"/>
              </a:rPr>
              <a:t>= 5;</a:t>
            </a:r>
          </a:p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min_points_above_threshold</a:t>
            </a:r>
            <a:r>
              <a:rPr lang="fr-FR" sz="1800" b="0" i="0" dirty="0">
                <a:effectLst/>
                <a:latin typeface="+mn-lt"/>
              </a:rPr>
              <a:t> = 1;</a:t>
            </a:r>
            <a:endParaRPr lang="fr-FR" sz="1000" dirty="0">
              <a:latin typeface="Menlo"/>
            </a:endParaRPr>
          </a:p>
          <a:p>
            <a:pPr>
              <a:buNone/>
            </a:pPr>
            <a:r>
              <a:rPr lang="fr-FR" b="0" i="0" dirty="0">
                <a:effectLst/>
              </a:rPr>
              <a:t>ACC if A(ACC)</a:t>
            </a:r>
            <a:r>
              <a:rPr lang="fr-FR" dirty="0"/>
              <a:t>&gt;</a:t>
            </a:r>
            <a:r>
              <a:rPr lang="el-GR" b="1" dirty="0"/>
              <a:t> Γ </a:t>
            </a:r>
            <a:r>
              <a:rPr lang="fr-FR" dirty="0"/>
              <a:t>A(ARA) : </a:t>
            </a:r>
            <a:endParaRPr lang="fr-FR" b="0" i="0" dirty="0">
              <a:effectLst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06930DA-75E6-A3E0-D427-8BD281D61CEB}"/>
              </a:ext>
            </a:extLst>
          </p:cNvPr>
          <p:cNvSpPr txBox="1"/>
          <p:nvPr/>
        </p:nvSpPr>
        <p:spPr>
          <a:xfrm>
            <a:off x="2440219" y="4229466"/>
            <a:ext cx="61367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3600" b="1" dirty="0"/>
              <a:t>Γ</a:t>
            </a:r>
            <a:r>
              <a:rPr lang="fr-FR" sz="3600" b="1" dirty="0"/>
              <a:t> = 1</a:t>
            </a:r>
            <a:endParaRPr lang="fr-FR" sz="3600" dirty="0"/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8479CCB4-4B16-AC36-74EF-246979F5D6DF}"/>
              </a:ext>
            </a:extLst>
          </p:cNvPr>
          <p:cNvSpPr txBox="1"/>
          <p:nvPr/>
        </p:nvSpPr>
        <p:spPr>
          <a:xfrm>
            <a:off x="5934811" y="1108213"/>
            <a:ext cx="61367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3600" b="1" dirty="0"/>
              <a:t>Γ</a:t>
            </a:r>
            <a:r>
              <a:rPr lang="fr-FR" sz="3600" b="1" dirty="0"/>
              <a:t> = 1</a:t>
            </a:r>
            <a:endParaRPr lang="fr-FR" sz="3600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24B22361-16C2-4105-86A7-D99B555162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852" y="1730639"/>
            <a:ext cx="6430297" cy="495106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A06BB75-A387-B7AC-582E-324F601DFE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6936" y="4206173"/>
            <a:ext cx="2348921" cy="2403723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BA1163F-7C0A-DCA9-40E0-F4D2AEDB3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" y="2069035"/>
            <a:ext cx="5361313" cy="432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4596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02574-0FD6-5DB8-C1D3-59435D5BE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A0643B-1886-FF0D-DF59-6866F737E0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492" y="-39193"/>
            <a:ext cx="4228769" cy="1102043"/>
          </a:xfrm>
        </p:spPr>
        <p:txBody>
          <a:bodyPr>
            <a:normAutofit fontScale="90000"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9A7D0108-0A74-3F29-49FC-7BDD36E85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3FEF3777-39D9-0ACB-5130-C35A29C99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D8DFE135-A058-36D9-0874-F8FF2F1DC9D7}"/>
              </a:ext>
            </a:extLst>
          </p:cNvPr>
          <p:cNvGraphicFramePr>
            <a:graphicFrameLocks noGrp="1"/>
          </p:cNvGraphicFramePr>
          <p:nvPr/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94A46883-FDB9-9FD8-FEBF-355FAF6A91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0975" y="2734"/>
            <a:ext cx="2348921" cy="240372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B9C9E9BE-EA6B-0545-D29F-BC1B94D2F3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82" y="2355901"/>
            <a:ext cx="2633006" cy="2399675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91B4962-DF03-B9E3-3DF4-B9111DBA0C24}"/>
              </a:ext>
            </a:extLst>
          </p:cNvPr>
          <p:cNvSpPr txBox="1"/>
          <p:nvPr/>
        </p:nvSpPr>
        <p:spPr>
          <a:xfrm>
            <a:off x="208186" y="1003108"/>
            <a:ext cx="4129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0" i="0" dirty="0">
                <a:effectLst/>
                <a:latin typeface="+mn-lt"/>
              </a:rPr>
              <a:t>R2_min= 0.7;</a:t>
            </a:r>
          </a:p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threshold_sigma</a:t>
            </a:r>
            <a:r>
              <a:rPr lang="fr-FR" sz="1800" b="0" i="0" dirty="0">
                <a:effectLst/>
                <a:latin typeface="+mn-lt"/>
              </a:rPr>
              <a:t>= 4;</a:t>
            </a:r>
          </a:p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min_points_above_threshold</a:t>
            </a:r>
            <a:r>
              <a:rPr lang="fr-FR" sz="1800" b="0" i="0" dirty="0">
                <a:effectLst/>
                <a:latin typeface="+mn-lt"/>
              </a:rPr>
              <a:t> = 2;</a:t>
            </a:r>
            <a:endParaRPr lang="fr-FR" sz="1000" dirty="0">
              <a:latin typeface="Menlo"/>
            </a:endParaRPr>
          </a:p>
          <a:p>
            <a:pPr>
              <a:buNone/>
            </a:pPr>
            <a:r>
              <a:rPr lang="fr-FR" b="0" i="0" dirty="0">
                <a:effectLst/>
              </a:rPr>
              <a:t>ACC if A(ACC)</a:t>
            </a:r>
            <a:r>
              <a:rPr lang="fr-FR" dirty="0"/>
              <a:t>&gt;</a:t>
            </a:r>
            <a:r>
              <a:rPr lang="el-GR" b="1" dirty="0"/>
              <a:t> Γ </a:t>
            </a:r>
            <a:r>
              <a:rPr lang="fr-FR" dirty="0"/>
              <a:t>A(ARA) : </a:t>
            </a:r>
            <a:endParaRPr lang="fr-FR" b="0" i="0" dirty="0">
              <a:effectLst/>
            </a:endParaRP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2677524C-3F44-380B-40FD-CF997ED73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722" y="2373137"/>
            <a:ext cx="2633006" cy="2399675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575EF9A4-CCD2-0B21-683F-1108A9995C95}"/>
              </a:ext>
            </a:extLst>
          </p:cNvPr>
          <p:cNvSpPr txBox="1"/>
          <p:nvPr/>
        </p:nvSpPr>
        <p:spPr>
          <a:xfrm>
            <a:off x="2440219" y="4229466"/>
            <a:ext cx="61367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3600" b="1" dirty="0"/>
              <a:t>Γ</a:t>
            </a:r>
            <a:r>
              <a:rPr lang="fr-FR" sz="3600" b="1" dirty="0"/>
              <a:t> = 1</a:t>
            </a:r>
            <a:endParaRPr lang="fr-FR" sz="36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F5EAF23F-C2F9-0B05-40E0-5AB9D6A6CEF2}"/>
              </a:ext>
            </a:extLst>
          </p:cNvPr>
          <p:cNvSpPr txBox="1"/>
          <p:nvPr/>
        </p:nvSpPr>
        <p:spPr>
          <a:xfrm>
            <a:off x="5508610" y="4178835"/>
            <a:ext cx="61367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3600" b="1" dirty="0"/>
              <a:t>Γ</a:t>
            </a:r>
            <a:r>
              <a:rPr lang="fr-FR" sz="3600" b="1" dirty="0"/>
              <a:t> = 0.3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1605719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A3C-5351-1921-CBAF-129EBECC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9DC01-3DE8-CBB5-1D80-D9B4EA49D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63326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800" b="1" dirty="0" err="1"/>
              <a:t>Corals</a:t>
            </a:r>
            <a:r>
              <a:rPr lang="fr-FR" sz="2800" b="1" dirty="0"/>
              <a:t> 260715 2ps vs 7ps (#4 </a:t>
            </a:r>
            <a:r>
              <a:rPr lang="fr-FR" sz="2800" b="1" dirty="0" err="1"/>
              <a:t>stressed</a:t>
            </a:r>
            <a:r>
              <a:rPr lang="fr-FR" sz="2800" b="1" dirty="0"/>
              <a:t>)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FEE9127-310A-0E1E-1218-931918BFABE8}"/>
              </a:ext>
            </a:extLst>
          </p:cNvPr>
          <p:cNvSpPr txBox="1"/>
          <p:nvPr/>
        </p:nvSpPr>
        <p:spPr>
          <a:xfrm>
            <a:off x="8954952" y="2961198"/>
            <a:ext cx="78435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2ps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0.506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0.745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416.64</a:t>
            </a:r>
          </a:p>
          <a:p>
            <a:r>
              <a:rPr lang="fr-FR" dirty="0"/>
              <a:t>background fit   = -470.884175</a:t>
            </a:r>
          </a:p>
          <a:p>
            <a:r>
              <a:rPr lang="fr-FR" dirty="0"/>
              <a:t>min fit          = -324.167943</a:t>
            </a:r>
          </a:p>
          <a:p>
            <a:r>
              <a:rPr lang="fr-FR" dirty="0"/>
              <a:t>max fit          = 128446.667684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FB783713-4FBB-62BA-1EA8-DB9C7C467030}"/>
              </a:ext>
            </a:extLst>
          </p:cNvPr>
          <p:cNvSpPr txBox="1"/>
          <p:nvPr/>
        </p:nvSpPr>
        <p:spPr>
          <a:xfrm>
            <a:off x="8954952" y="4867956"/>
            <a:ext cx="854790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7 </a:t>
            </a:r>
            <a:r>
              <a:rPr lang="fr-FR" b="1" dirty="0" err="1"/>
              <a:t>ps</a:t>
            </a:r>
            <a:r>
              <a:rPr lang="fr-FR" b="1" dirty="0"/>
              <a:t>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0.970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1.475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-2214.30</a:t>
            </a:r>
          </a:p>
          <a:p>
            <a:r>
              <a:rPr lang="fr-FR" dirty="0"/>
              <a:t>background fit   = 1071.426001</a:t>
            </a:r>
          </a:p>
          <a:p>
            <a:r>
              <a:rPr lang="fr-FR" dirty="0"/>
              <a:t>min fit          = 2024.255660</a:t>
            </a:r>
          </a:p>
          <a:p>
            <a:r>
              <a:rPr lang="fr-FR" dirty="0"/>
              <a:t>max fit          = 100911.778329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A5D1578-069E-25EE-143F-23228311E541}"/>
              </a:ext>
            </a:extLst>
          </p:cNvPr>
          <p:cNvSpPr txBox="1"/>
          <p:nvPr/>
        </p:nvSpPr>
        <p:spPr>
          <a:xfrm>
            <a:off x="9032633" y="2511808"/>
            <a:ext cx="2817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Stats sur [min(</a:t>
            </a:r>
            <a:r>
              <a:rPr lang="fr-FR" b="1" dirty="0" err="1"/>
              <a:t>wn</a:t>
            </a:r>
            <a:r>
              <a:rPr lang="fr-FR" b="1" dirty="0"/>
              <a:t>) 1076] :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A8F374BF-223C-787B-FE0B-63D26839ABA6}"/>
              </a:ext>
            </a:extLst>
          </p:cNvPr>
          <p:cNvSpPr txBox="1"/>
          <p:nvPr/>
        </p:nvSpPr>
        <p:spPr>
          <a:xfrm>
            <a:off x="0" y="525146"/>
            <a:ext cx="35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Réalisé sur la somme des pixels : 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EB300E05-724F-7558-5632-0057A86A2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124" y="5970445"/>
            <a:ext cx="3795089" cy="342930"/>
          </a:xfrm>
          <a:prstGeom prst="rect">
            <a:avLst/>
          </a:prstGeom>
        </p:spPr>
      </p:pic>
      <p:sp>
        <p:nvSpPr>
          <p:cNvPr id="50" name="ZoneTexte 49">
            <a:extLst>
              <a:ext uri="{FF2B5EF4-FFF2-40B4-BE49-F238E27FC236}">
                <a16:creationId xmlns:a16="http://schemas.microsoft.com/office/drawing/2014/main" id="{B50BBAEE-1C54-1FB2-22C8-88C2D9BE7E34}"/>
              </a:ext>
            </a:extLst>
          </p:cNvPr>
          <p:cNvSpPr txBox="1"/>
          <p:nvPr/>
        </p:nvSpPr>
        <p:spPr>
          <a:xfrm>
            <a:off x="2587953" y="6368314"/>
            <a:ext cx="1832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Bckg</a:t>
            </a:r>
            <a:r>
              <a:rPr lang="fr-FR" dirty="0"/>
              <a:t> </a:t>
            </a:r>
            <a:r>
              <a:rPr lang="fr-FR" dirty="0" err="1"/>
              <a:t>variability</a:t>
            </a:r>
            <a:r>
              <a:rPr lang="fr-FR" dirty="0"/>
              <a:t>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40B2F10B-A698-6B4F-117E-3D8795514B85}"/>
                  </a:ext>
                </a:extLst>
              </p:cNvPr>
              <p:cNvSpPr txBox="1"/>
              <p:nvPr/>
            </p:nvSpPr>
            <p:spPr>
              <a:xfrm>
                <a:off x="4227213" y="6163169"/>
                <a:ext cx="4529864" cy="7439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>
                                  <a:latin typeface="Cambria Math" panose="02040503050406030204" pitchFamily="18" charset="0"/>
                                </a:rPr>
                                <m:t>bckg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𝑔𝑙𝑜𝑏𝑎𝑙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𝑚𝑒𝑑𝑖𝑎𝑛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i="0">
                                      <a:latin typeface="Cambria Math" panose="02040503050406030204" pitchFamily="18" charset="0"/>
                                    </a:rPr>
                                    <m:t>bckg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e>
                          </m:d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i="0">
                                      <a:latin typeface="Cambria Math" panose="02040503050406030204" pitchFamily="18" charset="0"/>
                                    </a:rPr>
                                    <m:t>pixel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i="0">
                                  <a:latin typeface="Cambria Math" panose="02040503050406030204" pitchFamily="18" charset="0"/>
                                </a:rPr>
                                <m:t>norm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40B2F10B-A698-6B4F-117E-3D8795514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213" y="6163169"/>
                <a:ext cx="4529864" cy="74392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age 9">
            <a:extLst>
              <a:ext uri="{FF2B5EF4-FFF2-40B4-BE49-F238E27FC236}">
                <a16:creationId xmlns:a16="http://schemas.microsoft.com/office/drawing/2014/main" id="{8AED136C-AF8B-B16C-3FBF-6FDB5420133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413" y="3976860"/>
            <a:ext cx="3642800" cy="1906087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013A3B00-7BAD-6FA9-A601-DB5A2E58E7A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6305" y="866213"/>
            <a:ext cx="4399016" cy="3066898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54B9F079-BFCF-30AF-C9AC-D146DE11D9F6}"/>
              </a:ext>
            </a:extLst>
          </p:cNvPr>
          <p:cNvSpPr txBox="1"/>
          <p:nvPr/>
        </p:nvSpPr>
        <p:spPr>
          <a:xfrm>
            <a:off x="1837832" y="887555"/>
            <a:ext cx="219562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E096E417-A1FC-D9CE-5BB3-F4F0A8C72FC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6441" y="3990614"/>
            <a:ext cx="3795089" cy="1985771"/>
          </a:xfrm>
          <a:prstGeom prst="rect">
            <a:avLst/>
          </a:prstGeom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77038095-0C63-BECE-D691-A76481F7AE9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05321" y="894477"/>
            <a:ext cx="4385470" cy="3038633"/>
          </a:xfrm>
          <a:prstGeom prst="rect">
            <a:avLst/>
          </a:prstGeom>
        </p:spPr>
      </p:pic>
      <p:sp>
        <p:nvSpPr>
          <p:cNvPr id="45" name="ZoneTexte 44">
            <a:extLst>
              <a:ext uri="{FF2B5EF4-FFF2-40B4-BE49-F238E27FC236}">
                <a16:creationId xmlns:a16="http://schemas.microsoft.com/office/drawing/2014/main" id="{215F6BBA-5800-85BC-4EB8-57FE1744128B}"/>
              </a:ext>
            </a:extLst>
          </p:cNvPr>
          <p:cNvSpPr txBox="1"/>
          <p:nvPr/>
        </p:nvSpPr>
        <p:spPr>
          <a:xfrm>
            <a:off x="6122199" y="881615"/>
            <a:ext cx="11113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51" name="Image 50">
            <a:extLst>
              <a:ext uri="{FF2B5EF4-FFF2-40B4-BE49-F238E27FC236}">
                <a16:creationId xmlns:a16="http://schemas.microsoft.com/office/drawing/2014/main" id="{532B0F14-BFAF-46A5-DADC-77B8D810302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9198" y="57150"/>
            <a:ext cx="2574970" cy="2133600"/>
          </a:xfrm>
          <a:prstGeom prst="rect">
            <a:avLst/>
          </a:prstGeom>
        </p:spPr>
      </p:pic>
      <p:pic>
        <p:nvPicPr>
          <p:cNvPr id="55" name="Image 54">
            <a:extLst>
              <a:ext uri="{FF2B5EF4-FFF2-40B4-BE49-F238E27FC236}">
                <a16:creationId xmlns:a16="http://schemas.microsoft.com/office/drawing/2014/main" id="{7794AED1-CB30-929D-5394-D7710D9EE0F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5068" y="209729"/>
            <a:ext cx="2249594" cy="2302079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130BA088-E1B1-1228-614D-1FA57CEED740}"/>
              </a:ext>
            </a:extLst>
          </p:cNvPr>
          <p:cNvSpPr/>
          <p:nvPr/>
        </p:nvSpPr>
        <p:spPr>
          <a:xfrm>
            <a:off x="10965577" y="2042160"/>
            <a:ext cx="426721" cy="2971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59590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D3978-569E-5D8E-97E7-5B923F53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EA8D-D802-3DA2-2CEC-FD30C4D90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Coral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AD81B69-FD7E-2A23-BC74-8BCAE9062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4" y="1768677"/>
            <a:ext cx="2188561" cy="2239622"/>
          </a:xfrm>
          <a:prstGeom prst="rect">
            <a:avLst/>
          </a:prstGeom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F3E49FC-537E-C8AE-BB7E-59C85206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375995"/>
              </p:ext>
            </p:extLst>
          </p:nvPr>
        </p:nvGraphicFramePr>
        <p:xfrm>
          <a:off x="433136" y="4742688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7" name="Image 16">
            <a:extLst>
              <a:ext uri="{FF2B5EF4-FFF2-40B4-BE49-F238E27FC236}">
                <a16:creationId xmlns:a16="http://schemas.microsoft.com/office/drawing/2014/main" id="{DB62B55D-81DE-B231-A506-C4969BA15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264" y="1593863"/>
            <a:ext cx="2797873" cy="2589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0E8B4AE7-BB92-0CFF-2910-BCB24D531FB8}"/>
              </a:ext>
            </a:extLst>
          </p:cNvPr>
          <p:cNvSpPr txBox="1"/>
          <p:nvPr/>
        </p:nvSpPr>
        <p:spPr>
          <a:xfrm>
            <a:off x="6476733" y="997532"/>
            <a:ext cx="6208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7C4D800-AA07-4A51-A7DF-74430E7EF634}"/>
              </a:ext>
            </a:extLst>
          </p:cNvPr>
          <p:cNvSpPr txBox="1"/>
          <p:nvPr/>
        </p:nvSpPr>
        <p:spPr>
          <a:xfrm>
            <a:off x="3555392" y="951395"/>
            <a:ext cx="6456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8DCC324-0D0C-6FD6-7FE2-CF1D6C0B8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507" y="1596088"/>
            <a:ext cx="2797873" cy="2587025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114A209-B4EC-6EEC-F245-014BA15F2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380" y="186783"/>
            <a:ext cx="3695860" cy="288754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36584E80-2061-9DBB-B754-231320418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320" y="3149192"/>
            <a:ext cx="2933700" cy="15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710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5032" y="3388274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B481-C080-E500-FEBA-0D46563F7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959FC-1C77-5E94-F5DB-A226168A8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 vs 7ps 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F57C540-C115-2E55-8B76-B0141ACC8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93" r="47597"/>
          <a:stretch>
            <a:fillRect/>
          </a:stretch>
        </p:blipFill>
        <p:spPr>
          <a:xfrm>
            <a:off x="710922" y="661362"/>
            <a:ext cx="2829977" cy="266240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42532B-B765-5E08-A7DC-F6D59044F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624"/>
            <a:ext cx="4049486" cy="282999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C50B1AB-D800-4288-0D7C-DD00B73D0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22" y="3488265"/>
            <a:ext cx="4258987" cy="3327517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BCF38FA-E460-6D06-80A2-D709C05EBD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1215" y="606740"/>
            <a:ext cx="3109863" cy="2822260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4A64E9F6-093C-1482-4D2B-3B91B091F2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9815" y="661362"/>
            <a:ext cx="3068402" cy="2767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5178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76E5D-4190-529A-5917-3C388F83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>
            <a:extLst>
              <a:ext uri="{FF2B5EF4-FFF2-40B4-BE49-F238E27FC236}">
                <a16:creationId xmlns:a16="http://schemas.microsoft.com/office/drawing/2014/main" id="{D72EF94C-0EC5-D2E2-02A6-B9B407ECB0EA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SET UP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288B82A-EF9C-6BC9-A226-30318BAD4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224" y="749189"/>
            <a:ext cx="8588963" cy="572895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41FF4CBA-A37B-BD0E-60D8-4E013A9B95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00" y="4306035"/>
            <a:ext cx="2986087" cy="2069365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458D6092-BA06-98CF-684A-4DF85B21A5A7}"/>
              </a:ext>
            </a:extLst>
          </p:cNvPr>
          <p:cNvSpPr txBox="1"/>
          <p:nvPr/>
        </p:nvSpPr>
        <p:spPr>
          <a:xfrm>
            <a:off x="1906229" y="1100902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(a)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A4DD409B-EAFF-7D13-C41D-329167A7DB1A}"/>
              </a:ext>
            </a:extLst>
          </p:cNvPr>
          <p:cNvSpPr txBox="1"/>
          <p:nvPr/>
        </p:nvSpPr>
        <p:spPr>
          <a:xfrm>
            <a:off x="7050818" y="4018626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3272969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1999</Words>
  <Application>Microsoft Office PowerPoint</Application>
  <PresentationFormat>Grand écran</PresentationFormat>
  <Paragraphs>491</Paragraphs>
  <Slides>29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8" baseType="lpstr">
      <vt:lpstr>Aptos</vt:lpstr>
      <vt:lpstr>Aptos Display</vt:lpstr>
      <vt:lpstr>Arial</vt:lpstr>
      <vt:lpstr>Cambria Math</vt:lpstr>
      <vt:lpstr>Google Sans Text</vt:lpstr>
      <vt:lpstr>Menlo</vt:lpstr>
      <vt:lpstr>Play</vt:lpstr>
      <vt:lpstr>Wingdings</vt:lpstr>
      <vt:lpstr>Thème Office</vt:lpstr>
      <vt:lpstr>Meeting 15/10/26</vt:lpstr>
      <vt:lpstr>Modèle Analytique – Réponse instrumentale </vt:lpstr>
      <vt:lpstr>Présentation PowerPoint</vt:lpstr>
      <vt:lpstr>Présentation PowerPoint</vt:lpstr>
      <vt:lpstr>Présentation PowerPoint</vt:lpstr>
      <vt:lpstr>Chirp – Calcul de FWHM_instr</vt:lpstr>
      <vt:lpstr>Modèle Carbonates </vt:lpstr>
      <vt:lpstr>ACC + cal 260626</vt:lpstr>
      <vt:lpstr>ACC + cal 260626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Littérature Vatérite </vt:lpstr>
      <vt:lpstr>Présentation PowerPoint</vt:lpstr>
      <vt:lpstr>Présentation PowerPoint</vt:lpstr>
      <vt:lpstr>Présentation PowerPoint</vt:lpstr>
      <vt:lpstr>Présentation PowerPoint</vt:lpstr>
      <vt:lpstr>Corals 260715 2ps (#4 stressed)</vt:lpstr>
      <vt:lpstr>Corals 260715 7ps (#4 stressed)</vt:lpstr>
      <vt:lpstr>Corals 260715 2ps vs 7ps (#4 stressed)</vt:lpstr>
      <vt:lpstr>Corals 260715 2ps vs 7ps (#4 stressed)</vt:lpstr>
      <vt:lpstr>Coral 260715 2ps vs 7ps (#4 stressed)</vt:lpstr>
      <vt:lpstr>Corals 260715 2ps (#4 stressed)</vt:lpstr>
      <vt:lpstr>Corals 260715 7ps (#4 stressed)</vt:lpstr>
      <vt:lpstr>Corals 260715 7ps (#4 stressed)</vt:lpstr>
      <vt:lpstr>Corals 260713 2ps vs 7ps (#4 stressed)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BUCOURT Sacha</cp:lastModifiedBy>
  <cp:revision>70</cp:revision>
  <dcterms:created xsi:type="dcterms:W3CDTF">2026-07-01T11:56:10Z</dcterms:created>
  <dcterms:modified xsi:type="dcterms:W3CDTF">2026-10-23T10:57:25Z</dcterms:modified>
</cp:coreProperties>
</file>
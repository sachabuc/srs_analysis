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324" r:id="rId2"/>
    <p:sldId id="327" r:id="rId3"/>
    <p:sldId id="328" r:id="rId4"/>
    <p:sldId id="329" r:id="rId5"/>
    <p:sldId id="330" r:id="rId6"/>
    <p:sldId id="322" r:id="rId7"/>
    <p:sldId id="323" r:id="rId8"/>
    <p:sldId id="340" r:id="rId9"/>
    <p:sldId id="342" r:id="rId10"/>
    <p:sldId id="343" r:id="rId11"/>
    <p:sldId id="341" r:id="rId12"/>
    <p:sldId id="336" r:id="rId13"/>
    <p:sldId id="344" r:id="rId14"/>
    <p:sldId id="345" r:id="rId15"/>
    <p:sldId id="346" r:id="rId16"/>
    <p:sldId id="337" r:id="rId17"/>
    <p:sldId id="338" r:id="rId18"/>
    <p:sldId id="347" r:id="rId19"/>
    <p:sldId id="339" r:id="rId2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24"/>
            <p14:sldId id="327"/>
            <p14:sldId id="328"/>
            <p14:sldId id="329"/>
          </p14:sldIdLst>
        </p14:section>
        <p14:section name="Synthétique" id="{56AC251D-6E5C-4CFE-9930-84BF4168610A}">
          <p14:sldIdLst>
            <p14:sldId id="330"/>
            <p14:sldId id="322"/>
            <p14:sldId id="323"/>
            <p14:sldId id="340"/>
            <p14:sldId id="342"/>
            <p14:sldId id="343"/>
            <p14:sldId id="341"/>
          </p14:sldIdLst>
        </p14:section>
        <p14:section name="Corail" id="{CCA9B34D-82CD-4298-BF9C-03A0026B73BF}">
          <p14:sldIdLst>
            <p14:sldId id="336"/>
            <p14:sldId id="344"/>
            <p14:sldId id="345"/>
            <p14:sldId id="346"/>
            <p14:sldId id="337"/>
            <p14:sldId id="338"/>
            <p14:sldId id="347"/>
            <p14:sldId id="33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0520" autoAdjust="0"/>
  </p:normalViewPr>
  <p:slideViewPr>
    <p:cSldViewPr snapToGrid="0">
      <p:cViewPr>
        <p:scale>
          <a:sx n="66" d="100"/>
          <a:sy n="66" d="100"/>
        </p:scale>
        <p:origin x="138" y="-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A00-73FE-BD4A-23DA-2471DE90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387C14-F482-478B-9BF1-9BCE23239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F294C5-BBFE-349D-523D-1D8CB7347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77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462E-279E-6401-9918-2A8A4973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F622DE9-BDF6-78EB-1A8D-1FB2EFE6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022282-2A81-CF36-731F-12F16227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033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FA4-B319-D44D-08CE-CC12C00E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F6BA62-8965-5AB6-4C13-B68E3ADB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264B8A-D240-1A7C-1582-BB4781FE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94530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24B9-D537-4B4D-A691-01143676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3133BE-67B9-E6D7-D7BF-0A3D3E640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AC8B3E-9C90-7EDA-9BB1-F2864F3BF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8132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3.png"/><Relationship Id="rId4" Type="http://schemas.openxmlformats.org/officeDocument/2006/relationships/image" Target="../media/image25.png"/><Relationship Id="rId9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0.png"/><Relationship Id="rId7" Type="http://schemas.openxmlformats.org/officeDocument/2006/relationships/image" Target="../media/image5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64.png"/><Relationship Id="rId5" Type="http://schemas.openxmlformats.org/officeDocument/2006/relationships/image" Target="../media/image38.png"/><Relationship Id="rId10" Type="http://schemas.openxmlformats.org/officeDocument/2006/relationships/image" Target="../media/image63.png"/><Relationship Id="rId4" Type="http://schemas.openxmlformats.org/officeDocument/2006/relationships/image" Target="../media/image37.png"/><Relationship Id="rId9" Type="http://schemas.openxmlformats.org/officeDocument/2006/relationships/image" Target="../media/image6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24785-768A-B398-1A22-1ED1A8A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8DB615-D456-D543-D4A3-254DD4888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A4306B2-F790-A438-73F0-940AF66D3BCF}"/>
              </a:ext>
            </a:extLst>
          </p:cNvPr>
          <p:cNvGraphicFramePr>
            <a:graphicFrameLocks noGrp="1"/>
          </p:cNvGraphicFramePr>
          <p:nvPr/>
        </p:nvGraphicFramePr>
        <p:xfrm>
          <a:off x="275087" y="734244"/>
          <a:ext cx="11641826" cy="236505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15607767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736116252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55847613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413134148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3075560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5433925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9717513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519512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62213630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8514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51635"/>
                  </a:ext>
                </a:extLst>
              </a:tr>
            </a:tbl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2FF4C4F6-9612-419A-A6AC-FC8CF0AB2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291" y="4964318"/>
            <a:ext cx="2969041" cy="181611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E5A3902-B491-091E-F0BA-91E483EAF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543" y="5041886"/>
            <a:ext cx="2974988" cy="181611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9A22DC5-631F-B405-A8AE-284D690C83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713" y="3148204"/>
            <a:ext cx="2979818" cy="181611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9745E26-801C-E34F-E3BB-0DFD30C3B0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899" y="3099301"/>
            <a:ext cx="2991248" cy="181611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1FA3E49-E140-8E8B-5207-95F204EF1E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391" y="4988434"/>
            <a:ext cx="2955756" cy="181611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67D2683-C535-2CF4-3609-B39E2B51EE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867" y="3099302"/>
            <a:ext cx="2988465" cy="1816114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BEEF935-D1A5-0D6C-E3D5-AB091CED4A40}"/>
              </a:ext>
            </a:extLst>
          </p:cNvPr>
          <p:cNvSpPr txBox="1"/>
          <p:nvPr/>
        </p:nvSpPr>
        <p:spPr>
          <a:xfrm>
            <a:off x="1348355" y="3397536"/>
            <a:ext cx="10962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94BAFAC-35A6-9351-1756-F2E1A19F1500}"/>
              </a:ext>
            </a:extLst>
          </p:cNvPr>
          <p:cNvSpPr txBox="1"/>
          <p:nvPr/>
        </p:nvSpPr>
        <p:spPr>
          <a:xfrm>
            <a:off x="1253704" y="5101378"/>
            <a:ext cx="12855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2AF70D7-EE99-1A81-FCE6-E61ED7E2369F}"/>
              </a:ext>
            </a:extLst>
          </p:cNvPr>
          <p:cNvSpPr txBox="1"/>
          <p:nvPr/>
        </p:nvSpPr>
        <p:spPr>
          <a:xfrm>
            <a:off x="5302046" y="3148203"/>
            <a:ext cx="13543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 err="1"/>
              <a:t>Vaterite</a:t>
            </a:r>
            <a:r>
              <a:rPr lang="fr-FR" sz="1800" b="1" dirty="0"/>
              <a:t>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41E8FDC6-4B99-CF44-1C99-DB3C141F15BA}"/>
              </a:ext>
            </a:extLst>
          </p:cNvPr>
          <p:cNvSpPr txBox="1"/>
          <p:nvPr/>
        </p:nvSpPr>
        <p:spPr>
          <a:xfrm>
            <a:off x="5278693" y="4964317"/>
            <a:ext cx="12364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ACC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1667F5F9-19AC-F4C4-9F2E-12A99C30DBFD}"/>
              </a:ext>
            </a:extLst>
          </p:cNvPr>
          <p:cNvSpPr txBox="1"/>
          <p:nvPr/>
        </p:nvSpPr>
        <p:spPr>
          <a:xfrm>
            <a:off x="8831949" y="3148202"/>
            <a:ext cx="1226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89E1553-9443-C139-1DA7-F10B228DF2B6}"/>
              </a:ext>
            </a:extLst>
          </p:cNvPr>
          <p:cNvSpPr txBox="1"/>
          <p:nvPr/>
        </p:nvSpPr>
        <p:spPr>
          <a:xfrm>
            <a:off x="8831949" y="4988434"/>
            <a:ext cx="1177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1863206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36553"/>
              </p:ext>
            </p:extLst>
          </p:nvPr>
        </p:nvGraphicFramePr>
        <p:xfrm>
          <a:off x="274867" y="652785"/>
          <a:ext cx="11641826" cy="263937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68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,21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,05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53049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13.9</a:t>
                          </a:r>
                          <a14:m>
                            <m:oMath xmlns:m="http://schemas.openxmlformats.org/officeDocument/2006/math">
                              <m:r>
                                <a:rPr lang="fr-FR" sz="1400" b="1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fr-FR" sz="1400" b="1" i="0"/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fr-FR" sz="1400" b="1" i="0"/>
                                    <m:t>cm</m:t>
                                  </m:r>
                                </m:e>
                                <m:sup>
                                  <m:r>
                                    <a:rPr lang="fr-FR" sz="1400" b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400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oMath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𝟏𝟒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sSup>
                                  <m:sSupPr>
                                    <m:ctrlPr>
                                      <a:rPr lang="fr-FR" sz="1400" b="1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1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100000" t="-118018" r="-300000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01081" t="-118018" r="-201622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99462" t="-118018" r="-100538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401622" t="-118018" r="-1081" b="-220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20000" r="-300000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20000" r="-201622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462" t="-220000" r="-100538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20000" r="-1081" b="-1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70769" r="-3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70769" r="-201622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70769" r="-108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8806410D-E21B-CAD4-6258-4D8789EF73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2"/>
            <a:ext cx="601892" cy="76199"/>
          </a:xfrm>
          <a:prstGeom prst="bentConnector3">
            <a:avLst>
              <a:gd name="adj1" fmla="val 292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9659DBAE-C33D-BEDA-D4EA-6BAD417437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4"/>
            <a:ext cx="2822802" cy="76198"/>
          </a:xfrm>
          <a:prstGeom prst="bentConnector3">
            <a:avLst>
              <a:gd name="adj1" fmla="val 73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5857655" y="6259497"/>
            <a:ext cx="6791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for the 2 main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br>
              <a:rPr lang="fr-FR" sz="1200" dirty="0"/>
            </a:br>
            <a:r>
              <a:rPr lang="fr-FR" sz="1200" dirty="0"/>
              <a:t>-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2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) / 837.76 nm= 0.65 cm-1 (&lt;1.1 cm-1)</a:t>
            </a:r>
            <a:endParaRPr lang="fr-FR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5CD50D8-FBCB-885C-7FAC-A21FC666C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7" y="3429000"/>
            <a:ext cx="4929790" cy="330576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35A9F1-8384-918F-D268-35122AB24FF2}"/>
              </a:ext>
            </a:extLst>
          </p:cNvPr>
          <p:cNvSpPr/>
          <p:nvPr/>
        </p:nvSpPr>
        <p:spPr>
          <a:xfrm>
            <a:off x="6271927" y="3333417"/>
            <a:ext cx="2201383" cy="208766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53096F9-5DF2-D8B5-2251-85AE1D443810}"/>
              </a:ext>
            </a:extLst>
          </p:cNvPr>
          <p:cNvSpPr/>
          <p:nvPr/>
        </p:nvSpPr>
        <p:spPr>
          <a:xfrm>
            <a:off x="3543520" y="4290690"/>
            <a:ext cx="2552480" cy="90850"/>
          </a:xfrm>
          <a:prstGeom prst="rightArrow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1E39AD-B6FD-62FC-0F33-CBDBC6AC80C1}"/>
              </a:ext>
            </a:extLst>
          </p:cNvPr>
          <p:cNvSpPr/>
          <p:nvPr/>
        </p:nvSpPr>
        <p:spPr>
          <a:xfrm>
            <a:off x="1926771" y="1257300"/>
            <a:ext cx="1685109" cy="203486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CDFCD3-D155-BF28-EEE1-2F2DAC3DDD81}"/>
              </a:ext>
            </a:extLst>
          </p:cNvPr>
          <p:cNvSpPr/>
          <p:nvPr/>
        </p:nvSpPr>
        <p:spPr>
          <a:xfrm>
            <a:off x="8532019" y="3333417"/>
            <a:ext cx="1045369" cy="2087669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B3CE980-6DA7-C94C-17FF-905B18B6AC67}"/>
              </a:ext>
            </a:extLst>
          </p:cNvPr>
          <p:cNvSpPr/>
          <p:nvPr/>
        </p:nvSpPr>
        <p:spPr>
          <a:xfrm>
            <a:off x="7400925" y="5648325"/>
            <a:ext cx="990599" cy="4381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1211" y="-19318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888666"/>
              </p:ext>
            </p:extLst>
          </p:nvPr>
        </p:nvGraphicFramePr>
        <p:xfrm>
          <a:off x="0" y="725980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8496"/>
              </p:ext>
            </p:extLst>
          </p:nvPr>
        </p:nvGraphicFramePr>
        <p:xfrm>
          <a:off x="1" y="3231175"/>
          <a:ext cx="1185816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</a:t>
                      </a:r>
                      <a:r>
                        <a:rPr lang="fr-FR" sz="1800" dirty="0" err="1"/>
                        <a:t>coral</a:t>
                      </a:r>
                      <a:r>
                        <a:rPr lang="fr-FR" sz="18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DFABE7-7BAD-EAB4-A337-5A587C2011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996" y="-252770"/>
            <a:ext cx="12132253" cy="110966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Modèle Carbonates – Réponse instrumentale 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8452B41-9549-6875-20CC-DD8857CAE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16" y="2696572"/>
            <a:ext cx="3711262" cy="7011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62C97D9-F285-3B4D-1011-1EA9731F4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513" y="1185863"/>
            <a:ext cx="3749365" cy="87637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D1F4A10-3E68-2826-3E54-A89C28866A03}"/>
              </a:ext>
            </a:extLst>
          </p:cNvPr>
          <p:cNvSpPr txBox="1"/>
          <p:nvPr/>
        </p:nvSpPr>
        <p:spPr>
          <a:xfrm>
            <a:off x="246437" y="1349665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B4900DE-274B-80C2-7AC0-2195697E0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765" y="1950931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DA905A8-616C-62C8-9452-C1CFB619D55F}"/>
              </a:ext>
            </a:extLst>
          </p:cNvPr>
          <p:cNvSpPr txBox="1"/>
          <p:nvPr/>
        </p:nvSpPr>
        <p:spPr>
          <a:xfrm>
            <a:off x="6744268" y="2180661"/>
            <a:ext cx="2295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 :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8506815-E31A-FC47-F3B1-345B07D72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9766" y="3129717"/>
            <a:ext cx="4864582" cy="351688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3BF070-88E8-F57F-D606-2CB44BDDD86D}"/>
              </a:ext>
            </a:extLst>
          </p:cNvPr>
          <p:cNvSpPr txBox="1"/>
          <p:nvPr/>
        </p:nvSpPr>
        <p:spPr>
          <a:xfrm>
            <a:off x="2585121" y="4862004"/>
            <a:ext cx="40797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En comparaison avec l’</a:t>
            </a:r>
            <a:r>
              <a:rPr lang="fr-FR" sz="1800" dirty="0" err="1">
                <a:sym typeface="Wingdings" panose="05000000000000000000" pitchFamily="2" charset="2"/>
              </a:rPr>
              <a:t>anlyse</a:t>
            </a:r>
            <a:r>
              <a:rPr lang="fr-FR" sz="1800" dirty="0">
                <a:sym typeface="Wingdings" panose="05000000000000000000" pitchFamily="2" charset="2"/>
              </a:rPr>
              <a:t> numérique utilisant la fonction </a:t>
            </a:r>
            <a:r>
              <a:rPr lang="fr-FR" sz="1800" dirty="0" err="1">
                <a:sym typeface="Wingdings" panose="05000000000000000000" pitchFamily="2" charset="2"/>
              </a:rPr>
              <a:t>conv</a:t>
            </a:r>
            <a:r>
              <a:rPr lang="fr-FR" sz="1800" dirty="0">
                <a:sym typeface="Wingdings" panose="05000000000000000000" pitchFamily="2" charset="2"/>
              </a:rPr>
              <a:t>() : 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2544980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56FE-F3F7-B482-1EBA-601D9623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9AE7B83-BCA3-BCE8-0FEC-A43253052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</a:t>
            </a:r>
            <a:r>
              <a:rPr lang="fr-FR" sz="5100" dirty="0"/>
              <a:t>- 260708 </a:t>
            </a:r>
            <a:r>
              <a:rPr lang="fr-FR" sz="5100" dirty="0" err="1"/>
              <a:t>ACC_Cal</a:t>
            </a:r>
            <a:r>
              <a:rPr lang="fr-FR" sz="5100" dirty="0"/>
              <a:t> – </a:t>
            </a:r>
            <a:r>
              <a:rPr lang="fr-FR" sz="5100" dirty="0" err="1"/>
              <a:t>lsqcurvefit</a:t>
            </a:r>
            <a:r>
              <a:rPr lang="fr-FR" sz="5100" dirty="0"/>
              <a:t> </a:t>
            </a:r>
            <a:r>
              <a:rPr lang="fr-FR" sz="5100" dirty="0" err="1"/>
              <a:t>Map</a:t>
            </a:r>
            <a:r>
              <a:rPr lang="fr-FR" sz="5100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4F26104-1C72-8FCA-9F7A-CC62DFC9F0A6}"/>
              </a:ext>
            </a:extLst>
          </p:cNvPr>
          <p:cNvSpPr txBox="1"/>
          <p:nvPr/>
        </p:nvSpPr>
        <p:spPr>
          <a:xfrm>
            <a:off x="7118544" y="0"/>
            <a:ext cx="61595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Phase 1 : CAL</a:t>
            </a:r>
          </a:p>
          <a:p>
            <a:r>
              <a:rPr lang="fr-FR" dirty="0" err="1"/>
              <a:t>A_mean</a:t>
            </a:r>
            <a:r>
              <a:rPr lang="fr-FR" dirty="0"/>
              <a:t> = 3691.1 +/- 1833.8</a:t>
            </a:r>
          </a:p>
          <a:p>
            <a:r>
              <a:rPr lang="fr-FR" dirty="0"/>
              <a:t>nu = 1085.3015 +/- 0.3722 cm^-1</a:t>
            </a:r>
            <a:br>
              <a:rPr lang="fr-FR" dirty="0"/>
            </a:br>
            <a:r>
              <a:rPr lang="fr-FR" dirty="0"/>
              <a:t>FWHM = 1.6533 +/- 1.0651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800" b="0" i="0" dirty="0">
              <a:effectLst/>
              <a:latin typeface="+mn-lt"/>
            </a:endParaRPr>
          </a:p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effectLst/>
                <a:latin typeface="+mn-lt"/>
              </a:rPr>
              <a:t>Phase 4 : ACC</a:t>
            </a:r>
          </a:p>
          <a:p>
            <a:r>
              <a:rPr lang="fr-FR" dirty="0" err="1"/>
              <a:t>A_mean</a:t>
            </a:r>
            <a:r>
              <a:rPr lang="fr-FR" dirty="0"/>
              <a:t> = 714.78 +/- 162</a:t>
            </a:r>
          </a:p>
          <a:p>
            <a:r>
              <a:rPr lang="fr-FR" dirty="0"/>
              <a:t>nu = 1081.0182 +/- 0.9139 cm^-1</a:t>
            </a:r>
            <a:br>
              <a:rPr lang="fr-FR" dirty="0"/>
            </a:br>
            <a:r>
              <a:rPr lang="fr-FR" dirty="0"/>
              <a:t>FWHM = 28.2891 +/- 2.0484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5770B4B-A866-303F-57DD-0BC5F7096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3893023" y="530363"/>
            <a:ext cx="2427294" cy="237120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B8B5176-9EAC-0308-02EC-2A47871940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03" y="2603763"/>
            <a:ext cx="5341345" cy="41753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07E977-C004-F9A7-71D6-F18D5C5A8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36" y="3059596"/>
            <a:ext cx="4743791" cy="35190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92922EB-9F62-D1C5-C05E-CFD7F8894786}"/>
              </a:ext>
            </a:extLst>
          </p:cNvPr>
          <p:cNvSpPr txBox="1"/>
          <p:nvPr/>
        </p:nvSpPr>
        <p:spPr>
          <a:xfrm>
            <a:off x="9503133" y="53894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</p:spTree>
    <p:extLst>
      <p:ext uri="{BB962C8B-B14F-4D97-AF65-F5344CB8AC3E}">
        <p14:creationId xmlns:p14="http://schemas.microsoft.com/office/powerpoint/2010/main" val="2036208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3B3A-1D26-9369-4B87-9ACCFAC7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79521A6-539E-4920-53A8-49C807458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066F237-FF09-794E-859E-54D4B7232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9624E1C-162D-AF36-293C-ACFEEFC2E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222" y="2505449"/>
            <a:ext cx="5082503" cy="369770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76BE202A-3E6E-E7E1-4860-6EBD4E7B5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715" y="1413643"/>
            <a:ext cx="5249137" cy="484989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F727961-B632-9C66-B572-387C6D68F7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0D7102C-E2FC-10FE-EDE0-5746BE04C5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0045" y="2505449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58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B165B-7357-9107-81C8-285E9307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7B0C80-0443-DAE3-0C76-0AD7E723E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C0729D-218D-4467-577C-D17A9602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93391F4-082A-B6B7-CF74-D7A06A6E0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14" y="1413643"/>
            <a:ext cx="5249137" cy="48415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EB09C7-AC2C-AAFB-2B09-1AF90A7A7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40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DC03-6A7A-0EDB-4994-54CD278A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DCC31F4-C489-ACC9-11E7-548A7AF5D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DFF4CB-86F0-CF93-02CF-D63138476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070" y="1275347"/>
            <a:ext cx="5879972" cy="517357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35D9641-1139-EC72-4B23-E43F0A416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74" y="1753766"/>
            <a:ext cx="4738510" cy="394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24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039127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EF7E8C03-B9AB-CAA3-AD7E-06DC69615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4A7A277-C9D3-F50D-FA39-6E719DA55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99D236C-2F23-5E9C-F91F-B371A9A95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8A88D45-F179-62DA-8D84-C978D57A48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C1F3F2D-AC8B-FC36-1ABF-27680BD365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7" y="588205"/>
            <a:ext cx="3131487" cy="288467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0B772E2-76A3-A7D7-58DB-58318D424F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6" y="3620634"/>
            <a:ext cx="3105330" cy="281814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BB3B5DDF-AFBA-869D-758B-B30E767C08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8813" y="3271519"/>
            <a:ext cx="4669754" cy="3481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31CD6-458D-0F08-3FA6-6E8693E1A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89E1D-0EB7-F73A-0A60-7E0946508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6046A4A-B930-F6C3-4B2F-344D2E895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9731C6F-48AA-7FDE-DE56-91D47740F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BBF7B8B-C61A-1A80-6882-1D1178B150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C7424D4E-504E-7F15-2B02-402521288479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19F4290-987D-0161-1920-F276DC152880}"/>
              </a:ext>
            </a:extLst>
          </p:cNvPr>
          <p:cNvSpPr txBox="1"/>
          <p:nvPr/>
        </p:nvSpPr>
        <p:spPr>
          <a:xfrm>
            <a:off x="9137955" y="4600437"/>
            <a:ext cx="150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/Aara&gt;1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C516793D-535D-559F-FA3F-F0DFA0A3C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4E7203AB-B67E-EFCB-87EC-492E7C85A32C}"/>
              </a:ext>
            </a:extLst>
          </p:cNvPr>
          <p:cNvSpPr txBox="1"/>
          <p:nvPr/>
        </p:nvSpPr>
        <p:spPr>
          <a:xfrm>
            <a:off x="2780960" y="4599134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/Aara&gt;0.3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8678D4-A94E-937A-BB4F-9C8901F860F4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F229B9-7E42-3470-223D-59A02A416E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E297DF4E-3A01-25C5-B807-9D5A8CA11CA4}"/>
              </a:ext>
            </a:extLst>
          </p:cNvPr>
          <p:cNvSpPr txBox="1"/>
          <p:nvPr/>
        </p:nvSpPr>
        <p:spPr>
          <a:xfrm>
            <a:off x="6827654" y="295550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88B158-4DA6-62A5-B847-F0AA92CB35D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3465503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68984-D178-3F4C-31F3-B4BBE395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0EC311-590A-8C02-587A-1093BB1572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79ED3CF-5EB2-C3CE-2BEA-07CBE41D2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711" y="892282"/>
            <a:ext cx="2348921" cy="240372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30C01A0-9B47-98C7-EA4A-605158725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06" y="3754606"/>
            <a:ext cx="3235187" cy="2922608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A817A1B-A756-16CA-8FFB-A22E264BC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038" y="3351913"/>
            <a:ext cx="4471686" cy="350608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3E88461-64A6-E9B8-3947-DD764D5B80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306" y="781297"/>
            <a:ext cx="3235187" cy="2951300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314F53D-012A-1ACD-ED61-60D62EE94E49}"/>
              </a:ext>
            </a:extLst>
          </p:cNvPr>
          <p:cNvSpPr txBox="1"/>
          <p:nvPr/>
        </p:nvSpPr>
        <p:spPr>
          <a:xfrm>
            <a:off x="9089985" y="4200247"/>
            <a:ext cx="62040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</a:t>
            </a:r>
            <a:r>
              <a:rPr lang="fr-FR" b="1" dirty="0"/>
              <a:t>Spectre ACC : </a:t>
            </a:r>
            <a:endParaRPr lang="fr-FR" dirty="0"/>
          </a:p>
          <a:p>
            <a:r>
              <a:rPr lang="fr-FR" dirty="0"/>
              <a:t>ARA : </a:t>
            </a:r>
            <a:r>
              <a:rPr lang="fr-FR" dirty="0" err="1"/>
              <a:t>A_fit</a:t>
            </a:r>
            <a:r>
              <a:rPr lang="fr-FR" dirty="0"/>
              <a:t> = 12139</a:t>
            </a:r>
          </a:p>
          <a:p>
            <a:r>
              <a:rPr lang="fr-FR" dirty="0"/>
              <a:t>ACC : </a:t>
            </a:r>
            <a:r>
              <a:rPr lang="fr-FR" dirty="0" err="1"/>
              <a:t>A_fit</a:t>
            </a:r>
            <a:r>
              <a:rPr lang="fr-FR" dirty="0"/>
              <a:t> = 13594</a:t>
            </a:r>
          </a:p>
          <a:p>
            <a:r>
              <a:rPr lang="fr-FR" dirty="0"/>
              <a:t>ARA : nu = 1084.7373 cm^-1</a:t>
            </a:r>
          </a:p>
          <a:p>
            <a:r>
              <a:rPr lang="fr-FR" dirty="0"/>
              <a:t>ACC : nu = 1073.0000 cm^-1</a:t>
            </a:r>
          </a:p>
          <a:p>
            <a:r>
              <a:rPr lang="fr-FR" dirty="0"/>
              <a:t>ARA : FWHM = 1.0000 cm^-1</a:t>
            </a:r>
          </a:p>
          <a:p>
            <a:r>
              <a:rPr lang="fr-FR" dirty="0"/>
              <a:t>ACC : FWHM = 29.1308 cm^-1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3F9A769-C518-778B-5540-FF17DFCA7D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8504" y="212492"/>
            <a:ext cx="3513496" cy="313942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E0EBBED6-5FC6-A1A1-909F-4A9B6F75397F}"/>
              </a:ext>
            </a:extLst>
          </p:cNvPr>
          <p:cNvSpPr txBox="1"/>
          <p:nvPr/>
        </p:nvSpPr>
        <p:spPr>
          <a:xfrm>
            <a:off x="8678504" y="184396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7EB8F2F-AD3A-278D-E795-F59C0041C5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40215" y="4105627"/>
            <a:ext cx="3451497" cy="253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652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187" y="3182588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2942F-5356-E15B-9C9F-E9CBD9CC9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0DE6DD-3DE4-CD10-0A39-07D9EC691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" y="-335280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E498CAEF-202D-C4DF-2FCE-6BF84569C1D8}"/>
              </a:ext>
            </a:extLst>
          </p:cNvPr>
          <p:cNvSpPr txBox="1"/>
          <p:nvPr/>
        </p:nvSpPr>
        <p:spPr>
          <a:xfrm>
            <a:off x="7880432" y="103216"/>
            <a:ext cx="28679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err="1"/>
              <a:t>Aacc</a:t>
            </a:r>
            <a:r>
              <a:rPr lang="fr-FR" sz="3200" b="1" dirty="0"/>
              <a:t>/Acal&gt;0.3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0094F97-7887-C982-21A6-8335A419E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08" y="1813145"/>
            <a:ext cx="5413092" cy="386713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CDDA5C9-8562-E526-EEE9-C283E912D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859" y="1813145"/>
            <a:ext cx="5413092" cy="3867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680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49195-1AB8-AFDE-2E4D-81432B0AC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2163C8-DFF6-36E4-43BC-20F1F750B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208059F-8884-10B5-5EAA-6FC6BB338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A8680D10-6E45-4BFD-1F22-1187B9D4E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02C31D0A-833E-D5EB-3FA2-6D8B01085B7E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7E23B7A-6988-E8AB-FCAC-01DE155F5BB4}"/>
              </a:ext>
            </a:extLst>
          </p:cNvPr>
          <p:cNvSpPr txBox="1"/>
          <p:nvPr/>
        </p:nvSpPr>
        <p:spPr>
          <a:xfrm>
            <a:off x="9137955" y="4600437"/>
            <a:ext cx="1497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/Acal&gt;1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90EA08A-F590-0172-288D-9015A90E67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9D4DE9A-CDBB-2CD0-860B-BD43361820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9827" y="2590676"/>
            <a:ext cx="4738429" cy="395579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DD800A8-16E5-ACC2-9306-1F8EED262C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8902" y="4416807"/>
            <a:ext cx="3183098" cy="2441192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8A117EF-6CB5-555F-3902-782342E3B021}"/>
              </a:ext>
            </a:extLst>
          </p:cNvPr>
          <p:cNvSpPr txBox="1"/>
          <p:nvPr/>
        </p:nvSpPr>
        <p:spPr>
          <a:xfrm>
            <a:off x="9393098" y="473487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635254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64797-0624-B0C7-77BB-AB927582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BA50AC-8BE3-88B7-6196-E7A1FB29D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260713 2ps(#4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260C50D-0724-D944-C787-DCF786F8A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DB6077E-CEBA-E51F-3B6C-FD5B4D123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0FC4EF7-23E5-2FD8-10D0-A165E4B29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98B9A9F-9034-2B47-62F6-5919D6247F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2F76FD2A-0A12-28BA-DE63-434448D6605E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F320559A-1F88-9C3A-AF15-8F4B3331CAF1}"/>
              </a:ext>
            </a:extLst>
          </p:cNvPr>
          <p:cNvSpPr txBox="1"/>
          <p:nvPr/>
        </p:nvSpPr>
        <p:spPr>
          <a:xfrm>
            <a:off x="9137955" y="4600437"/>
            <a:ext cx="1497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/Acal&gt;1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D1DFCB3E-648E-E133-3D7B-60A04719BB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FA03B0CE-1309-5944-488A-8D44828BC426}"/>
              </a:ext>
            </a:extLst>
          </p:cNvPr>
          <p:cNvSpPr txBox="1"/>
          <p:nvPr/>
        </p:nvSpPr>
        <p:spPr>
          <a:xfrm>
            <a:off x="3628059" y="47056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3F2A3D8-130D-2332-CEC4-94B05B50DE30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19DF92B-D497-C5F4-9869-CA2795E632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841668F-9CE5-BFFA-D4EC-28146543015C}"/>
              </a:ext>
            </a:extLst>
          </p:cNvPr>
          <p:cNvSpPr txBox="1"/>
          <p:nvPr/>
        </p:nvSpPr>
        <p:spPr>
          <a:xfrm>
            <a:off x="6812653" y="293652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C443397-BF5D-3BB4-2E17-826F311363C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61344B1-3F58-0DA8-24B4-0232AED3D9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532" y="702375"/>
            <a:ext cx="1655762" cy="1833165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89B8627-9437-445E-C503-50F138C6406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84" t="30951" r="24331" b="24074"/>
          <a:stretch>
            <a:fillRect/>
          </a:stretch>
        </p:blipFill>
        <p:spPr>
          <a:xfrm>
            <a:off x="2861125" y="1012061"/>
            <a:ext cx="3153698" cy="3084430"/>
          </a:xfrm>
          <a:prstGeom prst="rect">
            <a:avLst/>
          </a:prstGeom>
        </p:spPr>
      </p:pic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6419EE1-69AC-2A12-DD20-67EE319C7E2D}"/>
              </a:ext>
            </a:extLst>
          </p:cNvPr>
          <p:cNvCxnSpPr>
            <a:cxnSpLocks/>
          </p:cNvCxnSpPr>
          <p:nvPr/>
        </p:nvCxnSpPr>
        <p:spPr>
          <a:xfrm rot="-1560000">
            <a:off x="3063944" y="3804487"/>
            <a:ext cx="704057" cy="33991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ZoneTexte 25">
            <a:extLst>
              <a:ext uri="{FF2B5EF4-FFF2-40B4-BE49-F238E27FC236}">
                <a16:creationId xmlns:a16="http://schemas.microsoft.com/office/drawing/2014/main" id="{4F6DA8E9-7D61-6287-3942-79179F1BB89F}"/>
              </a:ext>
            </a:extLst>
          </p:cNvPr>
          <p:cNvSpPr txBox="1"/>
          <p:nvPr/>
        </p:nvSpPr>
        <p:spPr>
          <a:xfrm>
            <a:off x="2971779" y="3568909"/>
            <a:ext cx="8883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FF0000"/>
                </a:solidFill>
              </a:rPr>
              <a:t>50 µm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E152DFAF-34A1-6C5E-91A1-2D680B90F12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0629" y="2606169"/>
            <a:ext cx="4512374" cy="3985930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BBB33BE7-46D4-D2AD-81FE-F03F038772F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377" y="678108"/>
            <a:ext cx="3727623" cy="3645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68533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1374</Words>
  <Application>Microsoft Office PowerPoint</Application>
  <PresentationFormat>Grand écran</PresentationFormat>
  <Paragraphs>252</Paragraphs>
  <Slides>19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Google Sans Text</vt:lpstr>
      <vt:lpstr>Menlo</vt:lpstr>
      <vt:lpstr>Wingdings</vt:lpstr>
      <vt:lpstr>Thème Office</vt:lpstr>
      <vt:lpstr>Modèle Carbonates </vt:lpstr>
      <vt:lpstr>Modèle Carbonates </vt:lpstr>
      <vt:lpstr>Modèle Carbonates </vt:lpstr>
      <vt:lpstr>Modèle Carbonates – Réponse instrumentale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(#4 stressed)</vt:lpstr>
      <vt:lpstr>Corals 260715 2ps (#4 stressed)</vt:lpstr>
      <vt:lpstr>Corals 260715 2ps (#4 stressed)</vt:lpstr>
      <vt:lpstr>Corals 260715 7ps (#4 stressed)</vt:lpstr>
      <vt:lpstr>Corals 260715 2ps (stressed)</vt:lpstr>
      <vt:lpstr>Corals 260715 7ps (#4 stressed)</vt:lpstr>
      <vt:lpstr>Corals 260715 7ps (#4 stressed)</vt:lpstr>
      <vt:lpstr>Corals 260713 2ps(#4 stressed)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BUCOURT Sacha</cp:lastModifiedBy>
  <cp:revision>45</cp:revision>
  <dcterms:created xsi:type="dcterms:W3CDTF">2026-07-01T11:56:10Z</dcterms:created>
  <dcterms:modified xsi:type="dcterms:W3CDTF">2026-09-29T15:37:20Z</dcterms:modified>
</cp:coreProperties>
</file>
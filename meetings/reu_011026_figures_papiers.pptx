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24" r:id="rId2"/>
    <p:sldId id="327" r:id="rId3"/>
    <p:sldId id="328" r:id="rId4"/>
    <p:sldId id="329" r:id="rId5"/>
    <p:sldId id="330" r:id="rId6"/>
    <p:sldId id="322" r:id="rId7"/>
    <p:sldId id="323" r:id="rId8"/>
    <p:sldId id="340" r:id="rId9"/>
    <p:sldId id="342" r:id="rId10"/>
    <p:sldId id="343" r:id="rId11"/>
    <p:sldId id="341" r:id="rId12"/>
    <p:sldId id="336" r:id="rId13"/>
    <p:sldId id="344" r:id="rId14"/>
    <p:sldId id="345" r:id="rId15"/>
    <p:sldId id="346" r:id="rId16"/>
    <p:sldId id="337" r:id="rId17"/>
    <p:sldId id="338" r:id="rId18"/>
    <p:sldId id="347" r:id="rId19"/>
    <p:sldId id="339" r:id="rId20"/>
    <p:sldId id="348" r:id="rId21"/>
    <p:sldId id="350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èle" id="{38E46940-0790-4E8A-8502-5835EE473836}">
          <p14:sldIdLst>
            <p14:sldId id="324"/>
            <p14:sldId id="327"/>
            <p14:sldId id="328"/>
            <p14:sldId id="329"/>
          </p14:sldIdLst>
        </p14:section>
        <p14:section name="Synthétique" id="{56AC251D-6E5C-4CFE-9930-84BF4168610A}">
          <p14:sldIdLst>
            <p14:sldId id="330"/>
            <p14:sldId id="322"/>
            <p14:sldId id="323"/>
            <p14:sldId id="340"/>
            <p14:sldId id="342"/>
            <p14:sldId id="343"/>
            <p14:sldId id="341"/>
          </p14:sldIdLst>
        </p14:section>
        <p14:section name="Corail" id="{CCA9B34D-82CD-4298-BF9C-03A0026B73BF}">
          <p14:sldIdLst>
            <p14:sldId id="336"/>
            <p14:sldId id="344"/>
            <p14:sldId id="345"/>
            <p14:sldId id="346"/>
            <p14:sldId id="337"/>
            <p14:sldId id="338"/>
            <p14:sldId id="347"/>
            <p14:sldId id="339"/>
            <p14:sldId id="348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0520" autoAdjust="0"/>
  </p:normalViewPr>
  <p:slideViewPr>
    <p:cSldViewPr snapToGrid="0">
      <p:cViewPr>
        <p:scale>
          <a:sx n="125" d="100"/>
          <a:sy n="125" d="100"/>
        </p:scale>
        <p:origin x="-1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E4E35-8187-4757-AF44-D7829C233B30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ED21D-356C-4BDC-9372-2CBCC26085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25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60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668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CA00-73FE-BD4A-23DA-2471DE901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387C14-F482-478B-9BF1-9BCE23239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DF294C5-BBFE-349D-523D-1D8CB7347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4777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462E-279E-6401-9918-2A8A4973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F622DE9-BDF6-78EB-1A8D-1FB2EFE62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A022282-2A81-CF36-731F-12F16227F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0339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FA4-B319-D44D-08CE-CC12C00E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F6BA62-8965-5AB6-4C13-B68E3ADB6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6264B8A-D240-1A7C-1582-BB4781FE8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4530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24B9-D537-4B4D-A691-01143676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63133BE-67B9-E6D7-D7BF-0A3D3E640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AC8B3E-9C90-7EDA-9BB1-F2864F3BF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8132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09DF-153C-75A0-7A4C-A454C246D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E68846-60AC-B183-5677-7F9D80951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D50A49-C429-B033-45A3-0AF3A22E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8875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1AFC-ACDD-78E9-75FA-C1C9A40A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9A7CE79-89C9-F2A3-1BF3-87179100B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F64D01-3113-AE6F-91FC-DDF59F26F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1301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9979-91FC-C5EA-F7D9-3552DE5A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1EE4A4-9489-9606-054C-96B16449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A0C0EDD-16AF-30C6-7426-9E83D70CA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020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97D62-8836-082C-A733-310A610B3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0697A6-E027-8C09-7012-935DA444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AD7453-2053-5B67-A3D6-396DA953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BEB927-1C25-B313-D7D6-5201CA94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F6DD7C-2C04-2286-16AF-6A641EA9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981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5B080-E275-4B60-F79F-6C0D1471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45D95D-96EA-5587-9F86-591A93B08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A4DAB1-48C2-7433-5E0D-E32E64CC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50575B-F850-C1F0-150A-3DE6ECE0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653168-75C6-A52C-BC66-E734A91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5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23566-F9F4-86E3-076C-B5582426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030711-712C-BF2C-3CFB-FB4F85C16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2F7148-B737-116A-382B-6253507E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60CBF7-85DB-BB63-BA1C-5AB76BE8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BF2964-7856-E568-703B-CCDAB6C1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3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A3724-6DFC-A032-A3DD-C9BD87FC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79CC89-8EBB-8E9A-C299-9C8FF6219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F747B4-0335-1AED-C56C-BF12D3A67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168405-0388-5D20-5B3C-8E914510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810B57-DD18-ECBF-93A3-4784AE41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A21713-D34D-C310-BA6E-A776E867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313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B9108-3358-3155-D8F9-191876FD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85168B-CC81-E80F-3B30-6A21706F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787ECE-24C4-C546-1B4C-90D57212C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79BF4E-AA8D-F083-2181-95AF16D75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0D7DF1-C9AE-4979-603C-9E3EF6AD5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2D6130-CC64-FEC5-99E6-180D16E9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D6AE930-8C04-DF50-EA51-B89B8FE6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E9E820-D7ED-5AC5-7477-B4D3D6AB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91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9F49E0-8781-3502-CE05-FDECA387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63C0E1-C46E-10CC-B6CB-585C14CA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1501ED-600A-3258-EA23-D190808A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43CB3A-176D-4AE7-2ADC-AD669CB6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40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7D28B24-87EB-6133-62DD-9A2DB481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CC52DC-C860-CC45-A043-E960022D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E5EBA4-8D36-4014-1970-DAABBED9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21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60B160-2994-8665-DF47-D1E40292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0C6253-1070-34F3-A404-929630193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83E001-91CA-2309-DFDE-FBB314CD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18DC21-0F75-CEF0-23F4-43CBA3DA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0D8433-6031-431F-2015-57F0CDBA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5F9FA7-B681-E733-5CD5-EB3A30C9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51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3CE0E6-1176-4DD6-8C68-26610F7A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C0E54BD-59AC-CB5D-2140-E9AAA88EA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476753-9708-8AA5-FC18-D3BB2E05E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06C69FC-FACA-FBDB-55D0-05D8E50C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BC6EC6-FC39-2A9C-CC46-DAF7F5F3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D470F-9057-BD5E-B7B7-4D2BE557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0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4856C9-1A23-124C-6A69-6335810E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27A9D1-3B8D-ABEB-94A2-E4F785270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F231F2-9E79-8DEE-0670-C19B6C9C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C9BB78-701A-C51C-E297-24C05284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D2C1A8-11D5-FB69-ABC1-9374A0C0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99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73DF7F1-D405-A9DF-EF93-D422296B7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68EB2B-D5FF-4232-B844-B1F59FC88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5FC76F-6C40-E840-E931-619CB8C5F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268BF-20FD-83FE-3B7D-6AE5F3C1B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FB67D6-380A-4671-3282-94C8DC59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49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3AC2A7-52F6-FC9B-6C27-4C1F8177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22EAC9-C154-C8A1-B5A0-F23AA517E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F8FE8-B6DD-8CBC-7A7E-EAB612038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063B4-2C68-40F2-BC26-4CA99D7F971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83123F-60B3-2180-C8AD-A60E532E3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2BA6EE-EF0E-58CC-6B7A-D4E9235BC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5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3.png"/><Relationship Id="rId4" Type="http://schemas.openxmlformats.org/officeDocument/2006/relationships/image" Target="../media/image25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0.png"/><Relationship Id="rId7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64.png"/><Relationship Id="rId5" Type="http://schemas.openxmlformats.org/officeDocument/2006/relationships/image" Target="../media/image38.png"/><Relationship Id="rId10" Type="http://schemas.openxmlformats.org/officeDocument/2006/relationships/image" Target="../media/image63.png"/><Relationship Id="rId4" Type="http://schemas.openxmlformats.org/officeDocument/2006/relationships/image" Target="../media/image37.png"/><Relationship Id="rId9" Type="http://schemas.openxmlformats.org/officeDocument/2006/relationships/image" Target="../media/image6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9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4.png"/><Relationship Id="rId5" Type="http://schemas.openxmlformats.org/officeDocument/2006/relationships/image" Target="../media/image67.png"/><Relationship Id="rId10" Type="http://schemas.openxmlformats.org/officeDocument/2006/relationships/image" Target="../media/image73.png"/><Relationship Id="rId4" Type="http://schemas.openxmlformats.org/officeDocument/2006/relationships/image" Target="../media/image64.png"/><Relationship Id="rId9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24785-768A-B398-1A22-1ED1A8A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8DB615-D456-D543-D4A3-254DD4888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88053" y="-247973"/>
            <a:ext cx="9144000" cy="1109663"/>
          </a:xfrm>
        </p:spPr>
        <p:txBody>
          <a:bodyPr/>
          <a:lstStyle/>
          <a:p>
            <a:r>
              <a:rPr lang="fr-FR" dirty="0"/>
              <a:t>Modèle Carbonates 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A4306B2-F790-A438-73F0-940AF66D3BCF}"/>
              </a:ext>
            </a:extLst>
          </p:cNvPr>
          <p:cNvGraphicFramePr>
            <a:graphicFrameLocks noGrp="1"/>
          </p:cNvGraphicFramePr>
          <p:nvPr/>
        </p:nvGraphicFramePr>
        <p:xfrm>
          <a:off x="275087" y="734244"/>
          <a:ext cx="11641826" cy="2365057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663118">
                  <a:extLst>
                    <a:ext uri="{9D8B030D-6E8A-4147-A177-3AD203B41FA5}">
                      <a16:colId xmlns:a16="http://schemas.microsoft.com/office/drawing/2014/main" val="1560776784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736116252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355847613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4131341487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13075560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154339254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1209717513"/>
                    </a:ext>
                  </a:extLst>
                </a:gridCol>
              </a:tblGrid>
              <a:tr h="640080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800" b="1" dirty="0"/>
                        <a:t>Résultat Raman spontané – échantillon synthétique ou géologique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51951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sample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Calcite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Aragonite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Vaterite</a:t>
                      </a:r>
                      <a:r>
                        <a:rPr lang="fr-FR" sz="1800" b="1" dirty="0"/>
                        <a:t>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ACC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CCHH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MHC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62213630"/>
                  </a:ext>
                </a:extLst>
              </a:tr>
              <a:tr h="719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Nu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1075, (1080,) 1090.8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1067.5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851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FWHM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8.2, (?), 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51635"/>
                  </a:ext>
                </a:extLst>
              </a:tr>
            </a:tbl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2FF4C4F6-9612-419A-A6AC-FC8CF0AB2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291" y="4964318"/>
            <a:ext cx="2969041" cy="18161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E5A3902-B491-091E-F0BA-91E483EAF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3" y="5041886"/>
            <a:ext cx="2974988" cy="181611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9A22DC5-631F-B405-A8AE-284D690C8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13" y="3148204"/>
            <a:ext cx="2979818" cy="181611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9745E26-801C-E34F-E3BB-0DFD30C3B0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899" y="3099301"/>
            <a:ext cx="2991248" cy="181611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1FA3E49-E140-8E8B-5207-95F204EF1E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91" y="4988434"/>
            <a:ext cx="2955756" cy="181611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67D2683-C535-2CF4-3609-B39E2B51EE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867" y="3099302"/>
            <a:ext cx="2988465" cy="181611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BEEF935-D1A5-0D6C-E3D5-AB091CED4A40}"/>
              </a:ext>
            </a:extLst>
          </p:cNvPr>
          <p:cNvSpPr txBox="1"/>
          <p:nvPr/>
        </p:nvSpPr>
        <p:spPr>
          <a:xfrm>
            <a:off x="1348355" y="3397536"/>
            <a:ext cx="1096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Calcite </a:t>
            </a:r>
            <a:r>
              <a:rPr lang="fr-FR" sz="1800" b="1" dirty="0" err="1"/>
              <a:t>geologic</a:t>
            </a:r>
            <a:endParaRPr lang="fr-FR" sz="1800" b="1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94BAFAC-35A6-9351-1756-F2E1A19F1500}"/>
              </a:ext>
            </a:extLst>
          </p:cNvPr>
          <p:cNvSpPr txBox="1"/>
          <p:nvPr/>
        </p:nvSpPr>
        <p:spPr>
          <a:xfrm>
            <a:off x="1253704" y="5101378"/>
            <a:ext cx="12855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Aragonite </a:t>
            </a:r>
            <a:r>
              <a:rPr lang="fr-FR" sz="1800" b="1" dirty="0" err="1"/>
              <a:t>geologic</a:t>
            </a:r>
            <a:endParaRPr lang="fr-FR" sz="1800" b="1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2AF70D7-EE99-1A81-FCE6-E61ED7E2369F}"/>
              </a:ext>
            </a:extLst>
          </p:cNvPr>
          <p:cNvSpPr txBox="1"/>
          <p:nvPr/>
        </p:nvSpPr>
        <p:spPr>
          <a:xfrm>
            <a:off x="5302046" y="3148203"/>
            <a:ext cx="1354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 err="1"/>
              <a:t>Vaterite</a:t>
            </a:r>
            <a:r>
              <a:rPr lang="fr-FR" sz="1800" b="1" dirty="0"/>
              <a:t>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1E8FDC6-4B99-CF44-1C99-DB3C141F15BA}"/>
              </a:ext>
            </a:extLst>
          </p:cNvPr>
          <p:cNvSpPr txBox="1"/>
          <p:nvPr/>
        </p:nvSpPr>
        <p:spPr>
          <a:xfrm>
            <a:off x="5278693" y="4964317"/>
            <a:ext cx="1236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ACC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667F5F9-19AC-F4C4-9F2E-12A99C30DBFD}"/>
              </a:ext>
            </a:extLst>
          </p:cNvPr>
          <p:cNvSpPr txBox="1"/>
          <p:nvPr/>
        </p:nvSpPr>
        <p:spPr>
          <a:xfrm>
            <a:off x="8831949" y="3148202"/>
            <a:ext cx="1226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CCHH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89E1553-9443-C139-1DA7-F10B228DF2B6}"/>
              </a:ext>
            </a:extLst>
          </p:cNvPr>
          <p:cNvSpPr txBox="1"/>
          <p:nvPr/>
        </p:nvSpPr>
        <p:spPr>
          <a:xfrm>
            <a:off x="8831949" y="4988434"/>
            <a:ext cx="1177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MHC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186320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3F62A-A533-FF35-45FD-72023A32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00D27-45E7-9C74-83DD-042B04B07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88053" y="-247973"/>
            <a:ext cx="9144000" cy="1109663"/>
          </a:xfrm>
        </p:spPr>
        <p:txBody>
          <a:bodyPr/>
          <a:lstStyle/>
          <a:p>
            <a:r>
              <a:rPr lang="fr-FR" dirty="0"/>
              <a:t>Modèle Carbonates 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A50E68C5-353B-200A-4129-724E173DA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136553"/>
              </p:ext>
            </p:extLst>
          </p:nvPr>
        </p:nvGraphicFramePr>
        <p:xfrm>
          <a:off x="274867" y="652785"/>
          <a:ext cx="11641826" cy="2639377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663118">
                  <a:extLst>
                    <a:ext uri="{9D8B030D-6E8A-4147-A177-3AD203B41FA5}">
                      <a16:colId xmlns:a16="http://schemas.microsoft.com/office/drawing/2014/main" val="3251183835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1204036976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3725383711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561449884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1270338505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330157547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90116242"/>
                    </a:ext>
                  </a:extLst>
                </a:gridCol>
              </a:tblGrid>
              <a:tr h="640080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800" b="1" dirty="0"/>
                        <a:t>Résultat Raman spontané – échantillon synthétique ou géologique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070108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sample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Calcite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Aragonite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Vaterite</a:t>
                      </a:r>
                      <a:r>
                        <a:rPr lang="fr-FR" sz="1800" b="1" dirty="0"/>
                        <a:t>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ACC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CCHH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MHC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82828191"/>
                  </a:ext>
                </a:extLst>
              </a:tr>
              <a:tr h="719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Nu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1075, (1080,) 1090.8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1067.5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803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FWHM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3.5 (4.2 avant déconvolution)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3.5 (4.2 avant déconvolution)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8.2, (?), 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77277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5CA3D411-5A55-072C-F7DE-27A69D098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8207399"/>
                  </p:ext>
                </p:extLst>
              </p:nvPr>
            </p:nvGraphicFramePr>
            <p:xfrm>
              <a:off x="6271927" y="3333417"/>
              <a:ext cx="5644765" cy="29260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28953">
                      <a:extLst>
                        <a:ext uri="{9D8B030D-6E8A-4147-A177-3AD203B41FA5}">
                          <a16:colId xmlns:a16="http://schemas.microsoft.com/office/drawing/2014/main" val="3569624622"/>
                        </a:ext>
                      </a:extLst>
                    </a:gridCol>
                    <a:gridCol w="1128953">
                      <a:extLst>
                        <a:ext uri="{9D8B030D-6E8A-4147-A177-3AD203B41FA5}">
                          <a16:colId xmlns:a16="http://schemas.microsoft.com/office/drawing/2014/main" val="1326026841"/>
                        </a:ext>
                      </a:extLst>
                    </a:gridCol>
                    <a:gridCol w="1128953">
                      <a:extLst>
                        <a:ext uri="{9D8B030D-6E8A-4147-A177-3AD203B41FA5}">
                          <a16:colId xmlns:a16="http://schemas.microsoft.com/office/drawing/2014/main" val="230273949"/>
                        </a:ext>
                      </a:extLst>
                    </a:gridCol>
                    <a:gridCol w="1128953">
                      <a:extLst>
                        <a:ext uri="{9D8B030D-6E8A-4147-A177-3AD203B41FA5}">
                          <a16:colId xmlns:a16="http://schemas.microsoft.com/office/drawing/2014/main" val="762247172"/>
                        </a:ext>
                      </a:extLst>
                    </a:gridCol>
                    <a:gridCol w="1128953">
                      <a:extLst>
                        <a:ext uri="{9D8B030D-6E8A-4147-A177-3AD203B41FA5}">
                          <a16:colId xmlns:a16="http://schemas.microsoft.com/office/drawing/2014/main" val="1397279243"/>
                        </a:ext>
                      </a:extLst>
                    </a:gridCol>
                  </a:tblGrid>
                  <a:tr h="664645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Durée pulse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fwhm_instr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fwhm_calcite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Valeur convoluée théorique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1" dirty="0">
                              <a:effectLst/>
                            </a:rPr>
                            <a:t>valeurs expérimentales SRS</a:t>
                          </a:r>
                          <a:endParaRPr lang="fr-FR" sz="1400" b="1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56159894"/>
                      </a:ext>
                    </a:extLst>
                  </a:tr>
                  <a:tr h="534263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>
                              <a:effectLst/>
                            </a:rPr>
                            <a:t>2,2 ps</a:t>
                          </a:r>
                          <a:endParaRPr lang="fr-FR" sz="14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fr-FR" sz="1400" b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sz="1400" b="0" i="1">
                                    <a:latin typeface="Cambria Math" panose="02040503050406030204" pitchFamily="18" charset="0"/>
                                  </a:rPr>
                                  <m:t>68</m:t>
                                </m:r>
                                <m:sSup>
                                  <m:sSupPr>
                                    <m:ctrlPr>
                                      <a:rPr lang="fr-FR" sz="1400" b="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b="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 b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sz="14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b="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fr-FR" sz="1400" i="0" dirty="0" smtClean="0"/>
                                  <m:t>3.5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fr-FR" sz="1400">
                                    <a:latin typeface="Cambria Math" panose="02040503050406030204" pitchFamily="18" charset="0"/>
                                  </a:rPr>
                                  <m:t>,21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fr-FR" sz="140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3007327800"/>
                      </a:ext>
                    </a:extLst>
                  </a:tr>
                  <a:tr h="534263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7,3 </a:t>
                          </a:r>
                          <a:r>
                            <a:rPr lang="fr-FR" sz="1400" dirty="0" err="1">
                              <a:effectLst/>
                            </a:rPr>
                            <a:t>ps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fr-FR" sz="1400" b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sz="1400" b="0" i="1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  <m:sSup>
                                  <m:sSupPr>
                                    <m:ctrlPr>
                                      <a:rPr lang="fr-FR" sz="1400" b="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b="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 b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sz="14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b="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fr-FR" sz="1400" i="0" dirty="0" smtClean="0"/>
                                  <m:t>3.5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fr-FR" sz="1400">
                                    <a:latin typeface="Cambria Math" panose="02040503050406030204" pitchFamily="18" charset="0"/>
                                  </a:rPr>
                                  <m:t>,05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fr-FR" sz="14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0304476"/>
                      </a:ext>
                    </a:extLst>
                  </a:tr>
                  <a:tr h="530495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Exemple Calcul de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fwhm_instr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13.9</a:t>
                          </a:r>
                          <a14:m>
                            <m:oMath xmlns:m="http://schemas.openxmlformats.org/officeDocument/2006/math">
                              <m:r>
                                <a:rPr lang="fr-FR" sz="14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400" b="1" i="0"/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fr-FR" sz="1400" b="1" i="0"/>
                                    <m:t>cm</m:t>
                                  </m:r>
                                </m:e>
                                <m:sup>
                                  <m:r>
                                    <a:rPr lang="fr-FR" sz="1400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oMath>
                          </a14:m>
                          <a:endParaRPr lang="fr-FR" sz="1400" b="1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fr-FR" sz="1400" i="0" dirty="0" smtClean="0"/>
                                  <m:t>3.5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b="1" i="0" smtClean="0">
                                    <a:latin typeface="Cambria Math" panose="02040503050406030204" pitchFamily="18" charset="0"/>
                                  </a:rPr>
                                  <m:t>𝟏𝟒</m:t>
                                </m:r>
                                <m:r>
                                  <a:rPr lang="fr-FR" sz="1400" b="1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r-FR" sz="1400" b="1" i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sSup>
                                  <m:sSupPr>
                                    <m:ctrlPr>
                                      <a:rPr lang="fr-FR" sz="1400" b="1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b="1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 b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sz="1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b="1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88225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5CA3D411-5A55-072C-F7DE-27A69D098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8207399"/>
                  </p:ext>
                </p:extLst>
              </p:nvPr>
            </p:nvGraphicFramePr>
            <p:xfrm>
              <a:off x="6271927" y="3333417"/>
              <a:ext cx="5644765" cy="29260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28953">
                      <a:extLst>
                        <a:ext uri="{9D8B030D-6E8A-4147-A177-3AD203B41FA5}">
                          <a16:colId xmlns:a16="http://schemas.microsoft.com/office/drawing/2014/main" val="3569624622"/>
                        </a:ext>
                      </a:extLst>
                    </a:gridCol>
                    <a:gridCol w="1128953">
                      <a:extLst>
                        <a:ext uri="{9D8B030D-6E8A-4147-A177-3AD203B41FA5}">
                          <a16:colId xmlns:a16="http://schemas.microsoft.com/office/drawing/2014/main" val="1326026841"/>
                        </a:ext>
                      </a:extLst>
                    </a:gridCol>
                    <a:gridCol w="1128953">
                      <a:extLst>
                        <a:ext uri="{9D8B030D-6E8A-4147-A177-3AD203B41FA5}">
                          <a16:colId xmlns:a16="http://schemas.microsoft.com/office/drawing/2014/main" val="230273949"/>
                        </a:ext>
                      </a:extLst>
                    </a:gridCol>
                    <a:gridCol w="1128953">
                      <a:extLst>
                        <a:ext uri="{9D8B030D-6E8A-4147-A177-3AD203B41FA5}">
                          <a16:colId xmlns:a16="http://schemas.microsoft.com/office/drawing/2014/main" val="762247172"/>
                        </a:ext>
                      </a:extLst>
                    </a:gridCol>
                    <a:gridCol w="1128953">
                      <a:extLst>
                        <a:ext uri="{9D8B030D-6E8A-4147-A177-3AD203B41FA5}">
                          <a16:colId xmlns:a16="http://schemas.microsoft.com/office/drawing/2014/main" val="1397279243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Durée pulse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fwhm_instr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fwhm_calcite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Valeur convoluée théorique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1" dirty="0">
                              <a:effectLst/>
                            </a:rPr>
                            <a:t>valeurs expérimentales SRS</a:t>
                          </a:r>
                          <a:endParaRPr lang="fr-FR" sz="1400" b="1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56159894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>
                              <a:effectLst/>
                            </a:rPr>
                            <a:t>2,2 ps</a:t>
                          </a:r>
                          <a:endParaRPr lang="fr-FR" sz="14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100000" t="-118018" r="-300000" b="-220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201081" t="-118018" r="-201622" b="-220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299462" t="-118018" r="-100538" b="-220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blipFill>
                          <a:blip r:embed="rId3"/>
                          <a:stretch>
                            <a:fillRect l="-401622" t="-118018" r="-1081" b="-220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7327800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7,3 </a:t>
                          </a:r>
                          <a:r>
                            <a:rPr lang="fr-FR" sz="1400" dirty="0" err="1">
                              <a:effectLst/>
                            </a:rPr>
                            <a:t>ps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20000" r="-300000" b="-1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081" t="-220000" r="-201622" b="-1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462" t="-220000" r="-100538" b="-1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622" t="-220000" r="-1081" b="-1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0304476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Exemple Calcul de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fwhm_instr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70769" r="-300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081" t="-270769" r="-201622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622" t="-270769" r="-108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882253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Connecteur : en angle 9">
            <a:extLst>
              <a:ext uri="{FF2B5EF4-FFF2-40B4-BE49-F238E27FC236}">
                <a16:creationId xmlns:a16="http://schemas.microsoft.com/office/drawing/2014/main" id="{8806410D-E21B-CAD4-6258-4D8789EF732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91525" y="5797212"/>
            <a:ext cx="601892" cy="76199"/>
          </a:xfrm>
          <a:prstGeom prst="bentConnector3">
            <a:avLst>
              <a:gd name="adj1" fmla="val 292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9659DBAE-C33D-BEDA-D4EA-6BAD417437C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91525" y="5797214"/>
            <a:ext cx="2822802" cy="76198"/>
          </a:xfrm>
          <a:prstGeom prst="bentConnector3">
            <a:avLst>
              <a:gd name="adj1" fmla="val 735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829466EF-A2D7-C08B-72FC-BB936CC05064}"/>
              </a:ext>
            </a:extLst>
          </p:cNvPr>
          <p:cNvSpPr txBox="1"/>
          <p:nvPr/>
        </p:nvSpPr>
        <p:spPr>
          <a:xfrm>
            <a:off x="5857655" y="6259497"/>
            <a:ext cx="6791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i="0" dirty="0">
                <a:solidFill>
                  <a:schemeClr val="tx1"/>
                </a:solidFill>
                <a:effectLst/>
                <a:latin typeface="+mn-lt"/>
              </a:rPr>
              <a:t>Spectral </a:t>
            </a:r>
            <a:r>
              <a:rPr lang="fr-FR" sz="1200" b="0" i="0" dirty="0" err="1">
                <a:solidFill>
                  <a:schemeClr val="tx1"/>
                </a:solidFill>
                <a:effectLst/>
                <a:latin typeface="+mn-lt"/>
              </a:rPr>
              <a:t>Resolutions</a:t>
            </a:r>
            <a:r>
              <a:rPr lang="fr-FR" sz="1200" b="0" i="0" dirty="0">
                <a:solidFill>
                  <a:schemeClr val="tx1"/>
                </a:solidFill>
                <a:effectLst/>
                <a:latin typeface="+mn-lt"/>
              </a:rPr>
              <a:t> (Hole50m, 100x Objective, FWHM) for the 2 main </a:t>
            </a:r>
            <a:r>
              <a:rPr lang="fr-FR" sz="1200" b="0" i="0" dirty="0" err="1">
                <a:solidFill>
                  <a:schemeClr val="tx1"/>
                </a:solidFill>
                <a:effectLst/>
                <a:latin typeface="+mn-lt"/>
              </a:rPr>
              <a:t>gratings</a:t>
            </a:r>
            <a:r>
              <a:rPr lang="fr-FR" sz="12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br>
              <a:rPr lang="fr-FR" sz="1200" dirty="0"/>
            </a:br>
            <a:r>
              <a:rPr lang="fr-FR" sz="1200" dirty="0"/>
              <a:t>- </a:t>
            </a:r>
            <a:r>
              <a:rPr lang="fr-FR" sz="1200" b="0" i="0" dirty="0" err="1">
                <a:solidFill>
                  <a:schemeClr val="tx1"/>
                </a:solidFill>
                <a:effectLst/>
                <a:latin typeface="+mn-lt"/>
              </a:rPr>
              <a:t>Grating</a:t>
            </a:r>
            <a:r>
              <a:rPr lang="fr-FR" sz="1200" b="0" i="0" dirty="0">
                <a:solidFill>
                  <a:schemeClr val="tx1"/>
                </a:solidFill>
                <a:effectLst/>
                <a:latin typeface="+mn-lt"/>
              </a:rPr>
              <a:t> 1800 g/mm: 585.25 nm 1.66cm-1 (&lt;</a:t>
            </a:r>
            <a:r>
              <a:rPr lang="fr-FR" sz="1200" b="1" i="0" dirty="0">
                <a:solidFill>
                  <a:schemeClr val="tx1"/>
                </a:solidFill>
                <a:effectLst/>
                <a:latin typeface="+mn-lt"/>
              </a:rPr>
              <a:t>2.3 cm-1</a:t>
            </a:r>
            <a:r>
              <a:rPr lang="fr-FR" sz="1200" b="0" i="0" dirty="0">
                <a:solidFill>
                  <a:schemeClr val="tx1"/>
                </a:solidFill>
                <a:effectLst/>
                <a:latin typeface="+mn-lt"/>
              </a:rPr>
              <a:t>) / 837.76 nm= 0.65 cm-1 (&lt;1.1 cm-1)</a:t>
            </a:r>
            <a:endParaRPr lang="fr-FR" sz="12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CD50D8-FBCB-885C-7FAC-A21FC666C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7" y="3429000"/>
            <a:ext cx="4929790" cy="33057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35A9F1-8384-918F-D268-35122AB24FF2}"/>
              </a:ext>
            </a:extLst>
          </p:cNvPr>
          <p:cNvSpPr/>
          <p:nvPr/>
        </p:nvSpPr>
        <p:spPr>
          <a:xfrm>
            <a:off x="6271927" y="3333417"/>
            <a:ext cx="2201383" cy="208766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853096F9-5DF2-D8B5-2251-85AE1D443810}"/>
              </a:ext>
            </a:extLst>
          </p:cNvPr>
          <p:cNvSpPr/>
          <p:nvPr/>
        </p:nvSpPr>
        <p:spPr>
          <a:xfrm>
            <a:off x="3543520" y="4290690"/>
            <a:ext cx="2552480" cy="90850"/>
          </a:xfrm>
          <a:prstGeom prst="rightArrow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1E39AD-B6FD-62FC-0F33-CBDBC6AC80C1}"/>
              </a:ext>
            </a:extLst>
          </p:cNvPr>
          <p:cNvSpPr/>
          <p:nvPr/>
        </p:nvSpPr>
        <p:spPr>
          <a:xfrm>
            <a:off x="1926771" y="1257300"/>
            <a:ext cx="1685109" cy="2034862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CDFCD3-D155-BF28-EEE1-2F2DAC3DDD81}"/>
              </a:ext>
            </a:extLst>
          </p:cNvPr>
          <p:cNvSpPr/>
          <p:nvPr/>
        </p:nvSpPr>
        <p:spPr>
          <a:xfrm>
            <a:off x="8532019" y="3333417"/>
            <a:ext cx="1045369" cy="2087669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B3CE980-6DA7-C94C-17FF-905B18B6AC67}"/>
              </a:ext>
            </a:extLst>
          </p:cNvPr>
          <p:cNvSpPr/>
          <p:nvPr/>
        </p:nvSpPr>
        <p:spPr>
          <a:xfrm>
            <a:off x="7400925" y="5648325"/>
            <a:ext cx="990599" cy="4381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26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5771-1918-D494-BFFE-93D53E23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0BE4A-85DB-EA13-4242-2D9215D14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81211" y="-193183"/>
            <a:ext cx="9144000" cy="1109663"/>
          </a:xfrm>
        </p:spPr>
        <p:txBody>
          <a:bodyPr/>
          <a:lstStyle/>
          <a:p>
            <a:r>
              <a:rPr lang="fr-FR" dirty="0"/>
              <a:t>Modèle Carbonates 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9607E112-449D-3950-B5F7-2D24324DF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888666"/>
              </p:ext>
            </p:extLst>
          </p:nvPr>
        </p:nvGraphicFramePr>
        <p:xfrm>
          <a:off x="0" y="725980"/>
          <a:ext cx="11858168" cy="2462866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694024">
                  <a:extLst>
                    <a:ext uri="{9D8B030D-6E8A-4147-A177-3AD203B41FA5}">
                      <a16:colId xmlns:a16="http://schemas.microsoft.com/office/drawing/2014/main" val="3251183835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3137598316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3476095014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721168428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1270338505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330157547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90116242"/>
                    </a:ext>
                  </a:extLst>
                </a:gridCol>
              </a:tblGrid>
              <a:tr h="45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Paramètres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Calcite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Aragonite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Vaterite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ACC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CCHH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MHC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82828191"/>
                  </a:ext>
                </a:extLst>
              </a:tr>
              <a:tr h="577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Nu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1085.5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dirty="0"/>
                        <a:t>1085.9</a:t>
                      </a:r>
                      <a:r>
                        <a:rPr lang="fr-FR" sz="1800" b="0" baseline="30000" dirty="0"/>
                        <a:t>3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/>
                        <a:t>1086</a:t>
                      </a:r>
                      <a:r>
                        <a:rPr lang="fr-FR" sz="1800" b="0" dirty="0"/>
                        <a:t>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1084</a:t>
                      </a:r>
                      <a:r>
                        <a:rPr lang="fr-FR" sz="1800" b="0" baseline="30000" dirty="0"/>
                        <a:t>3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[</a:t>
                      </a:r>
                      <a:r>
                        <a:rPr lang="fr-FR" sz="1800" b="1" dirty="0"/>
                        <a:t>1075</a:t>
                      </a:r>
                      <a:r>
                        <a:rPr lang="fr-FR" sz="1800" dirty="0"/>
                        <a:t>, (</a:t>
                      </a:r>
                      <a:r>
                        <a:rPr lang="fr-FR" sz="1800" b="1" dirty="0"/>
                        <a:t>1080</a:t>
                      </a:r>
                      <a:r>
                        <a:rPr lang="fr-FR" sz="1800" dirty="0"/>
                        <a:t>,) </a:t>
                      </a:r>
                      <a:r>
                        <a:rPr lang="fr-FR" sz="1800" b="1" dirty="0"/>
                        <a:t>1090.8</a:t>
                      </a:r>
                      <a:r>
                        <a:rPr lang="fr-FR" sz="1800" dirty="0"/>
                        <a:t>]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b="0" dirty="0"/>
                        <a:t>[1073.8, 1080, 1089.5]</a:t>
                      </a:r>
                      <a:r>
                        <a:rPr lang="fr-FR" sz="1800" b="0" baseline="30000" dirty="0"/>
                        <a:t> 3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1077</a:t>
                      </a:r>
                      <a:r>
                        <a:rPr lang="fr-FR" sz="1800" b="1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dirty="0"/>
                        <a:t>1075²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1073</a:t>
                      </a:r>
                      <a:r>
                        <a:rPr lang="fr-FR" sz="1800" baseline="300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1085</a:t>
                      </a:r>
                      <a:r>
                        <a:rPr lang="fr-FR" sz="1800" baseline="300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aseline="30000" dirty="0">
                        <a:solidFill>
                          <a:srgbClr val="22222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1100.1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b="1" dirty="0"/>
                        <a:t>1097</a:t>
                      </a:r>
                      <a:r>
                        <a:rPr lang="fr-FR" sz="1800" dirty="0"/>
                        <a:t>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1067.5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80348"/>
                  </a:ext>
                </a:extLst>
              </a:tr>
              <a:tr h="33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FWHM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3.5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3.5 </a:t>
                      </a:r>
                      <a:r>
                        <a:rPr lang="fr-FR" sz="1800" b="0" baseline="30000" dirty="0"/>
                        <a:t>1,6</a:t>
                      </a:r>
                      <a:endParaRPr lang="fr-FR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[8.2, (8 aussi?), 8.3]</a:t>
                      </a:r>
                      <a:r>
                        <a:rPr lang="fr-FR" sz="1800" b="1" baseline="30000" dirty="0"/>
                        <a:t>1</a:t>
                      </a:r>
                      <a:endParaRPr lang="fr-FR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35</a:t>
                      </a:r>
                      <a:r>
                        <a:rPr lang="fr-FR" sz="1800" b="1" baseline="30000" dirty="0"/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30</a:t>
                      </a:r>
                      <a:r>
                        <a:rPr lang="fr-FR" sz="1800" b="0" baseline="30000" dirty="0"/>
                        <a:t>4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6.3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5.8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772775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5B074CB8-30E3-35E7-9241-EF41F0E0BC37}"/>
              </a:ext>
            </a:extLst>
          </p:cNvPr>
          <p:cNvSpPr txBox="1"/>
          <p:nvPr/>
        </p:nvSpPr>
        <p:spPr>
          <a:xfrm>
            <a:off x="603536" y="5559504"/>
            <a:ext cx="1125463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fr-FR" sz="1100" dirty="0">
                <a:solidFill>
                  <a:srgbClr val="222222"/>
                </a:solidFill>
                <a:latin typeface="Arial" panose="020B0604020202020204" pitchFamily="34" charset="0"/>
              </a:rPr>
              <a:t>Résultats </a:t>
            </a:r>
            <a:r>
              <a:rPr lang="fr-FR" sz="1100" dirty="0" err="1">
                <a:solidFill>
                  <a:srgbClr val="222222"/>
                </a:solidFill>
                <a:latin typeface="Arial" panose="020B0604020202020204" pitchFamily="34" charset="0"/>
              </a:rPr>
              <a:t>raman</a:t>
            </a:r>
            <a:r>
              <a:rPr lang="fr-FR" sz="1100" dirty="0">
                <a:solidFill>
                  <a:srgbClr val="222222"/>
                </a:solidFill>
                <a:latin typeface="Arial" panose="020B0604020202020204" pitchFamily="34" charset="0"/>
              </a:rPr>
              <a:t> spontané – </a:t>
            </a:r>
            <a:r>
              <a:rPr lang="fr-FR" sz="1100" b="1" dirty="0">
                <a:solidFill>
                  <a:srgbClr val="222222"/>
                </a:solidFill>
                <a:latin typeface="Arial" panose="020B0604020202020204" pitchFamily="34" charset="0"/>
              </a:rPr>
              <a:t>synthétique ou géologique (cal et ara)</a:t>
            </a:r>
            <a:endParaRPr lang="fr-FR" sz="1100" baseline="30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fr-FR" sz="11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2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Dicko, Hamadou, et al. "3D Calcium carbonate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polymorphs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imaging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stimulated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Raman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scattering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biominerals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." </a:t>
            </a:r>
            <a:r>
              <a:rPr lang="fr-FR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Faraday Discussions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261 (2025): 286-297. – </a:t>
            </a:r>
            <a:r>
              <a:rPr lang="fr-F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biogénique (corail)</a:t>
            </a:r>
            <a:endParaRPr lang="fr-FR" sz="11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fr-FR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Colas, C. (2022). </a:t>
            </a:r>
            <a:r>
              <a:rPr lang="fr-FR" sz="1100" i="1" dirty="0">
                <a:latin typeface="Arial" panose="020B0604020202020204" pitchFamily="34" charset="0"/>
                <a:cs typeface="Arial" panose="020B0604020202020204" pitchFamily="34" charset="0"/>
              </a:rPr>
              <a:t>Bio-</a:t>
            </a:r>
            <a:r>
              <a:rPr lang="fr-FR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inspired</a:t>
            </a:r>
            <a:r>
              <a:rPr lang="fr-FR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synthetic</a:t>
            </a:r>
            <a:r>
              <a:rPr lang="fr-FR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crystals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 (Doctoral dissertation, Université Paris-Saclay).</a:t>
            </a:r>
          </a:p>
          <a:p>
            <a:r>
              <a:rPr lang="fr-FR" sz="1100" baseline="30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Duboisset et al., « </a:t>
            </a:r>
            <a:r>
              <a:rPr lang="fr-FR" sz="1100" dirty="0" err="1">
                <a:latin typeface="Arial" panose="020B0604020202020204" pitchFamily="34" charset="0"/>
                <a:cs typeface="Arial" panose="020B0604020202020204" pitchFamily="34" charset="0"/>
              </a:rPr>
              <a:t>Amorphous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-to-Crystal Transition in the Layer-by-Layer </a:t>
            </a:r>
            <a:r>
              <a:rPr lang="fr-FR" sz="1100" dirty="0" err="1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 of Bivalve Shell </a:t>
            </a:r>
            <a:r>
              <a:rPr lang="fr-FR" sz="1100" dirty="0" err="1">
                <a:latin typeface="Arial" panose="020B0604020202020204" pitchFamily="34" charset="0"/>
                <a:cs typeface="Arial" panose="020B0604020202020204" pitchFamily="34" charset="0"/>
              </a:rPr>
              <a:t>Prisms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 ». – </a:t>
            </a:r>
            <a:r>
              <a:rPr lang="fr-FR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biogenique</a:t>
            </a:r>
            <a:r>
              <a:rPr lang="fr-FR" sz="1100" b="1" dirty="0">
                <a:latin typeface="Arial" panose="020B0604020202020204" pitchFamily="34" charset="0"/>
                <a:cs typeface="Arial" panose="020B0604020202020204" pitchFamily="34" charset="0"/>
              </a:rPr>
              <a:t> (huitre)</a:t>
            </a:r>
          </a:p>
          <a:p>
            <a:r>
              <a:rPr lang="en-U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Lia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Addadi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 et al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“Taking Advantage of Disorder: Amorphous Calcium Carbonate and Its Roles in Biomineralization” –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biogenique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juvenil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huitre,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oursin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Farfan et al (2021)“Crystallographic and chemical signatures in coral skeletal aragonite” (National Museum of  Natural History, Washington, DC, USA) –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corail</a:t>
            </a:r>
            <a:endParaRPr lang="fr-FR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0D01F1B0-0BDC-A5A9-1700-7A2492DEC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78496"/>
              </p:ext>
            </p:extLst>
          </p:nvPr>
        </p:nvGraphicFramePr>
        <p:xfrm>
          <a:off x="1" y="3231175"/>
          <a:ext cx="11858168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4024">
                  <a:extLst>
                    <a:ext uri="{9D8B030D-6E8A-4147-A177-3AD203B41FA5}">
                      <a16:colId xmlns:a16="http://schemas.microsoft.com/office/drawing/2014/main" val="1288489453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3546645173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153859496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814571671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89165594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783805804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8847585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 err="1"/>
                        <a:t>nu_LB</a:t>
                      </a:r>
                      <a:r>
                        <a:rPr lang="fr-FR" sz="1800" dirty="0"/>
                        <a:t>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1084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1073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1073,1070(</a:t>
                      </a:r>
                      <a:r>
                        <a:rPr lang="fr-FR" sz="1800" dirty="0" err="1"/>
                        <a:t>coral</a:t>
                      </a:r>
                      <a:r>
                        <a:rPr lang="fr-FR" sz="18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1097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64265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nu_UB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1086.5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33163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FWHM_LB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09948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FWHM_UB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396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51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DFABE7-7BAD-EAB4-A337-5A587C201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96" y="-252770"/>
            <a:ext cx="12132253" cy="1109663"/>
          </a:xfrm>
        </p:spPr>
        <p:txBody>
          <a:bodyPr>
            <a:normAutofit/>
          </a:bodyPr>
          <a:lstStyle/>
          <a:p>
            <a:pPr algn="l"/>
            <a:r>
              <a:rPr lang="fr-FR" sz="4000" b="1" dirty="0"/>
              <a:t>Modèle Carbonates – Réponse instrumentale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8452B41-9549-6875-20CC-DD8857CAE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616" y="2696572"/>
            <a:ext cx="3711262" cy="70110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62C97D9-F285-3B4D-1011-1EA9731F4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513" y="1185863"/>
            <a:ext cx="3749365" cy="876376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D1F4A10-3E68-2826-3E54-A89C28866A03}"/>
              </a:ext>
            </a:extLst>
          </p:cNvPr>
          <p:cNvSpPr txBox="1"/>
          <p:nvPr/>
        </p:nvSpPr>
        <p:spPr>
          <a:xfrm>
            <a:off x="246437" y="1349665"/>
            <a:ext cx="2707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Modèle gaussien pour chaque phase :</a:t>
            </a:r>
          </a:p>
          <a:p>
            <a:endParaRPr lang="fr-FR" dirty="0"/>
          </a:p>
          <a:p>
            <a:r>
              <a:rPr lang="fr-FR" b="1" dirty="0"/>
              <a:t>Convolué avec </a:t>
            </a:r>
          </a:p>
          <a:p>
            <a:endParaRPr lang="fr-FR" dirty="0"/>
          </a:p>
          <a:p>
            <a:pPr algn="r"/>
            <a:r>
              <a:rPr lang="fr-FR" dirty="0"/>
              <a:t>Modèle gaussien de la réponse instrumentale :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4900DE-274B-80C2-7AC0-2195697E0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765" y="1950931"/>
            <a:ext cx="2905530" cy="82879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DA905A8-616C-62C8-9452-C1CFB619D55F}"/>
              </a:ext>
            </a:extLst>
          </p:cNvPr>
          <p:cNvSpPr txBox="1"/>
          <p:nvPr/>
        </p:nvSpPr>
        <p:spPr>
          <a:xfrm>
            <a:off x="6744268" y="2180661"/>
            <a:ext cx="2295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800" dirty="0">
                <a:sym typeface="Wingdings" panose="05000000000000000000" pitchFamily="2" charset="2"/>
              </a:rPr>
              <a:t> </a:t>
            </a:r>
            <a:r>
              <a:rPr lang="fr-FR" sz="1800" dirty="0"/>
              <a:t>Analytiquement :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8506815-E31A-FC47-F3B1-345B07D72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9766" y="3129717"/>
            <a:ext cx="4864582" cy="351688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43BF070-88E8-F57F-D606-2CB44BDDD86D}"/>
              </a:ext>
            </a:extLst>
          </p:cNvPr>
          <p:cNvSpPr txBox="1"/>
          <p:nvPr/>
        </p:nvSpPr>
        <p:spPr>
          <a:xfrm>
            <a:off x="2585121" y="4862004"/>
            <a:ext cx="4079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ym typeface="Wingdings" panose="05000000000000000000" pitchFamily="2" charset="2"/>
              </a:rPr>
              <a:t>En comparaison avec l’</a:t>
            </a:r>
            <a:r>
              <a:rPr lang="fr-FR" sz="1800" dirty="0" err="1">
                <a:sym typeface="Wingdings" panose="05000000000000000000" pitchFamily="2" charset="2"/>
              </a:rPr>
              <a:t>anlyse</a:t>
            </a:r>
            <a:r>
              <a:rPr lang="fr-FR" sz="1800" dirty="0">
                <a:sym typeface="Wingdings" panose="05000000000000000000" pitchFamily="2" charset="2"/>
              </a:rPr>
              <a:t> numérique utilisant la fonction </a:t>
            </a:r>
            <a:r>
              <a:rPr lang="fr-FR" sz="1800" dirty="0" err="1">
                <a:sym typeface="Wingdings" panose="05000000000000000000" pitchFamily="2" charset="2"/>
              </a:rPr>
              <a:t>conv</a:t>
            </a:r>
            <a:r>
              <a:rPr lang="fr-FR" sz="1800" dirty="0">
                <a:sym typeface="Wingdings" panose="05000000000000000000" pitchFamily="2" charset="2"/>
              </a:rPr>
              <a:t>() : 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544980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56FE-F3F7-B482-1EBA-601D9623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49AE7B83-BCA3-BCE8-0FEC-A43253052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2ps </a:t>
            </a:r>
            <a:r>
              <a:rPr lang="fr-FR" sz="5100" dirty="0"/>
              <a:t>- 260708 </a:t>
            </a:r>
            <a:r>
              <a:rPr lang="fr-FR" sz="5100" dirty="0" err="1"/>
              <a:t>ACC_Cal</a:t>
            </a:r>
            <a:r>
              <a:rPr lang="fr-FR" sz="5100" dirty="0"/>
              <a:t> – </a:t>
            </a:r>
            <a:r>
              <a:rPr lang="fr-FR" sz="5100" dirty="0" err="1"/>
              <a:t>lsqcurvefit</a:t>
            </a:r>
            <a:r>
              <a:rPr lang="fr-FR" sz="5100" dirty="0"/>
              <a:t> </a:t>
            </a:r>
            <a:r>
              <a:rPr lang="fr-FR" sz="5100" dirty="0" err="1"/>
              <a:t>Map</a:t>
            </a:r>
            <a:r>
              <a:rPr lang="fr-FR" sz="5100" dirty="0"/>
              <a:t> 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4F26104-1C72-8FCA-9F7A-CC62DFC9F0A6}"/>
              </a:ext>
            </a:extLst>
          </p:cNvPr>
          <p:cNvSpPr txBox="1"/>
          <p:nvPr/>
        </p:nvSpPr>
        <p:spPr>
          <a:xfrm>
            <a:off x="7118544" y="0"/>
            <a:ext cx="61595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Phase 1 : CAL</a:t>
            </a:r>
          </a:p>
          <a:p>
            <a:r>
              <a:rPr lang="fr-FR" dirty="0" err="1"/>
              <a:t>A_mean</a:t>
            </a:r>
            <a:r>
              <a:rPr lang="fr-FR" dirty="0"/>
              <a:t> = 3691.1 +/- 1833.8</a:t>
            </a:r>
          </a:p>
          <a:p>
            <a:r>
              <a:rPr lang="fr-FR" dirty="0"/>
              <a:t>nu = 1085.3015 +/- 0.3722 cm^-1</a:t>
            </a:r>
            <a:br>
              <a:rPr lang="fr-FR" dirty="0"/>
            </a:br>
            <a:r>
              <a:rPr lang="fr-FR" dirty="0"/>
              <a:t>FWHM = 1.6533 +/- 1.0651 cm^-1</a:t>
            </a:r>
          </a:p>
          <a:p>
            <a:pPr marL="0" marR="0" algn="l">
              <a:lnSpc>
                <a:spcPct val="100000"/>
              </a:lnSpc>
              <a:buNone/>
            </a:pPr>
            <a:endParaRPr lang="fr-FR" sz="1800" b="0" i="0" dirty="0">
              <a:effectLst/>
              <a:latin typeface="+mn-lt"/>
            </a:endParaRPr>
          </a:p>
          <a:p>
            <a:pPr marL="0" marR="0" algn="l">
              <a:lnSpc>
                <a:spcPct val="100000"/>
              </a:lnSpc>
              <a:buNone/>
            </a:pPr>
            <a:r>
              <a:rPr lang="fr-FR" sz="1800" b="0" i="0" dirty="0">
                <a:effectLst/>
                <a:latin typeface="+mn-lt"/>
              </a:rPr>
              <a:t>Phase 4 : ACC</a:t>
            </a:r>
          </a:p>
          <a:p>
            <a:r>
              <a:rPr lang="fr-FR" dirty="0" err="1"/>
              <a:t>A_mean</a:t>
            </a:r>
            <a:r>
              <a:rPr lang="fr-FR" dirty="0"/>
              <a:t> = 714.78 +/- 162</a:t>
            </a:r>
          </a:p>
          <a:p>
            <a:r>
              <a:rPr lang="fr-FR" dirty="0"/>
              <a:t>nu = 1081.0182 +/- 0.9139 cm^-1</a:t>
            </a:r>
            <a:br>
              <a:rPr lang="fr-FR" dirty="0"/>
            </a:br>
            <a:r>
              <a:rPr lang="fr-FR" dirty="0"/>
              <a:t>FWHM = 28.2891 +/- 2.0484 cm^-1</a:t>
            </a:r>
          </a:p>
          <a:p>
            <a:pPr marL="0" marR="0" algn="l">
              <a:lnSpc>
                <a:spcPct val="100000"/>
              </a:lnSpc>
              <a:buNone/>
            </a:pPr>
            <a:endParaRPr lang="fr-FR" sz="1000" b="0" i="0" dirty="0">
              <a:effectLst/>
              <a:latin typeface="Menlo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25770B4B-A866-303F-57DD-0BC5F7096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3893023" y="530363"/>
            <a:ext cx="2427294" cy="237120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B8B5176-9EAC-0308-02EC-2A4787194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503" y="2603763"/>
            <a:ext cx="5341345" cy="417535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B07E977-C004-F9A7-71D6-F18D5C5A8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36" y="3059596"/>
            <a:ext cx="4743791" cy="351901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92922EB-9F62-D1C5-C05E-CFD7F8894786}"/>
              </a:ext>
            </a:extLst>
          </p:cNvPr>
          <p:cNvSpPr txBox="1"/>
          <p:nvPr/>
        </p:nvSpPr>
        <p:spPr>
          <a:xfrm>
            <a:off x="9503133" y="5389497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Aacc</a:t>
            </a:r>
            <a:r>
              <a:rPr lang="fr-FR" sz="1800" b="1" dirty="0"/>
              <a:t>/Acal&gt;0.3</a:t>
            </a:r>
          </a:p>
        </p:txBody>
      </p:sp>
    </p:spTree>
    <p:extLst>
      <p:ext uri="{BB962C8B-B14F-4D97-AF65-F5344CB8AC3E}">
        <p14:creationId xmlns:p14="http://schemas.microsoft.com/office/powerpoint/2010/main" val="203620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E3B3A-1D26-9369-4B87-9ACCFAC7C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C79521A6-539E-4920-53A8-49C807458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2ps - 260708 </a:t>
            </a:r>
            <a:r>
              <a:rPr lang="fr-FR" sz="5100" b="1" dirty="0" err="1"/>
              <a:t>ACC_Cal</a:t>
            </a:r>
            <a:r>
              <a:rPr lang="fr-FR" sz="5100" b="1" dirty="0"/>
              <a:t> – </a:t>
            </a:r>
            <a:r>
              <a:rPr lang="fr-FR" sz="5100" b="1" dirty="0" err="1"/>
              <a:t>Map</a:t>
            </a:r>
            <a:r>
              <a:rPr lang="fr-FR" sz="5100" b="1" dirty="0"/>
              <a:t> 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66F237-FF09-794E-859E-54D4B7232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15" y="1413643"/>
            <a:ext cx="5249137" cy="47895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9624E1C-162D-AF36-293C-ACFEEFC2E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222" y="2505449"/>
            <a:ext cx="5082503" cy="369770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6BE202A-3E6E-E7E1-4860-6EBD4E7B5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715" y="1413643"/>
            <a:ext cx="5249137" cy="484989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F727961-B632-9C66-B572-387C6D68F7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0045" y="2560320"/>
            <a:ext cx="5320642" cy="387096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20D7102C-E2FC-10FE-EDE0-5746BE04C5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0045" y="2505449"/>
            <a:ext cx="5320642" cy="387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58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165B-7357-9107-81C8-285E9307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C57B0C80-0443-DAE3-0C76-0AD7E723E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7ps - 260708 </a:t>
            </a:r>
            <a:r>
              <a:rPr lang="fr-FR" sz="5100" b="1" dirty="0" err="1"/>
              <a:t>ACC_Cal</a:t>
            </a:r>
            <a:r>
              <a:rPr lang="fr-FR" sz="5100" b="1" dirty="0"/>
              <a:t> – </a:t>
            </a:r>
            <a:r>
              <a:rPr lang="fr-FR" sz="5100" b="1" dirty="0" err="1"/>
              <a:t>Map</a:t>
            </a:r>
            <a:r>
              <a:rPr lang="fr-FR" sz="5100" b="1" dirty="0"/>
              <a:t> 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C0729D-218D-4467-577C-D17A96029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15" y="1413643"/>
            <a:ext cx="5249137" cy="478951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93391F4-082A-B6B7-CF74-D7A06A6E0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14" y="1413643"/>
            <a:ext cx="5249137" cy="484152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7EB09C7-AC2C-AAFB-2B09-1AF90A7A7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045" y="2560320"/>
            <a:ext cx="5320642" cy="387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4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0DC03-6A7A-0EDB-4994-54CD278A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ADCC31F4-C489-ACC9-11E7-548A7AF5D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19200" b="1" dirty="0"/>
              <a:t>2ps vs 7ps - 260708 </a:t>
            </a:r>
            <a:r>
              <a:rPr lang="fr-FR" sz="19200" b="1" dirty="0" err="1"/>
              <a:t>ACC_Cal</a:t>
            </a:r>
            <a:r>
              <a:rPr lang="fr-FR" sz="19200" b="1" dirty="0"/>
              <a:t>  </a:t>
            </a:r>
            <a:r>
              <a:rPr lang="fr-FR" sz="19200" b="1" dirty="0" err="1"/>
              <a:t>synt</a:t>
            </a:r>
            <a:r>
              <a:rPr lang="fr-FR" sz="192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CDFF4CB-86F0-CF93-02CF-D63138476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070" y="1275347"/>
            <a:ext cx="5879972" cy="517357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35D9641-1139-EC72-4B23-E43F0A416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74" y="1753766"/>
            <a:ext cx="4738510" cy="394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24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DC89-820C-8691-DE4E-4214462E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E460BE47-34BA-8E67-78B9-377F2900E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2ps 260527 </a:t>
            </a:r>
            <a:r>
              <a:rPr lang="fr-FR" sz="5100" b="1" dirty="0" err="1"/>
              <a:t>Vatérite</a:t>
            </a:r>
            <a:r>
              <a:rPr lang="fr-FR" sz="51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6" name="Google Shape;137;g3e4efdd0c05_0_0">
            <a:extLst>
              <a:ext uri="{FF2B5EF4-FFF2-40B4-BE49-F238E27FC236}">
                <a16:creationId xmlns:a16="http://schemas.microsoft.com/office/drawing/2014/main" id="{831F9502-F5F0-1519-8219-3CB32A5DCB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039127" y="736371"/>
            <a:ext cx="2452255" cy="221326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5E02C8-8EF1-A92A-3E90-67988E4FCE48}"/>
              </a:ext>
            </a:extLst>
          </p:cNvPr>
          <p:cNvSpPr/>
          <p:nvPr/>
        </p:nvSpPr>
        <p:spPr>
          <a:xfrm>
            <a:off x="6208981" y="969644"/>
            <a:ext cx="112548" cy="1119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9208E372-339E-3507-C0F4-93BA40F3E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168" y="632079"/>
            <a:ext cx="3083859" cy="284079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DC2D9F6-6DF1-5B94-ABC2-A837409A0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044" y="3271519"/>
            <a:ext cx="4538820" cy="345225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CB31626-BC42-FB18-9BA6-4B569AAAB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168" y="3620634"/>
            <a:ext cx="3083858" cy="281814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5113C58-1347-7BE7-DD1C-5251AB1C46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8813" y="3335644"/>
            <a:ext cx="4545051" cy="338812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85B80AE-4CEB-A96F-7C4F-D947A63CD347}"/>
              </a:ext>
            </a:extLst>
          </p:cNvPr>
          <p:cNvSpPr txBox="1"/>
          <p:nvPr/>
        </p:nvSpPr>
        <p:spPr>
          <a:xfrm>
            <a:off x="7735221" y="827339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Phase VAT : </a:t>
            </a:r>
            <a:r>
              <a:rPr lang="fr-FR" dirty="0" err="1"/>
              <a:t>A_fit</a:t>
            </a:r>
            <a:r>
              <a:rPr lang="fr-FR" dirty="0"/>
              <a:t> = 8050.1</a:t>
            </a:r>
          </a:p>
          <a:p>
            <a:pPr lvl="1"/>
            <a:r>
              <a:rPr lang="fr-FR" dirty="0"/>
              <a:t>- Raie 1 : nu = 1073.8006 cm^-1</a:t>
            </a:r>
          </a:p>
          <a:p>
            <a:pPr lvl="1"/>
            <a:r>
              <a:rPr lang="fr-FR" dirty="0"/>
              <a:t>- Raie 2 : nu = 1080.2310 cm^-1</a:t>
            </a:r>
          </a:p>
          <a:p>
            <a:pPr lvl="1"/>
            <a:r>
              <a:rPr lang="fr-FR" dirty="0"/>
              <a:t>- Raie 3 : nu = 1091.7282 cm^-1</a:t>
            </a:r>
          </a:p>
          <a:p>
            <a:pPr lvl="1"/>
            <a:r>
              <a:rPr lang="fr-FR" dirty="0"/>
              <a:t>- FWHM 1 : FWHM = 10.0000 cm^-1</a:t>
            </a:r>
          </a:p>
          <a:p>
            <a:pPr lvl="1"/>
            <a:r>
              <a:rPr lang="fr-FR" dirty="0"/>
              <a:t>- FWHM 2 : FWHM = 3.0289 cm^-1</a:t>
            </a:r>
          </a:p>
          <a:p>
            <a:pPr lvl="1"/>
            <a:r>
              <a:rPr lang="fr-FR" dirty="0"/>
              <a:t>- FWHM 3 : FWHM = 5.5216 cm^-1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A33F213-7E1B-16F2-3CAE-70703DB3B3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7168" y="3585255"/>
            <a:ext cx="3183297" cy="2888904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3DE36B19-4C87-CAEE-B59A-2AD2F452FE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7168" y="608025"/>
            <a:ext cx="3136083" cy="288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1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1F4A9-8BAF-C8A2-E881-F7596527E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D5F5752E-C1D2-5AFA-A8D5-83B8A3B72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7ps 260527 </a:t>
            </a:r>
            <a:r>
              <a:rPr lang="fr-FR" sz="5100" b="1" dirty="0" err="1"/>
              <a:t>Vatérite</a:t>
            </a:r>
            <a:r>
              <a:rPr lang="fr-FR" sz="51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AD355CA-DC99-5E5A-467A-71F6E4C82041}"/>
              </a:ext>
            </a:extLst>
          </p:cNvPr>
          <p:cNvGrpSpPr/>
          <p:nvPr/>
        </p:nvGrpSpPr>
        <p:grpSpPr>
          <a:xfrm>
            <a:off x="5039127" y="736371"/>
            <a:ext cx="2452255" cy="2213264"/>
            <a:chOff x="5039127" y="736371"/>
            <a:chExt cx="2452255" cy="2213264"/>
          </a:xfrm>
        </p:grpSpPr>
        <p:pic>
          <p:nvPicPr>
            <p:cNvPr id="6" name="Google Shape;137;g3e4efdd0c05_0_0">
              <a:extLst>
                <a:ext uri="{FF2B5EF4-FFF2-40B4-BE49-F238E27FC236}">
                  <a16:creationId xmlns:a16="http://schemas.microsoft.com/office/drawing/2014/main" id="{DD32D86B-D606-F6F4-291E-37F47116F33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039127" y="736371"/>
              <a:ext cx="2452255" cy="2213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6BFAD8-C17A-1A9B-9EA2-56342F1DC671}"/>
                </a:ext>
              </a:extLst>
            </p:cNvPr>
            <p:cNvSpPr/>
            <p:nvPr/>
          </p:nvSpPr>
          <p:spPr>
            <a:xfrm>
              <a:off x="6208981" y="969644"/>
              <a:ext cx="112548" cy="11196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0000"/>
                </a:solidFill>
              </a:endParaRPr>
            </a:p>
          </p:txBody>
        </p:sp>
      </p:grpSp>
      <p:pic>
        <p:nvPicPr>
          <p:cNvPr id="24" name="Image 23">
            <a:extLst>
              <a:ext uri="{FF2B5EF4-FFF2-40B4-BE49-F238E27FC236}">
                <a16:creationId xmlns:a16="http://schemas.microsoft.com/office/drawing/2014/main" id="{EF7E8C03-B9AB-CAA3-AD7E-06DC69615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168" y="632079"/>
            <a:ext cx="3083859" cy="284079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4A7A277-C9D3-F50D-FA39-6E719DA55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044" y="3271519"/>
            <a:ext cx="4538820" cy="345225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99D236C-2F23-5E9C-F91F-B371A9A955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168" y="3620634"/>
            <a:ext cx="3083858" cy="281814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8A88D45-F179-62DA-8D84-C978D57A48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8813" y="3335644"/>
            <a:ext cx="4545051" cy="338812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1CCC65C-1F27-D8D5-1E49-CF4EA7A10AF3}"/>
              </a:ext>
            </a:extLst>
          </p:cNvPr>
          <p:cNvSpPr txBox="1"/>
          <p:nvPr/>
        </p:nvSpPr>
        <p:spPr>
          <a:xfrm>
            <a:off x="7735221" y="827339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Phase VAT : </a:t>
            </a:r>
            <a:r>
              <a:rPr lang="fr-FR" dirty="0" err="1"/>
              <a:t>A_fit</a:t>
            </a:r>
            <a:r>
              <a:rPr lang="fr-FR" dirty="0"/>
              <a:t> = 1071.1</a:t>
            </a:r>
          </a:p>
          <a:p>
            <a:pPr lvl="1"/>
            <a:r>
              <a:rPr lang="fr-FR" dirty="0"/>
              <a:t>- Raie 1 : nu = 1074.2124 cm^-1</a:t>
            </a:r>
          </a:p>
          <a:p>
            <a:pPr lvl="1"/>
            <a:r>
              <a:rPr lang="fr-FR" dirty="0"/>
              <a:t>- Raie 2 : nu = 1080.6756 cm^-1</a:t>
            </a:r>
          </a:p>
          <a:p>
            <a:pPr lvl="1"/>
            <a:r>
              <a:rPr lang="fr-FR" dirty="0"/>
              <a:t>- Raie 3 : nu = 1090.0957 cm^-1</a:t>
            </a:r>
          </a:p>
          <a:p>
            <a:pPr lvl="1"/>
            <a:r>
              <a:rPr lang="fr-FR" dirty="0"/>
              <a:t>- FWHM 1 : FWHM = 3.1743 cm^-1</a:t>
            </a:r>
          </a:p>
          <a:p>
            <a:pPr lvl="1"/>
            <a:r>
              <a:rPr lang="fr-FR" dirty="0"/>
              <a:t>- FWHM 2 : FWHM = 3.6489 cm^-1</a:t>
            </a:r>
          </a:p>
          <a:p>
            <a:pPr lvl="1"/>
            <a:r>
              <a:rPr lang="fr-FR" dirty="0"/>
              <a:t>- FWHM 3 : FWHM = 5.2779 cm^-1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C1F3F2D-AC8B-FC36-1ABF-27680BD365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7167" y="588205"/>
            <a:ext cx="3131487" cy="288467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0B772E2-76A3-A7D7-58DB-58318D424F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7166" y="3620634"/>
            <a:ext cx="3105330" cy="281814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B3B5DDF-AFBA-869D-758B-B30E767C08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8813" y="3271519"/>
            <a:ext cx="4669754" cy="34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22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638A-EF94-9C8F-885C-81D2FFCF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424635B3-903C-3DCB-853C-E6D24E66C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2ps vs 7ps 260527 </a:t>
            </a:r>
            <a:r>
              <a:rPr lang="fr-FR" sz="5100" b="1" dirty="0" err="1"/>
              <a:t>Vatérite</a:t>
            </a:r>
            <a:r>
              <a:rPr lang="fr-FR" sz="51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36DFB279-8D85-1A9A-9860-0896FB1C9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54" y="989890"/>
            <a:ext cx="10382491" cy="551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13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1CD6-458D-0F08-3FA6-6E8693E1A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dirty="0" err="1"/>
              <a:t>Corals</a:t>
            </a:r>
            <a:r>
              <a:rPr lang="fr-FR" sz="4000" dirty="0"/>
              <a:t> 260715 2ps (#4 </a:t>
            </a:r>
            <a:r>
              <a:rPr lang="fr-FR" sz="4000" dirty="0" err="1"/>
              <a:t>stressed</a:t>
            </a:r>
            <a:r>
              <a:rPr lang="fr-FR" sz="4000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589E1D-0EB7-F73A-0A60-7E0946508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3432" y="781320"/>
            <a:ext cx="1684874" cy="165576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6046A4A-B930-F6C3-4B2F-344D2E895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22" y="2619442"/>
            <a:ext cx="4604076" cy="396967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9731C6F-48AA-7FDE-DE56-91D47740F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654" y="2619442"/>
            <a:ext cx="4620602" cy="396967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BBF7B8B-C61A-1A80-6882-1D1178B15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1368" y="4361676"/>
            <a:ext cx="3258542" cy="249632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C7424D4E-504E-7F15-2B02-402521288479}"/>
              </a:ext>
            </a:extLst>
          </p:cNvPr>
          <p:cNvSpPr txBox="1"/>
          <p:nvPr/>
        </p:nvSpPr>
        <p:spPr>
          <a:xfrm>
            <a:off x="2861125" y="2151651"/>
            <a:ext cx="1631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Aacc</a:t>
            </a:r>
            <a:r>
              <a:rPr lang="fr-FR" dirty="0"/>
              <a:t>/Acal&gt;0.3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19F4290-987D-0161-1920-F276DC152880}"/>
              </a:ext>
            </a:extLst>
          </p:cNvPr>
          <p:cNvSpPr txBox="1"/>
          <p:nvPr/>
        </p:nvSpPr>
        <p:spPr>
          <a:xfrm>
            <a:off x="9137955" y="4600437"/>
            <a:ext cx="1508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Aacc</a:t>
            </a:r>
            <a:r>
              <a:rPr lang="fr-FR" b="1" dirty="0"/>
              <a:t>/Aara&gt;1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C516793D-535D-559F-FA3F-F0DFA0A3C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5956" y="4431330"/>
            <a:ext cx="3002112" cy="2333439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4E7203AB-B67E-EFCB-87EC-492E7C85A32C}"/>
              </a:ext>
            </a:extLst>
          </p:cNvPr>
          <p:cNvSpPr txBox="1"/>
          <p:nvPr/>
        </p:nvSpPr>
        <p:spPr>
          <a:xfrm>
            <a:off x="2780960" y="4599134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Aacc</a:t>
            </a:r>
            <a:r>
              <a:rPr lang="fr-FR" sz="1800" b="1" dirty="0"/>
              <a:t>/Aara&gt;0.3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58678D4-A94E-937A-BB4F-9C8901F860F4}"/>
              </a:ext>
            </a:extLst>
          </p:cNvPr>
          <p:cNvSpPr txBox="1"/>
          <p:nvPr/>
        </p:nvSpPr>
        <p:spPr>
          <a:xfrm>
            <a:off x="5618068" y="599596"/>
            <a:ext cx="39123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1200" b="1" dirty="0"/>
              <a:t>ARA</a:t>
            </a:r>
            <a:r>
              <a:rPr lang="fr-FR" sz="1200" dirty="0"/>
              <a:t> :  </a:t>
            </a:r>
            <a:r>
              <a:rPr lang="fr-FR" sz="1200" b="0" i="0" dirty="0">
                <a:effectLst/>
                <a:latin typeface="+mn-lt"/>
              </a:rPr>
              <a:t>Phase ara  : </a:t>
            </a:r>
            <a:r>
              <a:rPr lang="fr-FR" sz="1200" b="0" i="0" dirty="0" err="1">
                <a:effectLst/>
                <a:latin typeface="+mn-lt"/>
              </a:rPr>
              <a:t>A_mean</a:t>
            </a:r>
            <a:r>
              <a:rPr lang="fr-FR" sz="1200" b="0" i="0" dirty="0">
                <a:effectLst/>
                <a:latin typeface="+mn-lt"/>
              </a:rPr>
              <a:t> = 11615 +/- 5235.2</a:t>
            </a:r>
            <a:br>
              <a:rPr lang="fr-FR" sz="1200" b="0" i="0" dirty="0">
                <a:effectLst/>
                <a:latin typeface="+mn-lt"/>
              </a:rPr>
            </a:br>
            <a:r>
              <a:rPr lang="fr-FR" sz="1200" b="0" i="0" dirty="0">
                <a:effectLst/>
                <a:latin typeface="+mn-lt"/>
              </a:rPr>
              <a:t>Phase acc : </a:t>
            </a:r>
            <a:r>
              <a:rPr lang="fr-FR" sz="1200" b="0" i="0" dirty="0" err="1">
                <a:effectLst/>
                <a:latin typeface="+mn-lt"/>
              </a:rPr>
              <a:t>A_mean</a:t>
            </a:r>
            <a:r>
              <a:rPr lang="fr-FR" sz="1200" b="0" i="0" dirty="0">
                <a:effectLst/>
                <a:latin typeface="+mn-lt"/>
              </a:rPr>
              <a:t> = 1673.2 +/- 908</a:t>
            </a:r>
          </a:p>
          <a:p>
            <a:pPr lvl="1"/>
            <a:r>
              <a:rPr lang="fr-FR" sz="1200" dirty="0"/>
              <a:t>nu = 1085.9181 +/- 0.1665 cm^-1</a:t>
            </a:r>
          </a:p>
          <a:p>
            <a:pPr lvl="1"/>
            <a:r>
              <a:rPr lang="fr-FR" sz="1200" dirty="0" err="1"/>
              <a:t>FWHM_deconvolve</a:t>
            </a:r>
            <a:r>
              <a:rPr lang="fr-FR" sz="1200" dirty="0"/>
              <a:t> = 1.1279 +/- 0.3712 cm^-1</a:t>
            </a:r>
          </a:p>
          <a:p>
            <a:pPr lvl="1"/>
            <a:r>
              <a:rPr lang="fr-FR" sz="1200" dirty="0"/>
              <a:t>Mean = 0.82211;Std = 18.902</a:t>
            </a:r>
          </a:p>
          <a:p>
            <a:pPr lvl="1"/>
            <a:r>
              <a:rPr lang="fr-FR" sz="1200" b="1" dirty="0"/>
              <a:t>ACC : </a:t>
            </a:r>
            <a:r>
              <a:rPr lang="fr-FR" sz="1200" dirty="0"/>
              <a:t>Phase ara  : </a:t>
            </a:r>
            <a:r>
              <a:rPr lang="fr-FR" sz="1200" dirty="0" err="1"/>
              <a:t>A_mean</a:t>
            </a:r>
            <a:r>
              <a:rPr lang="fr-FR" sz="1200" dirty="0"/>
              <a:t> = 4316.2 +/- 2845.1</a:t>
            </a:r>
            <a:br>
              <a:rPr lang="fr-FR" sz="1200" dirty="0"/>
            </a:br>
            <a:r>
              <a:rPr lang="fr-FR" sz="1200" dirty="0"/>
              <a:t>Phase acc : </a:t>
            </a:r>
            <a:r>
              <a:rPr lang="fr-FR" sz="1200" dirty="0" err="1"/>
              <a:t>A_mean</a:t>
            </a:r>
            <a:r>
              <a:rPr lang="fr-FR" sz="1200" dirty="0"/>
              <a:t> = 2218.1 +/- 1386.1</a:t>
            </a:r>
          </a:p>
          <a:p>
            <a:pPr lvl="1"/>
            <a:r>
              <a:rPr lang="fr-FR" sz="1200" dirty="0"/>
              <a:t>nu = 1073.7361 +/- 2.2470 cm^-1</a:t>
            </a:r>
          </a:p>
          <a:p>
            <a:pPr lvl="1"/>
            <a:r>
              <a:rPr lang="fr-FR" sz="1200" dirty="0" err="1"/>
              <a:t>FWHM_deconvolve</a:t>
            </a:r>
            <a:r>
              <a:rPr lang="fr-FR" sz="1200" dirty="0"/>
              <a:t> = 31.3916 +/- 6.8866 cm^-1</a:t>
            </a:r>
          </a:p>
          <a:p>
            <a:pPr lvl="1"/>
            <a:r>
              <a:rPr lang="fr-FR" sz="1200" dirty="0"/>
              <a:t>Mean = -1.0486;Std = 43.549</a:t>
            </a:r>
          </a:p>
          <a:p>
            <a:pPr lvl="1"/>
            <a:endParaRPr lang="fr-FR" dirty="0"/>
          </a:p>
          <a:p>
            <a:pPr lvl="1"/>
            <a:endParaRPr lang="fr-FR" sz="1200" dirty="0"/>
          </a:p>
          <a:p>
            <a:pPr marL="0" marR="0" algn="l">
              <a:lnSpc>
                <a:spcPct val="100000"/>
              </a:lnSpc>
              <a:buNone/>
            </a:pPr>
            <a:endParaRPr lang="fr-FR" sz="1000" b="0" i="0" dirty="0">
              <a:effectLst/>
              <a:latin typeface="Menlo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8F229B9-7E42-3470-223D-59A02A416E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966" y="766551"/>
            <a:ext cx="3567034" cy="365025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297DF4E-3A01-25C5-B807-9D5A8CA11CA4}"/>
              </a:ext>
            </a:extLst>
          </p:cNvPr>
          <p:cNvSpPr txBox="1"/>
          <p:nvPr/>
        </p:nvSpPr>
        <p:spPr>
          <a:xfrm>
            <a:off x="6827654" y="295550"/>
            <a:ext cx="6148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Aacc</a:t>
            </a:r>
            <a:r>
              <a:rPr lang="fr-FR" sz="1800" b="1" dirty="0"/>
              <a:t>/Acal&gt;0.3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88B158-4DA6-62A5-B847-F0AA92CB35DC}"/>
              </a:ext>
            </a:extLst>
          </p:cNvPr>
          <p:cNvSpPr txBox="1"/>
          <p:nvPr/>
        </p:nvSpPr>
        <p:spPr>
          <a:xfrm>
            <a:off x="9626819" y="259359"/>
            <a:ext cx="641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Aacc</a:t>
            </a:r>
            <a:r>
              <a:rPr lang="fr-FR" sz="1800" b="1" dirty="0"/>
              <a:t>/Acal&gt;</a:t>
            </a:r>
            <a:r>
              <a:rPr lang="fr-FR" b="1" dirty="0"/>
              <a:t>1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3465503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68984-D178-3F4C-31F3-B4BBE3954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0EC311-590A-8C02-587A-1093BB157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2ps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9ED3CF-5EB2-C3CE-2BEA-07CBE41D2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711" y="892282"/>
            <a:ext cx="2348921" cy="240372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30C01A0-9B47-98C7-EA4A-605158725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06" y="3754606"/>
            <a:ext cx="3235187" cy="292260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A817A1B-A756-16CA-8FFB-A22E264BC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038" y="3351913"/>
            <a:ext cx="4471686" cy="350608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3E88461-64A6-E9B8-3947-DD764D5B8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306" y="781297"/>
            <a:ext cx="3235187" cy="2951300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1314F53D-012A-1ACD-ED61-60D62EE94E49}"/>
              </a:ext>
            </a:extLst>
          </p:cNvPr>
          <p:cNvSpPr txBox="1"/>
          <p:nvPr/>
        </p:nvSpPr>
        <p:spPr>
          <a:xfrm>
            <a:off x="9089985" y="4200247"/>
            <a:ext cx="62040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</a:t>
            </a:r>
            <a:r>
              <a:rPr lang="fr-FR" b="1" dirty="0"/>
              <a:t>Spectre ACC : </a:t>
            </a:r>
            <a:endParaRPr lang="fr-FR" dirty="0"/>
          </a:p>
          <a:p>
            <a:r>
              <a:rPr lang="fr-FR" dirty="0"/>
              <a:t>ARA : </a:t>
            </a:r>
            <a:r>
              <a:rPr lang="fr-FR" dirty="0" err="1"/>
              <a:t>A_fit</a:t>
            </a:r>
            <a:r>
              <a:rPr lang="fr-FR" dirty="0"/>
              <a:t> = 12139</a:t>
            </a:r>
          </a:p>
          <a:p>
            <a:r>
              <a:rPr lang="fr-FR" dirty="0"/>
              <a:t>ACC : </a:t>
            </a:r>
            <a:r>
              <a:rPr lang="fr-FR" dirty="0" err="1"/>
              <a:t>A_fit</a:t>
            </a:r>
            <a:r>
              <a:rPr lang="fr-FR" dirty="0"/>
              <a:t> = 13594</a:t>
            </a:r>
          </a:p>
          <a:p>
            <a:r>
              <a:rPr lang="fr-FR" dirty="0"/>
              <a:t>ARA : nu = 1084.7373 cm^-1</a:t>
            </a:r>
          </a:p>
          <a:p>
            <a:r>
              <a:rPr lang="fr-FR" dirty="0"/>
              <a:t>ACC : nu = 1073.0000 cm^-1</a:t>
            </a:r>
          </a:p>
          <a:p>
            <a:r>
              <a:rPr lang="fr-FR" dirty="0"/>
              <a:t>ARA : FWHM = 1.0000 cm^-1</a:t>
            </a:r>
          </a:p>
          <a:p>
            <a:r>
              <a:rPr lang="fr-FR" dirty="0"/>
              <a:t>ACC : FWHM = 29.1308 cm^-1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F9A769-C518-778B-5540-FF17DFCA7D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8504" y="212492"/>
            <a:ext cx="3513496" cy="313942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0EBBED6-5FC6-A1A1-909F-4A9B6F75397F}"/>
              </a:ext>
            </a:extLst>
          </p:cNvPr>
          <p:cNvSpPr txBox="1"/>
          <p:nvPr/>
        </p:nvSpPr>
        <p:spPr>
          <a:xfrm>
            <a:off x="8678504" y="184396"/>
            <a:ext cx="7756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 dirty="0"/>
              <a:t>7ps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7EB8F2F-AD3A-278D-E795-F59C0041C5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215" y="4105627"/>
            <a:ext cx="3451497" cy="25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52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098D-53C4-C840-B30A-95323CB50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3CEA08-EDB1-CBFB-796A-02108849D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2ps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CFA125-BD6D-5DA1-3575-141EF2495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72" y="3754606"/>
            <a:ext cx="3370245" cy="31263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A3F3550-5F74-C413-E238-922B87EDF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74" y="739526"/>
            <a:ext cx="2946340" cy="301508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244FEA6-2102-9F7D-4943-8E4DA2CF2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231" y="702993"/>
            <a:ext cx="5302169" cy="38391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82CA5FF-097A-A485-B43F-34E1ABDF0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232" y="3429000"/>
            <a:ext cx="4513296" cy="342902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BD8B85F0-686C-8C6A-42BC-66DBC32E7143}"/>
              </a:ext>
            </a:extLst>
          </p:cNvPr>
          <p:cNvSpPr txBox="1"/>
          <p:nvPr/>
        </p:nvSpPr>
        <p:spPr>
          <a:xfrm>
            <a:off x="9052400" y="459421"/>
            <a:ext cx="32464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ACC</a:t>
            </a:r>
          </a:p>
          <a:p>
            <a:r>
              <a:rPr lang="fr-FR" dirty="0"/>
              <a:t>ARA: </a:t>
            </a:r>
            <a:r>
              <a:rPr lang="fr-FR" dirty="0" err="1"/>
              <a:t>A_mean</a:t>
            </a:r>
            <a:r>
              <a:rPr lang="fr-FR" dirty="0"/>
              <a:t> = 702.68 +/- 1229 </a:t>
            </a:r>
          </a:p>
          <a:p>
            <a:r>
              <a:rPr lang="fr-FR" dirty="0" err="1"/>
              <a:t>ACC:A_mean</a:t>
            </a:r>
            <a:r>
              <a:rPr lang="fr-FR" dirty="0"/>
              <a:t> = 4453 +/- 8549.8 </a:t>
            </a:r>
          </a:p>
          <a:p>
            <a:r>
              <a:rPr lang="fr-FR" dirty="0"/>
              <a:t>nu = 1073.5428 +/- 1.7166 cm^-1</a:t>
            </a:r>
          </a:p>
          <a:p>
            <a:r>
              <a:rPr lang="fr-FR" dirty="0"/>
              <a:t>FWHM= 31.8237 +/- 6.0136 cm^-1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5FF58BA-755A-363E-10D7-AC33BD34B448}"/>
              </a:ext>
            </a:extLst>
          </p:cNvPr>
          <p:cNvSpPr txBox="1"/>
          <p:nvPr/>
        </p:nvSpPr>
        <p:spPr>
          <a:xfrm>
            <a:off x="3950920" y="4542189"/>
            <a:ext cx="34359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ARA</a:t>
            </a:r>
            <a:endParaRPr lang="fr-FR" sz="1800" dirty="0"/>
          </a:p>
          <a:p>
            <a:r>
              <a:rPr lang="fr-FR" sz="1800" dirty="0"/>
              <a:t>ARA : </a:t>
            </a:r>
            <a:r>
              <a:rPr lang="fr-FR" sz="1800" dirty="0" err="1"/>
              <a:t>A_mean</a:t>
            </a:r>
            <a:r>
              <a:rPr lang="fr-FR" sz="1800" dirty="0"/>
              <a:t> = </a:t>
            </a:r>
            <a:r>
              <a:rPr lang="fr-FR" dirty="0"/>
              <a:t>8311 +/- 3747.4</a:t>
            </a:r>
          </a:p>
          <a:p>
            <a:r>
              <a:rPr lang="fr-FR" sz="1800" dirty="0"/>
              <a:t>ACC: </a:t>
            </a:r>
            <a:r>
              <a:rPr lang="fr-FR" sz="1800" dirty="0" err="1"/>
              <a:t>A_mean</a:t>
            </a:r>
            <a:r>
              <a:rPr lang="fr-FR" sz="1800" dirty="0"/>
              <a:t> = </a:t>
            </a:r>
            <a:r>
              <a:rPr lang="fr-FR" dirty="0"/>
              <a:t>1346.2 +/- 966.64 </a:t>
            </a:r>
          </a:p>
          <a:p>
            <a:r>
              <a:rPr lang="fr-FR" dirty="0"/>
              <a:t>nu = 1086.0169 +/- 0.1741 cm^-1 </a:t>
            </a:r>
            <a:r>
              <a:rPr lang="fr-FR" sz="1800" dirty="0"/>
              <a:t>FWHM= </a:t>
            </a:r>
            <a:r>
              <a:rPr lang="fr-FR" dirty="0"/>
              <a:t>1.4299 +/- 0.8107 cm^-1</a:t>
            </a:r>
            <a:endParaRPr lang="fr-FR" sz="18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57C2B94-B0F1-D3FE-AE98-26493AD201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4717" y="702992"/>
            <a:ext cx="5323513" cy="383919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F7ECD1A-33BD-ADB9-A483-73F61D0B9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4232" y="3182588"/>
            <a:ext cx="4513296" cy="369834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4DB405D-5098-7969-E383-EF3FD01A96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547" y="3754606"/>
            <a:ext cx="3392218" cy="312632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4BFF1F9-1E1D-ADAD-28F2-A259168560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3187" y="3182588"/>
            <a:ext cx="3079015" cy="219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1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AAD8-96A2-114C-50D9-FC6A6C53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90B83A-DC2D-8A98-FD32-FCA29B660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7ps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57D6AF-C090-4801-7BB5-3BD8B4DFE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72" y="3754606"/>
            <a:ext cx="3370245" cy="31263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420F354-BFC1-2646-E6F1-A982C9F72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74" y="739526"/>
            <a:ext cx="2946340" cy="301508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7574F47-C286-1C51-FF73-01D460609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231" y="702993"/>
            <a:ext cx="5302169" cy="38391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7BA1DA4-A4AC-B6A8-4136-672E9A081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232" y="3429000"/>
            <a:ext cx="4513296" cy="342902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A1669978-DDA2-D5B6-457C-6FA91D131818}"/>
              </a:ext>
            </a:extLst>
          </p:cNvPr>
          <p:cNvSpPr txBox="1"/>
          <p:nvPr/>
        </p:nvSpPr>
        <p:spPr>
          <a:xfrm>
            <a:off x="9052400" y="459421"/>
            <a:ext cx="32464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ACC</a:t>
            </a:r>
          </a:p>
          <a:p>
            <a:r>
              <a:rPr lang="fr-FR" dirty="0"/>
              <a:t>ARA: </a:t>
            </a:r>
            <a:r>
              <a:rPr lang="fr-FR" dirty="0" err="1"/>
              <a:t>A_mean</a:t>
            </a:r>
            <a:r>
              <a:rPr lang="fr-FR" dirty="0"/>
              <a:t> = 648.98 +/- 422.52</a:t>
            </a:r>
          </a:p>
          <a:p>
            <a:r>
              <a:rPr lang="fr-FR" dirty="0" err="1"/>
              <a:t>ACC:A_mean</a:t>
            </a:r>
            <a:r>
              <a:rPr lang="fr-FR" dirty="0"/>
              <a:t> = 4568.9 +/- 2423.2</a:t>
            </a:r>
          </a:p>
          <a:p>
            <a:r>
              <a:rPr lang="fr-FR" dirty="0"/>
              <a:t>nu = 1073.8552 +/- 1.5147 cm^-1</a:t>
            </a:r>
          </a:p>
          <a:p>
            <a:r>
              <a:rPr lang="fr-FR" dirty="0"/>
              <a:t>FWHM= 30.2458 +/- 9.4385 cm^-1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F04E5DA-C1B2-788B-10CF-6D9F31C07413}"/>
              </a:ext>
            </a:extLst>
          </p:cNvPr>
          <p:cNvSpPr txBox="1"/>
          <p:nvPr/>
        </p:nvSpPr>
        <p:spPr>
          <a:xfrm>
            <a:off x="3994139" y="4785761"/>
            <a:ext cx="34359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ARA</a:t>
            </a:r>
            <a:endParaRPr lang="fr-FR" sz="1800" dirty="0"/>
          </a:p>
          <a:p>
            <a:r>
              <a:rPr lang="fr-FR" sz="1800" dirty="0"/>
              <a:t>ARA : </a:t>
            </a:r>
            <a:r>
              <a:rPr lang="fr-FR" sz="1800" dirty="0" err="1"/>
              <a:t>A_mean</a:t>
            </a:r>
            <a:r>
              <a:rPr lang="fr-FR" sz="1800" dirty="0"/>
              <a:t> = 4275 +/- 794.18</a:t>
            </a:r>
          </a:p>
          <a:p>
            <a:r>
              <a:rPr lang="fr-FR" sz="1800" dirty="0"/>
              <a:t>ACC: </a:t>
            </a:r>
            <a:r>
              <a:rPr lang="fr-FR" sz="1800" dirty="0" err="1"/>
              <a:t>A_mean</a:t>
            </a:r>
            <a:r>
              <a:rPr lang="fr-FR" sz="1800" dirty="0"/>
              <a:t> = 1464.6 +/- 604.63</a:t>
            </a:r>
          </a:p>
          <a:p>
            <a:r>
              <a:rPr lang="fr-FR" sz="1800" dirty="0"/>
              <a:t>nu = 1085.4458 +/- 0.2423 cm^-1</a:t>
            </a:r>
          </a:p>
          <a:p>
            <a:r>
              <a:rPr lang="fr-FR" sz="1800" dirty="0"/>
              <a:t>FWHM= 3.1194 +/- 0.9295 cm^-1</a:t>
            </a:r>
          </a:p>
        </p:txBody>
      </p:sp>
    </p:spTree>
    <p:extLst>
      <p:ext uri="{BB962C8B-B14F-4D97-AF65-F5344CB8AC3E}">
        <p14:creationId xmlns:p14="http://schemas.microsoft.com/office/powerpoint/2010/main" val="2839952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2942F-5356-E15B-9C9F-E9CBD9CC9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0DE6DD-3DE4-CD10-0A39-07D9EC691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" y="-335280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dirty="0" err="1"/>
              <a:t>Corals</a:t>
            </a:r>
            <a:r>
              <a:rPr lang="fr-FR" sz="4000" dirty="0"/>
              <a:t> 260715 2ps (</a:t>
            </a:r>
            <a:r>
              <a:rPr lang="fr-FR" sz="4000" dirty="0" err="1"/>
              <a:t>stressed</a:t>
            </a:r>
            <a:r>
              <a:rPr lang="fr-FR" sz="4000" dirty="0"/>
              <a:t>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498CAEF-202D-C4DF-2FCE-6BF84569C1D8}"/>
              </a:ext>
            </a:extLst>
          </p:cNvPr>
          <p:cNvSpPr txBox="1"/>
          <p:nvPr/>
        </p:nvSpPr>
        <p:spPr>
          <a:xfrm>
            <a:off x="7880432" y="103216"/>
            <a:ext cx="2867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Aacc</a:t>
            </a:r>
            <a:r>
              <a:rPr lang="fr-FR" sz="3200" b="1" dirty="0"/>
              <a:t>/Acal&gt;0.3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0094F97-7887-C982-21A6-8335A419E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08" y="1813145"/>
            <a:ext cx="5413092" cy="386713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CDDA5C9-8562-E526-EEE9-C283E912D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859" y="1813145"/>
            <a:ext cx="5413092" cy="386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8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49195-1AB8-AFDE-2E4D-81432B0AC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2163C8-DFF6-36E4-43BC-20F1F750B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dirty="0" err="1"/>
              <a:t>Corals</a:t>
            </a:r>
            <a:r>
              <a:rPr lang="fr-FR" sz="4000" dirty="0"/>
              <a:t> 260715 7ps (#4 </a:t>
            </a:r>
            <a:r>
              <a:rPr lang="fr-FR" sz="4000" dirty="0" err="1"/>
              <a:t>stressed</a:t>
            </a:r>
            <a:r>
              <a:rPr lang="fr-FR" sz="4000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208059F-8884-10B5-5EAA-6FC6BB338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3432" y="781320"/>
            <a:ext cx="1684874" cy="165576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8680D10-6E45-4BFD-1F22-1187B9D4E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654" y="2619442"/>
            <a:ext cx="4620602" cy="396967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02C31D0A-833E-D5EB-3FA2-6D8B01085B7E}"/>
              </a:ext>
            </a:extLst>
          </p:cNvPr>
          <p:cNvSpPr txBox="1"/>
          <p:nvPr/>
        </p:nvSpPr>
        <p:spPr>
          <a:xfrm>
            <a:off x="2861125" y="2151651"/>
            <a:ext cx="1631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Aacc</a:t>
            </a:r>
            <a:r>
              <a:rPr lang="fr-FR" dirty="0"/>
              <a:t>/Acal&gt;0.3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7E23B7A-6988-E8AB-FCAC-01DE155F5BB4}"/>
              </a:ext>
            </a:extLst>
          </p:cNvPr>
          <p:cNvSpPr txBox="1"/>
          <p:nvPr/>
        </p:nvSpPr>
        <p:spPr>
          <a:xfrm>
            <a:off x="9137955" y="4600437"/>
            <a:ext cx="1497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Aacc</a:t>
            </a:r>
            <a:r>
              <a:rPr lang="fr-FR" b="1" dirty="0"/>
              <a:t>/Acal&gt;1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90EA08A-F590-0172-288D-9015A90E67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966" y="766551"/>
            <a:ext cx="3567034" cy="365025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9D4DE9A-CDBB-2CD0-860B-BD4336182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827" y="2590676"/>
            <a:ext cx="4738429" cy="395579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DD800A8-16E5-ACC2-9306-1F8EED262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902" y="4416807"/>
            <a:ext cx="3183098" cy="244119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8A117EF-6CB5-555F-3902-782342E3B021}"/>
              </a:ext>
            </a:extLst>
          </p:cNvPr>
          <p:cNvSpPr txBox="1"/>
          <p:nvPr/>
        </p:nvSpPr>
        <p:spPr>
          <a:xfrm>
            <a:off x="9393098" y="4734879"/>
            <a:ext cx="641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Aacc</a:t>
            </a:r>
            <a:r>
              <a:rPr lang="fr-FR" sz="1800" b="1" dirty="0"/>
              <a:t>/Acal&gt;</a:t>
            </a:r>
            <a:r>
              <a:rPr lang="fr-FR" b="1" dirty="0"/>
              <a:t>1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635254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5EF6-FACB-CC61-3081-EFBB2FF9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0B8448-E1BB-E283-A32D-505A10768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dirty="0" err="1"/>
              <a:t>Corals</a:t>
            </a:r>
            <a:r>
              <a:rPr lang="fr-FR" sz="4000" dirty="0"/>
              <a:t> 260715 7ps (#4 </a:t>
            </a:r>
            <a:r>
              <a:rPr lang="fr-FR" sz="4000" dirty="0" err="1"/>
              <a:t>stressed</a:t>
            </a:r>
            <a:r>
              <a:rPr lang="fr-FR" sz="4000" dirty="0"/>
              <a:t>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59528D5-620C-28A9-7649-17DF3D9AA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72" y="1014591"/>
            <a:ext cx="2805528" cy="28709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DC319CE-ECB0-A327-8F21-3CE325E37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72" y="3944263"/>
            <a:ext cx="2993563" cy="272827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C1B6D58-E5BE-42DF-B9C7-0DA521156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935" y="835175"/>
            <a:ext cx="6122434" cy="462870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B8770FE-B393-29E5-B0F8-8902AC6B9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935" y="3991193"/>
            <a:ext cx="3643741" cy="268134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4A9F7D0-66BC-84DD-4190-001B805D4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476" y="3930799"/>
            <a:ext cx="3643741" cy="2741743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F726609-81E7-2CC0-B201-31B0D752E7AC}"/>
              </a:ext>
            </a:extLst>
          </p:cNvPr>
          <p:cNvSpPr txBox="1"/>
          <p:nvPr/>
        </p:nvSpPr>
        <p:spPr>
          <a:xfrm>
            <a:off x="9879169" y="1305342"/>
            <a:ext cx="620698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00000"/>
              </a:lnSpc>
              <a:buNone/>
            </a:pPr>
            <a:r>
              <a:rPr lang="fr-FR" sz="1100" b="0" i="0" dirty="0">
                <a:effectLst/>
                <a:latin typeface="+mn-lt"/>
              </a:rPr>
              <a:t>FWHM instrumentale 2.4980 cm^-1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2 : ARA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Amplitude des phases :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2 : </a:t>
            </a:r>
            <a:r>
              <a:rPr lang="fr-FR" sz="1100" b="0" i="0" dirty="0" err="1">
                <a:effectLst/>
                <a:latin typeface="+mn-lt"/>
              </a:rPr>
              <a:t>A_mean</a:t>
            </a:r>
            <a:r>
              <a:rPr lang="fr-FR" sz="1100" b="0" i="0" dirty="0">
                <a:effectLst/>
                <a:latin typeface="+mn-lt"/>
              </a:rPr>
              <a:t> = 4275 +/- 794.21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4 : </a:t>
            </a:r>
            <a:r>
              <a:rPr lang="fr-FR" sz="1100" b="0" i="0" dirty="0" err="1">
                <a:effectLst/>
                <a:latin typeface="+mn-lt"/>
              </a:rPr>
              <a:t>A_mean</a:t>
            </a:r>
            <a:r>
              <a:rPr lang="fr-FR" sz="1100" b="0" i="0" dirty="0">
                <a:effectLst/>
                <a:latin typeface="+mn-lt"/>
              </a:rPr>
              <a:t> = 1464.7 +/- 604.59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nu = 1085.4458 +/- 0.2422 cm^-1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FWHM= 3.1193 +/- 0.9294 cm^-1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4 : ACC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2 : </a:t>
            </a:r>
            <a:r>
              <a:rPr lang="fr-FR" sz="1100" b="0" i="0" dirty="0" err="1">
                <a:effectLst/>
                <a:latin typeface="+mn-lt"/>
              </a:rPr>
              <a:t>A_mean</a:t>
            </a:r>
            <a:r>
              <a:rPr lang="fr-FR" sz="1100" b="0" i="0" dirty="0">
                <a:effectLst/>
                <a:latin typeface="+mn-lt"/>
              </a:rPr>
              <a:t> = 86.662 +/- 68.817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4 : </a:t>
            </a:r>
            <a:r>
              <a:rPr lang="fr-FR" sz="1100" b="0" i="0" dirty="0" err="1">
                <a:effectLst/>
                <a:latin typeface="+mn-lt"/>
              </a:rPr>
              <a:t>A_mean</a:t>
            </a:r>
            <a:r>
              <a:rPr lang="fr-FR" sz="1100" b="0" i="0" dirty="0">
                <a:effectLst/>
                <a:latin typeface="+mn-lt"/>
              </a:rPr>
              <a:t> = 4145.5 +/- 1814.5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nu = 1070.4489 +/- 0.6355 cm^-1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FWHM = 34.4327 +/- 4.8101 cm^-1</a:t>
            </a:r>
            <a:endParaRPr lang="fr-FR" sz="11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794395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64797-0624-B0C7-77BB-AB927582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A50AC-8BE3-88B7-6196-E7A1FB29D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dirty="0" err="1"/>
              <a:t>Corals</a:t>
            </a:r>
            <a:r>
              <a:rPr lang="fr-FR" sz="4000" dirty="0"/>
              <a:t> 260713 2ps(#4 </a:t>
            </a:r>
            <a:r>
              <a:rPr lang="fr-FR" sz="4000" dirty="0" err="1"/>
              <a:t>stressed</a:t>
            </a:r>
            <a:r>
              <a:rPr lang="fr-FR" sz="4000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260C50D-0724-D944-C787-DCF786F8A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3432" y="781320"/>
            <a:ext cx="1684874" cy="165576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DB6077E-CEBA-E51F-3B6C-FD5B4D123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22" y="2619442"/>
            <a:ext cx="4604076" cy="396967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0FC4EF7-23E5-2FD8-10D0-A165E4B29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654" y="2619442"/>
            <a:ext cx="4620602" cy="396967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98B9A9F-9034-2B47-62F6-5919D6247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1368" y="4361676"/>
            <a:ext cx="3258542" cy="249632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2F76FD2A-0A12-28BA-DE63-434448D6605E}"/>
              </a:ext>
            </a:extLst>
          </p:cNvPr>
          <p:cNvSpPr txBox="1"/>
          <p:nvPr/>
        </p:nvSpPr>
        <p:spPr>
          <a:xfrm>
            <a:off x="2861125" y="2151651"/>
            <a:ext cx="1631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Aacc</a:t>
            </a:r>
            <a:r>
              <a:rPr lang="fr-FR" dirty="0"/>
              <a:t>/Acal&gt;0.3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320559A-1F88-9C3A-AF15-8F4B3331CAF1}"/>
              </a:ext>
            </a:extLst>
          </p:cNvPr>
          <p:cNvSpPr txBox="1"/>
          <p:nvPr/>
        </p:nvSpPr>
        <p:spPr>
          <a:xfrm>
            <a:off x="9137955" y="4600437"/>
            <a:ext cx="1497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Aacc</a:t>
            </a:r>
            <a:r>
              <a:rPr lang="fr-FR" b="1" dirty="0"/>
              <a:t>/Acal&gt;1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D1DFCB3E-648E-E133-3D7B-60A04719BB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5956" y="4431330"/>
            <a:ext cx="3002112" cy="2333439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FA03B0CE-1309-5944-488A-8D44828BC426}"/>
              </a:ext>
            </a:extLst>
          </p:cNvPr>
          <p:cNvSpPr txBox="1"/>
          <p:nvPr/>
        </p:nvSpPr>
        <p:spPr>
          <a:xfrm>
            <a:off x="3628059" y="4705697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Aacc</a:t>
            </a:r>
            <a:r>
              <a:rPr lang="fr-FR" sz="1800" b="1" dirty="0"/>
              <a:t>/Acal&gt;0.3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3F2A3D8-130D-2332-CEC4-94B05B50DE30}"/>
              </a:ext>
            </a:extLst>
          </p:cNvPr>
          <p:cNvSpPr txBox="1"/>
          <p:nvPr/>
        </p:nvSpPr>
        <p:spPr>
          <a:xfrm>
            <a:off x="5618068" y="599596"/>
            <a:ext cx="39123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1200" b="1" dirty="0"/>
              <a:t>ARA</a:t>
            </a:r>
            <a:r>
              <a:rPr lang="fr-FR" sz="1200" dirty="0"/>
              <a:t> :  </a:t>
            </a:r>
            <a:r>
              <a:rPr lang="fr-FR" sz="1200" b="0" i="0" dirty="0">
                <a:effectLst/>
                <a:latin typeface="+mn-lt"/>
              </a:rPr>
              <a:t>Phase ara  : </a:t>
            </a:r>
            <a:r>
              <a:rPr lang="fr-FR" sz="1200" b="0" i="0" dirty="0" err="1">
                <a:effectLst/>
                <a:latin typeface="+mn-lt"/>
              </a:rPr>
              <a:t>A_mean</a:t>
            </a:r>
            <a:r>
              <a:rPr lang="fr-FR" sz="1200" b="0" i="0" dirty="0">
                <a:effectLst/>
                <a:latin typeface="+mn-lt"/>
              </a:rPr>
              <a:t> = 11615 +/- 5235.2</a:t>
            </a:r>
            <a:br>
              <a:rPr lang="fr-FR" sz="1200" b="0" i="0" dirty="0">
                <a:effectLst/>
                <a:latin typeface="+mn-lt"/>
              </a:rPr>
            </a:br>
            <a:r>
              <a:rPr lang="fr-FR" sz="1200" b="0" i="0" dirty="0">
                <a:effectLst/>
                <a:latin typeface="+mn-lt"/>
              </a:rPr>
              <a:t>Phase acc : </a:t>
            </a:r>
            <a:r>
              <a:rPr lang="fr-FR" sz="1200" b="0" i="0" dirty="0" err="1">
                <a:effectLst/>
                <a:latin typeface="+mn-lt"/>
              </a:rPr>
              <a:t>A_mean</a:t>
            </a:r>
            <a:r>
              <a:rPr lang="fr-FR" sz="1200" b="0" i="0" dirty="0">
                <a:effectLst/>
                <a:latin typeface="+mn-lt"/>
              </a:rPr>
              <a:t> = 1673.2 +/- 908</a:t>
            </a:r>
          </a:p>
          <a:p>
            <a:pPr lvl="1"/>
            <a:r>
              <a:rPr lang="fr-FR" sz="1200" dirty="0"/>
              <a:t>nu = 1085.9181 +/- 0.1665 cm^-1</a:t>
            </a:r>
          </a:p>
          <a:p>
            <a:pPr lvl="1"/>
            <a:r>
              <a:rPr lang="fr-FR" sz="1200" dirty="0" err="1"/>
              <a:t>FWHM_deconvolve</a:t>
            </a:r>
            <a:r>
              <a:rPr lang="fr-FR" sz="1200" dirty="0"/>
              <a:t> = 1.1279 +/- 0.3712 cm^-1</a:t>
            </a:r>
          </a:p>
          <a:p>
            <a:pPr lvl="1"/>
            <a:r>
              <a:rPr lang="fr-FR" sz="1200" dirty="0"/>
              <a:t>Mean = 0.82211;Std = 18.902</a:t>
            </a:r>
          </a:p>
          <a:p>
            <a:pPr lvl="1"/>
            <a:r>
              <a:rPr lang="fr-FR" sz="1200" b="1" dirty="0"/>
              <a:t>ACC : </a:t>
            </a:r>
            <a:r>
              <a:rPr lang="fr-FR" sz="1200" dirty="0"/>
              <a:t>Phase ara  : </a:t>
            </a:r>
            <a:r>
              <a:rPr lang="fr-FR" sz="1200" dirty="0" err="1"/>
              <a:t>A_mean</a:t>
            </a:r>
            <a:r>
              <a:rPr lang="fr-FR" sz="1200" dirty="0"/>
              <a:t> = 4316.2 +/- 2845.1</a:t>
            </a:r>
            <a:br>
              <a:rPr lang="fr-FR" sz="1200" dirty="0"/>
            </a:br>
            <a:r>
              <a:rPr lang="fr-FR" sz="1200" dirty="0"/>
              <a:t>Phase acc : </a:t>
            </a:r>
            <a:r>
              <a:rPr lang="fr-FR" sz="1200" dirty="0" err="1"/>
              <a:t>A_mean</a:t>
            </a:r>
            <a:r>
              <a:rPr lang="fr-FR" sz="1200" dirty="0"/>
              <a:t> = 2218.1 +/- 1386.1</a:t>
            </a:r>
          </a:p>
          <a:p>
            <a:pPr lvl="1"/>
            <a:r>
              <a:rPr lang="fr-FR" sz="1200" dirty="0"/>
              <a:t>nu = 1073.7361 +/- 2.2470 cm^-1</a:t>
            </a:r>
          </a:p>
          <a:p>
            <a:pPr lvl="1"/>
            <a:r>
              <a:rPr lang="fr-FR" sz="1200" dirty="0" err="1"/>
              <a:t>FWHM_deconvolve</a:t>
            </a:r>
            <a:r>
              <a:rPr lang="fr-FR" sz="1200" dirty="0"/>
              <a:t> = 31.3916 +/- 6.8866 cm^-1</a:t>
            </a:r>
          </a:p>
          <a:p>
            <a:pPr lvl="1"/>
            <a:r>
              <a:rPr lang="fr-FR" sz="1200" dirty="0"/>
              <a:t>Mean = -1.0486;Std = 43.549</a:t>
            </a:r>
          </a:p>
          <a:p>
            <a:pPr lvl="1"/>
            <a:endParaRPr lang="fr-FR" dirty="0"/>
          </a:p>
          <a:p>
            <a:pPr lvl="1"/>
            <a:endParaRPr lang="fr-FR" sz="1200" dirty="0"/>
          </a:p>
          <a:p>
            <a:pPr marL="0" marR="0" algn="l">
              <a:lnSpc>
                <a:spcPct val="100000"/>
              </a:lnSpc>
              <a:buNone/>
            </a:pPr>
            <a:endParaRPr lang="fr-FR" sz="1000" b="0" i="0" dirty="0">
              <a:effectLst/>
              <a:latin typeface="Menlo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19DF92B-D497-C5F4-9869-CA2795E632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966" y="766551"/>
            <a:ext cx="3567034" cy="365025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841668F-9CE5-BFFA-D4EC-28146543015C}"/>
              </a:ext>
            </a:extLst>
          </p:cNvPr>
          <p:cNvSpPr txBox="1"/>
          <p:nvPr/>
        </p:nvSpPr>
        <p:spPr>
          <a:xfrm>
            <a:off x="6812653" y="293652"/>
            <a:ext cx="6148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Aacc</a:t>
            </a:r>
            <a:r>
              <a:rPr lang="fr-FR" sz="1800" b="1" dirty="0"/>
              <a:t>/Acal&gt;0.3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C443397-BF5D-3BB4-2E17-826F311363CC}"/>
              </a:ext>
            </a:extLst>
          </p:cNvPr>
          <p:cNvSpPr txBox="1"/>
          <p:nvPr/>
        </p:nvSpPr>
        <p:spPr>
          <a:xfrm>
            <a:off x="9626819" y="259359"/>
            <a:ext cx="641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Aacc</a:t>
            </a:r>
            <a:r>
              <a:rPr lang="fr-FR" sz="1800" b="1" dirty="0"/>
              <a:t>/Acal&gt;</a:t>
            </a:r>
            <a:r>
              <a:rPr lang="fr-FR" b="1" dirty="0"/>
              <a:t>1</a:t>
            </a:r>
            <a:endParaRPr lang="fr-FR" sz="1800" b="1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61344B1-3F58-0DA8-24B4-0232AED3D9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532" y="702375"/>
            <a:ext cx="1655762" cy="183316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89B8627-9437-445E-C503-50F138C640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4" t="30951" r="24331" b="24074"/>
          <a:stretch>
            <a:fillRect/>
          </a:stretch>
        </p:blipFill>
        <p:spPr>
          <a:xfrm>
            <a:off x="2861125" y="1012061"/>
            <a:ext cx="3153698" cy="3084430"/>
          </a:xfrm>
          <a:prstGeom prst="rect">
            <a:avLst/>
          </a:prstGeom>
        </p:spPr>
      </p:pic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A6419EE1-69AC-2A12-DD20-67EE319C7E2D}"/>
              </a:ext>
            </a:extLst>
          </p:cNvPr>
          <p:cNvCxnSpPr>
            <a:cxnSpLocks/>
          </p:cNvCxnSpPr>
          <p:nvPr/>
        </p:nvCxnSpPr>
        <p:spPr>
          <a:xfrm rot="-1560000">
            <a:off x="3063944" y="3804487"/>
            <a:ext cx="704057" cy="33991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4F6DA8E9-7D61-6287-3942-79179F1BB89F}"/>
              </a:ext>
            </a:extLst>
          </p:cNvPr>
          <p:cNvSpPr txBox="1"/>
          <p:nvPr/>
        </p:nvSpPr>
        <p:spPr>
          <a:xfrm>
            <a:off x="2971779" y="3568909"/>
            <a:ext cx="888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50 µm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E152DFAF-34A1-6C5E-91A1-2D680B90F1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629" y="2606169"/>
            <a:ext cx="4512374" cy="3985930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BBB33BE7-46D4-D2AD-81FE-F03F038772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377" y="678108"/>
            <a:ext cx="3727623" cy="364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685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F531-A4A6-4004-A0F9-F1964F1D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EBC0DD-3513-6D0B-A24C-2C936F1A3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51041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2000" b="1" dirty="0" err="1"/>
              <a:t>Corals</a:t>
            </a:r>
            <a:r>
              <a:rPr lang="fr-FR" sz="2000" b="1" dirty="0"/>
              <a:t> 260713 7ps(#4 </a:t>
            </a:r>
            <a:r>
              <a:rPr lang="fr-FR" sz="2000" b="1" dirty="0" err="1"/>
              <a:t>stressed</a:t>
            </a:r>
            <a:r>
              <a:rPr lang="fr-FR" sz="2000" b="1" dirty="0"/>
              <a:t>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58AD298-4969-EE19-BF44-0E08251E2F74}"/>
              </a:ext>
            </a:extLst>
          </p:cNvPr>
          <p:cNvSpPr txBox="1"/>
          <p:nvPr/>
        </p:nvSpPr>
        <p:spPr>
          <a:xfrm>
            <a:off x="2861125" y="2151651"/>
            <a:ext cx="1631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Aacc</a:t>
            </a:r>
            <a:r>
              <a:rPr lang="fr-FR" dirty="0"/>
              <a:t>/Acal&gt;0.3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4F72E59-24AD-6766-7817-62BDAB1D2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205" y="73778"/>
            <a:ext cx="6241629" cy="480580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26A553B-C79A-2570-08C3-1C332A9C6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376" y="2219205"/>
            <a:ext cx="3353221" cy="241959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BC353E7-E9BD-004C-4694-EDA0DBBCB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6" y="4467225"/>
            <a:ext cx="2235385" cy="2186278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A269DDBE-0610-0B7C-6901-D1FAF6A7C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86" y="759289"/>
            <a:ext cx="4572467" cy="3499649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5F7176D8-6ACD-2587-91CD-95375DD34B78}"/>
              </a:ext>
            </a:extLst>
          </p:cNvPr>
          <p:cNvSpPr txBox="1"/>
          <p:nvPr/>
        </p:nvSpPr>
        <p:spPr>
          <a:xfrm>
            <a:off x="5304179" y="5150455"/>
            <a:ext cx="620395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b="0" i="0" dirty="0">
                <a:effectLst/>
                <a:latin typeface="+mn-lt"/>
              </a:rPr>
              <a:t>params.R2_min_final = 0.7;</a:t>
            </a:r>
          </a:p>
          <a:p>
            <a:pPr>
              <a:buNone/>
            </a:pPr>
            <a:r>
              <a:rPr lang="fr-FR" sz="1600" b="0" i="0" dirty="0" err="1">
                <a:effectLst/>
                <a:latin typeface="+mn-lt"/>
              </a:rPr>
              <a:t>params.threshold_sigma_final</a:t>
            </a:r>
            <a:r>
              <a:rPr lang="fr-FR" sz="1600" b="0" i="0" dirty="0">
                <a:effectLst/>
                <a:latin typeface="+mn-lt"/>
              </a:rPr>
              <a:t> = 5;</a:t>
            </a:r>
          </a:p>
          <a:p>
            <a:pPr>
              <a:buNone/>
            </a:pPr>
            <a:r>
              <a:rPr lang="fr-FR" sz="1600" b="0" i="0" dirty="0" err="1">
                <a:effectLst/>
                <a:latin typeface="+mn-lt"/>
              </a:rPr>
              <a:t>params.min_points_above_noise</a:t>
            </a:r>
            <a:r>
              <a:rPr lang="fr-FR" sz="1600" b="0" i="0" dirty="0">
                <a:effectLst/>
                <a:latin typeface="+mn-lt"/>
              </a:rPr>
              <a:t> = 1;</a:t>
            </a:r>
          </a:p>
          <a:p>
            <a:pPr>
              <a:buNone/>
            </a:pPr>
            <a:r>
              <a:rPr lang="fr-FR" sz="1600" b="0" i="0" dirty="0" err="1">
                <a:effectLst/>
                <a:latin typeface="+mn-lt"/>
              </a:rPr>
              <a:t>params.alpha_dominance</a:t>
            </a:r>
            <a:r>
              <a:rPr lang="fr-FR" sz="1600" b="0" i="0" dirty="0">
                <a:effectLst/>
                <a:latin typeface="+mn-lt"/>
              </a:rPr>
              <a:t> = 2;</a:t>
            </a:r>
          </a:p>
          <a:p>
            <a:r>
              <a:rPr lang="fr-FR" sz="1600" dirty="0" err="1"/>
              <a:t>params.methode_ref_spectra</a:t>
            </a:r>
            <a:r>
              <a:rPr lang="fr-FR" sz="1600" dirty="0"/>
              <a:t> = 'amplitude';</a:t>
            </a:r>
          </a:p>
          <a:p>
            <a:pPr>
              <a:buNone/>
            </a:pPr>
            <a:endParaRPr lang="fr-FR" sz="1600" b="0" i="0" dirty="0">
              <a:effectLst/>
              <a:latin typeface="Menlo"/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591323A3-9510-3CB7-7B02-8D6D0D2CC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819" y="4402355"/>
            <a:ext cx="2446812" cy="2251148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3627B6C1-DCBF-F84D-8361-78B7EBD005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6925" y="4555449"/>
            <a:ext cx="2975942" cy="225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92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600D-50ED-5B21-F790-883ABD23A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9083EF-101B-E436-4F9B-BA69E24D4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51041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2000" b="1" dirty="0" err="1"/>
              <a:t>Corals</a:t>
            </a:r>
            <a:r>
              <a:rPr lang="fr-FR" sz="2000" b="1" dirty="0"/>
              <a:t> 260713 2ps(#4 </a:t>
            </a:r>
            <a:r>
              <a:rPr lang="fr-FR" sz="2000" b="1" dirty="0" err="1"/>
              <a:t>stressed</a:t>
            </a:r>
            <a:r>
              <a:rPr lang="fr-FR" sz="2000" b="1" dirty="0"/>
              <a:t>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1F86BED-F528-510D-FE87-5063835ACBEC}"/>
              </a:ext>
            </a:extLst>
          </p:cNvPr>
          <p:cNvSpPr txBox="1"/>
          <p:nvPr/>
        </p:nvSpPr>
        <p:spPr>
          <a:xfrm>
            <a:off x="2861125" y="2151651"/>
            <a:ext cx="1631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Aacc</a:t>
            </a:r>
            <a:r>
              <a:rPr lang="fr-FR" dirty="0"/>
              <a:t>/Acal&gt;0.3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6AA7E2B-5B25-9DF4-9797-4E7E2EE12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205" y="73778"/>
            <a:ext cx="6241629" cy="480580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F68AE27-A09B-2790-6F55-526CADC8D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376" y="2219205"/>
            <a:ext cx="3353221" cy="241959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956CB80-CD31-EF8A-DB08-F02B2D1AD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6" y="4467225"/>
            <a:ext cx="2235385" cy="2186278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A011CCB7-2BA9-3059-A3E2-43EB69FAF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86" y="759289"/>
            <a:ext cx="4572467" cy="3499649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8B162177-3CEE-5D18-EDC1-F2F5A0D66BDD}"/>
              </a:ext>
            </a:extLst>
          </p:cNvPr>
          <p:cNvSpPr txBox="1"/>
          <p:nvPr/>
        </p:nvSpPr>
        <p:spPr>
          <a:xfrm>
            <a:off x="5299998" y="5024761"/>
            <a:ext cx="347274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b="0" i="0" dirty="0">
                <a:effectLst/>
                <a:latin typeface="+mn-lt"/>
              </a:rPr>
              <a:t>params.R2_min_final = 0.7;</a:t>
            </a:r>
          </a:p>
          <a:p>
            <a:pPr>
              <a:buNone/>
            </a:pPr>
            <a:r>
              <a:rPr lang="fr-FR" sz="1600" b="0" i="0" dirty="0" err="1">
                <a:effectLst/>
                <a:latin typeface="+mn-lt"/>
              </a:rPr>
              <a:t>params.threshold_sigma_final</a:t>
            </a:r>
            <a:r>
              <a:rPr lang="fr-FR" sz="1600" b="0" i="0" dirty="0">
                <a:effectLst/>
                <a:latin typeface="+mn-lt"/>
              </a:rPr>
              <a:t> = 5;</a:t>
            </a:r>
          </a:p>
          <a:p>
            <a:pPr>
              <a:buNone/>
            </a:pPr>
            <a:r>
              <a:rPr lang="fr-FR" sz="1600" b="0" i="0" dirty="0" err="1">
                <a:effectLst/>
                <a:latin typeface="+mn-lt"/>
              </a:rPr>
              <a:t>params.min_points_above_noise</a:t>
            </a:r>
            <a:r>
              <a:rPr lang="fr-FR" sz="1600" b="0" i="0" dirty="0">
                <a:effectLst/>
                <a:latin typeface="+mn-lt"/>
              </a:rPr>
              <a:t> = 1;</a:t>
            </a:r>
          </a:p>
          <a:p>
            <a:pPr>
              <a:buNone/>
            </a:pPr>
            <a:r>
              <a:rPr lang="fr-FR" sz="1600" b="0" i="0" dirty="0" err="1">
                <a:effectLst/>
                <a:latin typeface="+mn-lt"/>
              </a:rPr>
              <a:t>params.alpha_dominance</a:t>
            </a:r>
            <a:r>
              <a:rPr lang="fr-FR" sz="1600" b="0" i="0" dirty="0">
                <a:effectLst/>
                <a:latin typeface="+mn-lt"/>
              </a:rPr>
              <a:t> = 2;</a:t>
            </a:r>
          </a:p>
          <a:p>
            <a:r>
              <a:rPr lang="fr-FR" dirty="0" err="1"/>
              <a:t>params.methode_ref_spectra</a:t>
            </a:r>
            <a:r>
              <a:rPr lang="fr-FR" dirty="0"/>
              <a:t> = 'amplitude';</a:t>
            </a:r>
          </a:p>
          <a:p>
            <a:pPr>
              <a:buNone/>
            </a:pPr>
            <a:endParaRPr lang="fr-FR" sz="1600" b="0" i="0" dirty="0">
              <a:effectLst/>
              <a:latin typeface="Menlo"/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3FF8D2F7-37C8-050B-449D-964E3731C5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819" y="4402355"/>
            <a:ext cx="2446812" cy="225114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78612EC-0C46-D8A4-05DC-2B51132A2F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821" y="76803"/>
            <a:ext cx="6241629" cy="480580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D22C6F3-8AEB-2239-2FA7-0D295B1747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87" y="788908"/>
            <a:ext cx="4572467" cy="352083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2D120EC-271B-6A83-1FA2-3620628C03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8059" y="4402355"/>
            <a:ext cx="2525904" cy="232391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D8D0728-F726-702E-75BC-EDF70AA797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2995" y="2330910"/>
            <a:ext cx="3075760" cy="2548669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9FF52051-2262-75CB-3DFB-F0721F566628}"/>
              </a:ext>
            </a:extLst>
          </p:cNvPr>
          <p:cNvSpPr txBox="1"/>
          <p:nvPr/>
        </p:nvSpPr>
        <p:spPr>
          <a:xfrm>
            <a:off x="8057918" y="2687191"/>
            <a:ext cx="6127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2ps vs 7ps</a:t>
            </a:r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0BC76AC-C1B6-CDDB-2B5E-A966B22026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5852" y="4760806"/>
            <a:ext cx="2518088" cy="192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307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1501</Words>
  <Application>Microsoft Office PowerPoint</Application>
  <PresentationFormat>Grand écran</PresentationFormat>
  <Paragraphs>267</Paragraphs>
  <Slides>21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Google Sans Text</vt:lpstr>
      <vt:lpstr>Menlo</vt:lpstr>
      <vt:lpstr>Wingdings</vt:lpstr>
      <vt:lpstr>Thème Office</vt:lpstr>
      <vt:lpstr>Modèle Carbonates </vt:lpstr>
      <vt:lpstr>Modèle Carbonates </vt:lpstr>
      <vt:lpstr>Modèle Carbonates </vt:lpstr>
      <vt:lpstr>Modèle Carbonates – Réponse instrumentale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Corals 260715 2ps (#4 stressed)</vt:lpstr>
      <vt:lpstr>Corals 260715 2ps (#4 stressed)</vt:lpstr>
      <vt:lpstr>Corals 260715 2ps (#4 stressed)</vt:lpstr>
      <vt:lpstr>Corals 260715 7ps (#4 stressed)</vt:lpstr>
      <vt:lpstr>Corals 260715 2ps (stressed)</vt:lpstr>
      <vt:lpstr>Corals 260715 7ps (#4 stressed)</vt:lpstr>
      <vt:lpstr>Corals 260715 7ps (#4 stressed)</vt:lpstr>
      <vt:lpstr>Corals 260713 2ps(#4 stressed)</vt:lpstr>
      <vt:lpstr>Corals 260713 7ps(#4 stressed)</vt:lpstr>
      <vt:lpstr>Corals 260713 2ps(#4 stressed)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BUCOURT Sacha</dc:creator>
  <cp:lastModifiedBy>BUCOURT Sacha</cp:lastModifiedBy>
  <cp:revision>46</cp:revision>
  <dcterms:created xsi:type="dcterms:W3CDTF">2026-07-01T11:56:10Z</dcterms:created>
  <dcterms:modified xsi:type="dcterms:W3CDTF">2026-09-30T14:03:20Z</dcterms:modified>
</cp:coreProperties>
</file>
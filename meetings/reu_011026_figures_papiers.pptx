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324" r:id="rId2"/>
    <p:sldId id="327" r:id="rId3"/>
    <p:sldId id="328" r:id="rId4"/>
    <p:sldId id="329" r:id="rId5"/>
    <p:sldId id="330" r:id="rId6"/>
    <p:sldId id="322" r:id="rId7"/>
    <p:sldId id="323" r:id="rId8"/>
    <p:sldId id="340" r:id="rId9"/>
    <p:sldId id="342" r:id="rId10"/>
    <p:sldId id="343" r:id="rId11"/>
    <p:sldId id="341" r:id="rId12"/>
    <p:sldId id="336" r:id="rId13"/>
    <p:sldId id="344" r:id="rId14"/>
    <p:sldId id="353" r:id="rId15"/>
    <p:sldId id="352" r:id="rId16"/>
    <p:sldId id="345" r:id="rId17"/>
    <p:sldId id="346" r:id="rId18"/>
    <p:sldId id="337" r:id="rId19"/>
    <p:sldId id="338" r:id="rId20"/>
    <p:sldId id="347" r:id="rId21"/>
    <p:sldId id="339" r:id="rId22"/>
    <p:sldId id="350" r:id="rId23"/>
    <p:sldId id="348" r:id="rId24"/>
    <p:sldId id="351" r:id="rId2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odèle" id="{38E46940-0790-4E8A-8502-5835EE473836}">
          <p14:sldIdLst>
            <p14:sldId id="324"/>
            <p14:sldId id="327"/>
            <p14:sldId id="328"/>
            <p14:sldId id="329"/>
          </p14:sldIdLst>
        </p14:section>
        <p14:section name="Synthétique" id="{56AC251D-6E5C-4CFE-9930-84BF4168610A}">
          <p14:sldIdLst>
            <p14:sldId id="330"/>
            <p14:sldId id="322"/>
            <p14:sldId id="323"/>
            <p14:sldId id="340"/>
            <p14:sldId id="342"/>
            <p14:sldId id="343"/>
            <p14:sldId id="341"/>
          </p14:sldIdLst>
        </p14:section>
        <p14:section name="Corail" id="{CCA9B34D-82CD-4298-BF9C-03A0026B73BF}">
          <p14:sldIdLst>
            <p14:sldId id="336"/>
            <p14:sldId id="344"/>
            <p14:sldId id="353"/>
            <p14:sldId id="352"/>
            <p14:sldId id="345"/>
            <p14:sldId id="346"/>
            <p14:sldId id="337"/>
            <p14:sldId id="338"/>
            <p14:sldId id="347"/>
            <p14:sldId id="339"/>
            <p14:sldId id="350"/>
            <p14:sldId id="348"/>
            <p14:sldId id="35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Style moyen 4 - Accentuation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0695" autoAdjust="0"/>
  </p:normalViewPr>
  <p:slideViewPr>
    <p:cSldViewPr snapToGrid="0">
      <p:cViewPr varScale="1">
        <p:scale>
          <a:sx n="48" d="100"/>
          <a:sy n="48" d="100"/>
        </p:scale>
        <p:origin x="91" y="5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2E4E35-8187-4757-AF44-D7829C233B30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0ED21D-356C-4BDC-9372-2CBCC26085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92521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ED21D-356C-4BDC-9372-2CBCC2608535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86000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ED21D-356C-4BDC-9372-2CBCC2608535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36687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3CA00-73FE-BD4A-23DA-2471DE901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8387C14-F482-478B-9BF1-9BCE232396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DF294C5-BBFE-349D-523D-1D8CB7347C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947776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6462E-279E-6401-9918-2A8A49734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F622DE9-BDF6-78EB-1A8D-1FB2EFE62C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A022282-2A81-CF36-731F-12F16227F3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803398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F7FA4-B319-D44D-08CE-CC12C00E3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0F6BA62-8965-5AB6-4C13-B68E3ADB6C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6264B8A-D240-1A7C-1582-BB4781FE8F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945309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E24B9-D537-4B4D-A691-011436763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63133BE-67B9-E6D7-D7BF-0A3D3E640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EAC8B3E-9C90-7EDA-9BB1-F2864F3BFD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281323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B09DF-153C-75A0-7A4C-A454C246D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5E68846-60AC-B183-5677-7F9D809510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7D50A49-C429-B033-45A3-0AF3A22E98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288757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B1AFC-ACDD-78E9-75FA-C1C9A40A2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9A7CE79-89C9-F2A3-1BF3-87179100B8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FF64D01-3113-AE6F-91FC-DDF59F26FA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613016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B9979-91FC-C5EA-F7D9-3552DE5AB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A1EE4A4-9489-9606-054C-96B16449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A0C0EDD-16AF-30C6-7426-9E83D70CA1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80201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797D62-8836-082C-A733-310A610B3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C0697A6-E027-8C09-7012-935DA44430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FAD7453-2053-5B67-A3D6-396DA9538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2BEB927-1C25-B313-D7D6-5201CA945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FF6DD7C-2C04-2286-16AF-6A641EA9D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698169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15B080-E275-4B60-F79F-6C0D1471D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245D95D-96EA-5587-9F86-591A93B08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8A4DAB1-48C2-7433-5E0D-E32E64CC5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350575B-F850-C1F0-150A-3DE6ECE09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9653168-75C6-A52C-BC66-E734A9168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45542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223566-F9F4-86E3-076C-B55824266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7030711-712C-BF2C-3CFB-FB4F85C16D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82F7148-B737-116A-382B-6253507E0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360CBF7-85DB-BB63-BA1C-5AB76BE8A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2BF2964-7856-E568-703B-CCDAB6C1F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52395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2FA3724-6DFC-A032-A3DD-C9BD87FC4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579CC89-8EBB-8E9A-C299-9C8FF62197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0F747B4-0335-1AED-C56C-BF12D3A67B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0168405-0388-5D20-5B3C-8E91451031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4810B57-DD18-ECBF-93A3-4784AE414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6A21713-D34D-C310-BA6E-A776E8679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3313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3B9108-3358-3155-D8F9-191876FDB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B85168B-CC81-E80F-3B30-6A21706F02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5787ECE-24C4-C546-1B4C-90D57212CE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679BF4E-AA8D-F083-2181-95AF16D75D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40D7DF1-C9AE-4979-603C-9E3EF6AD5A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72D6130-CC64-FEC5-99E6-180D16E974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D6AE930-8C04-DF50-EA51-B89B8FE6F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0E9E820-D7ED-5AC5-7477-B4D3D6AB4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6910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9F49E0-8781-3502-CE05-FDECA387F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863C0E1-C46E-10CC-B6CB-585C14CAB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F1501ED-600A-3258-EA23-D190808AE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A43CB3A-176D-4AE7-2ADC-AD669CB6D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84031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7D28B24-87EB-6133-62DD-9A2DB481E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6CC52DC-C860-CC45-A043-E960022D0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4E5EBA4-8D36-4014-1970-DAABBED9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07219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60B160-2994-8665-DF47-D1E40292E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A0C6253-1070-34F3-A404-9296301938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83E001-91CA-2309-DFDE-FBB314CDD0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618DC21-0F75-CEF0-23F4-43CBA3DA7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20D8433-6031-431F-2015-57F0CDBAC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F5F9FA7-B681-E733-5CD5-EB3A30C9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551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3CE0E6-1176-4DD6-8C68-26610F7A8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3C0E54BD-59AC-CB5D-2140-E9AAA88EAA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A476753-9708-8AA5-FC18-D3BB2E05E9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06C69FC-FACA-FBDB-55D0-05D8E50C7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DBC6EC6-FC39-2A9C-CC46-DAF7F5F34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0DD470F-9057-BD5E-B7B7-4D2BE5573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303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A4856C9-1A23-124C-6A69-6335810E1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527A9D1-3B8D-ABEB-94A2-E4F7852706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CF231F2-9E79-8DEE-0670-C19B6C9CB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4C9BB78-701A-C51C-E297-24C052842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5D2C1A8-11D5-FB69-ABC1-9374A0C03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06994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373DF7F1-D405-A9DF-EF93-D422296B76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868EB2B-D5FF-4232-B844-B1F59FC888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45FC76F-6C40-E840-E931-619CB8C5F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A7268BF-20FD-83FE-3B7D-6AE5F3C1B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6FB67D6-380A-4671-3282-94C8DC596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24947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243AC2A7-52F6-FC9B-6C27-4C1F81778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D22EAC9-C154-C8A1-B5A0-F23AA517E3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88F8FE8-B6DD-8CBC-7A7E-EAB612038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3063B4-2C68-40F2-BC26-4CA99D7F971F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B83123F-60B3-2180-C8AD-A60E532E3D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42BA6EE-EF0E-58CC-6B7A-D4E9235BCD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4582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10" Type="http://schemas.openxmlformats.org/officeDocument/2006/relationships/image" Target="../media/image33.png"/><Relationship Id="rId4" Type="http://schemas.openxmlformats.org/officeDocument/2006/relationships/image" Target="../media/image25.png"/><Relationship Id="rId9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40.png"/><Relationship Id="rId7" Type="http://schemas.openxmlformats.org/officeDocument/2006/relationships/image" Target="../media/image57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Relationship Id="rId9" Type="http://schemas.openxmlformats.org/officeDocument/2006/relationships/image" Target="../media/image5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4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7.png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71.png"/><Relationship Id="rId5" Type="http://schemas.openxmlformats.org/officeDocument/2006/relationships/image" Target="../media/image38.png"/><Relationship Id="rId10" Type="http://schemas.openxmlformats.org/officeDocument/2006/relationships/image" Target="../media/image70.png"/><Relationship Id="rId4" Type="http://schemas.openxmlformats.org/officeDocument/2006/relationships/image" Target="../media/image37.png"/><Relationship Id="rId9" Type="http://schemas.openxmlformats.org/officeDocument/2006/relationships/image" Target="../media/image69.jp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3.png"/><Relationship Id="rId7" Type="http://schemas.openxmlformats.org/officeDocument/2006/relationships/image" Target="../media/image76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5.png"/><Relationship Id="rId11" Type="http://schemas.openxmlformats.org/officeDocument/2006/relationships/image" Target="../media/image80.png"/><Relationship Id="rId5" Type="http://schemas.openxmlformats.org/officeDocument/2006/relationships/image" Target="../media/image74.png"/><Relationship Id="rId10" Type="http://schemas.openxmlformats.org/officeDocument/2006/relationships/image" Target="../media/image79.png"/><Relationship Id="rId4" Type="http://schemas.openxmlformats.org/officeDocument/2006/relationships/image" Target="../media/image71.png"/><Relationship Id="rId9" Type="http://schemas.openxmlformats.org/officeDocument/2006/relationships/image" Target="../media/image7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7" Type="http://schemas.openxmlformats.org/officeDocument/2006/relationships/image" Target="../media/image81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1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3" Type="http://schemas.openxmlformats.org/officeDocument/2006/relationships/image" Target="../media/image82.png"/><Relationship Id="rId7" Type="http://schemas.openxmlformats.org/officeDocument/2006/relationships/image" Target="../media/image86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5.png"/><Relationship Id="rId5" Type="http://schemas.openxmlformats.org/officeDocument/2006/relationships/image" Target="../media/image84.png"/><Relationship Id="rId4" Type="http://schemas.openxmlformats.org/officeDocument/2006/relationships/image" Target="../media/image83.png"/><Relationship Id="rId9" Type="http://schemas.openxmlformats.org/officeDocument/2006/relationships/image" Target="../media/image8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24785-768A-B398-1A22-1ED1A8A88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68DB615-D456-D543-D4A3-254DD48881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388053" y="-247973"/>
            <a:ext cx="9144000" cy="1109663"/>
          </a:xfrm>
        </p:spPr>
        <p:txBody>
          <a:bodyPr/>
          <a:lstStyle/>
          <a:p>
            <a:r>
              <a:rPr lang="fr-FR" dirty="0"/>
              <a:t>Modèle Carbonates </a:t>
            </a:r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8A4306B2-F790-A438-73F0-940AF66D3BCF}"/>
              </a:ext>
            </a:extLst>
          </p:cNvPr>
          <p:cNvGraphicFramePr>
            <a:graphicFrameLocks noGrp="1"/>
          </p:cNvGraphicFramePr>
          <p:nvPr/>
        </p:nvGraphicFramePr>
        <p:xfrm>
          <a:off x="275087" y="734244"/>
          <a:ext cx="11641826" cy="2365057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1663118">
                  <a:extLst>
                    <a:ext uri="{9D8B030D-6E8A-4147-A177-3AD203B41FA5}">
                      <a16:colId xmlns:a16="http://schemas.microsoft.com/office/drawing/2014/main" val="1560776784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736116252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355847613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4131341487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3075560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54339254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209717513"/>
                    </a:ext>
                  </a:extLst>
                </a:gridCol>
              </a:tblGrid>
              <a:tr h="640080">
                <a:tc gridSpan="7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800" b="1" dirty="0"/>
                        <a:t>Résultat Raman spontané – échantillon synthétique ou géologique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45195129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sample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Calcite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Aragonite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Vaterite</a:t>
                      </a:r>
                      <a:r>
                        <a:rPr lang="fr-FR" sz="1800" b="1" dirty="0"/>
                        <a:t>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ACC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CCHH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MHC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162213630"/>
                  </a:ext>
                </a:extLst>
              </a:tr>
              <a:tr h="7191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Nu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1075, (1080,) 1090.8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1100.1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1067.5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485145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FWHM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8.2, (?), 8.3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6.3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5.8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351635"/>
                  </a:ext>
                </a:extLst>
              </a:tr>
            </a:tbl>
          </a:graphicData>
        </a:graphic>
      </p:graphicFrame>
      <p:pic>
        <p:nvPicPr>
          <p:cNvPr id="5" name="Image 4">
            <a:extLst>
              <a:ext uri="{FF2B5EF4-FFF2-40B4-BE49-F238E27FC236}">
                <a16:creationId xmlns:a16="http://schemas.microsoft.com/office/drawing/2014/main" id="{2FF4C4F6-9612-419A-A6AC-FC8CF0AB2B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291" y="4964318"/>
            <a:ext cx="2969041" cy="1816114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1E5A3902-B491-091E-F0BA-91E483EAFE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543" y="5041886"/>
            <a:ext cx="2974988" cy="1816114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69A22DC5-631F-B405-A8AE-284D690C83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713" y="3148204"/>
            <a:ext cx="2979818" cy="1816114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A9745E26-801C-E34F-E3BB-0DFD30C3B03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2899" y="3099301"/>
            <a:ext cx="2991248" cy="1816115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61FA3E49-E140-8E8B-5207-95F204EF1EC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8391" y="4988434"/>
            <a:ext cx="2955756" cy="1816114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367D2683-C535-2CF4-3609-B39E2B51EE7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0867" y="3099302"/>
            <a:ext cx="2988465" cy="1816114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BEEF935-D1A5-0D6C-E3D5-AB091CED4A40}"/>
              </a:ext>
            </a:extLst>
          </p:cNvPr>
          <p:cNvSpPr txBox="1"/>
          <p:nvPr/>
        </p:nvSpPr>
        <p:spPr>
          <a:xfrm>
            <a:off x="1348355" y="3397536"/>
            <a:ext cx="10962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Calcite </a:t>
            </a:r>
            <a:r>
              <a:rPr lang="fr-FR" sz="1800" b="1" dirty="0" err="1"/>
              <a:t>geologic</a:t>
            </a:r>
            <a:endParaRPr lang="fr-FR" sz="1800" b="1" dirty="0"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594BAFAC-35A6-9351-1756-F2E1A19F1500}"/>
              </a:ext>
            </a:extLst>
          </p:cNvPr>
          <p:cNvSpPr txBox="1"/>
          <p:nvPr/>
        </p:nvSpPr>
        <p:spPr>
          <a:xfrm>
            <a:off x="1253704" y="5101378"/>
            <a:ext cx="12855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Aragonite </a:t>
            </a:r>
            <a:r>
              <a:rPr lang="fr-FR" sz="1800" b="1" dirty="0" err="1"/>
              <a:t>geologic</a:t>
            </a:r>
            <a:endParaRPr lang="fr-FR" sz="1800" b="1" dirty="0"/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22AF70D7-EE99-1A81-FCE6-E61ED7E2369F}"/>
              </a:ext>
            </a:extLst>
          </p:cNvPr>
          <p:cNvSpPr txBox="1"/>
          <p:nvPr/>
        </p:nvSpPr>
        <p:spPr>
          <a:xfrm>
            <a:off x="5302046" y="3148203"/>
            <a:ext cx="13543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 err="1"/>
              <a:t>Vaterite</a:t>
            </a:r>
            <a:r>
              <a:rPr lang="fr-FR" sz="1800" b="1" dirty="0"/>
              <a:t>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41E8FDC6-4B99-CF44-1C99-DB3C141F15BA}"/>
              </a:ext>
            </a:extLst>
          </p:cNvPr>
          <p:cNvSpPr txBox="1"/>
          <p:nvPr/>
        </p:nvSpPr>
        <p:spPr>
          <a:xfrm>
            <a:off x="5278693" y="4964317"/>
            <a:ext cx="12364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ACC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1667F5F9-19AC-F4C4-9F2E-12A99C30DBFD}"/>
              </a:ext>
            </a:extLst>
          </p:cNvPr>
          <p:cNvSpPr txBox="1"/>
          <p:nvPr/>
        </p:nvSpPr>
        <p:spPr>
          <a:xfrm>
            <a:off x="8831949" y="3148202"/>
            <a:ext cx="12265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CCHH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689E1553-9443-C139-1DA7-F10B228DF2B6}"/>
              </a:ext>
            </a:extLst>
          </p:cNvPr>
          <p:cNvSpPr txBox="1"/>
          <p:nvPr/>
        </p:nvSpPr>
        <p:spPr>
          <a:xfrm>
            <a:off x="8831949" y="4988434"/>
            <a:ext cx="11774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MHC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</p:spTree>
    <p:extLst>
      <p:ext uri="{BB962C8B-B14F-4D97-AF65-F5344CB8AC3E}">
        <p14:creationId xmlns:p14="http://schemas.microsoft.com/office/powerpoint/2010/main" val="18632061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3F62A-A533-FF35-45FD-72023A327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B00D27-45E7-9C74-83DD-042B04B07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388053" y="-247973"/>
            <a:ext cx="9144000" cy="1109663"/>
          </a:xfrm>
        </p:spPr>
        <p:txBody>
          <a:bodyPr/>
          <a:lstStyle/>
          <a:p>
            <a:r>
              <a:rPr lang="fr-FR" dirty="0"/>
              <a:t>Modèle Carbonates </a:t>
            </a:r>
          </a:p>
        </p:txBody>
      </p:sp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A50E68C5-353B-200A-4129-724E173DA2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7136553"/>
              </p:ext>
            </p:extLst>
          </p:nvPr>
        </p:nvGraphicFramePr>
        <p:xfrm>
          <a:off x="274867" y="652785"/>
          <a:ext cx="11641826" cy="2639377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1663118">
                  <a:extLst>
                    <a:ext uri="{9D8B030D-6E8A-4147-A177-3AD203B41FA5}">
                      <a16:colId xmlns:a16="http://schemas.microsoft.com/office/drawing/2014/main" val="3251183835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204036976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3725383711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561449884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270338505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330157547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90116242"/>
                    </a:ext>
                  </a:extLst>
                </a:gridCol>
              </a:tblGrid>
              <a:tr h="640080">
                <a:tc gridSpan="7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800" b="1" dirty="0"/>
                        <a:t>Résultat Raman spontané – échantillon synthétique ou géologique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6070108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sample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Calcite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Aragonite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Vaterite</a:t>
                      </a:r>
                      <a:r>
                        <a:rPr lang="fr-FR" sz="1800" b="1" dirty="0"/>
                        <a:t>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ACC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CCHH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MHC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882828191"/>
                  </a:ext>
                </a:extLst>
              </a:tr>
              <a:tr h="7191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Nu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1075, (1080,) 1090.8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1100.1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1067.5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8034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FWHM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3.5 (4.2 avant déconvolution)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3.5 (4.2 avant déconvolution)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8.2, (?), 8.3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6.3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5.8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377277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au 6">
                <a:extLst>
                  <a:ext uri="{FF2B5EF4-FFF2-40B4-BE49-F238E27FC236}">
                    <a16:creationId xmlns:a16="http://schemas.microsoft.com/office/drawing/2014/main" id="{5CA3D411-5A55-072C-F7DE-27A69D09894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68207399"/>
                  </p:ext>
                </p:extLst>
              </p:nvPr>
            </p:nvGraphicFramePr>
            <p:xfrm>
              <a:off x="6271927" y="3333417"/>
              <a:ext cx="5644765" cy="292608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28953">
                      <a:extLst>
                        <a:ext uri="{9D8B030D-6E8A-4147-A177-3AD203B41FA5}">
                          <a16:colId xmlns:a16="http://schemas.microsoft.com/office/drawing/2014/main" val="3569624622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1326026841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230273949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762247172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1397279243"/>
                        </a:ext>
                      </a:extLst>
                    </a:gridCol>
                  </a:tblGrid>
                  <a:tr h="664645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Durée pulse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fwhm_calcite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Valeur convoluée théorique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1" dirty="0">
                              <a:effectLst/>
                            </a:rPr>
                            <a:t>valeurs expérimentales SRS</a:t>
                          </a:r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extLst>
                      <a:ext uri="{0D108BD9-81ED-4DB2-BD59-A6C34878D82A}">
                        <a16:rowId xmlns:a16="http://schemas.microsoft.com/office/drawing/2014/main" val="156159894"/>
                      </a:ext>
                    </a:extLst>
                  </a:tr>
                  <a:tr h="534263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>
                              <a:effectLst/>
                            </a:rPr>
                            <a:t>2,2 ps</a:t>
                          </a:r>
                          <a:endParaRPr lang="fr-FR" sz="140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  <m:r>
                                  <a:rPr lang="fr-FR" sz="1400" b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fr-FR" sz="1400" b="0" i="1">
                                    <a:latin typeface="Cambria Math" panose="02040503050406030204" pitchFamily="18" charset="0"/>
                                  </a:rPr>
                                  <m:t>68</m:t>
                                </m:r>
                                <m:sSup>
                                  <m:sSupPr>
                                    <m:ctrlPr>
                                      <a:rPr lang="fr-FR" sz="1400" b="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b="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 b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fr-FR" sz="1400" b="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b="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fr-FR" sz="1400" i="0" dirty="0" smtClean="0"/>
                                  <m:t>3.5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,21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extLst>
                      <a:ext uri="{0D108BD9-81ED-4DB2-BD59-A6C34878D82A}">
                        <a16:rowId xmlns:a16="http://schemas.microsoft.com/office/drawing/2014/main" val="3007327800"/>
                      </a:ext>
                    </a:extLst>
                  </a:tr>
                  <a:tr h="534263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7,3 </a:t>
                          </a:r>
                          <a:r>
                            <a:rPr lang="fr-FR" sz="1400" dirty="0" err="1">
                              <a:effectLst/>
                            </a:rPr>
                            <a:t>ps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fr-FR" sz="1400" b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fr-FR" sz="1400" b="0" i="1">
                                    <a:latin typeface="Cambria Math" panose="02040503050406030204" pitchFamily="18" charset="0"/>
                                  </a:rPr>
                                  <m:t>01</m:t>
                                </m:r>
                                <m:sSup>
                                  <m:sSupPr>
                                    <m:ctrlPr>
                                      <a:rPr lang="fr-FR" sz="1400" b="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b="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 b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fr-FR" sz="1400" b="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b="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fr-FR" sz="1400" i="0" dirty="0" smtClean="0"/>
                                  <m:t>3.5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,05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330304476"/>
                      </a:ext>
                    </a:extLst>
                  </a:tr>
                  <a:tr h="530495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Exemple Calcul de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13.9</a:t>
                          </a:r>
                          <a14:m>
                            <m:oMath xmlns:m="http://schemas.openxmlformats.org/officeDocument/2006/math">
                              <m:r>
                                <a:rPr lang="fr-FR" sz="1400" b="1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p>
                                <m:sSupPr>
                                  <m:ctrlPr>
                                    <a:rPr lang="fr-FR" sz="1400" b="1" i="0"/>
                                  </m:ctrlPr>
                                </m:sSupPr>
                                <m:e>
                                  <m:r>
                                    <m:rPr>
                                      <m:nor/>
                                    </m:rPr>
                                    <a:rPr lang="fr-FR" sz="1400" b="1" i="0"/>
                                    <m:t>cm</m:t>
                                  </m:r>
                                </m:e>
                                <m:sup>
                                  <m:r>
                                    <a:rPr lang="fr-FR" sz="1400" b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400" b="1" i="1"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sup>
                              </m:sSup>
                            </m:oMath>
                          </a14:m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24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fr-FR" sz="1400" i="0" dirty="0" smtClean="0"/>
                                  <m:t>3.5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1" i="0" smtClean="0">
                                    <a:latin typeface="Cambria Math" panose="02040503050406030204" pitchFamily="18" charset="0"/>
                                  </a:rPr>
                                  <m:t>𝟏𝟒</m:t>
                                </m:r>
                                <m:r>
                                  <a:rPr lang="fr-FR" sz="1400" b="1" i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fr-FR" sz="1400" b="1" i="0" smtClean="0">
                                    <a:latin typeface="Cambria Math" panose="02040503050406030204" pitchFamily="18" charset="0"/>
                                  </a:rPr>
                                  <m:t>𝟒</m:t>
                                </m:r>
                                <m:sSup>
                                  <m:sSupPr>
                                    <m:ctrlPr>
                                      <a:rPr lang="fr-FR" sz="1400" b="1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b="1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 b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fr-FR" sz="1400" b="1" i="1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882253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au 6">
                <a:extLst>
                  <a:ext uri="{FF2B5EF4-FFF2-40B4-BE49-F238E27FC236}">
                    <a16:creationId xmlns:a16="http://schemas.microsoft.com/office/drawing/2014/main" id="{5CA3D411-5A55-072C-F7DE-27A69D09894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68207399"/>
                  </p:ext>
                </p:extLst>
              </p:nvPr>
            </p:nvGraphicFramePr>
            <p:xfrm>
              <a:off x="6271927" y="3333417"/>
              <a:ext cx="5644765" cy="292608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28953">
                      <a:extLst>
                        <a:ext uri="{9D8B030D-6E8A-4147-A177-3AD203B41FA5}">
                          <a16:colId xmlns:a16="http://schemas.microsoft.com/office/drawing/2014/main" val="3569624622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1326026841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230273949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762247172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1397279243"/>
                        </a:ext>
                      </a:extLst>
                    </a:gridCol>
                  </a:tblGrid>
                  <a:tr h="79248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Durée pulse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fwhm_calcite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Valeur convoluée théorique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1" dirty="0">
                              <a:effectLst/>
                            </a:rPr>
                            <a:t>valeurs expérimentales SRS</a:t>
                          </a:r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extLst>
                      <a:ext uri="{0D108BD9-81ED-4DB2-BD59-A6C34878D82A}">
                        <a16:rowId xmlns:a16="http://schemas.microsoft.com/office/drawing/2014/main" val="156159894"/>
                      </a:ext>
                    </a:extLst>
                  </a:tr>
                  <a:tr h="67056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>
                              <a:effectLst/>
                            </a:rPr>
                            <a:t>2,2 ps</a:t>
                          </a:r>
                          <a:endParaRPr lang="fr-FR" sz="140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blipFill>
                          <a:blip r:embed="rId3"/>
                          <a:stretch>
                            <a:fillRect l="-100000" t="-118018" r="-300000" b="-220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blipFill>
                          <a:blip r:embed="rId3"/>
                          <a:stretch>
                            <a:fillRect l="-201081" t="-118018" r="-201622" b="-220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blipFill>
                          <a:blip r:embed="rId3"/>
                          <a:stretch>
                            <a:fillRect l="-299462" t="-118018" r="-100538" b="-220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blipFill>
                          <a:blip r:embed="rId3"/>
                          <a:stretch>
                            <a:fillRect l="-401622" t="-118018" r="-1081" b="-22072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07327800"/>
                      </a:ext>
                    </a:extLst>
                  </a:tr>
                  <a:tr h="67056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7,3 </a:t>
                          </a:r>
                          <a:r>
                            <a:rPr lang="fr-FR" sz="1400" dirty="0" err="1">
                              <a:effectLst/>
                            </a:rPr>
                            <a:t>ps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220000" r="-300000" b="-12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1081" t="-220000" r="-201622" b="-12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9462" t="-220000" r="-100538" b="-12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1622" t="-220000" r="-1081" b="-1227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30304476"/>
                      </a:ext>
                    </a:extLst>
                  </a:tr>
                  <a:tr h="79248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Exemple Calcul de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270769" r="-300000" b="-38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1081" t="-270769" r="-201622" b="-38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1622" t="-270769" r="-1081" b="-384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8822534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10" name="Connecteur : en angle 9">
            <a:extLst>
              <a:ext uri="{FF2B5EF4-FFF2-40B4-BE49-F238E27FC236}">
                <a16:creationId xmlns:a16="http://schemas.microsoft.com/office/drawing/2014/main" id="{8806410D-E21B-CAD4-6258-4D8789EF7320}"/>
              </a:ext>
            </a:extLst>
          </p:cNvPr>
          <p:cNvCxnSpPr>
            <a:cxnSpLocks/>
          </p:cNvCxnSpPr>
          <p:nvPr/>
        </p:nvCxnSpPr>
        <p:spPr>
          <a:xfrm rot="10800000" flipV="1">
            <a:off x="8391525" y="5797212"/>
            <a:ext cx="601892" cy="76199"/>
          </a:xfrm>
          <a:prstGeom prst="bentConnector3">
            <a:avLst>
              <a:gd name="adj1" fmla="val 292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 : en angle 20">
            <a:extLst>
              <a:ext uri="{FF2B5EF4-FFF2-40B4-BE49-F238E27FC236}">
                <a16:creationId xmlns:a16="http://schemas.microsoft.com/office/drawing/2014/main" id="{9659DBAE-C33D-BEDA-D4EA-6BAD417437CD}"/>
              </a:ext>
            </a:extLst>
          </p:cNvPr>
          <p:cNvCxnSpPr>
            <a:cxnSpLocks/>
          </p:cNvCxnSpPr>
          <p:nvPr/>
        </p:nvCxnSpPr>
        <p:spPr>
          <a:xfrm rot="10800000" flipV="1">
            <a:off x="8391525" y="5797214"/>
            <a:ext cx="2822802" cy="76198"/>
          </a:xfrm>
          <a:prstGeom prst="bentConnector3">
            <a:avLst>
              <a:gd name="adj1" fmla="val 735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ZoneTexte 31">
            <a:extLst>
              <a:ext uri="{FF2B5EF4-FFF2-40B4-BE49-F238E27FC236}">
                <a16:creationId xmlns:a16="http://schemas.microsoft.com/office/drawing/2014/main" id="{829466EF-A2D7-C08B-72FC-BB936CC05064}"/>
              </a:ext>
            </a:extLst>
          </p:cNvPr>
          <p:cNvSpPr txBox="1"/>
          <p:nvPr/>
        </p:nvSpPr>
        <p:spPr>
          <a:xfrm>
            <a:off x="5857655" y="6259497"/>
            <a:ext cx="67913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Spectral </a:t>
            </a:r>
            <a:r>
              <a:rPr lang="fr-FR" sz="1200" b="0" i="0" dirty="0" err="1">
                <a:solidFill>
                  <a:schemeClr val="tx1"/>
                </a:solidFill>
                <a:effectLst/>
                <a:latin typeface="+mn-lt"/>
              </a:rPr>
              <a:t>Resolutions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 (Hole50m, 100x Objective, FWHM) for the 2 main </a:t>
            </a:r>
            <a:r>
              <a:rPr lang="fr-FR" sz="1200" b="0" i="0" dirty="0" err="1">
                <a:solidFill>
                  <a:schemeClr val="tx1"/>
                </a:solidFill>
                <a:effectLst/>
                <a:latin typeface="+mn-lt"/>
              </a:rPr>
              <a:t>gratings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:</a:t>
            </a:r>
            <a:br>
              <a:rPr lang="fr-FR" sz="1200" dirty="0"/>
            </a:br>
            <a:r>
              <a:rPr lang="fr-FR" sz="1200" dirty="0"/>
              <a:t>- </a:t>
            </a:r>
            <a:r>
              <a:rPr lang="fr-FR" sz="1200" b="0" i="0" dirty="0" err="1">
                <a:solidFill>
                  <a:schemeClr val="tx1"/>
                </a:solidFill>
                <a:effectLst/>
                <a:latin typeface="+mn-lt"/>
              </a:rPr>
              <a:t>Grating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 1800 g/mm: 585.25 nm 1.66cm-1 (&lt;</a:t>
            </a:r>
            <a:r>
              <a:rPr lang="fr-FR" sz="1200" b="1" i="0" dirty="0">
                <a:solidFill>
                  <a:schemeClr val="tx1"/>
                </a:solidFill>
                <a:effectLst/>
                <a:latin typeface="+mn-lt"/>
              </a:rPr>
              <a:t>2.3 cm-1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) / 837.76 nm= 0.65 cm-1 (&lt;1.1 cm-1)</a:t>
            </a:r>
            <a:endParaRPr lang="fr-FR" sz="12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5CD50D8-FBCB-885C-7FAC-A21FC666C4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867" y="3429000"/>
            <a:ext cx="4929790" cy="3305762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B35A9F1-8384-918F-D268-35122AB24FF2}"/>
              </a:ext>
            </a:extLst>
          </p:cNvPr>
          <p:cNvSpPr/>
          <p:nvPr/>
        </p:nvSpPr>
        <p:spPr>
          <a:xfrm>
            <a:off x="6271927" y="3333417"/>
            <a:ext cx="2201383" cy="2087669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853096F9-5DF2-D8B5-2251-85AE1D443810}"/>
              </a:ext>
            </a:extLst>
          </p:cNvPr>
          <p:cNvSpPr/>
          <p:nvPr/>
        </p:nvSpPr>
        <p:spPr>
          <a:xfrm>
            <a:off x="3543520" y="4290690"/>
            <a:ext cx="2552480" cy="90850"/>
          </a:xfrm>
          <a:prstGeom prst="rightArrow">
            <a:avLst/>
          </a:prstGeom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B1E39AD-B6FD-62FC-0F33-CBDBC6AC80C1}"/>
              </a:ext>
            </a:extLst>
          </p:cNvPr>
          <p:cNvSpPr/>
          <p:nvPr/>
        </p:nvSpPr>
        <p:spPr>
          <a:xfrm>
            <a:off x="1926771" y="1257300"/>
            <a:ext cx="1685109" cy="2034862"/>
          </a:xfrm>
          <a:prstGeom prst="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CDFCD3-D155-BF28-EEE1-2F2DAC3DDD81}"/>
              </a:ext>
            </a:extLst>
          </p:cNvPr>
          <p:cNvSpPr/>
          <p:nvPr/>
        </p:nvSpPr>
        <p:spPr>
          <a:xfrm>
            <a:off x="8532019" y="3333417"/>
            <a:ext cx="1045369" cy="2087669"/>
          </a:xfrm>
          <a:prstGeom prst="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0B3CE980-6DA7-C94C-17FF-905B18B6AC67}"/>
              </a:ext>
            </a:extLst>
          </p:cNvPr>
          <p:cNvSpPr/>
          <p:nvPr/>
        </p:nvSpPr>
        <p:spPr>
          <a:xfrm>
            <a:off x="7400925" y="5648325"/>
            <a:ext cx="990599" cy="43815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0269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D5771-1918-D494-BFFE-93D53E23E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60BE4A-85DB-EA13-4242-2D9215D140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381211" y="-193183"/>
            <a:ext cx="9144000" cy="1109663"/>
          </a:xfrm>
        </p:spPr>
        <p:txBody>
          <a:bodyPr/>
          <a:lstStyle/>
          <a:p>
            <a:r>
              <a:rPr lang="fr-FR" dirty="0"/>
              <a:t>Modèle Carbonates </a:t>
            </a:r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9607E112-449D-3950-B5F7-2D24324DF0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3888666"/>
              </p:ext>
            </p:extLst>
          </p:nvPr>
        </p:nvGraphicFramePr>
        <p:xfrm>
          <a:off x="0" y="725980"/>
          <a:ext cx="11858168" cy="2462866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1694024">
                  <a:extLst>
                    <a:ext uri="{9D8B030D-6E8A-4147-A177-3AD203B41FA5}">
                      <a16:colId xmlns:a16="http://schemas.microsoft.com/office/drawing/2014/main" val="3251183835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3137598316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3476095014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721168428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1270338505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330157547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90116242"/>
                    </a:ext>
                  </a:extLst>
                </a:gridCol>
              </a:tblGrid>
              <a:tr h="4511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Paramètres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Calcite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Aragonite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Vaterite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ACC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CCHH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MHC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882828191"/>
                  </a:ext>
                </a:extLst>
              </a:tr>
              <a:tr h="5779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Nu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1085.5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dirty="0"/>
                        <a:t>1085.9</a:t>
                      </a:r>
                      <a:r>
                        <a:rPr lang="fr-FR" sz="1800" b="0" baseline="30000" dirty="0"/>
                        <a:t>3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1" dirty="0"/>
                        <a:t>1086</a:t>
                      </a:r>
                      <a:r>
                        <a:rPr lang="fr-FR" sz="1800" b="0" dirty="0"/>
                        <a:t>²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1084</a:t>
                      </a:r>
                      <a:r>
                        <a:rPr lang="fr-FR" sz="1800" b="0" baseline="30000" dirty="0"/>
                        <a:t>3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[</a:t>
                      </a:r>
                      <a:r>
                        <a:rPr lang="fr-FR" sz="1800" b="1" dirty="0"/>
                        <a:t>1075</a:t>
                      </a:r>
                      <a:r>
                        <a:rPr lang="fr-FR" sz="1800" dirty="0"/>
                        <a:t>, (</a:t>
                      </a:r>
                      <a:r>
                        <a:rPr lang="fr-FR" sz="1800" b="1" dirty="0"/>
                        <a:t>1080</a:t>
                      </a:r>
                      <a:r>
                        <a:rPr lang="fr-FR" sz="1800" dirty="0"/>
                        <a:t>,) </a:t>
                      </a:r>
                      <a:r>
                        <a:rPr lang="fr-FR" sz="1800" b="1" dirty="0"/>
                        <a:t>1090.8</a:t>
                      </a:r>
                      <a:r>
                        <a:rPr lang="fr-FR" sz="1800" dirty="0"/>
                        <a:t>]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b="0" dirty="0"/>
                        <a:t>[1073.8, 1080, 1089.5]</a:t>
                      </a:r>
                      <a:r>
                        <a:rPr lang="fr-FR" sz="1800" b="0" baseline="30000" dirty="0"/>
                        <a:t> 3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1077</a:t>
                      </a:r>
                      <a:r>
                        <a:rPr lang="fr-FR" sz="1800" b="1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dirty="0"/>
                        <a:t>1075²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1073</a:t>
                      </a:r>
                      <a:r>
                        <a:rPr lang="fr-FR" sz="1800" baseline="300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1085</a:t>
                      </a:r>
                      <a:r>
                        <a:rPr lang="fr-FR" sz="1800" baseline="300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800" baseline="30000" dirty="0">
                        <a:solidFill>
                          <a:srgbClr val="222222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1100.1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b="1" dirty="0"/>
                        <a:t>1097</a:t>
                      </a:r>
                      <a:r>
                        <a:rPr lang="fr-FR" sz="1800" dirty="0"/>
                        <a:t>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1067.5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80348"/>
                  </a:ext>
                </a:extLst>
              </a:tr>
              <a:tr h="3302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FWHM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3.5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3.5 </a:t>
                      </a:r>
                      <a:r>
                        <a:rPr lang="fr-FR" sz="1800" b="0" baseline="30000" dirty="0"/>
                        <a:t>1,6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[8.2, (8 aussi?), 8.3]</a:t>
                      </a:r>
                      <a:r>
                        <a:rPr lang="fr-FR" sz="1800" b="1" baseline="30000" dirty="0"/>
                        <a:t>1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35</a:t>
                      </a:r>
                      <a:r>
                        <a:rPr lang="fr-FR" sz="1800" b="1" baseline="30000" dirty="0"/>
                        <a:t>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30</a:t>
                      </a:r>
                      <a:r>
                        <a:rPr lang="fr-FR" sz="1800" b="0" baseline="30000" dirty="0"/>
                        <a:t>4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6.3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5.8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3772775"/>
                  </a:ext>
                </a:extLst>
              </a:tr>
            </a:tbl>
          </a:graphicData>
        </a:graphic>
      </p:graphicFrame>
      <p:sp>
        <p:nvSpPr>
          <p:cNvPr id="10" name="ZoneTexte 9">
            <a:extLst>
              <a:ext uri="{FF2B5EF4-FFF2-40B4-BE49-F238E27FC236}">
                <a16:creationId xmlns:a16="http://schemas.microsoft.com/office/drawing/2014/main" id="{5B074CB8-30E3-35E7-9241-EF41F0E0BC37}"/>
              </a:ext>
            </a:extLst>
          </p:cNvPr>
          <p:cNvSpPr txBox="1"/>
          <p:nvPr/>
        </p:nvSpPr>
        <p:spPr>
          <a:xfrm>
            <a:off x="603536" y="5559504"/>
            <a:ext cx="11254632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</a:rPr>
              <a:t>1</a:t>
            </a:r>
            <a:r>
              <a:rPr lang="fr-FR" sz="1100" dirty="0">
                <a:solidFill>
                  <a:srgbClr val="222222"/>
                </a:solidFill>
                <a:latin typeface="Arial" panose="020B0604020202020204" pitchFamily="34" charset="0"/>
              </a:rPr>
              <a:t>Résultats </a:t>
            </a:r>
            <a:r>
              <a:rPr lang="fr-FR" sz="1100" dirty="0" err="1">
                <a:solidFill>
                  <a:srgbClr val="222222"/>
                </a:solidFill>
                <a:latin typeface="Arial" panose="020B0604020202020204" pitchFamily="34" charset="0"/>
              </a:rPr>
              <a:t>raman</a:t>
            </a:r>
            <a:r>
              <a:rPr lang="fr-FR" sz="1100" dirty="0">
                <a:solidFill>
                  <a:srgbClr val="222222"/>
                </a:solidFill>
                <a:latin typeface="Arial" panose="020B0604020202020204" pitchFamily="34" charset="0"/>
              </a:rPr>
              <a:t> spontané – </a:t>
            </a:r>
            <a:r>
              <a:rPr lang="fr-FR" sz="1100" b="1" dirty="0">
                <a:solidFill>
                  <a:srgbClr val="222222"/>
                </a:solidFill>
                <a:latin typeface="Arial" panose="020B0604020202020204" pitchFamily="34" charset="0"/>
              </a:rPr>
              <a:t>synthétique ou géologique (cal et ara)</a:t>
            </a:r>
            <a:endParaRPr lang="fr-FR" sz="1100" baseline="30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</a:rPr>
              <a:t>2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Dicko, Hamadou, et al. "3D Calcium carbonate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polymorphs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imaging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with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stimulated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Raman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scattering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in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biominerals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." </a:t>
            </a:r>
            <a:r>
              <a:rPr lang="fr-FR" sz="11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Faraday Discussions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261 (2025): 286-297. – </a:t>
            </a:r>
            <a:r>
              <a:rPr lang="fr-FR" sz="1100" b="1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biogénique (corail)</a:t>
            </a:r>
            <a:endParaRPr lang="fr-FR" sz="110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r>
              <a:rPr lang="fr-FR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Colas, C. (2022). 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Bio-</a:t>
            </a:r>
            <a:r>
              <a:rPr lang="fr-FR" sz="1100" i="1" dirty="0" err="1">
                <a:latin typeface="Arial" panose="020B0604020202020204" pitchFamily="34" charset="0"/>
                <a:cs typeface="Arial" panose="020B0604020202020204" pitchFamily="34" charset="0"/>
              </a:rPr>
              <a:t>inspired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100" b="1" i="1" dirty="0" err="1">
                <a:latin typeface="Arial" panose="020B0604020202020204" pitchFamily="34" charset="0"/>
                <a:cs typeface="Arial" panose="020B0604020202020204" pitchFamily="34" charset="0"/>
              </a:rPr>
              <a:t>synthetic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100" i="1" dirty="0" err="1">
                <a:latin typeface="Arial" panose="020B0604020202020204" pitchFamily="34" charset="0"/>
                <a:cs typeface="Arial" panose="020B0604020202020204" pitchFamily="34" charset="0"/>
              </a:rPr>
              <a:t>crystals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 (Doctoral dissertation, Université Paris-Saclay).</a:t>
            </a:r>
          </a:p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Duboisset et al., « 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Amorphous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-to-Crystal Transition in the Layer-by-Layer 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Growth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 of Bivalve Shell 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Prisms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 ». – </a:t>
            </a:r>
            <a:r>
              <a:rPr lang="fr-FR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biogenique</a:t>
            </a:r>
            <a:r>
              <a:rPr lang="fr-FR" sz="1100" b="1" dirty="0">
                <a:latin typeface="Arial" panose="020B0604020202020204" pitchFamily="34" charset="0"/>
                <a:cs typeface="Arial" panose="020B0604020202020204" pitchFamily="34" charset="0"/>
              </a:rPr>
              <a:t> (huitre)</a:t>
            </a:r>
          </a:p>
          <a:p>
            <a:r>
              <a:rPr lang="en-US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Lia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Addadi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 et al 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“Taking Advantage of Disorder: Amorphous Calcium Carbonate and Its Roles in Biomineralization” –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biogenique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juvenil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 huitre,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oursin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Farfan et al (2021)“Crystallographic and chemical signatures in coral skeletal aragonite” (National Museum of  Natural History, Washington, DC, USA) –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corail</a:t>
            </a:r>
            <a:endParaRPr lang="fr-FR" sz="1100" baseline="3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0D01F1B0-0BDC-A5A9-1700-7A2492DEC5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778496"/>
              </p:ext>
            </p:extLst>
          </p:nvPr>
        </p:nvGraphicFramePr>
        <p:xfrm>
          <a:off x="1" y="3231175"/>
          <a:ext cx="11858168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4024">
                  <a:extLst>
                    <a:ext uri="{9D8B030D-6E8A-4147-A177-3AD203B41FA5}">
                      <a16:colId xmlns:a16="http://schemas.microsoft.com/office/drawing/2014/main" val="1288489453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3546645173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153859496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814571671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89165594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783805804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884758507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 err="1"/>
                        <a:t>nu_LB</a:t>
                      </a:r>
                      <a:r>
                        <a:rPr lang="fr-FR" sz="1800" dirty="0"/>
                        <a:t>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1084.5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1084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1073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1073,1070(</a:t>
                      </a:r>
                      <a:r>
                        <a:rPr lang="fr-FR" sz="1800" dirty="0" err="1"/>
                        <a:t>coral</a:t>
                      </a:r>
                      <a:r>
                        <a:rPr lang="fr-FR" sz="1800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1097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1066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764265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nu_UB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1086.5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1086.5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1070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9233163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FWHM_LB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60099489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FWHM_UB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173969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7514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DFABE7-7BAD-EAB4-A337-5A587C2011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4996" y="-252770"/>
            <a:ext cx="12132253" cy="110966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/>
              <a:t>Modèle Carbonates – Réponse instrumentale 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88452B41-9549-6875-20CC-DD8857CAEC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3616" y="2696572"/>
            <a:ext cx="3711262" cy="701101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F62C97D9-F285-3B4D-1011-1EA9731F47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5513" y="1185863"/>
            <a:ext cx="3749365" cy="876376"/>
          </a:xfrm>
          <a:prstGeom prst="rect">
            <a:avLst/>
          </a:prstGeom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3D1F4A10-3E68-2826-3E54-A89C28866A03}"/>
              </a:ext>
            </a:extLst>
          </p:cNvPr>
          <p:cNvSpPr txBox="1"/>
          <p:nvPr/>
        </p:nvSpPr>
        <p:spPr>
          <a:xfrm>
            <a:off x="246437" y="1349665"/>
            <a:ext cx="270717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dirty="0"/>
              <a:t>Modèle gaussien pour chaque phase :</a:t>
            </a:r>
          </a:p>
          <a:p>
            <a:endParaRPr lang="fr-FR" dirty="0"/>
          </a:p>
          <a:p>
            <a:r>
              <a:rPr lang="fr-FR" b="1" dirty="0"/>
              <a:t>Convolué avec </a:t>
            </a:r>
          </a:p>
          <a:p>
            <a:endParaRPr lang="fr-FR" dirty="0"/>
          </a:p>
          <a:p>
            <a:pPr algn="r"/>
            <a:r>
              <a:rPr lang="fr-FR" dirty="0"/>
              <a:t>Modèle gaussien de la réponse instrumentale :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3B4900DE-274B-80C2-7AC0-2195697E0D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2765" y="1950931"/>
            <a:ext cx="2905530" cy="828791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2DA905A8-616C-62C8-9452-C1CFB619D55F}"/>
              </a:ext>
            </a:extLst>
          </p:cNvPr>
          <p:cNvSpPr txBox="1"/>
          <p:nvPr/>
        </p:nvSpPr>
        <p:spPr>
          <a:xfrm>
            <a:off x="6744268" y="2180661"/>
            <a:ext cx="22957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800" dirty="0">
                <a:sym typeface="Wingdings" panose="05000000000000000000" pitchFamily="2" charset="2"/>
              </a:rPr>
              <a:t> </a:t>
            </a:r>
            <a:r>
              <a:rPr lang="fr-FR" sz="1800" dirty="0"/>
              <a:t>Analytiquement : 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F8506815-E31A-FC47-F3B1-345B07D72F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9766" y="3129717"/>
            <a:ext cx="4864582" cy="3516889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443BF070-88E8-F57F-D606-2CB44BDDD86D}"/>
              </a:ext>
            </a:extLst>
          </p:cNvPr>
          <p:cNvSpPr txBox="1"/>
          <p:nvPr/>
        </p:nvSpPr>
        <p:spPr>
          <a:xfrm>
            <a:off x="2585121" y="4862004"/>
            <a:ext cx="40797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>
                <a:sym typeface="Wingdings" panose="05000000000000000000" pitchFamily="2" charset="2"/>
              </a:rPr>
              <a:t>En comparaison avec l’</a:t>
            </a:r>
            <a:r>
              <a:rPr lang="fr-FR" sz="1800" dirty="0" err="1">
                <a:sym typeface="Wingdings" panose="05000000000000000000" pitchFamily="2" charset="2"/>
              </a:rPr>
              <a:t>anlyse</a:t>
            </a:r>
            <a:r>
              <a:rPr lang="fr-FR" sz="1800" dirty="0">
                <a:sym typeface="Wingdings" panose="05000000000000000000" pitchFamily="2" charset="2"/>
              </a:rPr>
              <a:t> numérique utilisant la fonction </a:t>
            </a:r>
            <a:r>
              <a:rPr lang="fr-FR" sz="1800" dirty="0" err="1">
                <a:sym typeface="Wingdings" panose="05000000000000000000" pitchFamily="2" charset="2"/>
              </a:rPr>
              <a:t>conv</a:t>
            </a:r>
            <a:r>
              <a:rPr lang="fr-FR" sz="1800" dirty="0">
                <a:sym typeface="Wingdings" panose="05000000000000000000" pitchFamily="2" charset="2"/>
              </a:rPr>
              <a:t>() : </a:t>
            </a:r>
            <a:endParaRPr lang="fr-FR" sz="1800" dirty="0"/>
          </a:p>
        </p:txBody>
      </p:sp>
    </p:spTree>
    <p:extLst>
      <p:ext uri="{BB962C8B-B14F-4D97-AF65-F5344CB8AC3E}">
        <p14:creationId xmlns:p14="http://schemas.microsoft.com/office/powerpoint/2010/main" val="2544980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256FE-F3F7-B482-1EBA-601D96234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49AE7B83-BCA3-BCE8-0FEC-A43253052E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</a:t>
            </a:r>
            <a:r>
              <a:rPr lang="fr-FR" sz="5100" dirty="0"/>
              <a:t>- 260708 </a:t>
            </a:r>
            <a:r>
              <a:rPr lang="fr-FR" sz="5100" dirty="0" err="1"/>
              <a:t>ACC_Cal</a:t>
            </a:r>
            <a:r>
              <a:rPr lang="fr-FR" sz="5100" dirty="0"/>
              <a:t> – </a:t>
            </a:r>
            <a:r>
              <a:rPr lang="fr-FR" sz="5100" dirty="0" err="1"/>
              <a:t>lsqcurvefit</a:t>
            </a:r>
            <a:r>
              <a:rPr lang="fr-FR" sz="5100" dirty="0"/>
              <a:t> </a:t>
            </a:r>
            <a:r>
              <a:rPr lang="fr-FR" sz="5100" dirty="0" err="1"/>
              <a:t>Map</a:t>
            </a:r>
            <a:r>
              <a:rPr lang="fr-FR" sz="5100" dirty="0"/>
              <a:t> 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D4F26104-1C72-8FCA-9F7A-CC62DFC9F0A6}"/>
              </a:ext>
            </a:extLst>
          </p:cNvPr>
          <p:cNvSpPr txBox="1"/>
          <p:nvPr/>
        </p:nvSpPr>
        <p:spPr>
          <a:xfrm>
            <a:off x="7118544" y="0"/>
            <a:ext cx="6159500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Phase 1 : CAL</a:t>
            </a:r>
          </a:p>
          <a:p>
            <a:r>
              <a:rPr lang="fr-FR" dirty="0" err="1"/>
              <a:t>A_mean</a:t>
            </a:r>
            <a:r>
              <a:rPr lang="fr-FR" dirty="0"/>
              <a:t> = 3691.1 +/- 1833.8</a:t>
            </a:r>
          </a:p>
          <a:p>
            <a:r>
              <a:rPr lang="fr-FR" dirty="0"/>
              <a:t>nu = 1085.3015 +/- 0.3722 cm^-1</a:t>
            </a:r>
            <a:br>
              <a:rPr lang="fr-FR" dirty="0"/>
            </a:br>
            <a:r>
              <a:rPr lang="fr-FR" dirty="0"/>
              <a:t>FWHM = 1.6533 +/- 1.0651 cm^-1</a:t>
            </a:r>
          </a:p>
          <a:p>
            <a:pPr marL="0" marR="0" algn="l">
              <a:lnSpc>
                <a:spcPct val="100000"/>
              </a:lnSpc>
              <a:buNone/>
            </a:pPr>
            <a:endParaRPr lang="fr-FR" sz="1800" b="0" i="0" dirty="0">
              <a:effectLst/>
              <a:latin typeface="+mn-lt"/>
            </a:endParaRPr>
          </a:p>
          <a:p>
            <a:pPr marL="0" marR="0" algn="l">
              <a:lnSpc>
                <a:spcPct val="100000"/>
              </a:lnSpc>
              <a:buNone/>
            </a:pPr>
            <a:r>
              <a:rPr lang="fr-FR" sz="1800" b="0" i="0" dirty="0">
                <a:effectLst/>
                <a:latin typeface="+mn-lt"/>
              </a:rPr>
              <a:t>Phase 4 : ACC</a:t>
            </a:r>
          </a:p>
          <a:p>
            <a:r>
              <a:rPr lang="fr-FR" dirty="0" err="1"/>
              <a:t>A_mean</a:t>
            </a:r>
            <a:r>
              <a:rPr lang="fr-FR" dirty="0"/>
              <a:t> = 714.78 +/- 162</a:t>
            </a:r>
          </a:p>
          <a:p>
            <a:r>
              <a:rPr lang="fr-FR" dirty="0"/>
              <a:t>nu = 1081.0182 +/- 0.9139 cm^-1</a:t>
            </a:r>
            <a:br>
              <a:rPr lang="fr-FR" dirty="0"/>
            </a:br>
            <a:r>
              <a:rPr lang="fr-FR" dirty="0"/>
              <a:t>FWHM = 28.2891 +/- 2.0484 cm^-1</a:t>
            </a:r>
          </a:p>
          <a:p>
            <a:pPr marL="0" marR="0" algn="l">
              <a:lnSpc>
                <a:spcPct val="100000"/>
              </a:lnSpc>
              <a:buNone/>
            </a:pPr>
            <a:endParaRPr lang="fr-FR" sz="1000" b="0" i="0" dirty="0">
              <a:effectLst/>
              <a:latin typeface="Menlo"/>
            </a:endParaRPr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25770B4B-A866-303F-57DD-0BC5F70964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 flipH="1">
            <a:off x="3893023" y="530363"/>
            <a:ext cx="2427294" cy="2371201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EB8B5176-9EAC-0308-02EC-2A47871940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503" y="2603763"/>
            <a:ext cx="5341345" cy="4175355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2B07E977-C004-F9A7-71D6-F18D5C5A8B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736" y="3059596"/>
            <a:ext cx="4743791" cy="3519018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592922EB-9F62-D1C5-C05E-CFD7F8894786}"/>
              </a:ext>
            </a:extLst>
          </p:cNvPr>
          <p:cNvSpPr txBox="1"/>
          <p:nvPr/>
        </p:nvSpPr>
        <p:spPr>
          <a:xfrm>
            <a:off x="9503133" y="5389497"/>
            <a:ext cx="6146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/Acal&gt;0.3</a:t>
            </a:r>
          </a:p>
        </p:txBody>
      </p:sp>
    </p:spTree>
    <p:extLst>
      <p:ext uri="{BB962C8B-B14F-4D97-AF65-F5344CB8AC3E}">
        <p14:creationId xmlns:p14="http://schemas.microsoft.com/office/powerpoint/2010/main" val="20362086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E3B3A-1D26-9369-4B87-9ACCFAC7C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C79521A6-539E-4920-53A8-49C8074588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- 260708 </a:t>
            </a:r>
            <a:r>
              <a:rPr lang="fr-FR" sz="5100" b="1" dirty="0" err="1"/>
              <a:t>ACC_Cal</a:t>
            </a:r>
            <a:r>
              <a:rPr lang="fr-FR" sz="5100" b="1" dirty="0"/>
              <a:t> – </a:t>
            </a:r>
            <a:r>
              <a:rPr lang="fr-FR" sz="5100" b="1" dirty="0" err="1"/>
              <a:t>Map</a:t>
            </a:r>
            <a:r>
              <a:rPr lang="fr-FR" sz="5100" b="1" dirty="0"/>
              <a:t> 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066F237-FF09-794E-859E-54D4B72326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715" y="1413643"/>
            <a:ext cx="5249137" cy="4789511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C9624E1C-162D-AF36-293C-ACFEEFC2E4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0222" y="2505449"/>
            <a:ext cx="5082503" cy="3697705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76BE202A-3E6E-E7E1-4860-6EBD4E7B50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715" y="1413643"/>
            <a:ext cx="5249137" cy="4849894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AF727961-B632-9C66-B572-387C6D68F7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0045" y="2560320"/>
            <a:ext cx="5320642" cy="3870960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20D7102C-E2FC-10FE-EDE0-5746BE04C5B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0045" y="2505449"/>
            <a:ext cx="5320642" cy="3870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62581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B165B-7357-9107-81C8-285E93071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C57B0C80-0443-DAE3-0C76-0AD7E723E5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7ps - 260708 </a:t>
            </a:r>
            <a:r>
              <a:rPr lang="fr-FR" sz="5100" b="1" dirty="0" err="1"/>
              <a:t>ACC_Cal</a:t>
            </a:r>
            <a:r>
              <a:rPr lang="fr-FR" sz="5100" b="1" dirty="0"/>
              <a:t> – </a:t>
            </a:r>
            <a:r>
              <a:rPr lang="fr-FR" sz="5100" b="1" dirty="0" err="1"/>
              <a:t>Map</a:t>
            </a:r>
            <a:r>
              <a:rPr lang="fr-FR" sz="5100" b="1" dirty="0"/>
              <a:t> 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1C0729D-218D-4467-577C-D17A960298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715" y="1413643"/>
            <a:ext cx="5249137" cy="478951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A93391F4-082A-B6B7-CF74-D7A06A6E0B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714" y="1413643"/>
            <a:ext cx="5249137" cy="4841525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E7EB09C7-AC2C-AAFB-2B09-1AF90A7A7A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0045" y="2560320"/>
            <a:ext cx="5320642" cy="3870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5408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0DC03-6A7A-0EDB-4994-54CD278A1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ADCC31F4-C489-ACC9-11E7-548A7AF5D9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25000" lnSpcReduction="20000"/>
          </a:bodyPr>
          <a:lstStyle/>
          <a:p>
            <a:pPr marL="114300" indent="0">
              <a:buNone/>
            </a:pPr>
            <a:r>
              <a:rPr lang="fr-FR" sz="19200" b="1" dirty="0"/>
              <a:t>2ps vs 7ps - 260708 </a:t>
            </a:r>
            <a:r>
              <a:rPr lang="fr-FR" sz="19200" b="1" dirty="0" err="1"/>
              <a:t>ACC_Cal</a:t>
            </a:r>
            <a:r>
              <a:rPr lang="fr-FR" sz="19200" b="1" dirty="0"/>
              <a:t>  </a:t>
            </a:r>
            <a:r>
              <a:rPr lang="fr-FR" sz="19200" b="1" dirty="0" err="1"/>
              <a:t>synt</a:t>
            </a:r>
            <a:r>
              <a:rPr lang="fr-FR" sz="192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FCDFF4CB-86F0-CF93-02CF-D63138476E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070" y="1275347"/>
            <a:ext cx="5879972" cy="5173579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C35D9641-1139-EC72-4B23-E43F0A4169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374" y="1753766"/>
            <a:ext cx="4738510" cy="3946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9245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ADC89-820C-8691-DE4E-4214462E1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E460BE47-34BA-8E67-78B9-377F2900E0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6" name="Google Shape;137;g3e4efdd0c05_0_0">
            <a:extLst>
              <a:ext uri="{FF2B5EF4-FFF2-40B4-BE49-F238E27FC236}">
                <a16:creationId xmlns:a16="http://schemas.microsoft.com/office/drawing/2014/main" id="{831F9502-F5F0-1519-8219-3CB32A5DCB6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 flipH="1">
            <a:off x="5039127" y="736371"/>
            <a:ext cx="2452255" cy="221326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A5E02C8-8EF1-A92A-3E90-67988E4FCE48}"/>
              </a:ext>
            </a:extLst>
          </p:cNvPr>
          <p:cNvSpPr/>
          <p:nvPr/>
        </p:nvSpPr>
        <p:spPr>
          <a:xfrm>
            <a:off x="6208981" y="969644"/>
            <a:ext cx="112548" cy="11196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9208E372-339E-3507-C0F4-93BA40F3E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7168" y="632079"/>
            <a:ext cx="3083859" cy="2840796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1DC2D9F6-6DF1-5B94-ABC2-A837409A0A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044" y="3271519"/>
            <a:ext cx="4538820" cy="345225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ACB31626-BC42-FB18-9BA6-4B569AAAB6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7168" y="3620634"/>
            <a:ext cx="3083858" cy="2818147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75113C58-1347-7BE7-DD1C-5251AB1C46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8813" y="3335644"/>
            <a:ext cx="4545051" cy="3388129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D85B80AE-4CEB-A96F-7C4F-D947A63CD347}"/>
              </a:ext>
            </a:extLst>
          </p:cNvPr>
          <p:cNvSpPr txBox="1"/>
          <p:nvPr/>
        </p:nvSpPr>
        <p:spPr>
          <a:xfrm>
            <a:off x="7735221" y="827339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 Phase VAT : </a:t>
            </a:r>
            <a:r>
              <a:rPr lang="fr-FR" dirty="0" err="1"/>
              <a:t>A_fit</a:t>
            </a:r>
            <a:r>
              <a:rPr lang="fr-FR" dirty="0"/>
              <a:t> = 8050.1</a:t>
            </a:r>
          </a:p>
          <a:p>
            <a:pPr lvl="1"/>
            <a:r>
              <a:rPr lang="fr-FR" dirty="0"/>
              <a:t>- Raie 1 : nu = 1073.8006 cm^-1</a:t>
            </a:r>
          </a:p>
          <a:p>
            <a:pPr lvl="1"/>
            <a:r>
              <a:rPr lang="fr-FR" dirty="0"/>
              <a:t>- Raie 2 : nu = 1080.2310 cm^-1</a:t>
            </a:r>
          </a:p>
          <a:p>
            <a:pPr lvl="1"/>
            <a:r>
              <a:rPr lang="fr-FR" dirty="0"/>
              <a:t>- Raie 3 : nu = 1091.7282 cm^-1</a:t>
            </a:r>
          </a:p>
          <a:p>
            <a:pPr lvl="1"/>
            <a:r>
              <a:rPr lang="fr-FR" dirty="0"/>
              <a:t>- FWHM 1 : FWHM = 10.0000 cm^-1</a:t>
            </a:r>
          </a:p>
          <a:p>
            <a:pPr lvl="1"/>
            <a:r>
              <a:rPr lang="fr-FR" dirty="0"/>
              <a:t>- FWHM 2 : FWHM = 3.0289 cm^-1</a:t>
            </a:r>
          </a:p>
          <a:p>
            <a:pPr lvl="1"/>
            <a:r>
              <a:rPr lang="fr-FR" dirty="0"/>
              <a:t>- FWHM 3 : FWHM = 5.5216 cm^-1</a:t>
            </a: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AA33F213-7E1B-16F2-3CAE-70703DB3B37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7168" y="3585255"/>
            <a:ext cx="3183297" cy="2888904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3DE36B19-4C87-CAEE-B59A-2AD2F452FED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57168" y="608025"/>
            <a:ext cx="3136083" cy="2888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80164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1F4A9-8BAF-C8A2-E881-F7596527E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D5F5752E-C1D2-5AFA-A8D5-83B8A3B72E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7ps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grpSp>
        <p:nvGrpSpPr>
          <p:cNvPr id="2" name="Groupe 1">
            <a:extLst>
              <a:ext uri="{FF2B5EF4-FFF2-40B4-BE49-F238E27FC236}">
                <a16:creationId xmlns:a16="http://schemas.microsoft.com/office/drawing/2014/main" id="{6AD355CA-DC99-5E5A-467A-71F6E4C82041}"/>
              </a:ext>
            </a:extLst>
          </p:cNvPr>
          <p:cNvGrpSpPr/>
          <p:nvPr/>
        </p:nvGrpSpPr>
        <p:grpSpPr>
          <a:xfrm>
            <a:off x="5039127" y="736371"/>
            <a:ext cx="2452255" cy="2213264"/>
            <a:chOff x="5039127" y="736371"/>
            <a:chExt cx="2452255" cy="2213264"/>
          </a:xfrm>
        </p:grpSpPr>
        <p:pic>
          <p:nvPicPr>
            <p:cNvPr id="6" name="Google Shape;137;g3e4efdd0c05_0_0">
              <a:extLst>
                <a:ext uri="{FF2B5EF4-FFF2-40B4-BE49-F238E27FC236}">
                  <a16:creationId xmlns:a16="http://schemas.microsoft.com/office/drawing/2014/main" id="{DD32D86B-D606-F6F4-291E-37F47116F338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5039127" y="736371"/>
              <a:ext cx="2452255" cy="221326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46BFAD8-C17A-1A9B-9EA2-56342F1DC671}"/>
                </a:ext>
              </a:extLst>
            </p:cNvPr>
            <p:cNvSpPr/>
            <p:nvPr/>
          </p:nvSpPr>
          <p:spPr>
            <a:xfrm>
              <a:off x="6208981" y="969644"/>
              <a:ext cx="112548" cy="111967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rgbClr val="FF0000"/>
                </a:solidFill>
              </a:endParaRPr>
            </a:p>
          </p:txBody>
        </p:sp>
      </p:grpSp>
      <p:pic>
        <p:nvPicPr>
          <p:cNvPr id="24" name="Image 23">
            <a:extLst>
              <a:ext uri="{FF2B5EF4-FFF2-40B4-BE49-F238E27FC236}">
                <a16:creationId xmlns:a16="http://schemas.microsoft.com/office/drawing/2014/main" id="{EF7E8C03-B9AB-CAA3-AD7E-06DC69615E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7168" y="632079"/>
            <a:ext cx="3083859" cy="2840796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14A7A277-C9D3-F50D-FA39-6E719DA55F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044" y="3271519"/>
            <a:ext cx="4538820" cy="345225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B99D236C-2F23-5E9C-F91F-B371A9A955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7168" y="3620634"/>
            <a:ext cx="3083858" cy="2818147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C8A88D45-F179-62DA-8D84-C978D57A48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8813" y="3335644"/>
            <a:ext cx="4545051" cy="3388129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21CCC65C-1F27-D8D5-1E49-CF4EA7A10AF3}"/>
              </a:ext>
            </a:extLst>
          </p:cNvPr>
          <p:cNvSpPr txBox="1"/>
          <p:nvPr/>
        </p:nvSpPr>
        <p:spPr>
          <a:xfrm>
            <a:off x="7735221" y="827339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 Phase VAT : </a:t>
            </a:r>
            <a:r>
              <a:rPr lang="fr-FR" dirty="0" err="1"/>
              <a:t>A_fit</a:t>
            </a:r>
            <a:r>
              <a:rPr lang="fr-FR" dirty="0"/>
              <a:t> = 1071.1</a:t>
            </a:r>
          </a:p>
          <a:p>
            <a:pPr lvl="1"/>
            <a:r>
              <a:rPr lang="fr-FR" dirty="0"/>
              <a:t>- Raie 1 : nu = 1074.2124 cm^-1</a:t>
            </a:r>
          </a:p>
          <a:p>
            <a:pPr lvl="1"/>
            <a:r>
              <a:rPr lang="fr-FR" dirty="0"/>
              <a:t>- Raie 2 : nu = 1080.6756 cm^-1</a:t>
            </a:r>
          </a:p>
          <a:p>
            <a:pPr lvl="1"/>
            <a:r>
              <a:rPr lang="fr-FR" dirty="0"/>
              <a:t>- Raie 3 : nu = 1090.0957 cm^-1</a:t>
            </a:r>
          </a:p>
          <a:p>
            <a:pPr lvl="1"/>
            <a:r>
              <a:rPr lang="fr-FR" dirty="0"/>
              <a:t>- FWHM 1 : FWHM = 3.1743 cm^-1</a:t>
            </a:r>
          </a:p>
          <a:p>
            <a:pPr lvl="1"/>
            <a:r>
              <a:rPr lang="fr-FR" dirty="0"/>
              <a:t>- FWHM 2 : FWHM = 3.6489 cm^-1</a:t>
            </a:r>
          </a:p>
          <a:p>
            <a:pPr lvl="1"/>
            <a:r>
              <a:rPr lang="fr-FR" dirty="0"/>
              <a:t>- FWHM 3 : FWHM = 5.2779 cm^-1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8C1F3F2D-AC8B-FC36-1ABF-27680BD3651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7167" y="588205"/>
            <a:ext cx="3131487" cy="288467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00B772E2-76A3-A7D7-58DB-58318D424F4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57166" y="3620634"/>
            <a:ext cx="3105330" cy="2818147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BB3B5DDF-AFBA-869D-758B-B30E767C083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48813" y="3271519"/>
            <a:ext cx="4669754" cy="3481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2228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B638A-EF94-9C8F-885C-81D2FFCFE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424635B3-903C-3DCB-853C-E6D24E66C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vs 7ps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36DFB279-8D85-1A9A-9860-0896FB1C90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754" y="989890"/>
            <a:ext cx="10382491" cy="5515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80139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D631CD6-458D-0F08-3FA6-6E8693E1AA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dirty="0" err="1"/>
              <a:t>Corals</a:t>
            </a:r>
            <a:r>
              <a:rPr lang="fr-FR" sz="4000" dirty="0"/>
              <a:t> 260715 2ps (#4 </a:t>
            </a:r>
            <a:r>
              <a:rPr lang="fr-FR" sz="4000" dirty="0" err="1"/>
              <a:t>stressed</a:t>
            </a:r>
            <a:r>
              <a:rPr lang="fr-FR" sz="4000" dirty="0"/>
              <a:t>)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C589E1D-0EB7-F73A-0A60-7E09465080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573432" y="781320"/>
            <a:ext cx="1684874" cy="1655761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96046A4A-B930-F6C3-4B2F-344D2E895F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122" y="2619442"/>
            <a:ext cx="4604076" cy="3969674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89731C6F-48AA-7FDE-DE56-91D47740FA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7654" y="2619442"/>
            <a:ext cx="4620602" cy="3969674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0BBF7B8B-C61A-1A80-6882-1D1178B150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1368" y="4361676"/>
            <a:ext cx="3258542" cy="2496324"/>
          </a:xfrm>
          <a:prstGeom prst="rect">
            <a:avLst/>
          </a:prstGeom>
        </p:spPr>
      </p:pic>
      <p:sp>
        <p:nvSpPr>
          <p:cNvPr id="18" name="ZoneTexte 17">
            <a:extLst>
              <a:ext uri="{FF2B5EF4-FFF2-40B4-BE49-F238E27FC236}">
                <a16:creationId xmlns:a16="http://schemas.microsoft.com/office/drawing/2014/main" id="{C7424D4E-504E-7F15-2B02-402521288479}"/>
              </a:ext>
            </a:extLst>
          </p:cNvPr>
          <p:cNvSpPr txBox="1"/>
          <p:nvPr/>
        </p:nvSpPr>
        <p:spPr>
          <a:xfrm>
            <a:off x="2861125" y="2151651"/>
            <a:ext cx="16313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Aacc</a:t>
            </a:r>
            <a:r>
              <a:rPr lang="fr-FR" dirty="0"/>
              <a:t>/Acal&gt;0.3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219F4290-987D-0161-1920-F276DC152880}"/>
              </a:ext>
            </a:extLst>
          </p:cNvPr>
          <p:cNvSpPr txBox="1"/>
          <p:nvPr/>
        </p:nvSpPr>
        <p:spPr>
          <a:xfrm>
            <a:off x="9137955" y="4600437"/>
            <a:ext cx="15088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err="1"/>
              <a:t>Aacc</a:t>
            </a:r>
            <a:r>
              <a:rPr lang="fr-FR" b="1" dirty="0"/>
              <a:t>/Aara&gt;1</a:t>
            </a:r>
          </a:p>
        </p:txBody>
      </p:sp>
      <p:pic>
        <p:nvPicPr>
          <p:cNvPr id="31" name="Image 30">
            <a:extLst>
              <a:ext uri="{FF2B5EF4-FFF2-40B4-BE49-F238E27FC236}">
                <a16:creationId xmlns:a16="http://schemas.microsoft.com/office/drawing/2014/main" id="{C516793D-535D-559F-FA3F-F0DFA0A3CD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15956" y="4431330"/>
            <a:ext cx="3002112" cy="2333439"/>
          </a:xfrm>
          <a:prstGeom prst="rect">
            <a:avLst/>
          </a:prstGeom>
        </p:spPr>
      </p:pic>
      <p:sp>
        <p:nvSpPr>
          <p:cNvPr id="33" name="ZoneTexte 32">
            <a:extLst>
              <a:ext uri="{FF2B5EF4-FFF2-40B4-BE49-F238E27FC236}">
                <a16:creationId xmlns:a16="http://schemas.microsoft.com/office/drawing/2014/main" id="{4E7203AB-B67E-EFCB-87EC-492E7C85A32C}"/>
              </a:ext>
            </a:extLst>
          </p:cNvPr>
          <p:cNvSpPr txBox="1"/>
          <p:nvPr/>
        </p:nvSpPr>
        <p:spPr>
          <a:xfrm>
            <a:off x="2780960" y="4599134"/>
            <a:ext cx="6146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/Aara&gt;0.3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58678D4-A94E-937A-BB4F-9C8901F860F4}"/>
              </a:ext>
            </a:extLst>
          </p:cNvPr>
          <p:cNvSpPr txBox="1"/>
          <p:nvPr/>
        </p:nvSpPr>
        <p:spPr>
          <a:xfrm>
            <a:off x="5618068" y="599596"/>
            <a:ext cx="3912388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fr-FR" sz="1200" b="1" dirty="0"/>
              <a:t>ARA</a:t>
            </a:r>
            <a:r>
              <a:rPr lang="fr-FR" sz="1200" dirty="0"/>
              <a:t> :  </a:t>
            </a:r>
            <a:r>
              <a:rPr lang="fr-FR" sz="1200" b="0" i="0" dirty="0">
                <a:effectLst/>
                <a:latin typeface="+mn-lt"/>
              </a:rPr>
              <a:t>Phase ara  : </a:t>
            </a:r>
            <a:r>
              <a:rPr lang="fr-FR" sz="1200" b="0" i="0" dirty="0" err="1">
                <a:effectLst/>
                <a:latin typeface="+mn-lt"/>
              </a:rPr>
              <a:t>A_mean</a:t>
            </a:r>
            <a:r>
              <a:rPr lang="fr-FR" sz="1200" b="0" i="0" dirty="0">
                <a:effectLst/>
                <a:latin typeface="+mn-lt"/>
              </a:rPr>
              <a:t> = 11615 +/- 5235.2</a:t>
            </a:r>
            <a:br>
              <a:rPr lang="fr-FR" sz="1200" b="0" i="0" dirty="0">
                <a:effectLst/>
                <a:latin typeface="+mn-lt"/>
              </a:rPr>
            </a:br>
            <a:r>
              <a:rPr lang="fr-FR" sz="1200" b="0" i="0" dirty="0">
                <a:effectLst/>
                <a:latin typeface="+mn-lt"/>
              </a:rPr>
              <a:t>Phase acc : </a:t>
            </a:r>
            <a:r>
              <a:rPr lang="fr-FR" sz="1200" b="0" i="0" dirty="0" err="1">
                <a:effectLst/>
                <a:latin typeface="+mn-lt"/>
              </a:rPr>
              <a:t>A_mean</a:t>
            </a:r>
            <a:r>
              <a:rPr lang="fr-FR" sz="1200" b="0" i="0" dirty="0">
                <a:effectLst/>
                <a:latin typeface="+mn-lt"/>
              </a:rPr>
              <a:t> = 1673.2 +/- 908</a:t>
            </a:r>
          </a:p>
          <a:p>
            <a:pPr lvl="1"/>
            <a:r>
              <a:rPr lang="fr-FR" sz="1200" dirty="0"/>
              <a:t>nu = 1085.9181 +/- 0.1665 cm^-1</a:t>
            </a:r>
          </a:p>
          <a:p>
            <a:pPr lvl="1"/>
            <a:r>
              <a:rPr lang="fr-FR" sz="1200" dirty="0" err="1"/>
              <a:t>FWHM_deconvolve</a:t>
            </a:r>
            <a:r>
              <a:rPr lang="fr-FR" sz="1200" dirty="0"/>
              <a:t> = 1.1279 +/- 0.3712 cm^-1</a:t>
            </a:r>
          </a:p>
          <a:p>
            <a:pPr lvl="1"/>
            <a:r>
              <a:rPr lang="fr-FR" sz="1200" dirty="0"/>
              <a:t>Mean = 0.82211;Std = 18.902</a:t>
            </a:r>
          </a:p>
          <a:p>
            <a:pPr lvl="1"/>
            <a:r>
              <a:rPr lang="fr-FR" sz="1200" b="1" dirty="0"/>
              <a:t>ACC : </a:t>
            </a:r>
            <a:r>
              <a:rPr lang="fr-FR" sz="1200" dirty="0"/>
              <a:t>Phase ara  : </a:t>
            </a:r>
            <a:r>
              <a:rPr lang="fr-FR" sz="1200" dirty="0" err="1"/>
              <a:t>A_mean</a:t>
            </a:r>
            <a:r>
              <a:rPr lang="fr-FR" sz="1200" dirty="0"/>
              <a:t> = 4316.2 +/- 2845.1</a:t>
            </a:r>
            <a:br>
              <a:rPr lang="fr-FR" sz="1200" dirty="0"/>
            </a:br>
            <a:r>
              <a:rPr lang="fr-FR" sz="1200" dirty="0"/>
              <a:t>Phase acc : </a:t>
            </a:r>
            <a:r>
              <a:rPr lang="fr-FR" sz="1200" dirty="0" err="1"/>
              <a:t>A_mean</a:t>
            </a:r>
            <a:r>
              <a:rPr lang="fr-FR" sz="1200" dirty="0"/>
              <a:t> = 2218.1 +/- 1386.1</a:t>
            </a:r>
          </a:p>
          <a:p>
            <a:pPr lvl="1"/>
            <a:r>
              <a:rPr lang="fr-FR" sz="1200" dirty="0"/>
              <a:t>nu = 1073.7361 +/- 2.2470 cm^-1</a:t>
            </a:r>
          </a:p>
          <a:p>
            <a:pPr lvl="1"/>
            <a:r>
              <a:rPr lang="fr-FR" sz="1200" dirty="0" err="1"/>
              <a:t>FWHM_deconvolve</a:t>
            </a:r>
            <a:r>
              <a:rPr lang="fr-FR" sz="1200" dirty="0"/>
              <a:t> = 31.3916 +/- 6.8866 cm^-1</a:t>
            </a:r>
          </a:p>
          <a:p>
            <a:pPr lvl="1"/>
            <a:r>
              <a:rPr lang="fr-FR" sz="1200" dirty="0"/>
              <a:t>Mean = -1.0486;Std = 43.549</a:t>
            </a:r>
          </a:p>
          <a:p>
            <a:pPr lvl="1"/>
            <a:endParaRPr lang="fr-FR" dirty="0"/>
          </a:p>
          <a:p>
            <a:pPr lvl="1"/>
            <a:endParaRPr lang="fr-FR" sz="1200" dirty="0"/>
          </a:p>
          <a:p>
            <a:pPr marL="0" marR="0" algn="l">
              <a:lnSpc>
                <a:spcPct val="100000"/>
              </a:lnSpc>
              <a:buNone/>
            </a:pPr>
            <a:endParaRPr lang="fr-FR" sz="1000" b="0" i="0" dirty="0">
              <a:effectLst/>
              <a:latin typeface="Menlo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E8F229B9-7E42-3470-223D-59A02A416EE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8966" y="766551"/>
            <a:ext cx="3567034" cy="3650256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E297DF4E-3A01-25C5-B807-9D5A8CA11CA4}"/>
              </a:ext>
            </a:extLst>
          </p:cNvPr>
          <p:cNvSpPr txBox="1"/>
          <p:nvPr/>
        </p:nvSpPr>
        <p:spPr>
          <a:xfrm>
            <a:off x="6827654" y="295550"/>
            <a:ext cx="61483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/Acal&gt;0.3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EE88B158-4DA6-62A5-B847-F0AA92CB35DC}"/>
              </a:ext>
            </a:extLst>
          </p:cNvPr>
          <p:cNvSpPr txBox="1"/>
          <p:nvPr/>
        </p:nvSpPr>
        <p:spPr>
          <a:xfrm>
            <a:off x="9626819" y="259359"/>
            <a:ext cx="6410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</a:t>
            </a:r>
            <a:r>
              <a:rPr lang="fr-FR" b="1" dirty="0"/>
              <a:t>1</a:t>
            </a:r>
            <a:endParaRPr lang="fr-FR" sz="1800" b="1" dirty="0"/>
          </a:p>
        </p:txBody>
      </p:sp>
    </p:spTree>
    <p:extLst>
      <p:ext uri="{BB962C8B-B14F-4D97-AF65-F5344CB8AC3E}">
        <p14:creationId xmlns:p14="http://schemas.microsoft.com/office/powerpoint/2010/main" val="34655030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A68984-D178-3F4C-31F3-B4BBE3954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F0EC311-590A-8C02-587A-1093BB1572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2ps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79ED3CF-5EB2-C3CE-2BEA-07CBE41D28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5711" y="892282"/>
            <a:ext cx="2348921" cy="2403723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330C01A0-9B47-98C7-EA4A-6051587259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306" y="3754606"/>
            <a:ext cx="3235187" cy="2922608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EA817A1B-A756-16CA-8FFB-A22E264BC1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7038" y="3351913"/>
            <a:ext cx="4471686" cy="3506087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F3E88461-64A6-E9B8-3947-DD764D5B80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5306" y="781297"/>
            <a:ext cx="3235187" cy="2951300"/>
          </a:xfrm>
          <a:prstGeom prst="rect">
            <a:avLst/>
          </a:prstGeom>
        </p:spPr>
      </p:pic>
      <p:sp>
        <p:nvSpPr>
          <p:cNvPr id="22" name="ZoneTexte 21">
            <a:extLst>
              <a:ext uri="{FF2B5EF4-FFF2-40B4-BE49-F238E27FC236}">
                <a16:creationId xmlns:a16="http://schemas.microsoft.com/office/drawing/2014/main" id="{1314F53D-012A-1ACD-ED61-60D62EE94E49}"/>
              </a:ext>
            </a:extLst>
          </p:cNvPr>
          <p:cNvSpPr txBox="1"/>
          <p:nvPr/>
        </p:nvSpPr>
        <p:spPr>
          <a:xfrm>
            <a:off x="9089985" y="4200247"/>
            <a:ext cx="620403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 </a:t>
            </a:r>
            <a:r>
              <a:rPr lang="fr-FR" b="1" dirty="0"/>
              <a:t>Spectre ACC : </a:t>
            </a:r>
            <a:endParaRPr lang="fr-FR" dirty="0"/>
          </a:p>
          <a:p>
            <a:r>
              <a:rPr lang="fr-FR" dirty="0"/>
              <a:t>ARA : </a:t>
            </a:r>
            <a:r>
              <a:rPr lang="fr-FR" dirty="0" err="1"/>
              <a:t>A_fit</a:t>
            </a:r>
            <a:r>
              <a:rPr lang="fr-FR" dirty="0"/>
              <a:t> = 12139</a:t>
            </a:r>
          </a:p>
          <a:p>
            <a:r>
              <a:rPr lang="fr-FR" dirty="0"/>
              <a:t>ACC : </a:t>
            </a:r>
            <a:r>
              <a:rPr lang="fr-FR" dirty="0" err="1"/>
              <a:t>A_fit</a:t>
            </a:r>
            <a:r>
              <a:rPr lang="fr-FR" dirty="0"/>
              <a:t> = 13594</a:t>
            </a:r>
          </a:p>
          <a:p>
            <a:r>
              <a:rPr lang="fr-FR" dirty="0"/>
              <a:t>ARA : nu = 1084.7373 cm^-1</a:t>
            </a:r>
          </a:p>
          <a:p>
            <a:r>
              <a:rPr lang="fr-FR" dirty="0"/>
              <a:t>ACC : nu = 1073.0000 cm^-1</a:t>
            </a:r>
          </a:p>
          <a:p>
            <a:r>
              <a:rPr lang="fr-FR" dirty="0"/>
              <a:t>ARA : FWHM = 1.0000 cm^-1</a:t>
            </a:r>
          </a:p>
          <a:p>
            <a:r>
              <a:rPr lang="fr-FR" dirty="0"/>
              <a:t>ACC : FWHM = 29.1308 cm^-1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3F9A769-C518-778B-5540-FF17DFCA7D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8504" y="212492"/>
            <a:ext cx="3513496" cy="3139422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E0EBBED6-5FC6-A1A1-909F-4A9B6F75397F}"/>
              </a:ext>
            </a:extLst>
          </p:cNvPr>
          <p:cNvSpPr txBox="1"/>
          <p:nvPr/>
        </p:nvSpPr>
        <p:spPr>
          <a:xfrm>
            <a:off x="8678504" y="184396"/>
            <a:ext cx="775681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7ps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376527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9D1F3-1217-3F5B-324D-D56F1C11D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805B31-6664-D46D-85C0-D21A1228BE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2ps vs 7ps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4E8F89E1-6525-DAE3-9A90-3B76F304F2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346" y="1566050"/>
            <a:ext cx="3132200" cy="2862324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A5D90BEA-EBE7-B701-CF39-1EE205B70DB3}"/>
              </a:ext>
            </a:extLst>
          </p:cNvPr>
          <p:cNvSpPr txBox="1"/>
          <p:nvPr/>
        </p:nvSpPr>
        <p:spPr>
          <a:xfrm>
            <a:off x="2981499" y="3625547"/>
            <a:ext cx="83210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2ps</a:t>
            </a:r>
            <a:endParaRPr lang="fr-FR" dirty="0"/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E3C19370-BF07-8A79-CD76-824D44B3E7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999" y="3978442"/>
            <a:ext cx="3595773" cy="2695162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8FDBDB6C-9F1C-82DC-AB69-125D74407C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323" y="759289"/>
            <a:ext cx="3915825" cy="3074207"/>
          </a:xfrm>
          <a:prstGeom prst="rect">
            <a:avLst/>
          </a:prstGeom>
        </p:spPr>
      </p:pic>
      <p:pic>
        <p:nvPicPr>
          <p:cNvPr id="24" name="Image 23">
            <a:extLst>
              <a:ext uri="{FF2B5EF4-FFF2-40B4-BE49-F238E27FC236}">
                <a16:creationId xmlns:a16="http://schemas.microsoft.com/office/drawing/2014/main" id="{6F5C975C-48B3-9C10-F7F7-AAED942AAA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5122" y="1623485"/>
            <a:ext cx="3132201" cy="2842533"/>
          </a:xfrm>
          <a:prstGeom prst="rect">
            <a:avLst/>
          </a:prstGeom>
        </p:spPr>
      </p:pic>
      <p:sp>
        <p:nvSpPr>
          <p:cNvPr id="26" name="ZoneTexte 25">
            <a:extLst>
              <a:ext uri="{FF2B5EF4-FFF2-40B4-BE49-F238E27FC236}">
                <a16:creationId xmlns:a16="http://schemas.microsoft.com/office/drawing/2014/main" id="{23A8AA4F-9FE8-9686-2193-E4C88105D1C0}"/>
              </a:ext>
            </a:extLst>
          </p:cNvPr>
          <p:cNvSpPr txBox="1"/>
          <p:nvPr/>
        </p:nvSpPr>
        <p:spPr>
          <a:xfrm>
            <a:off x="6213938" y="3634004"/>
            <a:ext cx="775681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7ps</a:t>
            </a:r>
            <a:endParaRPr lang="fr-FR" dirty="0"/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5FE25900-08FB-556D-4EC1-876F0EED171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1499" y="661221"/>
            <a:ext cx="2348921" cy="2403723"/>
          </a:xfrm>
          <a:prstGeom prst="rect">
            <a:avLst/>
          </a:prstGeom>
        </p:spPr>
      </p:pic>
      <p:graphicFrame>
        <p:nvGraphicFramePr>
          <p:cNvPr id="30" name="Tableau 29">
            <a:extLst>
              <a:ext uri="{FF2B5EF4-FFF2-40B4-BE49-F238E27FC236}">
                <a16:creationId xmlns:a16="http://schemas.microsoft.com/office/drawing/2014/main" id="{38505EC7-241B-284C-C968-D590CFFCB0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3548438"/>
              </p:ext>
            </p:extLst>
          </p:nvPr>
        </p:nvGraphicFramePr>
        <p:xfrm>
          <a:off x="131400" y="4772812"/>
          <a:ext cx="7375923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217">
                  <a:extLst>
                    <a:ext uri="{9D8B030D-6E8A-4147-A177-3AD203B41FA5}">
                      <a16:colId xmlns:a16="http://schemas.microsoft.com/office/drawing/2014/main" val="168624840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165158182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3905708282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25626599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260715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nu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FWHM_phase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44113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2ps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8311 +/- 3747.4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1086.02 +/- 0.17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1.43 +/- 0.81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474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b="1" dirty="0"/>
                        <a:t>2ps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2823.2 +/- 2918.7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1073.11 +/- 0.36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33.92 +/- 6.33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1929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4275 +/- 794.18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1085.45 +/- 0.24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3.12 +/- 0.93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668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3741.6 +/- 2693.2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1073.83 +/- 1.53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32.04 +/- 8.97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2657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951928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D3978-569E-5D8E-97E7-5B923F530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04EA8D-D802-3DA2-2CEC-FD30C4D901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/>
              <a:t>Coral 260715 2ps vs 7ps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1AD81B69-FD7E-2A23-BC74-8BCAE9062C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334" y="1768677"/>
            <a:ext cx="2188561" cy="2239622"/>
          </a:xfrm>
          <a:prstGeom prst="rect">
            <a:avLst/>
          </a:prstGeom>
        </p:spPr>
      </p:pic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8F3E49FC-537E-C8AE-BB7E-59C852063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8138107"/>
              </p:ext>
            </p:extLst>
          </p:nvPr>
        </p:nvGraphicFramePr>
        <p:xfrm>
          <a:off x="433136" y="4742688"/>
          <a:ext cx="11325727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217">
                  <a:extLst>
                    <a:ext uri="{9D8B030D-6E8A-4147-A177-3AD203B41FA5}">
                      <a16:colId xmlns:a16="http://schemas.microsoft.com/office/drawing/2014/main" val="168624840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165158182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3905708282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2562659957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2754650862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41742206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260715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nu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FWHM_phase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FWHM_instr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N_pix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44113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2ps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8311 +/- 3747.4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1086.02 +/- 0.17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1.43 +/- 0.81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474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b="1" dirty="0"/>
                        <a:t>2ps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2823.2 +/- 2918.7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1073.11 +/- 0.36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33.92 +/- 6.33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1929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4275 +/- 794.18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1085.45 +/- 0.24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3.12 +/- 0.93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668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3741.6 +/- 2693.2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1073.83 +/- 1.53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32.04 +/- 8.97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265749"/>
                  </a:ext>
                </a:extLst>
              </a:tr>
            </a:tbl>
          </a:graphicData>
        </a:graphic>
      </p:graphicFrame>
      <p:pic>
        <p:nvPicPr>
          <p:cNvPr id="17" name="Image 16">
            <a:extLst>
              <a:ext uri="{FF2B5EF4-FFF2-40B4-BE49-F238E27FC236}">
                <a16:creationId xmlns:a16="http://schemas.microsoft.com/office/drawing/2014/main" id="{DB62B55D-81DE-B231-A506-C4969BA151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0264" y="1593863"/>
            <a:ext cx="2797873" cy="2589250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0E8B4AE7-BB92-0CFF-2910-BCB24D531FB8}"/>
              </a:ext>
            </a:extLst>
          </p:cNvPr>
          <p:cNvSpPr txBox="1"/>
          <p:nvPr/>
        </p:nvSpPr>
        <p:spPr>
          <a:xfrm>
            <a:off x="6476733" y="997532"/>
            <a:ext cx="620829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2ps</a:t>
            </a:r>
            <a:endParaRPr lang="fr-FR" dirty="0"/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57C4D800-AA07-4A51-A7DF-74430E7EF634}"/>
              </a:ext>
            </a:extLst>
          </p:cNvPr>
          <p:cNvSpPr txBox="1"/>
          <p:nvPr/>
        </p:nvSpPr>
        <p:spPr>
          <a:xfrm>
            <a:off x="3555392" y="951395"/>
            <a:ext cx="645694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7ps</a:t>
            </a:r>
            <a:endParaRPr lang="fr-FR" dirty="0"/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28DCC324-0D0C-6FD6-7FE2-CF1D6C0B8C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6507" y="1596088"/>
            <a:ext cx="2797873" cy="2587025"/>
          </a:xfrm>
          <a:prstGeom prst="rect">
            <a:avLst/>
          </a:prstGeom>
        </p:spPr>
      </p:pic>
      <p:pic>
        <p:nvPicPr>
          <p:cNvPr id="31" name="Image 30">
            <a:extLst>
              <a:ext uri="{FF2B5EF4-FFF2-40B4-BE49-F238E27FC236}">
                <a16:creationId xmlns:a16="http://schemas.microsoft.com/office/drawing/2014/main" id="{0114A209-B4EC-6EEC-F245-014BA15F2B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4380" y="186783"/>
            <a:ext cx="3695860" cy="2887549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36584E80-2061-9DBB-B754-2313204183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6320" y="3149192"/>
            <a:ext cx="2933700" cy="1521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67710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0098D-53C4-C840-B30A-95323CB50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3CEA08-EDB1-CBFB-796A-02108849DD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2ps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9CFA125-BD6D-5DA1-3575-141EF2495A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472" y="3754606"/>
            <a:ext cx="3370245" cy="312632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CA3F3550-5F74-C413-E238-922B87EDF3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174" y="739526"/>
            <a:ext cx="2946340" cy="301508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2244FEA6-2102-9F7D-4943-8E4DA2CF29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231" y="702993"/>
            <a:ext cx="5302169" cy="3839196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382CA5FF-097A-A485-B43F-34E1ABDF09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4232" y="3429000"/>
            <a:ext cx="4513296" cy="3429020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BD8B85F0-686C-8C6A-42BC-66DBC32E7143}"/>
              </a:ext>
            </a:extLst>
          </p:cNvPr>
          <p:cNvSpPr txBox="1"/>
          <p:nvPr/>
        </p:nvSpPr>
        <p:spPr>
          <a:xfrm>
            <a:off x="9052400" y="459421"/>
            <a:ext cx="324643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ACC</a:t>
            </a:r>
          </a:p>
          <a:p>
            <a:r>
              <a:rPr lang="fr-FR" dirty="0"/>
              <a:t>ARA: </a:t>
            </a:r>
            <a:r>
              <a:rPr lang="fr-FR" dirty="0" err="1"/>
              <a:t>A_mean</a:t>
            </a:r>
            <a:r>
              <a:rPr lang="fr-FR" dirty="0"/>
              <a:t> = 702.68 +/- 1229 </a:t>
            </a:r>
          </a:p>
          <a:p>
            <a:r>
              <a:rPr lang="fr-FR" dirty="0" err="1"/>
              <a:t>ACC:A_mean</a:t>
            </a:r>
            <a:r>
              <a:rPr lang="fr-FR" dirty="0"/>
              <a:t> = 4453 +/- 8549.8 </a:t>
            </a:r>
          </a:p>
          <a:p>
            <a:r>
              <a:rPr lang="fr-FR" dirty="0"/>
              <a:t>nu = 1073.5428 +/- 1.7166 cm^-1</a:t>
            </a:r>
          </a:p>
          <a:p>
            <a:r>
              <a:rPr lang="fr-FR" dirty="0"/>
              <a:t>FWHM= 31.8237 +/- 6.0136 cm^-1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95FF58BA-755A-363E-10D7-AC33BD34B448}"/>
              </a:ext>
            </a:extLst>
          </p:cNvPr>
          <p:cNvSpPr txBox="1"/>
          <p:nvPr/>
        </p:nvSpPr>
        <p:spPr>
          <a:xfrm>
            <a:off x="3950920" y="4542189"/>
            <a:ext cx="343595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ARA</a:t>
            </a:r>
            <a:endParaRPr lang="fr-FR" sz="1800" dirty="0"/>
          </a:p>
          <a:p>
            <a:r>
              <a:rPr lang="fr-FR" sz="1800" dirty="0"/>
              <a:t>ARA : </a:t>
            </a:r>
            <a:r>
              <a:rPr lang="fr-FR" sz="1800" dirty="0" err="1"/>
              <a:t>A_mean</a:t>
            </a:r>
            <a:r>
              <a:rPr lang="fr-FR" sz="1800" dirty="0"/>
              <a:t> = </a:t>
            </a:r>
            <a:r>
              <a:rPr lang="fr-FR" dirty="0"/>
              <a:t>8311 +/- 3747.4</a:t>
            </a:r>
          </a:p>
          <a:p>
            <a:r>
              <a:rPr lang="fr-FR" sz="1800" dirty="0"/>
              <a:t>ACC: </a:t>
            </a:r>
            <a:r>
              <a:rPr lang="fr-FR" sz="1800" dirty="0" err="1"/>
              <a:t>A_mean</a:t>
            </a:r>
            <a:r>
              <a:rPr lang="fr-FR" sz="1800" dirty="0"/>
              <a:t> = </a:t>
            </a:r>
            <a:r>
              <a:rPr lang="fr-FR" dirty="0"/>
              <a:t>1346.2 +/- 966.64 </a:t>
            </a:r>
          </a:p>
          <a:p>
            <a:r>
              <a:rPr lang="fr-FR" dirty="0"/>
              <a:t>nu = 1086.0169 +/- 0.1741 cm^-1 </a:t>
            </a:r>
            <a:r>
              <a:rPr lang="fr-FR" sz="1800" dirty="0"/>
              <a:t>FWHM= </a:t>
            </a:r>
            <a:r>
              <a:rPr lang="fr-FR" dirty="0"/>
              <a:t>1.4299 +/- 0.8107 cm^-1</a:t>
            </a:r>
            <a:endParaRPr lang="fr-FR" sz="1800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A57C2B94-B0F1-D3FE-AE98-26493AD201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4717" y="702992"/>
            <a:ext cx="5323513" cy="3839197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1F7ECD1A-33BD-ADB9-A483-73F61D0B99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24232" y="3182588"/>
            <a:ext cx="4513296" cy="3698344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44DB405D-5098-7969-E383-EF3FD01A965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3547" y="3754606"/>
            <a:ext cx="3392218" cy="3126326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84BFF1F9-1E1D-ADAD-28F2-A2591685601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3187" y="3182588"/>
            <a:ext cx="3079015" cy="2199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0130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6AAD8-96A2-114C-50D9-FC6A6C530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90B83A-DC2D-8A98-FD32-FCA29B6604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7ps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A57D6AF-C090-4801-7BB5-3BD8B4DFE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472" y="3754606"/>
            <a:ext cx="3370245" cy="312632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1420F354-BFC1-2646-E6F1-A982C9F729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174" y="739526"/>
            <a:ext cx="2946340" cy="301508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A7574F47-C286-1C51-FF73-01D460609C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231" y="702993"/>
            <a:ext cx="5302169" cy="3839196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47BA1DA4-A4AC-B6A8-4136-672E9A0816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4232" y="3429000"/>
            <a:ext cx="4513296" cy="3429020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A1669978-DDA2-D5B6-457C-6FA91D131818}"/>
              </a:ext>
            </a:extLst>
          </p:cNvPr>
          <p:cNvSpPr txBox="1"/>
          <p:nvPr/>
        </p:nvSpPr>
        <p:spPr>
          <a:xfrm>
            <a:off x="9052400" y="459421"/>
            <a:ext cx="324643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ACC</a:t>
            </a:r>
          </a:p>
          <a:p>
            <a:r>
              <a:rPr lang="fr-FR" dirty="0"/>
              <a:t>ARA: </a:t>
            </a:r>
            <a:r>
              <a:rPr lang="fr-FR" dirty="0" err="1"/>
              <a:t>A_mean</a:t>
            </a:r>
            <a:r>
              <a:rPr lang="fr-FR" dirty="0"/>
              <a:t> = 648.98 +/- 422.52</a:t>
            </a:r>
          </a:p>
          <a:p>
            <a:r>
              <a:rPr lang="fr-FR" dirty="0" err="1"/>
              <a:t>ACC:A_mean</a:t>
            </a:r>
            <a:r>
              <a:rPr lang="fr-FR" dirty="0"/>
              <a:t> = 4568.9 +/- 2423.2</a:t>
            </a:r>
          </a:p>
          <a:p>
            <a:r>
              <a:rPr lang="fr-FR" dirty="0"/>
              <a:t>nu = 1073.8552 +/- 1.5147 cm^-1</a:t>
            </a:r>
          </a:p>
          <a:p>
            <a:r>
              <a:rPr lang="fr-FR" dirty="0"/>
              <a:t>FWHM= 30.2458 +/- 9.4385 cm^-1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CF04E5DA-C1B2-788B-10CF-6D9F31C07413}"/>
              </a:ext>
            </a:extLst>
          </p:cNvPr>
          <p:cNvSpPr txBox="1"/>
          <p:nvPr/>
        </p:nvSpPr>
        <p:spPr>
          <a:xfrm>
            <a:off x="3994139" y="4785761"/>
            <a:ext cx="343595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ARA</a:t>
            </a:r>
            <a:endParaRPr lang="fr-FR" sz="1800" dirty="0"/>
          </a:p>
          <a:p>
            <a:r>
              <a:rPr lang="fr-FR" sz="1800" dirty="0"/>
              <a:t>ARA : </a:t>
            </a:r>
            <a:r>
              <a:rPr lang="fr-FR" sz="1800" dirty="0" err="1"/>
              <a:t>A_mean</a:t>
            </a:r>
            <a:r>
              <a:rPr lang="fr-FR" sz="1800" dirty="0"/>
              <a:t> = 4275 +/- 794.18</a:t>
            </a:r>
          </a:p>
          <a:p>
            <a:r>
              <a:rPr lang="fr-FR" sz="1800" dirty="0"/>
              <a:t>ACC: </a:t>
            </a:r>
            <a:r>
              <a:rPr lang="fr-FR" sz="1800" dirty="0" err="1"/>
              <a:t>A_mean</a:t>
            </a:r>
            <a:r>
              <a:rPr lang="fr-FR" sz="1800" dirty="0"/>
              <a:t> = 1464.6 +/- 604.63</a:t>
            </a:r>
          </a:p>
          <a:p>
            <a:r>
              <a:rPr lang="fr-FR" sz="1800" dirty="0"/>
              <a:t>nu = 1085.4458 +/- 0.2423 cm^-1</a:t>
            </a:r>
          </a:p>
          <a:p>
            <a:r>
              <a:rPr lang="fr-FR" sz="1800" dirty="0"/>
              <a:t>FWHM= 3.1194 +/- 0.9295 cm^-1</a:t>
            </a:r>
          </a:p>
        </p:txBody>
      </p:sp>
    </p:spTree>
    <p:extLst>
      <p:ext uri="{BB962C8B-B14F-4D97-AF65-F5344CB8AC3E}">
        <p14:creationId xmlns:p14="http://schemas.microsoft.com/office/powerpoint/2010/main" val="28399522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2942F-5356-E15B-9C9F-E9CBD9CC9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0DE6DD-3DE4-CD10-0A39-07D9EC6919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760" y="-335280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dirty="0" err="1"/>
              <a:t>Corals</a:t>
            </a:r>
            <a:r>
              <a:rPr lang="fr-FR" sz="4000" dirty="0"/>
              <a:t> 260715 2ps (</a:t>
            </a:r>
            <a:r>
              <a:rPr lang="fr-FR" sz="4000" dirty="0" err="1"/>
              <a:t>stressed</a:t>
            </a:r>
            <a:r>
              <a:rPr lang="fr-FR" sz="4000" dirty="0"/>
              <a:t>)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E498CAEF-202D-C4DF-2FCE-6BF84569C1D8}"/>
              </a:ext>
            </a:extLst>
          </p:cNvPr>
          <p:cNvSpPr txBox="1"/>
          <p:nvPr/>
        </p:nvSpPr>
        <p:spPr>
          <a:xfrm>
            <a:off x="7880432" y="103216"/>
            <a:ext cx="28679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 dirty="0" err="1"/>
              <a:t>Aacc</a:t>
            </a:r>
            <a:r>
              <a:rPr lang="fr-FR" sz="3200" b="1" dirty="0"/>
              <a:t>/Acal&gt;0.3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60094F97-7887-C982-21A6-8335A419E4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908" y="1813145"/>
            <a:ext cx="5413092" cy="3867135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8CDDA5C9-8562-E526-EEE9-C283E912DE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8859" y="1813145"/>
            <a:ext cx="5413092" cy="3867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680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49195-1AB8-AFDE-2E4D-81432B0AC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2163C8-DFF6-36E4-43BC-20F1F750B9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dirty="0" err="1"/>
              <a:t>Corals</a:t>
            </a:r>
            <a:r>
              <a:rPr lang="fr-FR" sz="4000" dirty="0"/>
              <a:t> 260715 7ps (#4 </a:t>
            </a:r>
            <a:r>
              <a:rPr lang="fr-FR" sz="4000" dirty="0" err="1"/>
              <a:t>stressed</a:t>
            </a:r>
            <a:r>
              <a:rPr lang="fr-FR" sz="4000" dirty="0"/>
              <a:t>)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208059F-8884-10B5-5EAA-6FC6BB3384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573432" y="781320"/>
            <a:ext cx="1684874" cy="1655761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A8680D10-6E45-4BFD-1F22-1187B9D4E2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7654" y="2619442"/>
            <a:ext cx="4620602" cy="3969674"/>
          </a:xfrm>
          <a:prstGeom prst="rect">
            <a:avLst/>
          </a:prstGeom>
        </p:spPr>
      </p:pic>
      <p:sp>
        <p:nvSpPr>
          <p:cNvPr id="18" name="ZoneTexte 17">
            <a:extLst>
              <a:ext uri="{FF2B5EF4-FFF2-40B4-BE49-F238E27FC236}">
                <a16:creationId xmlns:a16="http://schemas.microsoft.com/office/drawing/2014/main" id="{02C31D0A-833E-D5EB-3FA2-6D8B01085B7E}"/>
              </a:ext>
            </a:extLst>
          </p:cNvPr>
          <p:cNvSpPr txBox="1"/>
          <p:nvPr/>
        </p:nvSpPr>
        <p:spPr>
          <a:xfrm>
            <a:off x="2861125" y="2151651"/>
            <a:ext cx="16313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Aacc</a:t>
            </a:r>
            <a:r>
              <a:rPr lang="fr-FR" dirty="0"/>
              <a:t>/Acal&gt;0.3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57E23B7A-6988-E8AB-FCAC-01DE155F5BB4}"/>
              </a:ext>
            </a:extLst>
          </p:cNvPr>
          <p:cNvSpPr txBox="1"/>
          <p:nvPr/>
        </p:nvSpPr>
        <p:spPr>
          <a:xfrm>
            <a:off x="9137955" y="4600437"/>
            <a:ext cx="14977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err="1"/>
              <a:t>Aacc</a:t>
            </a:r>
            <a:r>
              <a:rPr lang="fr-FR" b="1" dirty="0"/>
              <a:t>/Acal&gt;1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290EA08A-F590-0172-288D-9015A90E67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8966" y="766551"/>
            <a:ext cx="3567034" cy="3650256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99D4DE9A-CDBB-2CD0-860B-BD43361820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9827" y="2590676"/>
            <a:ext cx="4738429" cy="395579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6DD800A8-16E5-ACC2-9306-1F8EED262C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08902" y="4416807"/>
            <a:ext cx="3183098" cy="2441192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88A117EF-6CB5-555F-3902-782342E3B021}"/>
              </a:ext>
            </a:extLst>
          </p:cNvPr>
          <p:cNvSpPr txBox="1"/>
          <p:nvPr/>
        </p:nvSpPr>
        <p:spPr>
          <a:xfrm>
            <a:off x="9393098" y="4734879"/>
            <a:ext cx="6410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</a:t>
            </a:r>
            <a:r>
              <a:rPr lang="fr-FR" b="1" dirty="0"/>
              <a:t>1</a:t>
            </a:r>
            <a:endParaRPr lang="fr-FR" sz="1800" b="1" dirty="0"/>
          </a:p>
        </p:txBody>
      </p:sp>
    </p:spTree>
    <p:extLst>
      <p:ext uri="{BB962C8B-B14F-4D97-AF65-F5344CB8AC3E}">
        <p14:creationId xmlns:p14="http://schemas.microsoft.com/office/powerpoint/2010/main" val="6352544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25EF6-FACB-CC61-3081-EFBB2FF90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0B8448-E1BB-E283-A32D-505A107689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dirty="0" err="1"/>
              <a:t>Corals</a:t>
            </a:r>
            <a:r>
              <a:rPr lang="fr-FR" sz="4000" dirty="0"/>
              <a:t> 260715 7ps (#4 </a:t>
            </a:r>
            <a:r>
              <a:rPr lang="fr-FR" sz="4000" dirty="0" err="1"/>
              <a:t>stressed</a:t>
            </a:r>
            <a:r>
              <a:rPr lang="fr-FR" sz="4000" dirty="0"/>
              <a:t>)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E59528D5-620C-28A9-7649-17DF3D9AA7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572" y="1014591"/>
            <a:ext cx="2805528" cy="2870983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4DC319CE-ECB0-A327-8F21-3CE325E37F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572" y="3944263"/>
            <a:ext cx="2993563" cy="2728279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8C1B6D58-E5BE-42DF-B9C7-0DA521156A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8935" y="835175"/>
            <a:ext cx="6122434" cy="4628708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1B8770FE-B393-29E5-B0F8-8902AC6B95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8935" y="3991193"/>
            <a:ext cx="3643741" cy="2681349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44A9F7D0-66BC-84DD-4190-001B805D46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0476" y="3930799"/>
            <a:ext cx="3643741" cy="2741743"/>
          </a:xfrm>
          <a:prstGeom prst="rect">
            <a:avLst/>
          </a:prstGeom>
        </p:spPr>
      </p:pic>
      <p:sp>
        <p:nvSpPr>
          <p:cNvPr id="24" name="ZoneTexte 23">
            <a:extLst>
              <a:ext uri="{FF2B5EF4-FFF2-40B4-BE49-F238E27FC236}">
                <a16:creationId xmlns:a16="http://schemas.microsoft.com/office/drawing/2014/main" id="{0F726609-81E7-2CC0-B201-31B0D752E7AC}"/>
              </a:ext>
            </a:extLst>
          </p:cNvPr>
          <p:cNvSpPr txBox="1"/>
          <p:nvPr/>
        </p:nvSpPr>
        <p:spPr>
          <a:xfrm>
            <a:off x="9879169" y="1305342"/>
            <a:ext cx="6206986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l">
              <a:lnSpc>
                <a:spcPct val="100000"/>
              </a:lnSpc>
              <a:buNone/>
            </a:pPr>
            <a:r>
              <a:rPr lang="fr-FR" sz="1100" b="0" i="0" dirty="0">
                <a:effectLst/>
                <a:latin typeface="+mn-lt"/>
              </a:rPr>
              <a:t>FWHM instrumentale 2.4980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2 : ARA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Amplitude des phases :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2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4275 +/- 794.21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4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1464.7 +/- 604.59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nu = 1085.4458 +/- 0.2422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FWHM= 3.1193 +/- 0.9294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4 : ACC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2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86.662 +/- 68.817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4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4145.5 +/- 1814.5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nu = 1070.4489 +/- 0.6355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FWHM = 34.4327 +/- 4.8101 cm^-1</a:t>
            </a:r>
            <a:endParaRPr lang="fr-FR" sz="1100" b="0" i="0" dirty="0"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17943953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064797-0624-B0C7-77BB-AB9275829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3BA50AC-8BE3-88B7-6196-E7A1FB29DA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dirty="0" err="1"/>
              <a:t>Corals</a:t>
            </a:r>
            <a:r>
              <a:rPr lang="fr-FR" sz="4000" dirty="0"/>
              <a:t> 260713 2ps(#4 </a:t>
            </a:r>
            <a:r>
              <a:rPr lang="fr-FR" sz="4000" dirty="0" err="1"/>
              <a:t>stressed</a:t>
            </a:r>
            <a:r>
              <a:rPr lang="fr-FR" sz="4000" dirty="0"/>
              <a:t>)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260C50D-0724-D944-C787-DCF786F8A1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573432" y="781320"/>
            <a:ext cx="1684874" cy="1655761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5DB6077E-CEBA-E51F-3B6C-FD5B4D123C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122" y="2619442"/>
            <a:ext cx="4604076" cy="3969674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50FC4EF7-23E5-2FD8-10D0-A165E4B29B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7654" y="2619442"/>
            <a:ext cx="4620602" cy="3969674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098B9A9F-9034-2B47-62F6-5919D6247F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1368" y="4361676"/>
            <a:ext cx="3258542" cy="2496324"/>
          </a:xfrm>
          <a:prstGeom prst="rect">
            <a:avLst/>
          </a:prstGeom>
        </p:spPr>
      </p:pic>
      <p:sp>
        <p:nvSpPr>
          <p:cNvPr id="18" name="ZoneTexte 17">
            <a:extLst>
              <a:ext uri="{FF2B5EF4-FFF2-40B4-BE49-F238E27FC236}">
                <a16:creationId xmlns:a16="http://schemas.microsoft.com/office/drawing/2014/main" id="{2F76FD2A-0A12-28BA-DE63-434448D6605E}"/>
              </a:ext>
            </a:extLst>
          </p:cNvPr>
          <p:cNvSpPr txBox="1"/>
          <p:nvPr/>
        </p:nvSpPr>
        <p:spPr>
          <a:xfrm>
            <a:off x="2861125" y="2151651"/>
            <a:ext cx="16313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Aacc</a:t>
            </a:r>
            <a:r>
              <a:rPr lang="fr-FR" dirty="0"/>
              <a:t>/Acal&gt;0.3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F320559A-1F88-9C3A-AF15-8F4B3331CAF1}"/>
              </a:ext>
            </a:extLst>
          </p:cNvPr>
          <p:cNvSpPr txBox="1"/>
          <p:nvPr/>
        </p:nvSpPr>
        <p:spPr>
          <a:xfrm>
            <a:off x="9137955" y="4600437"/>
            <a:ext cx="14977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err="1"/>
              <a:t>Aacc</a:t>
            </a:r>
            <a:r>
              <a:rPr lang="fr-FR" b="1" dirty="0"/>
              <a:t>/Acal&gt;1</a:t>
            </a:r>
          </a:p>
        </p:txBody>
      </p:sp>
      <p:pic>
        <p:nvPicPr>
          <p:cNvPr id="31" name="Image 30">
            <a:extLst>
              <a:ext uri="{FF2B5EF4-FFF2-40B4-BE49-F238E27FC236}">
                <a16:creationId xmlns:a16="http://schemas.microsoft.com/office/drawing/2014/main" id="{D1DFCB3E-648E-E133-3D7B-60A04719BB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15956" y="4431330"/>
            <a:ext cx="3002112" cy="2333439"/>
          </a:xfrm>
          <a:prstGeom prst="rect">
            <a:avLst/>
          </a:prstGeom>
        </p:spPr>
      </p:pic>
      <p:sp>
        <p:nvSpPr>
          <p:cNvPr id="33" name="ZoneTexte 32">
            <a:extLst>
              <a:ext uri="{FF2B5EF4-FFF2-40B4-BE49-F238E27FC236}">
                <a16:creationId xmlns:a16="http://schemas.microsoft.com/office/drawing/2014/main" id="{FA03B0CE-1309-5944-488A-8D44828BC426}"/>
              </a:ext>
            </a:extLst>
          </p:cNvPr>
          <p:cNvSpPr txBox="1"/>
          <p:nvPr/>
        </p:nvSpPr>
        <p:spPr>
          <a:xfrm>
            <a:off x="3628059" y="4705697"/>
            <a:ext cx="6146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/Acal&gt;0.3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3F2A3D8-130D-2332-CEC4-94B05B50DE30}"/>
              </a:ext>
            </a:extLst>
          </p:cNvPr>
          <p:cNvSpPr txBox="1"/>
          <p:nvPr/>
        </p:nvSpPr>
        <p:spPr>
          <a:xfrm>
            <a:off x="5618068" y="599596"/>
            <a:ext cx="3912388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fr-FR" sz="1200" b="1" dirty="0"/>
              <a:t>ARA</a:t>
            </a:r>
            <a:r>
              <a:rPr lang="fr-FR" sz="1200" dirty="0"/>
              <a:t> :  </a:t>
            </a:r>
            <a:r>
              <a:rPr lang="fr-FR" sz="1200" b="0" i="0" dirty="0">
                <a:effectLst/>
                <a:latin typeface="+mn-lt"/>
              </a:rPr>
              <a:t>Phase ara  : </a:t>
            </a:r>
            <a:r>
              <a:rPr lang="fr-FR" sz="1200" b="0" i="0" dirty="0" err="1">
                <a:effectLst/>
                <a:latin typeface="+mn-lt"/>
              </a:rPr>
              <a:t>A_mean</a:t>
            </a:r>
            <a:r>
              <a:rPr lang="fr-FR" sz="1200" b="0" i="0" dirty="0">
                <a:effectLst/>
                <a:latin typeface="+mn-lt"/>
              </a:rPr>
              <a:t> = 11615 +/- 5235.2</a:t>
            </a:r>
            <a:br>
              <a:rPr lang="fr-FR" sz="1200" b="0" i="0" dirty="0">
                <a:effectLst/>
                <a:latin typeface="+mn-lt"/>
              </a:rPr>
            </a:br>
            <a:r>
              <a:rPr lang="fr-FR" sz="1200" b="0" i="0" dirty="0">
                <a:effectLst/>
                <a:latin typeface="+mn-lt"/>
              </a:rPr>
              <a:t>Phase acc : </a:t>
            </a:r>
            <a:r>
              <a:rPr lang="fr-FR" sz="1200" b="0" i="0" dirty="0" err="1">
                <a:effectLst/>
                <a:latin typeface="+mn-lt"/>
              </a:rPr>
              <a:t>A_mean</a:t>
            </a:r>
            <a:r>
              <a:rPr lang="fr-FR" sz="1200" b="0" i="0" dirty="0">
                <a:effectLst/>
                <a:latin typeface="+mn-lt"/>
              </a:rPr>
              <a:t> = 1673.2 +/- 908</a:t>
            </a:r>
          </a:p>
          <a:p>
            <a:pPr lvl="1"/>
            <a:r>
              <a:rPr lang="fr-FR" sz="1200" dirty="0"/>
              <a:t>nu = 1085.9181 +/- 0.1665 cm^-1</a:t>
            </a:r>
          </a:p>
          <a:p>
            <a:pPr lvl="1"/>
            <a:r>
              <a:rPr lang="fr-FR" sz="1200" dirty="0" err="1"/>
              <a:t>FWHM_deconvolve</a:t>
            </a:r>
            <a:r>
              <a:rPr lang="fr-FR" sz="1200" dirty="0"/>
              <a:t> = 1.1279 +/- 0.3712 cm^-1</a:t>
            </a:r>
          </a:p>
          <a:p>
            <a:pPr lvl="1"/>
            <a:r>
              <a:rPr lang="fr-FR" sz="1200" dirty="0"/>
              <a:t>Mean = 0.82211;Std = 18.902</a:t>
            </a:r>
          </a:p>
          <a:p>
            <a:pPr lvl="1"/>
            <a:r>
              <a:rPr lang="fr-FR" sz="1200" b="1" dirty="0"/>
              <a:t>ACC : </a:t>
            </a:r>
            <a:r>
              <a:rPr lang="fr-FR" sz="1200" dirty="0"/>
              <a:t>Phase ara  : </a:t>
            </a:r>
            <a:r>
              <a:rPr lang="fr-FR" sz="1200" dirty="0" err="1"/>
              <a:t>A_mean</a:t>
            </a:r>
            <a:r>
              <a:rPr lang="fr-FR" sz="1200" dirty="0"/>
              <a:t> = 4316.2 +/- 2845.1</a:t>
            </a:r>
            <a:br>
              <a:rPr lang="fr-FR" sz="1200" dirty="0"/>
            </a:br>
            <a:r>
              <a:rPr lang="fr-FR" sz="1200" dirty="0"/>
              <a:t>Phase acc : </a:t>
            </a:r>
            <a:r>
              <a:rPr lang="fr-FR" sz="1200" dirty="0" err="1"/>
              <a:t>A_mean</a:t>
            </a:r>
            <a:r>
              <a:rPr lang="fr-FR" sz="1200" dirty="0"/>
              <a:t> = 2218.1 +/- 1386.1</a:t>
            </a:r>
          </a:p>
          <a:p>
            <a:pPr lvl="1"/>
            <a:r>
              <a:rPr lang="fr-FR" sz="1200" dirty="0"/>
              <a:t>nu = 1073.7361 +/- 2.2470 cm^-1</a:t>
            </a:r>
          </a:p>
          <a:p>
            <a:pPr lvl="1"/>
            <a:r>
              <a:rPr lang="fr-FR" sz="1200" dirty="0" err="1"/>
              <a:t>FWHM_deconvolve</a:t>
            </a:r>
            <a:r>
              <a:rPr lang="fr-FR" sz="1200" dirty="0"/>
              <a:t> = 31.3916 +/- 6.8866 cm^-1</a:t>
            </a:r>
          </a:p>
          <a:p>
            <a:pPr lvl="1"/>
            <a:r>
              <a:rPr lang="fr-FR" sz="1200" dirty="0"/>
              <a:t>Mean = -1.0486;Std = 43.549</a:t>
            </a:r>
          </a:p>
          <a:p>
            <a:pPr lvl="1"/>
            <a:endParaRPr lang="fr-FR" dirty="0"/>
          </a:p>
          <a:p>
            <a:pPr lvl="1"/>
            <a:endParaRPr lang="fr-FR" sz="1200" dirty="0"/>
          </a:p>
          <a:p>
            <a:pPr marL="0" marR="0" algn="l">
              <a:lnSpc>
                <a:spcPct val="100000"/>
              </a:lnSpc>
              <a:buNone/>
            </a:pPr>
            <a:endParaRPr lang="fr-FR" sz="1000" b="0" i="0" dirty="0">
              <a:effectLst/>
              <a:latin typeface="Menlo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19DF92B-D497-C5F4-9869-CA2795E6323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8966" y="766551"/>
            <a:ext cx="3567034" cy="3650256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F841668F-9CE5-BFFA-D4EC-28146543015C}"/>
              </a:ext>
            </a:extLst>
          </p:cNvPr>
          <p:cNvSpPr txBox="1"/>
          <p:nvPr/>
        </p:nvSpPr>
        <p:spPr>
          <a:xfrm>
            <a:off x="6812653" y="293652"/>
            <a:ext cx="61483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/Acal&gt;0.3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EC443397-BF5D-3BB4-2E17-826F311363CC}"/>
              </a:ext>
            </a:extLst>
          </p:cNvPr>
          <p:cNvSpPr txBox="1"/>
          <p:nvPr/>
        </p:nvSpPr>
        <p:spPr>
          <a:xfrm>
            <a:off x="9626819" y="259359"/>
            <a:ext cx="6410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</a:t>
            </a:r>
            <a:r>
              <a:rPr lang="fr-FR" b="1" dirty="0"/>
              <a:t>1</a:t>
            </a:r>
            <a:endParaRPr lang="fr-FR" sz="1800" b="1" dirty="0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561344B1-3F58-0DA8-24B4-0232AED3D9A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2532" y="702375"/>
            <a:ext cx="1655762" cy="1833165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F89B8627-9437-445E-C503-50F138C6406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684" t="30951" r="24331" b="24074"/>
          <a:stretch>
            <a:fillRect/>
          </a:stretch>
        </p:blipFill>
        <p:spPr>
          <a:xfrm>
            <a:off x="2861125" y="1012061"/>
            <a:ext cx="3153698" cy="3084430"/>
          </a:xfrm>
          <a:prstGeom prst="rect">
            <a:avLst/>
          </a:prstGeom>
        </p:spPr>
      </p:pic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A6419EE1-69AC-2A12-DD20-67EE319C7E2D}"/>
              </a:ext>
            </a:extLst>
          </p:cNvPr>
          <p:cNvCxnSpPr>
            <a:cxnSpLocks/>
          </p:cNvCxnSpPr>
          <p:nvPr/>
        </p:nvCxnSpPr>
        <p:spPr>
          <a:xfrm rot="-1560000">
            <a:off x="3063944" y="3804487"/>
            <a:ext cx="704057" cy="339911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ZoneTexte 25">
            <a:extLst>
              <a:ext uri="{FF2B5EF4-FFF2-40B4-BE49-F238E27FC236}">
                <a16:creationId xmlns:a16="http://schemas.microsoft.com/office/drawing/2014/main" id="{4F6DA8E9-7D61-6287-3942-79179F1BB89F}"/>
              </a:ext>
            </a:extLst>
          </p:cNvPr>
          <p:cNvSpPr txBox="1"/>
          <p:nvPr/>
        </p:nvSpPr>
        <p:spPr>
          <a:xfrm>
            <a:off x="2971779" y="3568909"/>
            <a:ext cx="8883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solidFill>
                  <a:srgbClr val="FF0000"/>
                </a:solidFill>
              </a:rPr>
              <a:t>50 µm</a:t>
            </a:r>
          </a:p>
        </p:txBody>
      </p:sp>
      <p:pic>
        <p:nvPicPr>
          <p:cNvPr id="32" name="Image 31">
            <a:extLst>
              <a:ext uri="{FF2B5EF4-FFF2-40B4-BE49-F238E27FC236}">
                <a16:creationId xmlns:a16="http://schemas.microsoft.com/office/drawing/2014/main" id="{E152DFAF-34A1-6C5E-91A1-2D680B90F12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0629" y="2606169"/>
            <a:ext cx="4512374" cy="3985930"/>
          </a:xfrm>
          <a:prstGeom prst="rect">
            <a:avLst/>
          </a:prstGeom>
        </p:spPr>
      </p:pic>
      <p:pic>
        <p:nvPicPr>
          <p:cNvPr id="35" name="Image 34">
            <a:extLst>
              <a:ext uri="{FF2B5EF4-FFF2-40B4-BE49-F238E27FC236}">
                <a16:creationId xmlns:a16="http://schemas.microsoft.com/office/drawing/2014/main" id="{BBB33BE7-46D4-D2AD-81FE-F03F038772F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8377" y="678108"/>
            <a:ext cx="3727623" cy="3645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66853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7600D-50ED-5B21-F790-883ABD23A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9083EF-101B-E436-4F9B-BA69E24D40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51041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2000" b="1" dirty="0" err="1"/>
              <a:t>Corals</a:t>
            </a:r>
            <a:r>
              <a:rPr lang="fr-FR" sz="2000" b="1" dirty="0"/>
              <a:t> 260713 2ps(#4 </a:t>
            </a:r>
            <a:r>
              <a:rPr lang="fr-FR" sz="2000" b="1" dirty="0" err="1"/>
              <a:t>stressed</a:t>
            </a:r>
            <a:r>
              <a:rPr lang="fr-FR" sz="2000" b="1" dirty="0"/>
              <a:t>)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91F86BED-F528-510D-FE87-5063835ACBEC}"/>
              </a:ext>
            </a:extLst>
          </p:cNvPr>
          <p:cNvSpPr txBox="1"/>
          <p:nvPr/>
        </p:nvSpPr>
        <p:spPr>
          <a:xfrm>
            <a:off x="2861125" y="2151651"/>
            <a:ext cx="16313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Aacc</a:t>
            </a:r>
            <a:r>
              <a:rPr lang="fr-FR" dirty="0"/>
              <a:t>/Acal&gt;0.3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6AA7E2B-5B25-9DF4-9797-4E7E2EE128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9205" y="73778"/>
            <a:ext cx="6241629" cy="4805801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FF68AE27-A09B-2790-6F55-526CADC8D7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8376" y="2219205"/>
            <a:ext cx="3353221" cy="2419590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8956CB80-CD31-EF8A-DB08-F02B2D1ADE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886" y="4467225"/>
            <a:ext cx="2235385" cy="2186278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A011CCB7-2BA9-3059-A3E2-43EB69FAFA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886" y="759289"/>
            <a:ext cx="4572467" cy="3499649"/>
          </a:xfrm>
          <a:prstGeom prst="rect">
            <a:avLst/>
          </a:prstGeom>
        </p:spPr>
      </p:pic>
      <p:sp>
        <p:nvSpPr>
          <p:cNvPr id="29" name="ZoneTexte 28">
            <a:extLst>
              <a:ext uri="{FF2B5EF4-FFF2-40B4-BE49-F238E27FC236}">
                <a16:creationId xmlns:a16="http://schemas.microsoft.com/office/drawing/2014/main" id="{8B162177-3CEE-5D18-EDC1-F2F5A0D66BDD}"/>
              </a:ext>
            </a:extLst>
          </p:cNvPr>
          <p:cNvSpPr txBox="1"/>
          <p:nvPr/>
        </p:nvSpPr>
        <p:spPr>
          <a:xfrm>
            <a:off x="5299998" y="5024761"/>
            <a:ext cx="3472746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600" b="0" i="0" dirty="0">
                <a:effectLst/>
                <a:latin typeface="+mn-lt"/>
              </a:rPr>
              <a:t>params.R2_min_final = 0.7;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params.threshold_sigma_final</a:t>
            </a:r>
            <a:r>
              <a:rPr lang="fr-FR" sz="1600" b="0" i="0" dirty="0">
                <a:effectLst/>
                <a:latin typeface="+mn-lt"/>
              </a:rPr>
              <a:t> = 5;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params.min_points_above_noise</a:t>
            </a:r>
            <a:r>
              <a:rPr lang="fr-FR" sz="1600" b="0" i="0" dirty="0">
                <a:effectLst/>
                <a:latin typeface="+mn-lt"/>
              </a:rPr>
              <a:t> = 1;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params.alpha_dominance</a:t>
            </a:r>
            <a:r>
              <a:rPr lang="fr-FR" sz="1600" b="0" i="0" dirty="0">
                <a:effectLst/>
                <a:latin typeface="+mn-lt"/>
              </a:rPr>
              <a:t> = 2;</a:t>
            </a:r>
          </a:p>
          <a:p>
            <a:r>
              <a:rPr lang="fr-FR" dirty="0" err="1"/>
              <a:t>params.methode_ref_spectra</a:t>
            </a:r>
            <a:r>
              <a:rPr lang="fr-FR" dirty="0"/>
              <a:t> = 'amplitude';</a:t>
            </a:r>
          </a:p>
          <a:p>
            <a:pPr>
              <a:buNone/>
            </a:pPr>
            <a:endParaRPr lang="fr-FR" sz="1600" b="0" i="0" dirty="0">
              <a:effectLst/>
              <a:latin typeface="Menlo"/>
            </a:endParaRP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3FF8D2F7-37C8-050B-449D-964E3731C5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19" y="4402355"/>
            <a:ext cx="2446812" cy="2251148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F78612EC-0C46-D8A4-05DC-2B51132A2FA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30821" y="76803"/>
            <a:ext cx="6241629" cy="4805801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CD22C6F3-8AEB-2239-2FA7-0D295B1747D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2887" y="788908"/>
            <a:ext cx="4572467" cy="352083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C2D120EC-271B-6A83-1FA2-3620628C03D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8059" y="4402355"/>
            <a:ext cx="2525904" cy="2323915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C0BC76AC-C1B6-CDDB-2B5E-A966B22026A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05852" y="4760806"/>
            <a:ext cx="2518088" cy="1923780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843D5EA3-7947-7E31-BFDA-FA49F0DFCD7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65214" y="2391295"/>
            <a:ext cx="3034253" cy="224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3307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9F531-A4A6-4004-A0F9-F1964F1DD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CEBC0DD-3513-6D0B-A24C-2C936F1A36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51041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2000" b="1" dirty="0" err="1"/>
              <a:t>Corals</a:t>
            </a:r>
            <a:r>
              <a:rPr lang="fr-FR" sz="2000" b="1" dirty="0"/>
              <a:t> 260713 7ps(#4 </a:t>
            </a:r>
            <a:r>
              <a:rPr lang="fr-FR" sz="2000" b="1" dirty="0" err="1"/>
              <a:t>stressed</a:t>
            </a:r>
            <a:r>
              <a:rPr lang="fr-FR" sz="2000" b="1" dirty="0"/>
              <a:t>)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758AD298-4969-EE19-BF44-0E08251E2F74}"/>
              </a:ext>
            </a:extLst>
          </p:cNvPr>
          <p:cNvSpPr txBox="1"/>
          <p:nvPr/>
        </p:nvSpPr>
        <p:spPr>
          <a:xfrm>
            <a:off x="2861125" y="2151651"/>
            <a:ext cx="16313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Aacc</a:t>
            </a:r>
            <a:r>
              <a:rPr lang="fr-FR" dirty="0"/>
              <a:t>/Acal&gt;0.3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B4F72E59-24AD-6766-7817-62BDAB1D26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9205" y="73778"/>
            <a:ext cx="6241629" cy="4805801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F26A553B-C79A-2570-08C3-1C332A9C60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8376" y="2219205"/>
            <a:ext cx="3353221" cy="2419590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5BC353E7-E9BD-004C-4694-EDA0DBBCBD9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886" y="4467225"/>
            <a:ext cx="2235385" cy="2186278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A269DDBE-0610-0B7C-6901-D1FAF6A7C1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886" y="759289"/>
            <a:ext cx="4572467" cy="3499649"/>
          </a:xfrm>
          <a:prstGeom prst="rect">
            <a:avLst/>
          </a:prstGeom>
        </p:spPr>
      </p:pic>
      <p:sp>
        <p:nvSpPr>
          <p:cNvPr id="29" name="ZoneTexte 28">
            <a:extLst>
              <a:ext uri="{FF2B5EF4-FFF2-40B4-BE49-F238E27FC236}">
                <a16:creationId xmlns:a16="http://schemas.microsoft.com/office/drawing/2014/main" id="{5F7176D8-6ACD-2587-91CD-95375DD34B78}"/>
              </a:ext>
            </a:extLst>
          </p:cNvPr>
          <p:cNvSpPr txBox="1"/>
          <p:nvPr/>
        </p:nvSpPr>
        <p:spPr>
          <a:xfrm>
            <a:off x="5304179" y="5150455"/>
            <a:ext cx="620395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600" b="0" i="0" dirty="0">
                <a:effectLst/>
                <a:latin typeface="+mn-lt"/>
              </a:rPr>
              <a:t>params.R2_min_final = 0.7;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params.threshold_sigma_final</a:t>
            </a:r>
            <a:r>
              <a:rPr lang="fr-FR" sz="1600" b="0" i="0" dirty="0">
                <a:effectLst/>
                <a:latin typeface="+mn-lt"/>
              </a:rPr>
              <a:t> = 5;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params.min_points_above_noise</a:t>
            </a:r>
            <a:r>
              <a:rPr lang="fr-FR" sz="1600" b="0" i="0" dirty="0">
                <a:effectLst/>
                <a:latin typeface="+mn-lt"/>
              </a:rPr>
              <a:t> = 1;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params.alpha_dominance</a:t>
            </a:r>
            <a:r>
              <a:rPr lang="fr-FR" sz="1600" b="0" i="0" dirty="0">
                <a:effectLst/>
                <a:latin typeface="+mn-lt"/>
              </a:rPr>
              <a:t> = 2;</a:t>
            </a:r>
          </a:p>
          <a:p>
            <a:r>
              <a:rPr lang="fr-FR" sz="1600" dirty="0" err="1"/>
              <a:t>params.methode_ref_spectra</a:t>
            </a:r>
            <a:r>
              <a:rPr lang="fr-FR" sz="1600" dirty="0"/>
              <a:t> = 'amplitude';</a:t>
            </a:r>
          </a:p>
          <a:p>
            <a:pPr>
              <a:buNone/>
            </a:pPr>
            <a:endParaRPr lang="fr-FR" sz="1600" b="0" i="0" dirty="0">
              <a:effectLst/>
              <a:latin typeface="Menlo"/>
            </a:endParaRP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591323A3-9510-3CB7-7B02-8D6D0D2CCB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19" y="4402355"/>
            <a:ext cx="2446812" cy="2251148"/>
          </a:xfrm>
          <a:prstGeom prst="rect">
            <a:avLst/>
          </a:prstGeom>
        </p:spPr>
      </p:pic>
      <p:pic>
        <p:nvPicPr>
          <p:cNvPr id="37" name="Image 36">
            <a:extLst>
              <a:ext uri="{FF2B5EF4-FFF2-40B4-BE49-F238E27FC236}">
                <a16:creationId xmlns:a16="http://schemas.microsoft.com/office/drawing/2014/main" id="{3627B6C1-DCBF-F84D-8361-78B7EBD005A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6925" y="4555449"/>
            <a:ext cx="2975942" cy="2251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03923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8B481-C080-E500-FEBA-0D46563F7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B2959FC-1C77-5E94-F5DB-A226168A87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51041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2000" b="1" dirty="0" err="1"/>
              <a:t>Corals</a:t>
            </a:r>
            <a:r>
              <a:rPr lang="fr-FR" sz="2000" b="1" dirty="0"/>
              <a:t> 260713 2ps vs 7ps (#4 </a:t>
            </a:r>
            <a:r>
              <a:rPr lang="fr-FR" sz="2000" b="1" dirty="0" err="1"/>
              <a:t>stressed</a:t>
            </a:r>
            <a:r>
              <a:rPr lang="fr-FR" sz="2000" b="1" dirty="0"/>
              <a:t>)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5F57C540-C115-2E55-8B76-B0141ACC8B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593" r="47597"/>
          <a:stretch>
            <a:fillRect/>
          </a:stretch>
        </p:blipFill>
        <p:spPr>
          <a:xfrm>
            <a:off x="3709785" y="1059631"/>
            <a:ext cx="2310363" cy="2173562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C042532B-B765-5E08-A7DC-F6D59044F0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0861" y="4253894"/>
            <a:ext cx="3301279" cy="2315939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DC50B1AB-D800-4288-0D7C-DD00B73D04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2440" y="4170224"/>
            <a:ext cx="3178421" cy="2483278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CBCF38FA-E460-6D06-80A2-D709C05EBD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282" y="1040276"/>
            <a:ext cx="2684438" cy="2436179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AF8E1C94-F255-7C59-C95A-193B9DAF3D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260" y="3660175"/>
            <a:ext cx="3034678" cy="3069560"/>
          </a:xfrm>
          <a:prstGeom prst="rect">
            <a:avLst/>
          </a:prstGeom>
        </p:spPr>
      </p:pic>
      <p:pic>
        <p:nvPicPr>
          <p:cNvPr id="23" name="Image 22">
            <a:extLst>
              <a:ext uri="{FF2B5EF4-FFF2-40B4-BE49-F238E27FC236}">
                <a16:creationId xmlns:a16="http://schemas.microsoft.com/office/drawing/2014/main" id="{31A98645-737D-3629-9788-F42B09FE039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61008" y="4373516"/>
            <a:ext cx="2317171" cy="1816427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31BB09E8-6C9B-9F26-A802-E81F3E9E52B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8280" y="668057"/>
            <a:ext cx="3034679" cy="2808398"/>
          </a:xfrm>
          <a:prstGeom prst="rect">
            <a:avLst/>
          </a:prstGeom>
        </p:spPr>
      </p:pic>
      <p:pic>
        <p:nvPicPr>
          <p:cNvPr id="28" name="Image 27">
            <a:extLst>
              <a:ext uri="{FF2B5EF4-FFF2-40B4-BE49-F238E27FC236}">
                <a16:creationId xmlns:a16="http://schemas.microsoft.com/office/drawing/2014/main" id="{4A64E9F6-093C-1482-4D2B-3B91B091F2B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81475" y="1040275"/>
            <a:ext cx="2700923" cy="2436179"/>
          </a:xfrm>
          <a:prstGeom prst="rect">
            <a:avLst/>
          </a:prstGeom>
        </p:spPr>
      </p:pic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2C9750A0-0D4D-C7D4-97ED-BEDB3C995C37}"/>
              </a:ext>
            </a:extLst>
          </p:cNvPr>
          <p:cNvCxnSpPr/>
          <p:nvPr/>
        </p:nvCxnSpPr>
        <p:spPr>
          <a:xfrm>
            <a:off x="3535680" y="668057"/>
            <a:ext cx="0" cy="2992118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Connecteur droit 31">
            <a:extLst>
              <a:ext uri="{FF2B5EF4-FFF2-40B4-BE49-F238E27FC236}">
                <a16:creationId xmlns:a16="http://schemas.microsoft.com/office/drawing/2014/main" id="{47057292-0A01-AD4E-E47F-792CF9165107}"/>
              </a:ext>
            </a:extLst>
          </p:cNvPr>
          <p:cNvCxnSpPr>
            <a:cxnSpLocks/>
          </p:cNvCxnSpPr>
          <p:nvPr/>
        </p:nvCxnSpPr>
        <p:spPr>
          <a:xfrm>
            <a:off x="3535680" y="3660175"/>
            <a:ext cx="2054629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Connecteur droit 34">
            <a:extLst>
              <a:ext uri="{FF2B5EF4-FFF2-40B4-BE49-F238E27FC236}">
                <a16:creationId xmlns:a16="http://schemas.microsoft.com/office/drawing/2014/main" id="{44DE4C14-D1B3-829E-D7A0-E6CF92C8483A}"/>
              </a:ext>
            </a:extLst>
          </p:cNvPr>
          <p:cNvCxnSpPr/>
          <p:nvPr/>
        </p:nvCxnSpPr>
        <p:spPr>
          <a:xfrm>
            <a:off x="5590309" y="3660175"/>
            <a:ext cx="0" cy="2992118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751784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1643</Words>
  <Application>Microsoft Office PowerPoint</Application>
  <PresentationFormat>Grand écran</PresentationFormat>
  <Paragraphs>323</Paragraphs>
  <Slides>24</Slides>
  <Notes>9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24</vt:i4>
      </vt:variant>
    </vt:vector>
  </HeadingPairs>
  <TitlesOfParts>
    <vt:vector size="32" baseType="lpstr">
      <vt:lpstr>Google Sans Text</vt:lpstr>
      <vt:lpstr>Menlo</vt:lpstr>
      <vt:lpstr>Aptos</vt:lpstr>
      <vt:lpstr>Aptos Display</vt:lpstr>
      <vt:lpstr>Arial</vt:lpstr>
      <vt:lpstr>Cambria Math</vt:lpstr>
      <vt:lpstr>Wingdings</vt:lpstr>
      <vt:lpstr>Thème Office</vt:lpstr>
      <vt:lpstr>Modèle Carbonates </vt:lpstr>
      <vt:lpstr>Modèle Carbonates </vt:lpstr>
      <vt:lpstr>Modèle Carbonates </vt:lpstr>
      <vt:lpstr>Modèle Carbonates – Réponse instrumentale 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Corals 260715 2ps (#4 stressed)</vt:lpstr>
      <vt:lpstr>Corals 260715 2ps (#4 stressed)</vt:lpstr>
      <vt:lpstr>Corals 260715 2ps vs 7ps (#4 stressed)</vt:lpstr>
      <vt:lpstr>Coral 260715 2ps vs 7ps (#4 stressed)</vt:lpstr>
      <vt:lpstr>Corals 260715 2ps (#4 stressed)</vt:lpstr>
      <vt:lpstr>Corals 260715 7ps (#4 stressed)</vt:lpstr>
      <vt:lpstr>Corals 260715 2ps (stressed)</vt:lpstr>
      <vt:lpstr>Corals 260715 7ps (#4 stressed)</vt:lpstr>
      <vt:lpstr>Corals 260715 7ps (#4 stressed)</vt:lpstr>
      <vt:lpstr>Corals 260713 2ps(#4 stressed)</vt:lpstr>
      <vt:lpstr>Corals 260713 2ps(#4 stressed)</vt:lpstr>
      <vt:lpstr>Corals 260713 7ps(#4 stressed)</vt:lpstr>
      <vt:lpstr>Corals 260713 2ps vs 7ps (#4 stressed)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BUCOURT Sacha</dc:creator>
  <cp:lastModifiedBy>sacha Bucourt</cp:lastModifiedBy>
  <cp:revision>47</cp:revision>
  <dcterms:created xsi:type="dcterms:W3CDTF">2026-07-01T11:56:10Z</dcterms:created>
  <dcterms:modified xsi:type="dcterms:W3CDTF">2026-10-01T19:26:42Z</dcterms:modified>
</cp:coreProperties>
</file>
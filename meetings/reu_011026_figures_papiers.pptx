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24" r:id="rId2"/>
    <p:sldId id="327" r:id="rId3"/>
    <p:sldId id="328" r:id="rId4"/>
    <p:sldId id="329" r:id="rId5"/>
    <p:sldId id="330" r:id="rId6"/>
    <p:sldId id="322" r:id="rId7"/>
    <p:sldId id="323" r:id="rId8"/>
    <p:sldId id="340" r:id="rId9"/>
    <p:sldId id="342" r:id="rId10"/>
    <p:sldId id="343" r:id="rId11"/>
    <p:sldId id="341" r:id="rId12"/>
    <p:sldId id="336" r:id="rId13"/>
    <p:sldId id="344" r:id="rId14"/>
    <p:sldId id="345" r:id="rId15"/>
    <p:sldId id="346" r:id="rId16"/>
    <p:sldId id="337" r:id="rId17"/>
    <p:sldId id="338" r:id="rId18"/>
    <p:sldId id="339" r:id="rId1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4"/>
            <p14:sldId id="327"/>
            <p14:sldId id="328"/>
            <p14:sldId id="329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  <p14:sldId id="342"/>
            <p14:sldId id="343"/>
            <p14:sldId id="341"/>
          </p14:sldIdLst>
        </p14:section>
        <p14:section name="Corail" id="{CCA9B34D-82CD-4298-BF9C-03A0026B73BF}">
          <p14:sldIdLst>
            <p14:sldId id="336"/>
            <p14:sldId id="344"/>
            <p14:sldId id="345"/>
            <p14:sldId id="346"/>
            <p14:sldId id="337"/>
            <p14:sldId id="338"/>
            <p14:sldId id="33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0520" autoAdjust="0"/>
  </p:normalViewPr>
  <p:slideViewPr>
    <p:cSldViewPr snapToGrid="0">
      <p:cViewPr>
        <p:scale>
          <a:sx n="50" d="100"/>
          <a:sy n="50" d="100"/>
        </p:scale>
        <p:origin x="9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28/09/2026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3.png"/><Relationship Id="rId4" Type="http://schemas.openxmlformats.org/officeDocument/2006/relationships/image" Target="../media/image25.pn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49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58.png"/><Relationship Id="rId5" Type="http://schemas.openxmlformats.org/officeDocument/2006/relationships/image" Target="../media/image38.png"/><Relationship Id="rId10" Type="http://schemas.openxmlformats.org/officeDocument/2006/relationships/image" Target="../media/image57.png"/><Relationship Id="rId4" Type="http://schemas.openxmlformats.org/officeDocument/2006/relationships/image" Target="../media/image37.png"/><Relationship Id="rId9" Type="http://schemas.openxmlformats.org/officeDocument/2006/relationships/image" Target="../media/image5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24785-768A-B398-1A22-1ED1A8A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8DB615-D456-D543-D4A3-254DD4888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A4306B2-F790-A438-73F0-940AF66D3BCF}"/>
              </a:ext>
            </a:extLst>
          </p:cNvPr>
          <p:cNvGraphicFramePr>
            <a:graphicFrameLocks noGrp="1"/>
          </p:cNvGraphicFramePr>
          <p:nvPr/>
        </p:nvGraphicFramePr>
        <p:xfrm>
          <a:off x="275087" y="734244"/>
          <a:ext cx="11641826" cy="236505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15607767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736116252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55847613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413134148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3075560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5433925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9717513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519512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62213630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8514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51635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2FF4C4F6-9612-419A-A6AC-FC8CF0AB2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291" y="4964318"/>
            <a:ext cx="2969041" cy="18161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E5A3902-B491-091E-F0BA-91E483EAF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543" y="5041886"/>
            <a:ext cx="2974988" cy="181611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9A22DC5-631F-B405-A8AE-284D690C8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713" y="3148204"/>
            <a:ext cx="2979818" cy="181611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9745E26-801C-E34F-E3BB-0DFD30C3B0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899" y="3099301"/>
            <a:ext cx="2991248" cy="181611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1FA3E49-E140-8E8B-5207-95F204EF1E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391" y="4988434"/>
            <a:ext cx="2955756" cy="181611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67D2683-C535-2CF4-3609-B39E2B51EE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867" y="3099302"/>
            <a:ext cx="2988465" cy="1816114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BEEF935-D1A5-0D6C-E3D5-AB091CED4A40}"/>
              </a:ext>
            </a:extLst>
          </p:cNvPr>
          <p:cNvSpPr txBox="1"/>
          <p:nvPr/>
        </p:nvSpPr>
        <p:spPr>
          <a:xfrm>
            <a:off x="1348355" y="339753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94BAFAC-35A6-9351-1756-F2E1A19F1500}"/>
              </a:ext>
            </a:extLst>
          </p:cNvPr>
          <p:cNvSpPr txBox="1"/>
          <p:nvPr/>
        </p:nvSpPr>
        <p:spPr>
          <a:xfrm>
            <a:off x="1253704" y="510137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2AF70D7-EE99-1A81-FCE6-E61ED7E2369F}"/>
              </a:ext>
            </a:extLst>
          </p:cNvPr>
          <p:cNvSpPr txBox="1"/>
          <p:nvPr/>
        </p:nvSpPr>
        <p:spPr>
          <a:xfrm>
            <a:off x="5302046" y="3148203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41E8FDC6-4B99-CF44-1C99-DB3C141F15BA}"/>
              </a:ext>
            </a:extLst>
          </p:cNvPr>
          <p:cNvSpPr txBox="1"/>
          <p:nvPr/>
        </p:nvSpPr>
        <p:spPr>
          <a:xfrm>
            <a:off x="5278693" y="4964317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667F5F9-19AC-F4C4-9F2E-12A99C30DBFD}"/>
              </a:ext>
            </a:extLst>
          </p:cNvPr>
          <p:cNvSpPr txBox="1"/>
          <p:nvPr/>
        </p:nvSpPr>
        <p:spPr>
          <a:xfrm>
            <a:off x="8831949" y="3148202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89E1553-9443-C139-1DA7-F10B228DF2B6}"/>
              </a:ext>
            </a:extLst>
          </p:cNvPr>
          <p:cNvSpPr txBox="1"/>
          <p:nvPr/>
        </p:nvSpPr>
        <p:spPr>
          <a:xfrm>
            <a:off x="8831949" y="4988434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186320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/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/>
        </p:nvGraphicFramePr>
        <p:xfrm>
          <a:off x="1" y="3231175"/>
          <a:ext cx="11858168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FABE7-7BAD-EAB4-A337-5A587C201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452B41-9549-6875-20CC-DD8857CA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16" y="2696572"/>
            <a:ext cx="3711262" cy="7011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62C97D9-F285-3B4D-1011-1EA9731F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513" y="1185863"/>
            <a:ext cx="3749365" cy="87637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D1F4A10-3E68-2826-3E54-A89C28866A03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4900DE-274B-80C2-7AC0-2195697E0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765" y="1950931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DA905A8-616C-62C8-9452-C1CFB619D55F}"/>
              </a:ext>
            </a:extLst>
          </p:cNvPr>
          <p:cNvSpPr txBox="1"/>
          <p:nvPr/>
        </p:nvSpPr>
        <p:spPr>
          <a:xfrm>
            <a:off x="6744268" y="2180661"/>
            <a:ext cx="2295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 :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8506815-E31A-FC47-F3B1-345B07D7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9766" y="3129717"/>
            <a:ext cx="4864582" cy="35168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3BF070-88E8-F57F-D606-2CB44BDDD86D}"/>
              </a:ext>
            </a:extLst>
          </p:cNvPr>
          <p:cNvSpPr txBox="1"/>
          <p:nvPr/>
        </p:nvSpPr>
        <p:spPr>
          <a:xfrm>
            <a:off x="2585121" y="4862004"/>
            <a:ext cx="4079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En comparaison avec l’</a:t>
            </a:r>
            <a:r>
              <a:rPr lang="fr-FR" sz="1800" dirty="0" err="1">
                <a:sym typeface="Wingdings" panose="05000000000000000000" pitchFamily="2" charset="2"/>
              </a:rPr>
              <a:t>anlyse</a:t>
            </a:r>
            <a:r>
              <a:rPr lang="fr-FR" sz="1800" dirty="0">
                <a:sym typeface="Wingdings" panose="05000000000000000000" pitchFamily="2" charset="2"/>
              </a:rPr>
              <a:t> numérique utilisant la fonction </a:t>
            </a:r>
            <a:r>
              <a:rPr lang="fr-FR" sz="1800" dirty="0" err="1">
                <a:sym typeface="Wingdings" panose="05000000000000000000" pitchFamily="2" charset="2"/>
              </a:rPr>
              <a:t>conv</a:t>
            </a:r>
            <a:r>
              <a:rPr lang="fr-FR" sz="1800" dirty="0">
                <a:sym typeface="Wingdings" panose="05000000000000000000" pitchFamily="2" charset="2"/>
              </a:rPr>
              <a:t>() : 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254498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EF7E8C03-B9AB-CAA3-AD7E-06DC69615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4A7A277-C9D3-F50D-FA39-6E719DA55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8A88D45-F179-62DA-8D84-C978D57A48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C1F3F2D-AC8B-FC36-1ABF-27680BD365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7" y="588205"/>
            <a:ext cx="3131487" cy="288467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B3B5DDF-AFBA-869D-758B-B30E767C08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813" y="3271519"/>
            <a:ext cx="4669754" cy="348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31CD6-458D-0F08-3FA6-6E8693E1A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89E1D-0EB7-F73A-0A60-7E0946508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046A4A-B930-F6C3-4B2F-344D2E895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731C6F-48AA-7FDE-DE56-91D47740F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BF7B8B-C61A-1A80-6882-1D1178B15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7424D4E-504E-7F15-2B02-402521288479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19F4290-987D-0161-1920-F276DC152880}"/>
              </a:ext>
            </a:extLst>
          </p:cNvPr>
          <p:cNvSpPr txBox="1"/>
          <p:nvPr/>
        </p:nvSpPr>
        <p:spPr>
          <a:xfrm>
            <a:off x="9137955" y="4600437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/Aara&gt;1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C516793D-535D-559F-FA3F-F0DFA0A3C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4E7203AB-B67E-EFCB-87EC-492E7C85A32C}"/>
              </a:ext>
            </a:extLst>
          </p:cNvPr>
          <p:cNvSpPr txBox="1"/>
          <p:nvPr/>
        </p:nvSpPr>
        <p:spPr>
          <a:xfrm>
            <a:off x="2780960" y="45991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/Aara&gt;0.3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8678D4-A94E-937A-BB4F-9C8901F860F4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F229B9-7E42-3470-223D-59A02A416E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297DF4E-3A01-25C5-B807-9D5A8CA11CA4}"/>
              </a:ext>
            </a:extLst>
          </p:cNvPr>
          <p:cNvSpPr txBox="1"/>
          <p:nvPr/>
        </p:nvSpPr>
        <p:spPr>
          <a:xfrm>
            <a:off x="6827654" y="295550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88B158-4DA6-62A5-B847-F0AA92CB35D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3465503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8984-D178-3F4C-31F3-B4BBE395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0EC311-590A-8C02-587A-1093BB157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9ED3CF-5EB2-C3CE-2BEA-07CBE41D2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711" y="892282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30C01A0-9B47-98C7-EA4A-605158725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06" y="3754606"/>
            <a:ext cx="3235187" cy="292260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A817A1B-A756-16CA-8FFB-A22E264BC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038" y="3351913"/>
            <a:ext cx="4471686" cy="350608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3E88461-64A6-E9B8-3947-DD764D5B8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06" y="781297"/>
            <a:ext cx="3235187" cy="29513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314F53D-012A-1ACD-ED61-60D62EE94E49}"/>
              </a:ext>
            </a:extLst>
          </p:cNvPr>
          <p:cNvSpPr txBox="1"/>
          <p:nvPr/>
        </p:nvSpPr>
        <p:spPr>
          <a:xfrm>
            <a:off x="9089985" y="4200247"/>
            <a:ext cx="62040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</a:t>
            </a:r>
            <a:r>
              <a:rPr lang="fr-FR" b="1" dirty="0"/>
              <a:t>Spectre ACC : </a:t>
            </a:r>
            <a:endParaRPr lang="fr-FR" dirty="0"/>
          </a:p>
          <a:p>
            <a:r>
              <a:rPr lang="fr-FR" dirty="0"/>
              <a:t>ARA : </a:t>
            </a:r>
            <a:r>
              <a:rPr lang="fr-FR" dirty="0" err="1"/>
              <a:t>A_fit</a:t>
            </a:r>
            <a:r>
              <a:rPr lang="fr-FR" dirty="0"/>
              <a:t> = 12139</a:t>
            </a:r>
          </a:p>
          <a:p>
            <a:r>
              <a:rPr lang="fr-FR" dirty="0"/>
              <a:t>ACC : </a:t>
            </a:r>
            <a:r>
              <a:rPr lang="fr-FR" dirty="0" err="1"/>
              <a:t>A_fit</a:t>
            </a:r>
            <a:r>
              <a:rPr lang="fr-FR" dirty="0"/>
              <a:t> = 13594</a:t>
            </a:r>
          </a:p>
          <a:p>
            <a:r>
              <a:rPr lang="fr-FR" dirty="0"/>
              <a:t>ARA : nu = 1084.7373 cm^-1</a:t>
            </a:r>
          </a:p>
          <a:p>
            <a:r>
              <a:rPr lang="fr-FR" dirty="0"/>
              <a:t>ACC : nu = 1073.0000 cm^-1</a:t>
            </a:r>
          </a:p>
          <a:p>
            <a:r>
              <a:rPr lang="fr-FR" dirty="0"/>
              <a:t>ARA : FWHM = 1.0000 cm^-1</a:t>
            </a:r>
          </a:p>
          <a:p>
            <a:r>
              <a:rPr lang="fr-FR" dirty="0"/>
              <a:t>ACC : FWHM = 29.1308 cm^-1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3F9A769-C518-778B-5540-FF17DFCA7D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504" y="212492"/>
            <a:ext cx="3513496" cy="313942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E0EBBED6-5FC6-A1A1-909F-4A9B6F75397F}"/>
              </a:ext>
            </a:extLst>
          </p:cNvPr>
          <p:cNvSpPr txBox="1"/>
          <p:nvPr/>
        </p:nvSpPr>
        <p:spPr>
          <a:xfrm>
            <a:off x="8678504" y="184396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652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  <a:r>
              <a:rPr lang="fr-FR" dirty="0" err="1"/>
              <a:t>ACC:A_mean</a:t>
            </a:r>
            <a:r>
              <a:rPr lang="fr-FR" dirty="0"/>
              <a:t> = 4453 +/- 8549.8 nu = 1073.5428 +/- 1.7166 cm^-1FWHM=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2942F-5356-E15B-9C9F-E9CBD9CC9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0DE6DD-3DE4-CD10-0A39-07D9EC691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" y="-335280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E498CAEF-202D-C4DF-2FCE-6BF84569C1D8}"/>
              </a:ext>
            </a:extLst>
          </p:cNvPr>
          <p:cNvSpPr txBox="1"/>
          <p:nvPr/>
        </p:nvSpPr>
        <p:spPr>
          <a:xfrm>
            <a:off x="7880432" y="103216"/>
            <a:ext cx="28679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/>
              <a:t>Aacc</a:t>
            </a:r>
            <a:r>
              <a:rPr lang="fr-FR" sz="3200" b="1" dirty="0"/>
              <a:t>/Acal&gt;0.3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0094F97-7887-C982-21A6-8335A419E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08" y="1813145"/>
            <a:ext cx="5413092" cy="386713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CDDA5C9-8562-E526-EEE9-C283E912D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859" y="1813145"/>
            <a:ext cx="5413092" cy="3867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680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9195-1AB8-AFDE-2E4D-81432B0AC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2163C8-DFF6-36E4-43BC-20F1F750B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208059F-8884-10B5-5EAA-6FC6BB338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A8680D10-6E45-4BFD-1F22-1187B9D4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02C31D0A-833E-D5EB-3FA2-6D8B01085B7E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7E23B7A-6988-E8AB-FCAC-01DE155F5BB4}"/>
              </a:ext>
            </a:extLst>
          </p:cNvPr>
          <p:cNvSpPr txBox="1"/>
          <p:nvPr/>
        </p:nvSpPr>
        <p:spPr>
          <a:xfrm>
            <a:off x="9137955" y="4600437"/>
            <a:ext cx="1497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/Acal&gt;1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90EA08A-F590-0172-288D-9015A90E67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9D4DE9A-CDBB-2CD0-860B-BD4336182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9827" y="2590676"/>
            <a:ext cx="4738429" cy="395579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DD800A8-16E5-ACC2-9306-1F8EED262C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8902" y="4416807"/>
            <a:ext cx="3183098" cy="2441192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8A117EF-6CB5-555F-3902-782342E3B021}"/>
              </a:ext>
            </a:extLst>
          </p:cNvPr>
          <p:cNvSpPr txBox="1"/>
          <p:nvPr/>
        </p:nvSpPr>
        <p:spPr>
          <a:xfrm>
            <a:off x="9393098" y="473487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635254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64797-0624-B0C7-77BB-AB927582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BA50AC-8BE3-88B7-6196-E7A1FB29D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260713 2ps(#4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260C50D-0724-D944-C787-DCF786F8A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DB6077E-CEBA-E51F-3B6C-FD5B4D123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0FC4EF7-23E5-2FD8-10D0-A165E4B29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98B9A9F-9034-2B47-62F6-5919D6247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2F76FD2A-0A12-28BA-DE63-434448D6605E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F320559A-1F88-9C3A-AF15-8F4B3331CAF1}"/>
              </a:ext>
            </a:extLst>
          </p:cNvPr>
          <p:cNvSpPr txBox="1"/>
          <p:nvPr/>
        </p:nvSpPr>
        <p:spPr>
          <a:xfrm>
            <a:off x="9137955" y="4600437"/>
            <a:ext cx="1497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/Acal&gt;1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D1DFCB3E-648E-E133-3D7B-60A04719BB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FA03B0CE-1309-5944-488A-8D44828BC426}"/>
              </a:ext>
            </a:extLst>
          </p:cNvPr>
          <p:cNvSpPr txBox="1"/>
          <p:nvPr/>
        </p:nvSpPr>
        <p:spPr>
          <a:xfrm>
            <a:off x="3628059" y="47056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3F2A3D8-130D-2332-CEC4-94B05B50DE30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19DF92B-D497-C5F4-9869-CA2795E632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841668F-9CE5-BFFA-D4EC-28146543015C}"/>
              </a:ext>
            </a:extLst>
          </p:cNvPr>
          <p:cNvSpPr txBox="1"/>
          <p:nvPr/>
        </p:nvSpPr>
        <p:spPr>
          <a:xfrm>
            <a:off x="6812653" y="293652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C443397-BF5D-3BB4-2E17-826F311363C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61344B1-3F58-0DA8-24B4-0232AED3D9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532" y="702375"/>
            <a:ext cx="1655762" cy="1833165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89B8627-9437-445E-C503-50F138C6406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84" t="30951" r="24331" b="24074"/>
          <a:stretch>
            <a:fillRect/>
          </a:stretch>
        </p:blipFill>
        <p:spPr>
          <a:xfrm>
            <a:off x="2861125" y="1012061"/>
            <a:ext cx="3153698" cy="3084430"/>
          </a:xfrm>
          <a:prstGeom prst="rect">
            <a:avLst/>
          </a:prstGeom>
        </p:spPr>
      </p:pic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6419EE1-69AC-2A12-DD20-67EE319C7E2D}"/>
              </a:ext>
            </a:extLst>
          </p:cNvPr>
          <p:cNvCxnSpPr>
            <a:cxnSpLocks/>
          </p:cNvCxnSpPr>
          <p:nvPr/>
        </p:nvCxnSpPr>
        <p:spPr>
          <a:xfrm rot="-1560000">
            <a:off x="3063944" y="3804487"/>
            <a:ext cx="704057" cy="33991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4F6DA8E9-7D61-6287-3942-79179F1BB89F}"/>
              </a:ext>
            </a:extLst>
          </p:cNvPr>
          <p:cNvSpPr txBox="1"/>
          <p:nvPr/>
        </p:nvSpPr>
        <p:spPr>
          <a:xfrm>
            <a:off x="2971779" y="3568909"/>
            <a:ext cx="8883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FF0000"/>
                </a:solidFill>
              </a:rPr>
              <a:t>50 µm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E152DFAF-34A1-6C5E-91A1-2D680B90F12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0629" y="2606169"/>
            <a:ext cx="4512374" cy="3985930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BBB33BE7-46D4-D2AD-81FE-F03F038772F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377" y="678108"/>
            <a:ext cx="3727623" cy="3645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68533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1261</Words>
  <Application>Microsoft Office PowerPoint</Application>
  <PresentationFormat>Grand écran</PresentationFormat>
  <Paragraphs>245</Paragraphs>
  <Slides>18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6" baseType="lpstr">
      <vt:lpstr>Google Sans Text</vt:lpstr>
      <vt:lpstr>Menlo</vt:lpstr>
      <vt:lpstr>Aptos</vt:lpstr>
      <vt:lpstr>Aptos Display</vt:lpstr>
      <vt:lpstr>Arial</vt:lpstr>
      <vt:lpstr>Cambria Math</vt:lpstr>
      <vt:lpstr>Wingdings</vt:lpstr>
      <vt:lpstr>Thème Office</vt:lpstr>
      <vt:lpstr>Modèle Carbonates 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2ps (#4 stressed)</vt:lpstr>
      <vt:lpstr>Corals 260715 2ps (#4 stressed)</vt:lpstr>
      <vt:lpstr>Corals 260715 7ps (#4 stressed)</vt:lpstr>
      <vt:lpstr>Corals 260715 2ps (stressed)</vt:lpstr>
      <vt:lpstr>Corals 260715 7ps (#4 stressed)</vt:lpstr>
      <vt:lpstr>Corals 260713 2ps(#4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sacha Bucourt</cp:lastModifiedBy>
  <cp:revision>44</cp:revision>
  <dcterms:created xsi:type="dcterms:W3CDTF">2026-07-01T11:56:10Z</dcterms:created>
  <dcterms:modified xsi:type="dcterms:W3CDTF">2026-09-28T15:58:17Z</dcterms:modified>
</cp:coreProperties>
</file>
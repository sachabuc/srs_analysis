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4"/>
  </p:notesMasterIdLst>
  <p:sldIdLst>
    <p:sldId id="256" r:id="rId2"/>
    <p:sldId id="265" r:id="rId3"/>
    <p:sldId id="268" r:id="rId4"/>
    <p:sldId id="258" r:id="rId5"/>
    <p:sldId id="262" r:id="rId6"/>
    <p:sldId id="261" r:id="rId7"/>
    <p:sldId id="263" r:id="rId8"/>
    <p:sldId id="264" r:id="rId9"/>
    <p:sldId id="266" r:id="rId10"/>
    <p:sldId id="269" r:id="rId11"/>
    <p:sldId id="271" r:id="rId12"/>
    <p:sldId id="272" r:id="rId13"/>
    <p:sldId id="273" r:id="rId14"/>
    <p:sldId id="276" r:id="rId15"/>
    <p:sldId id="274" r:id="rId16"/>
    <p:sldId id="275" r:id="rId17"/>
    <p:sldId id="277" r:id="rId18"/>
    <p:sldId id="278" r:id="rId19"/>
    <p:sldId id="279" r:id="rId20"/>
    <p:sldId id="280" r:id="rId21"/>
    <p:sldId id="281" r:id="rId22"/>
    <p:sldId id="283" r:id="rId23"/>
    <p:sldId id="286" r:id="rId24"/>
    <p:sldId id="284" r:id="rId25"/>
    <p:sldId id="287" r:id="rId26"/>
    <p:sldId id="282" r:id="rId27"/>
    <p:sldId id="285" r:id="rId28"/>
    <p:sldId id="288" r:id="rId29"/>
    <p:sldId id="289" r:id="rId30"/>
    <p:sldId id="292" r:id="rId31"/>
    <p:sldId id="293" r:id="rId32"/>
    <p:sldId id="294" r:id="rId33"/>
    <p:sldId id="295" r:id="rId34"/>
    <p:sldId id="296" r:id="rId35"/>
    <p:sldId id="297" r:id="rId36"/>
    <p:sldId id="298" r:id="rId37"/>
    <p:sldId id="299" r:id="rId38"/>
    <p:sldId id="301" r:id="rId39"/>
    <p:sldId id="302" r:id="rId40"/>
    <p:sldId id="303" r:id="rId41"/>
    <p:sldId id="304" r:id="rId42"/>
    <p:sldId id="305" r:id="rId43"/>
  </p:sldIdLst>
  <p:sldSz cx="12192000" cy="6858000"/>
  <p:notesSz cx="6858000" cy="9144000"/>
  <p:embeddedFontLst>
    <p:embeddedFont>
      <p:font typeface="Play" panose="020B0604020202020204" charset="0"/>
      <p:regular r:id="rId45"/>
      <p:bold r:id="rId4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8" roundtripDataSignature="AMtx7mgCns1cJgKw6IAMYgLHLo8lsceou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2120BA5-4784-4B65-B692-8A3A72857C31}">
  <a:tblStyle styleId="{12120BA5-4784-4B65-B692-8A3A72857C31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E9EC"/>
          </a:solidFill>
        </a:fill>
      </a:tcStyle>
    </a:wholeTbl>
    <a:band1H>
      <a:tcTxStyle/>
      <a:tcStyle>
        <a:tcBdr/>
        <a:fill>
          <a:solidFill>
            <a:srgbClr val="CAD1D8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D1D8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38" autoAdjust="0"/>
    <p:restoredTop sz="93123" autoAdjust="0"/>
  </p:normalViewPr>
  <p:slideViewPr>
    <p:cSldViewPr snapToGrid="0">
      <p:cViewPr>
        <p:scale>
          <a:sx n="100" d="100"/>
          <a:sy n="100" d="100"/>
        </p:scale>
        <p:origin x="918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customschemas.google.com/relationships/presentationmetadata" Target="metadata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2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CED92729-08B6-CEB7-4B77-68BFADB07F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C97323BB-F346-8945-4D9B-E0D1C37BE4F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23713EB7-2B4A-2A4F-0BC8-38003F172E9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492522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>
          <a:extLst>
            <a:ext uri="{FF2B5EF4-FFF2-40B4-BE49-F238E27FC236}">
              <a16:creationId xmlns:a16="http://schemas.microsoft.com/office/drawing/2014/main" id="{9ED1FFC5-3CBD-689E-EEA3-005E42119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>
            <a:extLst>
              <a:ext uri="{FF2B5EF4-FFF2-40B4-BE49-F238E27FC236}">
                <a16:creationId xmlns:a16="http://schemas.microsoft.com/office/drawing/2014/main" id="{8AD5D346-21B2-5448-A753-3A297DB9FA4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>
            <a:extLst>
              <a:ext uri="{FF2B5EF4-FFF2-40B4-BE49-F238E27FC236}">
                <a16:creationId xmlns:a16="http://schemas.microsoft.com/office/drawing/2014/main" id="{6BB8CE5E-5B21-86DA-6E79-B72BE155E5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728973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e4efdd0c05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g3e4efdd0c05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e4efdd0c0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g3e4efdd0c0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e4efdd0c05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g3e4efdd0c05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>
          <a:extLst>
            <a:ext uri="{FF2B5EF4-FFF2-40B4-BE49-F238E27FC236}">
              <a16:creationId xmlns:a16="http://schemas.microsoft.com/office/drawing/2014/main" id="{4EC39F35-A1FB-09D7-D0D5-65DA77C4A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e4efdd0c05_0_27:notes">
            <a:extLst>
              <a:ext uri="{FF2B5EF4-FFF2-40B4-BE49-F238E27FC236}">
                <a16:creationId xmlns:a16="http://schemas.microsoft.com/office/drawing/2014/main" id="{68F889A7-1FB9-0A00-FAFE-ADBB44FFBC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g3e4efdd0c05_0_27:notes">
            <a:extLst>
              <a:ext uri="{FF2B5EF4-FFF2-40B4-BE49-F238E27FC236}">
                <a16:creationId xmlns:a16="http://schemas.microsoft.com/office/drawing/2014/main" id="{CCDCE525-8788-7872-5773-A7C2B3690A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93376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>
          <a:extLst>
            <a:ext uri="{FF2B5EF4-FFF2-40B4-BE49-F238E27FC236}">
              <a16:creationId xmlns:a16="http://schemas.microsoft.com/office/drawing/2014/main" id="{6BC56CAD-5016-C8E0-D16F-20419039E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e4efdd0c05_0_27:notes">
            <a:extLst>
              <a:ext uri="{FF2B5EF4-FFF2-40B4-BE49-F238E27FC236}">
                <a16:creationId xmlns:a16="http://schemas.microsoft.com/office/drawing/2014/main" id="{5EF39AD3-240B-7BEF-4975-59FE7356F2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g3e4efdd0c05_0_27:notes">
            <a:extLst>
              <a:ext uri="{FF2B5EF4-FFF2-40B4-BE49-F238E27FC236}">
                <a16:creationId xmlns:a16="http://schemas.microsoft.com/office/drawing/2014/main" id="{B6A0B174-355F-F596-0B83-44431C8747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613990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>
          <a:extLst>
            <a:ext uri="{FF2B5EF4-FFF2-40B4-BE49-F238E27FC236}">
              <a16:creationId xmlns:a16="http://schemas.microsoft.com/office/drawing/2014/main" id="{B08FEA11-8DD9-78D7-F3B8-A12C59E08F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e4efdd0c05_0_27:notes">
            <a:extLst>
              <a:ext uri="{FF2B5EF4-FFF2-40B4-BE49-F238E27FC236}">
                <a16:creationId xmlns:a16="http://schemas.microsoft.com/office/drawing/2014/main" id="{5AED72D0-E39E-494A-59BB-C321278585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g3e4efdd0c05_0_27:notes">
            <a:extLst>
              <a:ext uri="{FF2B5EF4-FFF2-40B4-BE49-F238E27FC236}">
                <a16:creationId xmlns:a16="http://schemas.microsoft.com/office/drawing/2014/main" id="{503ACC4A-602E-5D51-2B7A-2CDA359C560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48930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>
          <a:extLst>
            <a:ext uri="{FF2B5EF4-FFF2-40B4-BE49-F238E27FC236}">
              <a16:creationId xmlns:a16="http://schemas.microsoft.com/office/drawing/2014/main" id="{32F9D275-E484-107F-4EE2-AD23E4362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e4efdd0c05_0_27:notes">
            <a:extLst>
              <a:ext uri="{FF2B5EF4-FFF2-40B4-BE49-F238E27FC236}">
                <a16:creationId xmlns:a16="http://schemas.microsoft.com/office/drawing/2014/main" id="{3F7C8F44-2825-F236-AF39-E917A1E50E1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g3e4efdd0c05_0_27:notes">
            <a:extLst>
              <a:ext uri="{FF2B5EF4-FFF2-40B4-BE49-F238E27FC236}">
                <a16:creationId xmlns:a16="http://schemas.microsoft.com/office/drawing/2014/main" id="{B870D13C-E1BA-0C80-9943-F61936327DF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2438678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>
          <a:extLst>
            <a:ext uri="{FF2B5EF4-FFF2-40B4-BE49-F238E27FC236}">
              <a16:creationId xmlns:a16="http://schemas.microsoft.com/office/drawing/2014/main" id="{516246A6-8395-7E40-DDDC-E1E9A998BA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e4efdd0c05_0_27:notes">
            <a:extLst>
              <a:ext uri="{FF2B5EF4-FFF2-40B4-BE49-F238E27FC236}">
                <a16:creationId xmlns:a16="http://schemas.microsoft.com/office/drawing/2014/main" id="{F00A80D2-7E68-4A6F-5596-FC40986BAA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g3e4efdd0c05_0_27:notes">
            <a:extLst>
              <a:ext uri="{FF2B5EF4-FFF2-40B4-BE49-F238E27FC236}">
                <a16:creationId xmlns:a16="http://schemas.microsoft.com/office/drawing/2014/main" id="{EAF2DA03-7ADE-14BE-083B-FA8AF51C64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580183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>
          <a:extLst>
            <a:ext uri="{FF2B5EF4-FFF2-40B4-BE49-F238E27FC236}">
              <a16:creationId xmlns:a16="http://schemas.microsoft.com/office/drawing/2014/main" id="{DBB8660D-925B-11E8-C0BF-438474A75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e4efdd0c05_0_27:notes">
            <a:extLst>
              <a:ext uri="{FF2B5EF4-FFF2-40B4-BE49-F238E27FC236}">
                <a16:creationId xmlns:a16="http://schemas.microsoft.com/office/drawing/2014/main" id="{8C0934E8-4E75-9B1E-2965-0256061B524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g3e4efdd0c05_0_27:notes">
            <a:extLst>
              <a:ext uri="{FF2B5EF4-FFF2-40B4-BE49-F238E27FC236}">
                <a16:creationId xmlns:a16="http://schemas.microsoft.com/office/drawing/2014/main" id="{DB0D9D57-4AC2-EB42-3CBD-A6D9D43E94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113171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>
          <a:extLst>
            <a:ext uri="{FF2B5EF4-FFF2-40B4-BE49-F238E27FC236}">
              <a16:creationId xmlns:a16="http://schemas.microsoft.com/office/drawing/2014/main" id="{55E25511-A37E-40B9-3749-92C1832F2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e4efdd0c05_0_27:notes">
            <a:extLst>
              <a:ext uri="{FF2B5EF4-FFF2-40B4-BE49-F238E27FC236}">
                <a16:creationId xmlns:a16="http://schemas.microsoft.com/office/drawing/2014/main" id="{5E6FAB42-6FAF-B4F4-5F9C-71085DDDE0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g3e4efdd0c05_0_27:notes">
            <a:extLst>
              <a:ext uri="{FF2B5EF4-FFF2-40B4-BE49-F238E27FC236}">
                <a16:creationId xmlns:a16="http://schemas.microsoft.com/office/drawing/2014/main" id="{B4247E11-D2D4-B01D-9BF1-7EFAEC258E1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0214123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>
          <a:extLst>
            <a:ext uri="{FF2B5EF4-FFF2-40B4-BE49-F238E27FC236}">
              <a16:creationId xmlns:a16="http://schemas.microsoft.com/office/drawing/2014/main" id="{391BD101-73FD-EC18-72D2-F38B14762B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e4efdd0c05_0_27:notes">
            <a:extLst>
              <a:ext uri="{FF2B5EF4-FFF2-40B4-BE49-F238E27FC236}">
                <a16:creationId xmlns:a16="http://schemas.microsoft.com/office/drawing/2014/main" id="{F418EDDB-C8A7-1152-51F8-207795D279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g3e4efdd0c05_0_27:notes">
            <a:extLst>
              <a:ext uri="{FF2B5EF4-FFF2-40B4-BE49-F238E27FC236}">
                <a16:creationId xmlns:a16="http://schemas.microsoft.com/office/drawing/2014/main" id="{6D406F42-C381-16FF-E828-D863CFFD53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1127178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>
          <a:extLst>
            <a:ext uri="{FF2B5EF4-FFF2-40B4-BE49-F238E27FC236}">
              <a16:creationId xmlns:a16="http://schemas.microsoft.com/office/drawing/2014/main" id="{FD63C24B-CDA8-FD5C-32BB-831C7ED10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e4efdd0c05_0_27:notes">
            <a:extLst>
              <a:ext uri="{FF2B5EF4-FFF2-40B4-BE49-F238E27FC236}">
                <a16:creationId xmlns:a16="http://schemas.microsoft.com/office/drawing/2014/main" id="{6D7E1BBA-347D-2C82-AEE0-13363D2DD8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g3e4efdd0c05_0_27:notes">
            <a:extLst>
              <a:ext uri="{FF2B5EF4-FFF2-40B4-BE49-F238E27FC236}">
                <a16:creationId xmlns:a16="http://schemas.microsoft.com/office/drawing/2014/main" id="{3DACAB57-2232-AD95-E80B-EDFAD2053DD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2158546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>
          <a:extLst>
            <a:ext uri="{FF2B5EF4-FFF2-40B4-BE49-F238E27FC236}">
              <a16:creationId xmlns:a16="http://schemas.microsoft.com/office/drawing/2014/main" id="{26CC7626-A8D8-2EA5-5415-CE7C08D6D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e4efdd0c05_0_27:notes">
            <a:extLst>
              <a:ext uri="{FF2B5EF4-FFF2-40B4-BE49-F238E27FC236}">
                <a16:creationId xmlns:a16="http://schemas.microsoft.com/office/drawing/2014/main" id="{C04531E6-A1A4-0313-20E9-80C3FD458F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g3e4efdd0c05_0_27:notes">
            <a:extLst>
              <a:ext uri="{FF2B5EF4-FFF2-40B4-BE49-F238E27FC236}">
                <a16:creationId xmlns:a16="http://schemas.microsoft.com/office/drawing/2014/main" id="{0867EB95-E23A-D8A2-C1B4-852A8BD84C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2624554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>
          <a:extLst>
            <a:ext uri="{FF2B5EF4-FFF2-40B4-BE49-F238E27FC236}">
              <a16:creationId xmlns:a16="http://schemas.microsoft.com/office/drawing/2014/main" id="{3FD03260-2BA7-8070-157D-3B8E51B8E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e4efdd0c05_0_27:notes">
            <a:extLst>
              <a:ext uri="{FF2B5EF4-FFF2-40B4-BE49-F238E27FC236}">
                <a16:creationId xmlns:a16="http://schemas.microsoft.com/office/drawing/2014/main" id="{67B3C81D-3F9E-7AC7-FA84-F59B879FCF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g3e4efdd0c05_0_27:notes">
            <a:extLst>
              <a:ext uri="{FF2B5EF4-FFF2-40B4-BE49-F238E27FC236}">
                <a16:creationId xmlns:a16="http://schemas.microsoft.com/office/drawing/2014/main" id="{1C1574A2-0231-A011-F063-0C7C06650C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730968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>
          <a:extLst>
            <a:ext uri="{FF2B5EF4-FFF2-40B4-BE49-F238E27FC236}">
              <a16:creationId xmlns:a16="http://schemas.microsoft.com/office/drawing/2014/main" id="{D5360909-1666-3D29-2A8A-0736702B0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e4efdd0c05_0_27:notes">
            <a:extLst>
              <a:ext uri="{FF2B5EF4-FFF2-40B4-BE49-F238E27FC236}">
                <a16:creationId xmlns:a16="http://schemas.microsoft.com/office/drawing/2014/main" id="{00B43084-C36D-D75C-68C7-B94221D972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g3e4efdd0c05_0_27:notes">
            <a:extLst>
              <a:ext uri="{FF2B5EF4-FFF2-40B4-BE49-F238E27FC236}">
                <a16:creationId xmlns:a16="http://schemas.microsoft.com/office/drawing/2014/main" id="{757FE62A-77CA-2D38-B7F4-6A6B4EC8F8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0906875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>
          <a:extLst>
            <a:ext uri="{FF2B5EF4-FFF2-40B4-BE49-F238E27FC236}">
              <a16:creationId xmlns:a16="http://schemas.microsoft.com/office/drawing/2014/main" id="{77513156-5E46-826F-CB32-BF48171F3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e4efdd0c05_0_27:notes">
            <a:extLst>
              <a:ext uri="{FF2B5EF4-FFF2-40B4-BE49-F238E27FC236}">
                <a16:creationId xmlns:a16="http://schemas.microsoft.com/office/drawing/2014/main" id="{05D9AD50-B469-8A24-606F-77627DBADC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g3e4efdd0c05_0_27:notes">
            <a:extLst>
              <a:ext uri="{FF2B5EF4-FFF2-40B4-BE49-F238E27FC236}">
                <a16:creationId xmlns:a16="http://schemas.microsoft.com/office/drawing/2014/main" id="{FDF186EF-6BEE-1687-55A6-FA698544D3D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9244084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>
          <a:extLst>
            <a:ext uri="{FF2B5EF4-FFF2-40B4-BE49-F238E27FC236}">
              <a16:creationId xmlns:a16="http://schemas.microsoft.com/office/drawing/2014/main" id="{39BBD24F-692B-1823-3924-100E6AA34F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e4efdd0c05_0_27:notes">
            <a:extLst>
              <a:ext uri="{FF2B5EF4-FFF2-40B4-BE49-F238E27FC236}">
                <a16:creationId xmlns:a16="http://schemas.microsoft.com/office/drawing/2014/main" id="{4C0EAD0E-5524-2247-D6F1-769DB9217B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g3e4efdd0c05_0_27:notes">
            <a:extLst>
              <a:ext uri="{FF2B5EF4-FFF2-40B4-BE49-F238E27FC236}">
                <a16:creationId xmlns:a16="http://schemas.microsoft.com/office/drawing/2014/main" id="{207149AB-3A81-D403-D28E-F326651C55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1943039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>
          <a:extLst>
            <a:ext uri="{FF2B5EF4-FFF2-40B4-BE49-F238E27FC236}">
              <a16:creationId xmlns:a16="http://schemas.microsoft.com/office/drawing/2014/main" id="{2E95328D-8A69-4BCA-B8B4-039D5BCF7B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e4efdd0c05_0_27:notes">
            <a:extLst>
              <a:ext uri="{FF2B5EF4-FFF2-40B4-BE49-F238E27FC236}">
                <a16:creationId xmlns:a16="http://schemas.microsoft.com/office/drawing/2014/main" id="{575B6CBE-0950-D7A8-174F-33775EA18C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g3e4efdd0c05_0_27:notes">
            <a:extLst>
              <a:ext uri="{FF2B5EF4-FFF2-40B4-BE49-F238E27FC236}">
                <a16:creationId xmlns:a16="http://schemas.microsoft.com/office/drawing/2014/main" id="{3F72359A-3DCA-C0E3-B120-6B023FAB66B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5918366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>
          <a:extLst>
            <a:ext uri="{FF2B5EF4-FFF2-40B4-BE49-F238E27FC236}">
              <a16:creationId xmlns:a16="http://schemas.microsoft.com/office/drawing/2014/main" id="{28A0146C-C436-657A-EB12-E1960CA48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e4efdd0c05_0_27:notes">
            <a:extLst>
              <a:ext uri="{FF2B5EF4-FFF2-40B4-BE49-F238E27FC236}">
                <a16:creationId xmlns:a16="http://schemas.microsoft.com/office/drawing/2014/main" id="{3F28953E-0A2C-4C2A-057E-36C3092726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g3e4efdd0c05_0_27:notes">
            <a:extLst>
              <a:ext uri="{FF2B5EF4-FFF2-40B4-BE49-F238E27FC236}">
                <a16:creationId xmlns:a16="http://schemas.microsoft.com/office/drawing/2014/main" id="{FDE99CAC-3831-00C3-8232-2E1D477EB9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9000750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>
          <a:extLst>
            <a:ext uri="{FF2B5EF4-FFF2-40B4-BE49-F238E27FC236}">
              <a16:creationId xmlns:a16="http://schemas.microsoft.com/office/drawing/2014/main" id="{0C564F9A-8EC3-3358-6790-2DA155826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e4efdd0c05_0_27:notes">
            <a:extLst>
              <a:ext uri="{FF2B5EF4-FFF2-40B4-BE49-F238E27FC236}">
                <a16:creationId xmlns:a16="http://schemas.microsoft.com/office/drawing/2014/main" id="{B26AAE3C-B903-2AC8-BE02-5A9908EFF3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g3e4efdd0c05_0_27:notes">
            <a:extLst>
              <a:ext uri="{FF2B5EF4-FFF2-40B4-BE49-F238E27FC236}">
                <a16:creationId xmlns:a16="http://schemas.microsoft.com/office/drawing/2014/main" id="{690A89A4-4490-3DF2-19B2-567029EF834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3318999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>
          <a:extLst>
            <a:ext uri="{FF2B5EF4-FFF2-40B4-BE49-F238E27FC236}">
              <a16:creationId xmlns:a16="http://schemas.microsoft.com/office/drawing/2014/main" id="{2EC6574C-F733-DAD8-C8A7-24D8AF9D45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e4efdd0c05_0_27:notes">
            <a:extLst>
              <a:ext uri="{FF2B5EF4-FFF2-40B4-BE49-F238E27FC236}">
                <a16:creationId xmlns:a16="http://schemas.microsoft.com/office/drawing/2014/main" id="{4C65CC59-1552-D779-ACCE-36BD95351C4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g3e4efdd0c05_0_27:notes">
            <a:extLst>
              <a:ext uri="{FF2B5EF4-FFF2-40B4-BE49-F238E27FC236}">
                <a16:creationId xmlns:a16="http://schemas.microsoft.com/office/drawing/2014/main" id="{AC671B6E-C62C-A298-2EC6-328617EDD2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1723121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>
          <a:extLst>
            <a:ext uri="{FF2B5EF4-FFF2-40B4-BE49-F238E27FC236}">
              <a16:creationId xmlns:a16="http://schemas.microsoft.com/office/drawing/2014/main" id="{AFF15638-5AFB-CC42-B838-2E3C5BCEF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e4efdd0c05_0_27:notes">
            <a:extLst>
              <a:ext uri="{FF2B5EF4-FFF2-40B4-BE49-F238E27FC236}">
                <a16:creationId xmlns:a16="http://schemas.microsoft.com/office/drawing/2014/main" id="{0CE0531A-5424-7221-A7D8-03F68567B6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g3e4efdd0c05_0_27:notes">
            <a:extLst>
              <a:ext uri="{FF2B5EF4-FFF2-40B4-BE49-F238E27FC236}">
                <a16:creationId xmlns:a16="http://schemas.microsoft.com/office/drawing/2014/main" id="{DC6E4A92-F1A2-2B71-F7A4-F2DE5DD175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9106527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>
          <a:extLst>
            <a:ext uri="{FF2B5EF4-FFF2-40B4-BE49-F238E27FC236}">
              <a16:creationId xmlns:a16="http://schemas.microsoft.com/office/drawing/2014/main" id="{CD7479C3-7E00-92D1-82E3-B156E37602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e4efdd0c05_0_27:notes">
            <a:extLst>
              <a:ext uri="{FF2B5EF4-FFF2-40B4-BE49-F238E27FC236}">
                <a16:creationId xmlns:a16="http://schemas.microsoft.com/office/drawing/2014/main" id="{88A67602-CB97-D870-C0C6-6CD27C027B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g3e4efdd0c05_0_27:notes">
            <a:extLst>
              <a:ext uri="{FF2B5EF4-FFF2-40B4-BE49-F238E27FC236}">
                <a16:creationId xmlns:a16="http://schemas.microsoft.com/office/drawing/2014/main" id="{E1FCEEDB-F924-DAEB-6B8E-1C577B324F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4150933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4663995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F57835-DD4D-3363-1174-A7CFEB3FB3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A378AF98-73B0-5833-F7A8-CA8827F3D5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C8982066-79EC-DC87-B863-1A34929EF3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4512989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420379-1C96-1927-99A9-44C76F201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261876E5-B96F-5714-5285-D2738AAD0D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910379DE-55F5-92D8-F9D5-FFA77AF024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8363481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BA1F36-EF91-A970-94B7-4F497F1AC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3D514BFE-E3CB-BBCC-8902-8EB118C55F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DEDFC942-395D-34AB-4E0B-8D9E63C984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5997644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FE7CE3-5EC2-B100-69B6-56F46969C1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83404682-71A4-80F2-D108-26D14EBBCC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22E710AF-96B6-EFDC-B5BD-31D7DFC085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9925206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443022-6F93-AC87-908B-14C81A5E6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684BDD6B-FC71-EFEE-6745-4D5201761A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33E24CF8-D6DD-A3CB-1C26-EBA6BB70C3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730716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e de titr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contenu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de section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ux contenus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seul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ide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u avec légende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avec légende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texte vertical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vertical et texte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3.png"/><Relationship Id="rId4" Type="http://schemas.openxmlformats.org/officeDocument/2006/relationships/image" Target="../media/image4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4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7" Type="http://schemas.openxmlformats.org/officeDocument/2006/relationships/image" Target="../media/image72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6.png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0.png"/><Relationship Id="rId4" Type="http://schemas.openxmlformats.org/officeDocument/2006/relationships/image" Target="../media/image79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7" Type="http://schemas.openxmlformats.org/officeDocument/2006/relationships/image" Target="../media/image8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6.png"/><Relationship Id="rId5" Type="http://schemas.openxmlformats.org/officeDocument/2006/relationships/image" Target="../media/image85.png"/><Relationship Id="rId4" Type="http://schemas.openxmlformats.org/officeDocument/2006/relationships/image" Target="../media/image84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1.png"/><Relationship Id="rId4" Type="http://schemas.openxmlformats.org/officeDocument/2006/relationships/image" Target="../media/image9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4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7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1.png"/><Relationship Id="rId5" Type="http://schemas.openxmlformats.org/officeDocument/2006/relationships/image" Target="../media/image100.png"/><Relationship Id="rId4" Type="http://schemas.openxmlformats.org/officeDocument/2006/relationships/image" Target="../media/image99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5.png"/><Relationship Id="rId5" Type="http://schemas.openxmlformats.org/officeDocument/2006/relationships/image" Target="../media/image104.png"/><Relationship Id="rId4" Type="http://schemas.openxmlformats.org/officeDocument/2006/relationships/image" Target="../media/image10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9.png"/><Relationship Id="rId5" Type="http://schemas.openxmlformats.org/officeDocument/2006/relationships/image" Target="../media/image108.png"/><Relationship Id="rId4" Type="http://schemas.openxmlformats.org/officeDocument/2006/relationships/image" Target="../media/image107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3.png"/><Relationship Id="rId5" Type="http://schemas.openxmlformats.org/officeDocument/2006/relationships/image" Target="../media/image112.png"/><Relationship Id="rId4" Type="http://schemas.openxmlformats.org/officeDocument/2006/relationships/image" Target="../media/image1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936171" y="2122805"/>
            <a:ext cx="9144000" cy="1198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</a:pPr>
            <a:r>
              <a:rPr lang="fr-FR" dirty="0"/>
              <a:t>I) Données </a:t>
            </a:r>
            <a:r>
              <a:rPr lang="fr-FR" dirty="0" err="1"/>
              <a:t>Chahira</a:t>
            </a:r>
            <a:br>
              <a:rPr lang="fr-FR" dirty="0"/>
            </a:br>
            <a:br>
              <a:rPr lang="fr-FR" dirty="0"/>
            </a:br>
            <a:r>
              <a:rPr lang="fr-FR" dirty="0"/>
              <a:t>II) </a:t>
            </a:r>
            <a:r>
              <a:rPr lang="fr-FR" dirty="0" err="1"/>
              <a:t>Chirp</a:t>
            </a:r>
            <a:r>
              <a:rPr lang="fr-FR" dirty="0"/>
              <a:t> </a:t>
            </a:r>
            <a:r>
              <a:rPr lang="fr-FR" dirty="0" err="1"/>
              <a:t>analysis</a:t>
            </a:r>
            <a:r>
              <a:rPr lang="fr-FR" dirty="0"/>
              <a:t> </a:t>
            </a:r>
            <a:endParaRPr dirty="0"/>
          </a:p>
        </p:txBody>
      </p:sp>
      <p:sp>
        <p:nvSpPr>
          <p:cNvPr id="85" name="Google Shape;85;p1"/>
          <p:cNvSpPr txBox="1">
            <a:spLocks noGrp="1"/>
          </p:cNvSpPr>
          <p:nvPr>
            <p:ph type="subTitle" idx="1"/>
          </p:nvPr>
        </p:nvSpPr>
        <p:spPr>
          <a:xfrm>
            <a:off x="1641566" y="3536723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fr-FR" dirty="0"/>
              <a:t>1- Calcite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fr-FR" dirty="0"/>
              <a:t>2- </a:t>
            </a:r>
            <a:r>
              <a:rPr lang="fr-FR" dirty="0" err="1"/>
              <a:t>Vatérite</a:t>
            </a:r>
            <a:r>
              <a:rPr lang="fr-FR" dirty="0"/>
              <a:t> 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fr-FR" dirty="0"/>
              <a:t>3- ACC 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17D92591-FE5E-CE95-E38A-42B7C146E4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943A59DC-3E0E-B67E-0404-97D20F8FCBF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ous-titre 4">
            <a:extLst>
              <a:ext uri="{FF2B5EF4-FFF2-40B4-BE49-F238E27FC236}">
                <a16:creationId xmlns:a16="http://schemas.microsoft.com/office/drawing/2014/main" id="{EA7EA57B-3AD3-3088-D57B-9EFEDB870F9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E9EC669E-1E5F-6CC0-D595-116CF6B30F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5874" y="1044306"/>
            <a:ext cx="9620251" cy="4769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2248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75439E74-3734-DAEE-2141-62CD5C6BF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>
            <a:extLst>
              <a:ext uri="{FF2B5EF4-FFF2-40B4-BE49-F238E27FC236}">
                <a16:creationId xmlns:a16="http://schemas.microsoft.com/office/drawing/2014/main" id="{A729BE28-4C41-2AB4-BCA0-54428D18981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5492" y="-18351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fr-FR" dirty="0"/>
              <a:t>7 </a:t>
            </a:r>
            <a:r>
              <a:rPr lang="fr-FR" dirty="0" err="1"/>
              <a:t>ps</a:t>
            </a:r>
            <a:r>
              <a:rPr lang="fr-FR" dirty="0"/>
              <a:t> </a:t>
            </a:r>
            <a:r>
              <a:rPr lang="fr-FR" dirty="0" err="1"/>
              <a:t>chirp</a:t>
            </a:r>
            <a:r>
              <a:rPr lang="fr-FR" dirty="0"/>
              <a:t> on calcite - 260529 </a:t>
            </a:r>
            <a:endParaRPr dirty="0"/>
          </a:p>
        </p:txBody>
      </p:sp>
      <p:sp>
        <p:nvSpPr>
          <p:cNvPr id="93" name="Google Shape;93;p2">
            <a:extLst>
              <a:ext uri="{FF2B5EF4-FFF2-40B4-BE49-F238E27FC236}">
                <a16:creationId xmlns:a16="http://schemas.microsoft.com/office/drawing/2014/main" id="{5ED7D8BD-E821-73FC-72CF-EEB70D337D11}"/>
              </a:ext>
            </a:extLst>
          </p:cNvPr>
          <p:cNvSpPr txBox="1"/>
          <p:nvPr/>
        </p:nvSpPr>
        <p:spPr>
          <a:xfrm>
            <a:off x="463061" y="816521"/>
            <a:ext cx="5975839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Wavelength</a:t>
            </a:r>
            <a:r>
              <a:rPr lang="fr-FR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[927.2,927.8,926.5,926.9,927.5,926.7]</a:t>
            </a:r>
            <a:endParaRPr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DEEB747F-3123-30D4-CFA2-91B4ED706C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1285" y="1811338"/>
            <a:ext cx="6502082" cy="4248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12714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"/>
          <p:cNvSpPr txBox="1">
            <a:spLocks noGrp="1"/>
          </p:cNvSpPr>
          <p:nvPr>
            <p:ph type="title"/>
          </p:nvPr>
        </p:nvSpPr>
        <p:spPr>
          <a:xfrm>
            <a:off x="275492" y="-18351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fr-FR"/>
              <a:t>2 ps chirp on calcite - 260522</a:t>
            </a:r>
            <a:endParaRPr/>
          </a:p>
        </p:txBody>
      </p:sp>
      <p:graphicFrame>
        <p:nvGraphicFramePr>
          <p:cNvPr id="101" name="Google Shape;101;p3"/>
          <p:cNvGraphicFramePr/>
          <p:nvPr/>
        </p:nvGraphicFramePr>
        <p:xfrm>
          <a:off x="444305" y="812751"/>
          <a:ext cx="9785550" cy="1483400"/>
        </p:xfrm>
        <a:graphic>
          <a:graphicData uri="http://schemas.openxmlformats.org/drawingml/2006/table">
            <a:tbl>
              <a:tblPr firstRow="1" bandRow="1">
                <a:noFill/>
                <a:tableStyleId>{12120BA5-4784-4B65-B692-8A3A72857C31}</a:tableStyleId>
              </a:tblPr>
              <a:tblGrid>
                <a:gridCol w="3261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1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61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POWER METER POSITION 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Stokes 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Pump 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INPUT (software)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220 mW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300 mW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OUTPUT Laser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510 mW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510 mW 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After sample 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16 mW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/>
                        <a:t>20 mW 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2" name="Google Shape;102;p3"/>
          <p:cNvSpPr txBox="1"/>
          <p:nvPr/>
        </p:nvSpPr>
        <p:spPr>
          <a:xfrm>
            <a:off x="10654392" y="1115970"/>
            <a:ext cx="117371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SNR ~ 40  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3"/>
          <p:cNvSpPr txBox="1"/>
          <p:nvPr/>
        </p:nvSpPr>
        <p:spPr>
          <a:xfrm>
            <a:off x="400231" y="2369046"/>
            <a:ext cx="4757790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Wavelength = [927.2,927.7,928.1,928.6,928.9,929.5,929.8,930.4,926.8,926.3,925.9,925.5,932,932.9,935]</a:t>
            </a:r>
            <a:endParaRPr/>
          </a:p>
        </p:txBody>
      </p:sp>
      <p:pic>
        <p:nvPicPr>
          <p:cNvPr id="104" name="Google Shape;104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2868" y="3292376"/>
            <a:ext cx="3692274" cy="34163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10658" y="2536203"/>
            <a:ext cx="6405850" cy="41725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e4efdd0c05_0_13"/>
          <p:cNvSpPr txBox="1">
            <a:spLocks noGrp="1"/>
          </p:cNvSpPr>
          <p:nvPr>
            <p:ph type="title"/>
          </p:nvPr>
        </p:nvSpPr>
        <p:spPr>
          <a:xfrm>
            <a:off x="275492" y="-18351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fr-FR" dirty="0"/>
              <a:t>2 </a:t>
            </a:r>
            <a:r>
              <a:rPr lang="fr-FR" dirty="0" err="1"/>
              <a:t>ps</a:t>
            </a:r>
            <a:r>
              <a:rPr lang="fr-FR" dirty="0"/>
              <a:t> </a:t>
            </a:r>
            <a:r>
              <a:rPr lang="fr-FR" dirty="0" err="1"/>
              <a:t>chirp</a:t>
            </a:r>
            <a:r>
              <a:rPr lang="fr-FR" dirty="0"/>
              <a:t> on </a:t>
            </a:r>
            <a:r>
              <a:rPr lang="fr-FR" dirty="0" err="1"/>
              <a:t>vatérite</a:t>
            </a:r>
            <a:r>
              <a:rPr lang="fr-FR" dirty="0"/>
              <a:t> - 260527 </a:t>
            </a:r>
            <a:endParaRPr dirty="0"/>
          </a:p>
        </p:txBody>
      </p:sp>
      <p:sp>
        <p:nvSpPr>
          <p:cNvPr id="146" name="Google Shape;146;g3e4efdd0c05_0_13"/>
          <p:cNvSpPr txBox="1"/>
          <p:nvPr/>
        </p:nvSpPr>
        <p:spPr>
          <a:xfrm>
            <a:off x="3120810" y="710900"/>
            <a:ext cx="8676909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Wavelength</a:t>
            </a:r>
            <a:r>
              <a:rPr lang="fr-FR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  [926.</a:t>
            </a:r>
            <a:r>
              <a:rPr lang="fr-FR" sz="1800" dirty="0">
                <a:solidFill>
                  <a:schemeClr val="dk1"/>
                </a:solidFill>
              </a:rPr>
              <a:t>7</a:t>
            </a:r>
            <a:r>
              <a:rPr lang="fr-FR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,927.1,927.5,927.9,928.5,928.8,929.3,929.6,930,926.9,926.1,926.5,925.7,925,924.4]</a:t>
            </a:r>
            <a:endParaRPr dirty="0"/>
          </a:p>
        </p:txBody>
      </p:sp>
      <p:sp>
        <p:nvSpPr>
          <p:cNvPr id="147" name="Google Shape;147;g3e4efdd0c05_0_13"/>
          <p:cNvSpPr txBox="1"/>
          <p:nvPr/>
        </p:nvSpPr>
        <p:spPr>
          <a:xfrm>
            <a:off x="424121" y="757157"/>
            <a:ext cx="4005600" cy="14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>
                <a:solidFill>
                  <a:schemeClr val="dk1"/>
                </a:solidFill>
              </a:rPr>
              <a:t>Power max 150²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>
                <a:solidFill>
                  <a:schemeClr val="dk1"/>
                </a:solidFill>
              </a:rPr>
              <a:t>Nb points 125²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 err="1">
                <a:solidFill>
                  <a:schemeClr val="dk1"/>
                </a:solidFill>
              </a:rPr>
              <a:t>PixelRep</a:t>
            </a:r>
            <a:r>
              <a:rPr lang="fr-FR" sz="1800" dirty="0">
                <a:solidFill>
                  <a:schemeClr val="dk1"/>
                </a:solidFill>
              </a:rPr>
              <a:t> 100 </a:t>
            </a:r>
            <a:r>
              <a:rPr lang="fr-FR" sz="1800" dirty="0" err="1">
                <a:solidFill>
                  <a:schemeClr val="dk1"/>
                </a:solidFill>
              </a:rPr>
              <a:t>NbACC</a:t>
            </a:r>
            <a:r>
              <a:rPr lang="fr-FR" sz="1800" dirty="0">
                <a:solidFill>
                  <a:schemeClr val="dk1"/>
                </a:solidFill>
              </a:rPr>
              <a:t> 5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>
                <a:solidFill>
                  <a:schemeClr val="dk1"/>
                </a:solidFill>
              </a:rPr>
              <a:t>scan range 50 µm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</a:endParaRPr>
          </a:p>
        </p:txBody>
      </p:sp>
      <p:sp>
        <p:nvSpPr>
          <p:cNvPr id="148" name="Google Shape;148;g3e4efdd0c05_0_13"/>
          <p:cNvSpPr txBox="1"/>
          <p:nvPr/>
        </p:nvSpPr>
        <p:spPr>
          <a:xfrm>
            <a:off x="1529938" y="4970855"/>
            <a:ext cx="1239412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 err="1">
                <a:solidFill>
                  <a:schemeClr val="dk1"/>
                </a:solidFill>
              </a:rPr>
              <a:t>maybe</a:t>
            </a:r>
            <a:r>
              <a:rPr lang="fr-FR" sz="1800" dirty="0">
                <a:solidFill>
                  <a:schemeClr val="dk1"/>
                </a:solidFill>
              </a:rPr>
              <a:t> calcite</a:t>
            </a:r>
            <a:endParaRPr dirty="0"/>
          </a:p>
        </p:txBody>
      </p:sp>
      <p:pic>
        <p:nvPicPr>
          <p:cNvPr id="149" name="Google Shape;149;g3e4efdd0c05_0_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0204" y="5039051"/>
            <a:ext cx="1239412" cy="159366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1" name="Google Shape;151;g3e4efdd0c05_0_13"/>
          <p:cNvCxnSpPr>
            <a:cxnSpLocks/>
            <a:stCxn id="148" idx="1"/>
          </p:cNvCxnSpPr>
          <p:nvPr/>
        </p:nvCxnSpPr>
        <p:spPr>
          <a:xfrm flipH="1">
            <a:off x="829910" y="5294000"/>
            <a:ext cx="700028" cy="433650"/>
          </a:xfrm>
          <a:prstGeom prst="straightConnector1">
            <a:avLst/>
          </a:prstGeom>
          <a:noFill/>
          <a:ln w="7620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152" name="Google Shape;152;g3e4efdd0c05_0_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5492" y="2331919"/>
            <a:ext cx="2348249" cy="2511462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9508DAB-F401-0942-4DCE-8AC79A16CAB6}"/>
              </a:ext>
            </a:extLst>
          </p:cNvPr>
          <p:cNvSpPr/>
          <p:nvPr/>
        </p:nvSpPr>
        <p:spPr>
          <a:xfrm>
            <a:off x="2354078" y="3523913"/>
            <a:ext cx="116572" cy="127474"/>
          </a:xfrm>
          <a:prstGeom prst="rect">
            <a:avLst/>
          </a:prstGeom>
          <a:noFill/>
          <a:ln>
            <a:solidFill>
              <a:schemeClr val="bg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2" name="Google Shape;150;g3e4efdd0c05_0_13"/>
          <p:cNvCxnSpPr>
            <a:cxnSpLocks/>
            <a:stCxn id="152" idx="3"/>
          </p:cNvCxnSpPr>
          <p:nvPr/>
        </p:nvCxnSpPr>
        <p:spPr>
          <a:xfrm>
            <a:off x="2623741" y="3587650"/>
            <a:ext cx="782086" cy="472081"/>
          </a:xfrm>
          <a:prstGeom prst="straightConnector1">
            <a:avLst/>
          </a:prstGeom>
          <a:noFill/>
          <a:ln w="76200" cap="flat" cmpd="sng">
            <a:solidFill>
              <a:schemeClr val="accent1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" name="Google Shape;151;g3e4efdd0c05_0_13">
            <a:extLst>
              <a:ext uri="{FF2B5EF4-FFF2-40B4-BE49-F238E27FC236}">
                <a16:creationId xmlns:a16="http://schemas.microsoft.com/office/drawing/2014/main" id="{01A9BC55-D98E-2C54-F24D-95D6A56BDDD5}"/>
              </a:ext>
            </a:extLst>
          </p:cNvPr>
          <p:cNvCxnSpPr>
            <a:cxnSpLocks/>
          </p:cNvCxnSpPr>
          <p:nvPr/>
        </p:nvCxnSpPr>
        <p:spPr>
          <a:xfrm flipH="1" flipV="1">
            <a:off x="1049141" y="3755837"/>
            <a:ext cx="577522" cy="1215018"/>
          </a:xfrm>
          <a:prstGeom prst="straightConnector1">
            <a:avLst/>
          </a:prstGeom>
          <a:noFill/>
          <a:ln w="7620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86C10A57-71D2-32B5-30F3-695244E78BE2}"/>
              </a:ext>
            </a:extLst>
          </p:cNvPr>
          <p:cNvSpPr/>
          <p:nvPr/>
        </p:nvSpPr>
        <p:spPr>
          <a:xfrm>
            <a:off x="912669" y="3560167"/>
            <a:ext cx="256526" cy="1410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FF0000"/>
              </a:solidFill>
            </a:endParaRPr>
          </a:p>
        </p:txBody>
      </p:sp>
      <p:cxnSp>
        <p:nvCxnSpPr>
          <p:cNvPr id="25" name="Connecteur : en angle 24">
            <a:extLst>
              <a:ext uri="{FF2B5EF4-FFF2-40B4-BE49-F238E27FC236}">
                <a16:creationId xmlns:a16="http://schemas.microsoft.com/office/drawing/2014/main" id="{4C3DC84C-8C95-4BBE-EE0D-76AACDAA6DB5}"/>
              </a:ext>
            </a:extLst>
          </p:cNvPr>
          <p:cNvCxnSpPr>
            <a:cxnSpLocks/>
            <a:stCxn id="19" idx="0"/>
          </p:cNvCxnSpPr>
          <p:nvPr/>
        </p:nvCxnSpPr>
        <p:spPr>
          <a:xfrm rot="5400000" flipH="1" flipV="1">
            <a:off x="3748916" y="-150181"/>
            <a:ext cx="1002365" cy="6418332"/>
          </a:xfrm>
          <a:prstGeom prst="bentConnector2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ZoneTexte 31">
            <a:extLst>
              <a:ext uri="{FF2B5EF4-FFF2-40B4-BE49-F238E27FC236}">
                <a16:creationId xmlns:a16="http://schemas.microsoft.com/office/drawing/2014/main" id="{848AC013-2C8E-C519-3337-85343FE57D97}"/>
              </a:ext>
            </a:extLst>
          </p:cNvPr>
          <p:cNvSpPr txBox="1"/>
          <p:nvPr/>
        </p:nvSpPr>
        <p:spPr>
          <a:xfrm>
            <a:off x="9626600" y="1307649"/>
            <a:ext cx="7713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solidFill>
                  <a:srgbClr val="FF0000"/>
                </a:solidFill>
              </a:rPr>
              <a:t>Calcite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F7D42E0F-A086-ED72-B175-4FDDD11AC9DD}"/>
              </a:ext>
            </a:extLst>
          </p:cNvPr>
          <p:cNvSpPr txBox="1"/>
          <p:nvPr/>
        </p:nvSpPr>
        <p:spPr>
          <a:xfrm>
            <a:off x="5294632" y="3127264"/>
            <a:ext cx="8418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Vatérite</a:t>
            </a:r>
            <a:endParaRPr lang="fr-FR" b="1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ACFCBFD4-5526-8EB0-3F91-2F661C488F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96450" y="1634300"/>
            <a:ext cx="4287749" cy="3043617"/>
          </a:xfrm>
          <a:prstGeom prst="rect">
            <a:avLst/>
          </a:prstGeom>
        </p:spPr>
      </p:pic>
      <p:pic>
        <p:nvPicPr>
          <p:cNvPr id="24" name="Image 23">
            <a:extLst>
              <a:ext uri="{FF2B5EF4-FFF2-40B4-BE49-F238E27FC236}">
                <a16:creationId xmlns:a16="http://schemas.microsoft.com/office/drawing/2014/main" id="{DB53B689-7469-E66F-D634-6311675635F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67728" y="3476822"/>
            <a:ext cx="4266821" cy="302876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e4efdd0c05_0_0"/>
          <p:cNvSpPr txBox="1">
            <a:spLocks noGrp="1"/>
          </p:cNvSpPr>
          <p:nvPr>
            <p:ph type="title"/>
          </p:nvPr>
        </p:nvSpPr>
        <p:spPr>
          <a:xfrm>
            <a:off x="275492" y="-18351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fr-FR" dirty="0"/>
              <a:t>7 </a:t>
            </a:r>
            <a:r>
              <a:rPr lang="fr-FR" dirty="0" err="1"/>
              <a:t>ps</a:t>
            </a:r>
            <a:r>
              <a:rPr lang="fr-FR" dirty="0"/>
              <a:t> </a:t>
            </a:r>
            <a:r>
              <a:rPr lang="fr-FR" dirty="0" err="1"/>
              <a:t>chirp</a:t>
            </a:r>
            <a:r>
              <a:rPr lang="fr-FR" dirty="0"/>
              <a:t> on </a:t>
            </a:r>
            <a:r>
              <a:rPr lang="fr-FR" dirty="0" err="1"/>
              <a:t>vatérite</a:t>
            </a:r>
            <a:r>
              <a:rPr lang="fr-FR" dirty="0"/>
              <a:t> - 260527 </a:t>
            </a:r>
            <a:endParaRPr dirty="0"/>
          </a:p>
        </p:txBody>
      </p:sp>
      <p:sp>
        <p:nvSpPr>
          <p:cNvPr id="132" name="Google Shape;132;g3e4efdd0c05_0_0"/>
          <p:cNvSpPr txBox="1"/>
          <p:nvPr/>
        </p:nvSpPr>
        <p:spPr>
          <a:xfrm>
            <a:off x="8250750" y="0"/>
            <a:ext cx="3584675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Wavelength</a:t>
            </a:r>
            <a:r>
              <a:rPr lang="fr-FR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  [926.6,927.1,927.6,928,928.5,929,927.8,927.</a:t>
            </a:r>
            <a:r>
              <a:rPr lang="fr-FR" sz="1800" dirty="0">
                <a:solidFill>
                  <a:schemeClr val="dk1"/>
                </a:solidFill>
              </a:rPr>
              <a:t>4,926.8,926.2,925.8</a:t>
            </a:r>
            <a:r>
              <a:rPr lang="fr-FR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dirty="0"/>
          </a:p>
        </p:txBody>
      </p:sp>
      <p:sp>
        <p:nvSpPr>
          <p:cNvPr id="133" name="Google Shape;133;g3e4efdd0c05_0_0"/>
          <p:cNvSpPr txBox="1"/>
          <p:nvPr/>
        </p:nvSpPr>
        <p:spPr>
          <a:xfrm>
            <a:off x="449725" y="718085"/>
            <a:ext cx="4005600" cy="14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>
                <a:solidFill>
                  <a:schemeClr val="dk1"/>
                </a:solidFill>
              </a:rPr>
              <a:t>Power max (400 </a:t>
            </a:r>
            <a:r>
              <a:rPr lang="fr-FR" sz="1800" dirty="0" err="1">
                <a:solidFill>
                  <a:schemeClr val="dk1"/>
                </a:solidFill>
              </a:rPr>
              <a:t>pump</a:t>
            </a:r>
            <a:r>
              <a:rPr lang="fr-FR" sz="1800" dirty="0">
                <a:solidFill>
                  <a:schemeClr val="dk1"/>
                </a:solidFill>
              </a:rPr>
              <a:t>/370 stokes)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>
                <a:solidFill>
                  <a:schemeClr val="dk1"/>
                </a:solidFill>
              </a:rPr>
              <a:t>Nb points 125²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 err="1">
                <a:solidFill>
                  <a:schemeClr val="dk1"/>
                </a:solidFill>
              </a:rPr>
              <a:t>PixelRep</a:t>
            </a:r>
            <a:r>
              <a:rPr lang="fr-FR" sz="1800" dirty="0">
                <a:solidFill>
                  <a:schemeClr val="dk1"/>
                </a:solidFill>
              </a:rPr>
              <a:t> 150 </a:t>
            </a:r>
            <a:r>
              <a:rPr lang="fr-FR" sz="1800" dirty="0" err="1">
                <a:solidFill>
                  <a:schemeClr val="dk1"/>
                </a:solidFill>
              </a:rPr>
              <a:t>NbACC</a:t>
            </a:r>
            <a:r>
              <a:rPr lang="fr-FR" sz="1800" dirty="0">
                <a:solidFill>
                  <a:schemeClr val="dk1"/>
                </a:solidFill>
              </a:rPr>
              <a:t> 12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>
                <a:solidFill>
                  <a:schemeClr val="dk1"/>
                </a:solidFill>
              </a:rPr>
              <a:t>scan range 50 µm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</a:endParaRPr>
          </a:p>
        </p:txBody>
      </p:sp>
      <p:pic>
        <p:nvPicPr>
          <p:cNvPr id="134" name="Google Shape;134;g3e4efdd0c05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1767" y="2779327"/>
            <a:ext cx="2073802" cy="2038592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g3e4efdd0c05_0_0"/>
          <p:cNvSpPr txBox="1"/>
          <p:nvPr/>
        </p:nvSpPr>
        <p:spPr>
          <a:xfrm>
            <a:off x="4455325" y="976575"/>
            <a:ext cx="6618109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>
                <a:solidFill>
                  <a:schemeClr val="dk1"/>
                </a:solidFill>
              </a:rPr>
              <a:t>Delay (</a:t>
            </a:r>
            <a:r>
              <a:rPr lang="fr-FR" sz="1800" dirty="0" err="1">
                <a:solidFill>
                  <a:schemeClr val="dk1"/>
                </a:solidFill>
              </a:rPr>
              <a:t>fs</a:t>
            </a:r>
            <a:r>
              <a:rPr lang="fr-FR" sz="1800" dirty="0">
                <a:solidFill>
                  <a:schemeClr val="dk1"/>
                </a:solidFill>
              </a:rPr>
              <a:t>) </a:t>
            </a:r>
            <a:r>
              <a:rPr lang="fr-FR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  [</a:t>
            </a:r>
            <a:r>
              <a:rPr lang="fr-FR" sz="1800" dirty="0">
                <a:solidFill>
                  <a:schemeClr val="dk1"/>
                </a:solidFill>
              </a:rPr>
              <a:t>-5000,1000,8500,14000, 21000, 27000,10000, 5000 , -3000,-9000,-16500,-5000</a:t>
            </a:r>
            <a:r>
              <a:rPr lang="fr-FR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] ~+6000 par 0.5 nm</a:t>
            </a:r>
            <a:endParaRPr dirty="0"/>
          </a:p>
        </p:txBody>
      </p:sp>
      <p:pic>
        <p:nvPicPr>
          <p:cNvPr id="137" name="Google Shape;137;g3e4efdd0c05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9725" y="5165349"/>
            <a:ext cx="1397757" cy="156721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g3e4efdd0c05_0_0"/>
          <p:cNvSpPr txBox="1"/>
          <p:nvPr/>
        </p:nvSpPr>
        <p:spPr>
          <a:xfrm>
            <a:off x="4455325" y="1621679"/>
            <a:ext cx="68958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>
                <a:solidFill>
                  <a:schemeClr val="dk1"/>
                </a:solidFill>
              </a:rPr>
              <a:t>Commentaire : </a:t>
            </a:r>
            <a:endParaRPr sz="1800" dirty="0">
              <a:solidFill>
                <a:schemeClr val="dk1"/>
              </a:solidFill>
            </a:endParaRPr>
          </a:p>
          <a:p>
            <a:pPr marL="4572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fr-FR" sz="1800" dirty="0">
                <a:solidFill>
                  <a:schemeClr val="dk1"/>
                </a:solidFill>
              </a:rPr>
              <a:t>diminution du signal observer sur la ligne détection retard pour  928.5 puis 929 </a:t>
            </a:r>
            <a:endParaRPr sz="1800" dirty="0">
              <a:solidFill>
                <a:schemeClr val="dk1"/>
              </a:solidFill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68E843DC-C452-AE57-8741-77C0CBC00796}"/>
              </a:ext>
            </a:extLst>
          </p:cNvPr>
          <p:cNvSpPr txBox="1"/>
          <p:nvPr/>
        </p:nvSpPr>
        <p:spPr>
          <a:xfrm>
            <a:off x="205745" y="201643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>
                <a:solidFill>
                  <a:schemeClr val="dk1"/>
                </a:solidFill>
              </a:rPr>
              <a:t>Même endroit que précédemment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EDE252B-045A-0F66-8D9F-55DB2BDBF9AD}"/>
              </a:ext>
            </a:extLst>
          </p:cNvPr>
          <p:cNvSpPr/>
          <p:nvPr/>
        </p:nvSpPr>
        <p:spPr>
          <a:xfrm>
            <a:off x="2076484" y="3838276"/>
            <a:ext cx="90487" cy="96155"/>
          </a:xfrm>
          <a:prstGeom prst="rect">
            <a:avLst/>
          </a:prstGeom>
          <a:noFill/>
          <a:ln>
            <a:solidFill>
              <a:schemeClr val="bg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A88E0E58-B7EC-DC1D-1D6B-68A4D7871DE7}"/>
              </a:ext>
            </a:extLst>
          </p:cNvPr>
          <p:cNvSpPr txBox="1"/>
          <p:nvPr/>
        </p:nvSpPr>
        <p:spPr>
          <a:xfrm>
            <a:off x="4897815" y="3707776"/>
            <a:ext cx="8418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Vatérite</a:t>
            </a:r>
            <a:endParaRPr lang="fr-FR" b="1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D8C5F91-5754-18DB-886F-A6B0766148DA}"/>
              </a:ext>
            </a:extLst>
          </p:cNvPr>
          <p:cNvSpPr/>
          <p:nvPr/>
        </p:nvSpPr>
        <p:spPr>
          <a:xfrm>
            <a:off x="888267" y="3753056"/>
            <a:ext cx="211907" cy="19035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FF0000"/>
              </a:solidFill>
            </a:endParaRPr>
          </a:p>
        </p:txBody>
      </p:sp>
      <p:cxnSp>
        <p:nvCxnSpPr>
          <p:cNvPr id="15" name="Connecteur : en angle 14">
            <a:extLst>
              <a:ext uri="{FF2B5EF4-FFF2-40B4-BE49-F238E27FC236}">
                <a16:creationId xmlns:a16="http://schemas.microsoft.com/office/drawing/2014/main" id="{149D8C9D-E20E-9213-27A9-B3AE04A25E91}"/>
              </a:ext>
            </a:extLst>
          </p:cNvPr>
          <p:cNvCxnSpPr>
            <a:cxnSpLocks/>
            <a:stCxn id="14" idx="0"/>
          </p:cNvCxnSpPr>
          <p:nvPr/>
        </p:nvCxnSpPr>
        <p:spPr>
          <a:xfrm rot="5400000" flipH="1" flipV="1">
            <a:off x="3495008" y="423195"/>
            <a:ext cx="829074" cy="5830649"/>
          </a:xfrm>
          <a:prstGeom prst="bentConnector2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ZoneTexte 15">
            <a:extLst>
              <a:ext uri="{FF2B5EF4-FFF2-40B4-BE49-F238E27FC236}">
                <a16:creationId xmlns:a16="http://schemas.microsoft.com/office/drawing/2014/main" id="{526491F5-FBEF-BBA5-51C9-7D8D8BA9E7C5}"/>
              </a:ext>
            </a:extLst>
          </p:cNvPr>
          <p:cNvSpPr txBox="1"/>
          <p:nvPr/>
        </p:nvSpPr>
        <p:spPr>
          <a:xfrm>
            <a:off x="9112032" y="2237302"/>
            <a:ext cx="7713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rgbClr val="FF0000"/>
                </a:solidFill>
              </a:rPr>
              <a:t>Calcite</a:t>
            </a:r>
          </a:p>
        </p:txBody>
      </p:sp>
      <p:cxnSp>
        <p:nvCxnSpPr>
          <p:cNvPr id="5" name="Google Shape;150;g3e4efdd0c05_0_13">
            <a:extLst>
              <a:ext uri="{FF2B5EF4-FFF2-40B4-BE49-F238E27FC236}">
                <a16:creationId xmlns:a16="http://schemas.microsoft.com/office/drawing/2014/main" id="{1E740191-4869-0182-995C-58CA228D682D}"/>
              </a:ext>
            </a:extLst>
          </p:cNvPr>
          <p:cNvCxnSpPr>
            <a:cxnSpLocks/>
          </p:cNvCxnSpPr>
          <p:nvPr/>
        </p:nvCxnSpPr>
        <p:spPr>
          <a:xfrm>
            <a:off x="2166971" y="3943413"/>
            <a:ext cx="1195394" cy="535822"/>
          </a:xfrm>
          <a:prstGeom prst="straightConnector1">
            <a:avLst/>
          </a:prstGeom>
          <a:noFill/>
          <a:ln w="76200" cap="flat" cmpd="sng">
            <a:solidFill>
              <a:schemeClr val="accent1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10" name="Image 9">
            <a:extLst>
              <a:ext uri="{FF2B5EF4-FFF2-40B4-BE49-F238E27FC236}">
                <a16:creationId xmlns:a16="http://schemas.microsoft.com/office/drawing/2014/main" id="{2762210D-E608-A5C1-E35F-D08B4BC41D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60006" y="2591561"/>
            <a:ext cx="4675419" cy="3139263"/>
          </a:xfrm>
          <a:prstGeom prst="rect">
            <a:avLst/>
          </a:prstGeom>
        </p:spPr>
      </p:pic>
      <p:pic>
        <p:nvPicPr>
          <p:cNvPr id="28" name="Image 27">
            <a:extLst>
              <a:ext uri="{FF2B5EF4-FFF2-40B4-BE49-F238E27FC236}">
                <a16:creationId xmlns:a16="http://schemas.microsoft.com/office/drawing/2014/main" id="{BDD0AD69-DC18-3680-8D88-69BCF591B0D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69482" y="4161192"/>
            <a:ext cx="3676174" cy="260949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e4efdd0c05_0_27"/>
          <p:cNvSpPr txBox="1">
            <a:spLocks noGrp="1"/>
          </p:cNvSpPr>
          <p:nvPr>
            <p:ph type="title"/>
          </p:nvPr>
        </p:nvSpPr>
        <p:spPr>
          <a:xfrm>
            <a:off x="275492" y="-18351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fr-FR"/>
              <a:t>2 ps chirp on ACC- 260527 </a:t>
            </a:r>
            <a:endParaRPr/>
          </a:p>
        </p:txBody>
      </p:sp>
      <p:sp>
        <p:nvSpPr>
          <p:cNvPr id="158" name="Google Shape;158;g3e4efdd0c05_0_27"/>
          <p:cNvSpPr txBox="1"/>
          <p:nvPr/>
        </p:nvSpPr>
        <p:spPr>
          <a:xfrm>
            <a:off x="4653850" y="895550"/>
            <a:ext cx="68958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Wavelength</a:t>
            </a:r>
            <a:r>
              <a:rPr lang="fr-FR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  [92</a:t>
            </a:r>
            <a:r>
              <a:rPr lang="fr-FR" sz="1800" dirty="0">
                <a:solidFill>
                  <a:schemeClr val="dk1"/>
                </a:solidFill>
              </a:rPr>
              <a:t>8.1,928.5,928.8,929.4,929.7,930.3,931.1,932,927.8,927.5,927,926.7,926,925</a:t>
            </a:r>
            <a:r>
              <a:rPr lang="fr-FR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dirty="0"/>
          </a:p>
        </p:txBody>
      </p:sp>
      <p:sp>
        <p:nvSpPr>
          <p:cNvPr id="159" name="Google Shape;159;g3e4efdd0c05_0_27"/>
          <p:cNvSpPr txBox="1"/>
          <p:nvPr/>
        </p:nvSpPr>
        <p:spPr>
          <a:xfrm>
            <a:off x="449725" y="895550"/>
            <a:ext cx="4005600" cy="14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</a:rPr>
              <a:t>Power 250²</a:t>
            </a:r>
            <a:endParaRPr sz="180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</a:rPr>
              <a:t>Nb points 125²</a:t>
            </a:r>
            <a:endParaRPr sz="180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</a:rPr>
              <a:t>PixelRep 100 NbACC 5</a:t>
            </a:r>
            <a:endParaRPr sz="180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</a:rPr>
              <a:t>scan range 50 µm</a:t>
            </a:r>
            <a:endParaRPr sz="180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</a:endParaRPr>
          </a:p>
        </p:txBody>
      </p:sp>
      <p:pic>
        <p:nvPicPr>
          <p:cNvPr id="162" name="Google Shape;162;g3e4efdd0c05_0_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726" y="2373050"/>
            <a:ext cx="2789864" cy="2111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g3e4efdd0c05_0_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2004" y="4680176"/>
            <a:ext cx="2305308" cy="2071279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BA72E5DC-70FB-81F3-445A-3EA6C9F463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5849" y="2373050"/>
            <a:ext cx="5021991" cy="376649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>
          <a:extLst>
            <a:ext uri="{FF2B5EF4-FFF2-40B4-BE49-F238E27FC236}">
              <a16:creationId xmlns:a16="http://schemas.microsoft.com/office/drawing/2014/main" id="{49E6B89E-2700-3B57-E430-8B71EF3F2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e4efdd0c05_0_27">
            <a:extLst>
              <a:ext uri="{FF2B5EF4-FFF2-40B4-BE49-F238E27FC236}">
                <a16:creationId xmlns:a16="http://schemas.microsoft.com/office/drawing/2014/main" id="{35FEDC73-871A-232F-35FD-C4D283BB28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5492" y="-18351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fr-FR" dirty="0"/>
              <a:t>2 </a:t>
            </a:r>
            <a:r>
              <a:rPr lang="fr-FR" dirty="0" err="1"/>
              <a:t>ps</a:t>
            </a:r>
            <a:r>
              <a:rPr lang="fr-FR" dirty="0"/>
              <a:t> </a:t>
            </a:r>
            <a:r>
              <a:rPr lang="fr-FR" dirty="0" err="1"/>
              <a:t>chirp</a:t>
            </a:r>
            <a:r>
              <a:rPr lang="fr-FR" dirty="0"/>
              <a:t> on ACC- 260528 </a:t>
            </a:r>
            <a:endParaRPr dirty="0"/>
          </a:p>
        </p:txBody>
      </p:sp>
      <p:sp>
        <p:nvSpPr>
          <p:cNvPr id="158" name="Google Shape;158;g3e4efdd0c05_0_27">
            <a:extLst>
              <a:ext uri="{FF2B5EF4-FFF2-40B4-BE49-F238E27FC236}">
                <a16:creationId xmlns:a16="http://schemas.microsoft.com/office/drawing/2014/main" id="{F50A88E9-B9E4-8F5B-9C66-4F3B9471736A}"/>
              </a:ext>
            </a:extLst>
          </p:cNvPr>
          <p:cNvSpPr txBox="1"/>
          <p:nvPr/>
        </p:nvSpPr>
        <p:spPr>
          <a:xfrm>
            <a:off x="4653850" y="895550"/>
            <a:ext cx="6895800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Wavelength</a:t>
            </a:r>
            <a:r>
              <a:rPr lang="fr-FR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  [92</a:t>
            </a:r>
            <a:r>
              <a:rPr lang="fr-FR" sz="1800" dirty="0">
                <a:solidFill>
                  <a:schemeClr val="dk1"/>
                </a:solidFill>
              </a:rPr>
              <a:t>8.4,928.8,929.1,929.6,929.9,930.3,930.8,931.2,931.4,932,928,927.6,927.3,926.7,926,925.5</a:t>
            </a:r>
            <a:r>
              <a:rPr lang="fr-FR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dirty="0"/>
          </a:p>
        </p:txBody>
      </p:sp>
      <p:sp>
        <p:nvSpPr>
          <p:cNvPr id="159" name="Google Shape;159;g3e4efdd0c05_0_27">
            <a:extLst>
              <a:ext uri="{FF2B5EF4-FFF2-40B4-BE49-F238E27FC236}">
                <a16:creationId xmlns:a16="http://schemas.microsoft.com/office/drawing/2014/main" id="{F7CF1DBA-95A2-6BA0-C0E0-261B71F59C4F}"/>
              </a:ext>
            </a:extLst>
          </p:cNvPr>
          <p:cNvSpPr txBox="1"/>
          <p:nvPr/>
        </p:nvSpPr>
        <p:spPr>
          <a:xfrm>
            <a:off x="449724" y="686844"/>
            <a:ext cx="4005600" cy="14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>
                <a:solidFill>
                  <a:schemeClr val="dk1"/>
                </a:solidFill>
              </a:rPr>
              <a:t>Power 250²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>
                <a:solidFill>
                  <a:schemeClr val="dk1"/>
                </a:solidFill>
              </a:rPr>
              <a:t>Nb points 150²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 err="1">
                <a:solidFill>
                  <a:schemeClr val="dk1"/>
                </a:solidFill>
              </a:rPr>
              <a:t>PixelRep</a:t>
            </a:r>
            <a:r>
              <a:rPr lang="fr-FR" sz="1800" dirty="0">
                <a:solidFill>
                  <a:schemeClr val="dk1"/>
                </a:solidFill>
              </a:rPr>
              <a:t> 100 </a:t>
            </a:r>
            <a:r>
              <a:rPr lang="fr-FR" sz="1800" dirty="0" err="1">
                <a:solidFill>
                  <a:schemeClr val="dk1"/>
                </a:solidFill>
              </a:rPr>
              <a:t>NbACC</a:t>
            </a:r>
            <a:r>
              <a:rPr lang="fr-FR" sz="1800" dirty="0">
                <a:solidFill>
                  <a:schemeClr val="dk1"/>
                </a:solidFill>
              </a:rPr>
              <a:t> 5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>
                <a:solidFill>
                  <a:schemeClr val="dk1"/>
                </a:solidFill>
              </a:rPr>
              <a:t>scan range 50 µm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4FB51245-3341-76B3-2183-4D900BEA6D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724" y="4339390"/>
            <a:ext cx="2457599" cy="2481537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C64B6C08-11FE-568A-2ACE-50941C427B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98" y="2012544"/>
            <a:ext cx="2420825" cy="2160871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AAAF948C-F436-5962-CEEA-CFB2CB79EC56}"/>
              </a:ext>
            </a:extLst>
          </p:cNvPr>
          <p:cNvSpPr txBox="1"/>
          <p:nvPr/>
        </p:nvSpPr>
        <p:spPr>
          <a:xfrm>
            <a:off x="3147060" y="6339840"/>
            <a:ext cx="9316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Calcite ? </a:t>
            </a:r>
          </a:p>
        </p:txBody>
      </p:sp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43A988C6-2E43-A99A-0B5A-18006A476FB0}"/>
              </a:ext>
            </a:extLst>
          </p:cNvPr>
          <p:cNvCxnSpPr>
            <a:stCxn id="7" idx="1"/>
          </p:cNvCxnSpPr>
          <p:nvPr/>
        </p:nvCxnSpPr>
        <p:spPr>
          <a:xfrm flipH="1">
            <a:off x="1760220" y="6493729"/>
            <a:ext cx="1386840" cy="13567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40283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>
          <a:extLst>
            <a:ext uri="{FF2B5EF4-FFF2-40B4-BE49-F238E27FC236}">
              <a16:creationId xmlns:a16="http://schemas.microsoft.com/office/drawing/2014/main" id="{716BB529-550C-CD6B-EF45-6FA2176B7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e4efdd0c05_0_27">
            <a:extLst>
              <a:ext uri="{FF2B5EF4-FFF2-40B4-BE49-F238E27FC236}">
                <a16:creationId xmlns:a16="http://schemas.microsoft.com/office/drawing/2014/main" id="{3A8D1F68-8C6E-200E-1832-CACF43D13CB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5492" y="-18351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fr-FR" dirty="0"/>
              <a:t>2 </a:t>
            </a:r>
            <a:r>
              <a:rPr lang="fr-FR" dirty="0" err="1"/>
              <a:t>ps</a:t>
            </a:r>
            <a:r>
              <a:rPr lang="fr-FR" dirty="0"/>
              <a:t> </a:t>
            </a:r>
            <a:r>
              <a:rPr lang="fr-FR" dirty="0" err="1"/>
              <a:t>chirp</a:t>
            </a:r>
            <a:r>
              <a:rPr lang="fr-FR" dirty="0"/>
              <a:t> on ACC- 260529 </a:t>
            </a:r>
            <a:endParaRPr dirty="0"/>
          </a:p>
        </p:txBody>
      </p:sp>
      <p:sp>
        <p:nvSpPr>
          <p:cNvPr id="158" name="Google Shape;158;g3e4efdd0c05_0_27">
            <a:extLst>
              <a:ext uri="{FF2B5EF4-FFF2-40B4-BE49-F238E27FC236}">
                <a16:creationId xmlns:a16="http://schemas.microsoft.com/office/drawing/2014/main" id="{72FFB7C4-12A4-C5C0-43D2-D98A5229C275}"/>
              </a:ext>
            </a:extLst>
          </p:cNvPr>
          <p:cNvSpPr txBox="1"/>
          <p:nvPr/>
        </p:nvSpPr>
        <p:spPr>
          <a:xfrm>
            <a:off x="4653850" y="895550"/>
            <a:ext cx="6895800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Wavelength</a:t>
            </a:r>
            <a:r>
              <a:rPr lang="fr-FR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  [92</a:t>
            </a:r>
            <a:r>
              <a:rPr lang="fr-FR" sz="1800" dirty="0">
                <a:solidFill>
                  <a:schemeClr val="dk1"/>
                </a:solidFill>
              </a:rPr>
              <a:t>8.7,928.1,927.8,927.4,927,926.7,925.8,926.4,925.4,924.9,924.6,923.9,928.4,929.1,929.5,929.9,930.2,930.6,931.1,931.5,931.9,932.1,932.3,932.9,933.3,923.6,922.9</a:t>
            </a:r>
            <a:r>
              <a:rPr lang="fr-FR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dirty="0"/>
          </a:p>
        </p:txBody>
      </p:sp>
      <p:sp>
        <p:nvSpPr>
          <p:cNvPr id="159" name="Google Shape;159;g3e4efdd0c05_0_27">
            <a:extLst>
              <a:ext uri="{FF2B5EF4-FFF2-40B4-BE49-F238E27FC236}">
                <a16:creationId xmlns:a16="http://schemas.microsoft.com/office/drawing/2014/main" id="{A2A0F33B-D6AC-1E4A-7C31-3DAB1EE2DB4C}"/>
              </a:ext>
            </a:extLst>
          </p:cNvPr>
          <p:cNvSpPr txBox="1"/>
          <p:nvPr/>
        </p:nvSpPr>
        <p:spPr>
          <a:xfrm>
            <a:off x="449724" y="686844"/>
            <a:ext cx="4005600" cy="14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>
                <a:solidFill>
                  <a:schemeClr val="dk1"/>
                </a:solidFill>
              </a:rPr>
              <a:t>Power 300²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>
                <a:solidFill>
                  <a:schemeClr val="dk1"/>
                </a:solidFill>
              </a:rPr>
              <a:t>Nb points 150²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 err="1">
                <a:solidFill>
                  <a:schemeClr val="dk1"/>
                </a:solidFill>
              </a:rPr>
              <a:t>PixelRep</a:t>
            </a:r>
            <a:r>
              <a:rPr lang="fr-FR" sz="1800" dirty="0">
                <a:solidFill>
                  <a:schemeClr val="dk1"/>
                </a:solidFill>
              </a:rPr>
              <a:t> 100 </a:t>
            </a:r>
            <a:r>
              <a:rPr lang="fr-FR" sz="1800" dirty="0" err="1">
                <a:solidFill>
                  <a:schemeClr val="dk1"/>
                </a:solidFill>
              </a:rPr>
              <a:t>NbACC</a:t>
            </a:r>
            <a:r>
              <a:rPr lang="fr-FR" sz="1800" dirty="0">
                <a:solidFill>
                  <a:schemeClr val="dk1"/>
                </a:solidFill>
              </a:rPr>
              <a:t> 5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>
                <a:solidFill>
                  <a:schemeClr val="dk1"/>
                </a:solidFill>
              </a:rPr>
              <a:t>scan range 50 µm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C8BC9113-4458-1622-2D2C-B9333DCFB583}"/>
              </a:ext>
            </a:extLst>
          </p:cNvPr>
          <p:cNvSpPr txBox="1"/>
          <p:nvPr/>
        </p:nvSpPr>
        <p:spPr>
          <a:xfrm>
            <a:off x="3147060" y="6339840"/>
            <a:ext cx="6815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928.4 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682EA9F1-9094-9370-5584-40CF61B83B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837" y="1897758"/>
            <a:ext cx="2744223" cy="2345868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BB1CD3F5-5DCC-8161-0D97-7536663BEB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435" y="4243626"/>
            <a:ext cx="2503026" cy="2539775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0875BBE0-39B7-9226-A3E6-13B9E173B7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58049" y="3174903"/>
            <a:ext cx="3891601" cy="2555176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67AF2D70-B3DE-D6D0-25A4-EBC000EF30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49750" y="3174903"/>
            <a:ext cx="3905609" cy="2555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5139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>
          <a:extLst>
            <a:ext uri="{FF2B5EF4-FFF2-40B4-BE49-F238E27FC236}">
              <a16:creationId xmlns:a16="http://schemas.microsoft.com/office/drawing/2014/main" id="{3B6B2B28-36C0-B306-7222-D0B1098CC5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e4efdd0c05_0_27">
            <a:extLst>
              <a:ext uri="{FF2B5EF4-FFF2-40B4-BE49-F238E27FC236}">
                <a16:creationId xmlns:a16="http://schemas.microsoft.com/office/drawing/2014/main" id="{A75B0F01-8811-E29D-685E-3AAA5937042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5492" y="-18351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fr-FR" dirty="0"/>
              <a:t>7 </a:t>
            </a:r>
            <a:r>
              <a:rPr lang="fr-FR" dirty="0" err="1"/>
              <a:t>ps</a:t>
            </a:r>
            <a:r>
              <a:rPr lang="fr-FR" dirty="0"/>
              <a:t> </a:t>
            </a:r>
            <a:r>
              <a:rPr lang="fr-FR" dirty="0" err="1"/>
              <a:t>chirp</a:t>
            </a:r>
            <a:r>
              <a:rPr lang="fr-FR" dirty="0"/>
              <a:t> on ACC- 260602 </a:t>
            </a:r>
            <a:endParaRPr dirty="0"/>
          </a:p>
        </p:txBody>
      </p:sp>
      <p:sp>
        <p:nvSpPr>
          <p:cNvPr id="158" name="Google Shape;158;g3e4efdd0c05_0_27">
            <a:extLst>
              <a:ext uri="{FF2B5EF4-FFF2-40B4-BE49-F238E27FC236}">
                <a16:creationId xmlns:a16="http://schemas.microsoft.com/office/drawing/2014/main" id="{82F0CCE9-72AC-863E-224E-8A3C0C8E30B8}"/>
              </a:ext>
            </a:extLst>
          </p:cNvPr>
          <p:cNvSpPr txBox="1"/>
          <p:nvPr/>
        </p:nvSpPr>
        <p:spPr>
          <a:xfrm>
            <a:off x="4050792" y="895550"/>
            <a:ext cx="7498858" cy="1754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Wavelength</a:t>
            </a:r>
            <a:r>
              <a:rPr lang="fr-FR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  [</a:t>
            </a:r>
            <a:r>
              <a:rPr lang="fr-FR" sz="1800" dirty="0">
                <a:solidFill>
                  <a:schemeClr val="dk1"/>
                </a:solidFill>
              </a:rPr>
              <a:t>929.1,928.8,928.4,927.9,927.5,927.2,926.7,926.4,926,925.6,925.2,924.5,923.9,923,926.8,928.6,929.4,929.7,930.2,931.1,932.1,932.9,934.2,934.9</a:t>
            </a:r>
            <a:r>
              <a:rPr lang="fr-FR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>
                <a:solidFill>
                  <a:schemeClr val="dk1"/>
                </a:solidFill>
              </a:rPr>
              <a:t>Remarque : diminution du signal au détecteur sur les dernières mesures (2/3?)</a:t>
            </a:r>
            <a:endParaRPr dirty="0"/>
          </a:p>
        </p:txBody>
      </p:sp>
      <p:sp>
        <p:nvSpPr>
          <p:cNvPr id="159" name="Google Shape;159;g3e4efdd0c05_0_27">
            <a:extLst>
              <a:ext uri="{FF2B5EF4-FFF2-40B4-BE49-F238E27FC236}">
                <a16:creationId xmlns:a16="http://schemas.microsoft.com/office/drawing/2014/main" id="{796EAA5B-8935-1760-17AA-0DAE4E601371}"/>
              </a:ext>
            </a:extLst>
          </p:cNvPr>
          <p:cNvSpPr txBox="1"/>
          <p:nvPr/>
        </p:nvSpPr>
        <p:spPr>
          <a:xfrm>
            <a:off x="449724" y="686844"/>
            <a:ext cx="4005600" cy="14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>
                <a:solidFill>
                  <a:schemeClr val="dk1"/>
                </a:solidFill>
              </a:rPr>
              <a:t>Power 350 OPO,300 Signal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>
                <a:solidFill>
                  <a:schemeClr val="dk1"/>
                </a:solidFill>
              </a:rPr>
              <a:t>Nb points 125²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 err="1">
                <a:solidFill>
                  <a:schemeClr val="dk1"/>
                </a:solidFill>
              </a:rPr>
              <a:t>PixelRep</a:t>
            </a:r>
            <a:r>
              <a:rPr lang="fr-FR" sz="1800" dirty="0">
                <a:solidFill>
                  <a:schemeClr val="dk1"/>
                </a:solidFill>
              </a:rPr>
              <a:t> 150 </a:t>
            </a:r>
            <a:r>
              <a:rPr lang="fr-FR" sz="1800" dirty="0" err="1">
                <a:solidFill>
                  <a:schemeClr val="dk1"/>
                </a:solidFill>
              </a:rPr>
              <a:t>NbACC</a:t>
            </a:r>
            <a:r>
              <a:rPr lang="fr-FR" sz="1800" dirty="0">
                <a:solidFill>
                  <a:schemeClr val="dk1"/>
                </a:solidFill>
              </a:rPr>
              <a:t> 10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>
                <a:solidFill>
                  <a:schemeClr val="dk1"/>
                </a:solidFill>
              </a:rPr>
              <a:t>scan range 50 µm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D1DB7815-03E2-8833-C52D-C1A35BCF89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724" y="2458184"/>
            <a:ext cx="3034258" cy="3152915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9C9D467E-F5E0-37AD-396F-61C07F1CF2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3819" y="2649836"/>
            <a:ext cx="3099426" cy="3139808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F4F3BD44-A300-5F27-6F03-B3DCBBE749CC}"/>
              </a:ext>
            </a:extLst>
          </p:cNvPr>
          <p:cNvSpPr txBox="1"/>
          <p:nvPr/>
        </p:nvSpPr>
        <p:spPr>
          <a:xfrm>
            <a:off x="5349157" y="2304295"/>
            <a:ext cx="60944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dirty="0">
                <a:solidFill>
                  <a:schemeClr val="dk1"/>
                </a:solidFill>
              </a:rPr>
              <a:t>927.2 - calcite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34149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>
          <a:extLst>
            <a:ext uri="{FF2B5EF4-FFF2-40B4-BE49-F238E27FC236}">
              <a16:creationId xmlns:a16="http://schemas.microsoft.com/office/drawing/2014/main" id="{B704E24B-6A9B-3192-50B5-CA895106A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e4efdd0c05_0_27">
            <a:extLst>
              <a:ext uri="{FF2B5EF4-FFF2-40B4-BE49-F238E27FC236}">
                <a16:creationId xmlns:a16="http://schemas.microsoft.com/office/drawing/2014/main" id="{5D947FEC-C022-0FE2-3ED4-6A3C1E3B1E9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5492" y="-18351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fr-FR" dirty="0"/>
              <a:t>2 </a:t>
            </a:r>
            <a:r>
              <a:rPr lang="fr-FR" dirty="0" err="1"/>
              <a:t>ps</a:t>
            </a:r>
            <a:r>
              <a:rPr lang="fr-FR" dirty="0"/>
              <a:t> </a:t>
            </a:r>
            <a:r>
              <a:rPr lang="fr-FR" dirty="0" err="1"/>
              <a:t>chirp</a:t>
            </a:r>
            <a:r>
              <a:rPr lang="fr-FR" dirty="0"/>
              <a:t> on ACC- 260602 </a:t>
            </a:r>
            <a:endParaRPr dirty="0"/>
          </a:p>
        </p:txBody>
      </p:sp>
      <p:sp>
        <p:nvSpPr>
          <p:cNvPr id="158" name="Google Shape;158;g3e4efdd0c05_0_27">
            <a:extLst>
              <a:ext uri="{FF2B5EF4-FFF2-40B4-BE49-F238E27FC236}">
                <a16:creationId xmlns:a16="http://schemas.microsoft.com/office/drawing/2014/main" id="{8A5A0247-DDE6-93A0-9852-EDB9FB0F35A6}"/>
              </a:ext>
            </a:extLst>
          </p:cNvPr>
          <p:cNvSpPr txBox="1"/>
          <p:nvPr/>
        </p:nvSpPr>
        <p:spPr>
          <a:xfrm>
            <a:off x="4050792" y="895550"/>
            <a:ext cx="7498858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Wavelength</a:t>
            </a:r>
            <a:r>
              <a:rPr lang="fr-FR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  [</a:t>
            </a:r>
            <a:r>
              <a:rPr lang="fr-FR" sz="1800" dirty="0">
                <a:solidFill>
                  <a:schemeClr val="dk1"/>
                </a:solidFill>
              </a:rPr>
              <a:t>929.2,928.8,928.3,927.8,927.5,927.1,926.7,926.3,925.9,925.5,924.9,923.9,923,924.5,929.1,929.4,929.7,930.4,</a:t>
            </a:r>
            <a:r>
              <a:rPr lang="fr-FR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</a:p>
        </p:txBody>
      </p:sp>
      <p:sp>
        <p:nvSpPr>
          <p:cNvPr id="159" name="Google Shape;159;g3e4efdd0c05_0_27">
            <a:extLst>
              <a:ext uri="{FF2B5EF4-FFF2-40B4-BE49-F238E27FC236}">
                <a16:creationId xmlns:a16="http://schemas.microsoft.com/office/drawing/2014/main" id="{A9A8BF94-7A6B-2A77-DD70-6CE3D06750B2}"/>
              </a:ext>
            </a:extLst>
          </p:cNvPr>
          <p:cNvSpPr txBox="1"/>
          <p:nvPr/>
        </p:nvSpPr>
        <p:spPr>
          <a:xfrm>
            <a:off x="449724" y="686844"/>
            <a:ext cx="4005600" cy="14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>
                <a:solidFill>
                  <a:schemeClr val="dk1"/>
                </a:solidFill>
              </a:rPr>
              <a:t>Power 150²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>
                <a:solidFill>
                  <a:schemeClr val="dk1"/>
                </a:solidFill>
              </a:rPr>
              <a:t>Nb points 125²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 err="1">
                <a:solidFill>
                  <a:schemeClr val="dk1"/>
                </a:solidFill>
              </a:rPr>
              <a:t>PixelRep</a:t>
            </a:r>
            <a:r>
              <a:rPr lang="fr-FR" sz="1800" dirty="0">
                <a:solidFill>
                  <a:schemeClr val="dk1"/>
                </a:solidFill>
              </a:rPr>
              <a:t> 100 </a:t>
            </a:r>
            <a:r>
              <a:rPr lang="fr-FR" sz="1800" dirty="0" err="1">
                <a:solidFill>
                  <a:schemeClr val="dk1"/>
                </a:solidFill>
              </a:rPr>
              <a:t>NbACC</a:t>
            </a:r>
            <a:r>
              <a:rPr lang="fr-FR" sz="1800" dirty="0">
                <a:solidFill>
                  <a:schemeClr val="dk1"/>
                </a:solidFill>
              </a:rPr>
              <a:t> 5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>
                <a:solidFill>
                  <a:schemeClr val="dk1"/>
                </a:solidFill>
              </a:rPr>
              <a:t>scan range 50 µm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496BEA65-832C-8F66-3782-CEB640EBE8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724" y="2458184"/>
            <a:ext cx="3034258" cy="3152915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B2194AA4-079B-6A80-E75E-5453D51485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4062" y="2461636"/>
            <a:ext cx="3099426" cy="3139808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D4A9B76C-49FB-2D42-7E72-C051AC8ED721}"/>
              </a:ext>
            </a:extLst>
          </p:cNvPr>
          <p:cNvSpPr txBox="1"/>
          <p:nvPr/>
        </p:nvSpPr>
        <p:spPr>
          <a:xfrm>
            <a:off x="5161876" y="5627908"/>
            <a:ext cx="60944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dirty="0">
                <a:solidFill>
                  <a:schemeClr val="dk1"/>
                </a:solidFill>
              </a:rPr>
              <a:t>923.9 – CCHH ?</a:t>
            </a:r>
            <a:endParaRPr lang="fr-FR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93CBF212-8D88-4F12-66B4-1FCC29AE26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0010" y="2448528"/>
            <a:ext cx="3127530" cy="3152916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8C53B284-12B0-C770-933C-F1C8F60739D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28740" y="2448528"/>
            <a:ext cx="3127612" cy="3152916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6BF6D126-13A4-F97F-EF03-F48AC1F9D3FD}"/>
              </a:ext>
            </a:extLst>
          </p:cNvPr>
          <p:cNvSpPr txBox="1"/>
          <p:nvPr/>
        </p:nvSpPr>
        <p:spPr>
          <a:xfrm>
            <a:off x="9006382" y="5601444"/>
            <a:ext cx="60944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dirty="0">
                <a:solidFill>
                  <a:schemeClr val="dk1"/>
                </a:solidFill>
              </a:rPr>
              <a:t>929.1 – ACC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486983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>
          <a:extLst>
            <a:ext uri="{FF2B5EF4-FFF2-40B4-BE49-F238E27FC236}">
              <a16:creationId xmlns:a16="http://schemas.microsoft.com/office/drawing/2014/main" id="{633842C2-47DC-469B-7028-C45F3F1B5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e4efdd0c05_0_27">
            <a:extLst>
              <a:ext uri="{FF2B5EF4-FFF2-40B4-BE49-F238E27FC236}">
                <a16:creationId xmlns:a16="http://schemas.microsoft.com/office/drawing/2014/main" id="{4320B729-864C-1EEE-5CA6-80900082549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5492" y="-18351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fr-FR" dirty="0"/>
              <a:t>2 </a:t>
            </a:r>
            <a:r>
              <a:rPr lang="fr-FR" dirty="0" err="1"/>
              <a:t>ps</a:t>
            </a:r>
            <a:r>
              <a:rPr lang="fr-FR" dirty="0"/>
              <a:t> </a:t>
            </a:r>
            <a:r>
              <a:rPr lang="fr-FR" dirty="0" err="1"/>
              <a:t>chirp</a:t>
            </a:r>
            <a:r>
              <a:rPr lang="fr-FR" dirty="0"/>
              <a:t> on ACC- 260603 </a:t>
            </a:r>
            <a:endParaRPr dirty="0"/>
          </a:p>
        </p:txBody>
      </p:sp>
      <p:sp>
        <p:nvSpPr>
          <p:cNvPr id="158" name="Google Shape;158;g3e4efdd0c05_0_27">
            <a:extLst>
              <a:ext uri="{FF2B5EF4-FFF2-40B4-BE49-F238E27FC236}">
                <a16:creationId xmlns:a16="http://schemas.microsoft.com/office/drawing/2014/main" id="{82E63A12-6D52-7DA5-D6D3-DC09117B27AF}"/>
              </a:ext>
            </a:extLst>
          </p:cNvPr>
          <p:cNvSpPr txBox="1"/>
          <p:nvPr/>
        </p:nvSpPr>
        <p:spPr>
          <a:xfrm>
            <a:off x="4050792" y="895550"/>
            <a:ext cx="7498858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Wavelength</a:t>
            </a:r>
            <a:r>
              <a:rPr lang="fr-FR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  [</a:t>
            </a:r>
            <a:r>
              <a:rPr lang="fr-FR" sz="1800" dirty="0">
                <a:solidFill>
                  <a:schemeClr val="dk1"/>
                </a:solidFill>
              </a:rPr>
              <a:t>927.2,927.6,928,928.3,928.7,929.3,929.7,930.2,931,929.2,927,926.5,925.9,925</a:t>
            </a:r>
            <a:endParaRPr lang="fr-FR"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g3e4efdd0c05_0_27">
            <a:extLst>
              <a:ext uri="{FF2B5EF4-FFF2-40B4-BE49-F238E27FC236}">
                <a16:creationId xmlns:a16="http://schemas.microsoft.com/office/drawing/2014/main" id="{CE9E7C6C-5B3C-9069-DC45-29328D1EE1DC}"/>
              </a:ext>
            </a:extLst>
          </p:cNvPr>
          <p:cNvSpPr txBox="1"/>
          <p:nvPr/>
        </p:nvSpPr>
        <p:spPr>
          <a:xfrm>
            <a:off x="449724" y="686844"/>
            <a:ext cx="4005600" cy="14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>
                <a:solidFill>
                  <a:schemeClr val="dk1"/>
                </a:solidFill>
              </a:rPr>
              <a:t>Power 150²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>
                <a:solidFill>
                  <a:schemeClr val="dk1"/>
                </a:solidFill>
              </a:rPr>
              <a:t>Nb points 125²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 err="1">
                <a:solidFill>
                  <a:schemeClr val="dk1"/>
                </a:solidFill>
              </a:rPr>
              <a:t>PixelRep</a:t>
            </a:r>
            <a:r>
              <a:rPr lang="fr-FR" sz="1800" dirty="0">
                <a:solidFill>
                  <a:schemeClr val="dk1"/>
                </a:solidFill>
              </a:rPr>
              <a:t> 100 </a:t>
            </a:r>
            <a:r>
              <a:rPr lang="fr-FR" sz="1800" dirty="0" err="1">
                <a:solidFill>
                  <a:schemeClr val="dk1"/>
                </a:solidFill>
              </a:rPr>
              <a:t>NbACC</a:t>
            </a:r>
            <a:r>
              <a:rPr lang="fr-FR" sz="1800" dirty="0">
                <a:solidFill>
                  <a:schemeClr val="dk1"/>
                </a:solidFill>
              </a:rPr>
              <a:t> 5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>
                <a:solidFill>
                  <a:schemeClr val="dk1"/>
                </a:solidFill>
              </a:rPr>
              <a:t>scan range 50 µm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494F6DEA-0A3E-F548-B3CD-8D2DE064DE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724" y="2458184"/>
            <a:ext cx="3034258" cy="3152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4287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>
          <a:extLst>
            <a:ext uri="{FF2B5EF4-FFF2-40B4-BE49-F238E27FC236}">
              <a16:creationId xmlns:a16="http://schemas.microsoft.com/office/drawing/2014/main" id="{2EE4B13D-E2E7-8C93-AFC3-E4AFF580E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e4efdd0c05_0_27">
            <a:extLst>
              <a:ext uri="{FF2B5EF4-FFF2-40B4-BE49-F238E27FC236}">
                <a16:creationId xmlns:a16="http://schemas.microsoft.com/office/drawing/2014/main" id="{8FBD523F-FE7C-DE7B-6282-1B986C5B551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5492" y="-18351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fr-FR" dirty="0"/>
              <a:t>2 </a:t>
            </a:r>
            <a:r>
              <a:rPr lang="fr-FR" dirty="0" err="1"/>
              <a:t>ps</a:t>
            </a:r>
            <a:r>
              <a:rPr lang="fr-FR" dirty="0"/>
              <a:t> </a:t>
            </a:r>
            <a:r>
              <a:rPr lang="fr-FR" dirty="0" err="1"/>
              <a:t>chirp</a:t>
            </a:r>
            <a:r>
              <a:rPr lang="fr-FR" dirty="0"/>
              <a:t> on ACC- 260603 bis </a:t>
            </a:r>
            <a:endParaRPr dirty="0"/>
          </a:p>
        </p:txBody>
      </p:sp>
      <p:sp>
        <p:nvSpPr>
          <p:cNvPr id="158" name="Google Shape;158;g3e4efdd0c05_0_27">
            <a:extLst>
              <a:ext uri="{FF2B5EF4-FFF2-40B4-BE49-F238E27FC236}">
                <a16:creationId xmlns:a16="http://schemas.microsoft.com/office/drawing/2014/main" id="{1FCAA26B-0D3B-10A4-E871-07DC071BD384}"/>
              </a:ext>
            </a:extLst>
          </p:cNvPr>
          <p:cNvSpPr txBox="1"/>
          <p:nvPr/>
        </p:nvSpPr>
        <p:spPr>
          <a:xfrm>
            <a:off x="3987249" y="957539"/>
            <a:ext cx="7498858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Wavelength</a:t>
            </a:r>
            <a:r>
              <a:rPr lang="fr-FR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  </a:t>
            </a:r>
            <a:r>
              <a:rPr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lang="fr-FR" sz="1800">
                <a:solidFill>
                  <a:schemeClr val="dk1"/>
                </a:solidFill>
              </a:rPr>
              <a:t>929.1,929.4,929.9,930.3,930.5,931,931.2,931.5,931.9,932.4,933.2,928.7,928.1,927.7,927.4,926.8,926.6,926.3,925.8,928.4]</a:t>
            </a:r>
            <a:endParaRPr lang="fr-FR"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g3e4efdd0c05_0_27">
            <a:extLst>
              <a:ext uri="{FF2B5EF4-FFF2-40B4-BE49-F238E27FC236}">
                <a16:creationId xmlns:a16="http://schemas.microsoft.com/office/drawing/2014/main" id="{57CE29C4-D710-8F4F-20BE-5E99294EECB4}"/>
              </a:ext>
            </a:extLst>
          </p:cNvPr>
          <p:cNvSpPr txBox="1"/>
          <p:nvPr/>
        </p:nvSpPr>
        <p:spPr>
          <a:xfrm>
            <a:off x="449724" y="686844"/>
            <a:ext cx="4005600" cy="14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>
                <a:solidFill>
                  <a:schemeClr val="dk1"/>
                </a:solidFill>
              </a:rPr>
              <a:t>Power 200²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>
                <a:solidFill>
                  <a:schemeClr val="dk1"/>
                </a:solidFill>
              </a:rPr>
              <a:t>Nb points 125²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 err="1">
                <a:solidFill>
                  <a:schemeClr val="dk1"/>
                </a:solidFill>
              </a:rPr>
              <a:t>PixelRep</a:t>
            </a:r>
            <a:r>
              <a:rPr lang="fr-FR" sz="1800" dirty="0">
                <a:solidFill>
                  <a:schemeClr val="dk1"/>
                </a:solidFill>
              </a:rPr>
              <a:t> 100 </a:t>
            </a:r>
            <a:r>
              <a:rPr lang="fr-FR" sz="1800" dirty="0" err="1">
                <a:solidFill>
                  <a:schemeClr val="dk1"/>
                </a:solidFill>
              </a:rPr>
              <a:t>NbACC</a:t>
            </a:r>
            <a:r>
              <a:rPr lang="fr-FR" sz="1800" dirty="0">
                <a:solidFill>
                  <a:schemeClr val="dk1"/>
                </a:solidFill>
              </a:rPr>
              <a:t> 5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>
                <a:solidFill>
                  <a:schemeClr val="dk1"/>
                </a:solidFill>
              </a:rPr>
              <a:t>scan range 50 µm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EA751F34-3988-7A7A-2203-276F2C7FE6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953313"/>
            <a:ext cx="3123387" cy="2910430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E2F54591-8F48-6615-69FD-FA03500A76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6735" y="2645900"/>
            <a:ext cx="3833113" cy="3525256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12C45418-CD38-CEF6-CD8B-A2EB40AB19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8418" y="2992768"/>
            <a:ext cx="4309373" cy="2831519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619C9B73-C43F-91F5-AF51-BD3F6447C6E7}"/>
              </a:ext>
            </a:extLst>
          </p:cNvPr>
          <p:cNvSpPr txBox="1"/>
          <p:nvPr/>
        </p:nvSpPr>
        <p:spPr>
          <a:xfrm>
            <a:off x="6096000" y="1904614"/>
            <a:ext cx="23647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 b="1" dirty="0"/>
              <a:t>ACC zone</a:t>
            </a:r>
          </a:p>
        </p:txBody>
      </p:sp>
    </p:spTree>
    <p:extLst>
      <p:ext uri="{BB962C8B-B14F-4D97-AF65-F5344CB8AC3E}">
        <p14:creationId xmlns:p14="http://schemas.microsoft.com/office/powerpoint/2010/main" val="9121067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>
          <a:extLst>
            <a:ext uri="{FF2B5EF4-FFF2-40B4-BE49-F238E27FC236}">
              <a16:creationId xmlns:a16="http://schemas.microsoft.com/office/drawing/2014/main" id="{9E0880BF-A1D2-E4C7-CFC5-5461BBA6E6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e4efdd0c05_0_27">
            <a:extLst>
              <a:ext uri="{FF2B5EF4-FFF2-40B4-BE49-F238E27FC236}">
                <a16:creationId xmlns:a16="http://schemas.microsoft.com/office/drawing/2014/main" id="{A6A1F5C4-ADBE-D257-9A52-1CA39793C85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5492" y="-18351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fr-FR" dirty="0"/>
              <a:t>2 </a:t>
            </a:r>
            <a:r>
              <a:rPr lang="fr-FR" dirty="0" err="1"/>
              <a:t>ps</a:t>
            </a:r>
            <a:r>
              <a:rPr lang="fr-FR" dirty="0"/>
              <a:t> </a:t>
            </a:r>
            <a:r>
              <a:rPr lang="fr-FR" dirty="0" err="1"/>
              <a:t>chirp</a:t>
            </a:r>
            <a:r>
              <a:rPr lang="fr-FR" dirty="0"/>
              <a:t> on ACC- 260603 bis </a:t>
            </a:r>
            <a:endParaRPr dirty="0"/>
          </a:p>
        </p:txBody>
      </p:sp>
      <p:sp>
        <p:nvSpPr>
          <p:cNvPr id="158" name="Google Shape;158;g3e4efdd0c05_0_27">
            <a:extLst>
              <a:ext uri="{FF2B5EF4-FFF2-40B4-BE49-F238E27FC236}">
                <a16:creationId xmlns:a16="http://schemas.microsoft.com/office/drawing/2014/main" id="{97D87E74-AB10-40DB-CC32-00776BDC2544}"/>
              </a:ext>
            </a:extLst>
          </p:cNvPr>
          <p:cNvSpPr txBox="1"/>
          <p:nvPr/>
        </p:nvSpPr>
        <p:spPr>
          <a:xfrm>
            <a:off x="3987249" y="957539"/>
            <a:ext cx="7498858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Wavelength</a:t>
            </a:r>
            <a:r>
              <a:rPr lang="fr-FR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  </a:t>
            </a:r>
            <a:r>
              <a:rPr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lang="fr-FR" sz="1800">
                <a:solidFill>
                  <a:schemeClr val="dk1"/>
                </a:solidFill>
              </a:rPr>
              <a:t>929.1,929.4,929.9,930.3,930.5,931,931.2,931.5,931.9,932.4,933.2,928.7,928.1,927.7,927.4,926.8,926.6,926.3,925.8,928.4]</a:t>
            </a:r>
            <a:endParaRPr lang="fr-FR"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g3e4efdd0c05_0_27">
            <a:extLst>
              <a:ext uri="{FF2B5EF4-FFF2-40B4-BE49-F238E27FC236}">
                <a16:creationId xmlns:a16="http://schemas.microsoft.com/office/drawing/2014/main" id="{B05A4B74-7ABC-E225-6650-E9690708576E}"/>
              </a:ext>
            </a:extLst>
          </p:cNvPr>
          <p:cNvSpPr txBox="1"/>
          <p:nvPr/>
        </p:nvSpPr>
        <p:spPr>
          <a:xfrm>
            <a:off x="449724" y="686844"/>
            <a:ext cx="4005600" cy="14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>
                <a:solidFill>
                  <a:schemeClr val="dk1"/>
                </a:solidFill>
              </a:rPr>
              <a:t>Power 200²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>
                <a:solidFill>
                  <a:schemeClr val="dk1"/>
                </a:solidFill>
              </a:rPr>
              <a:t>Nb points 125²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 err="1">
                <a:solidFill>
                  <a:schemeClr val="dk1"/>
                </a:solidFill>
              </a:rPr>
              <a:t>PixelRep</a:t>
            </a:r>
            <a:r>
              <a:rPr lang="fr-FR" sz="1800" dirty="0">
                <a:solidFill>
                  <a:schemeClr val="dk1"/>
                </a:solidFill>
              </a:rPr>
              <a:t> 100 </a:t>
            </a:r>
            <a:r>
              <a:rPr lang="fr-FR" sz="1800" dirty="0" err="1">
                <a:solidFill>
                  <a:schemeClr val="dk1"/>
                </a:solidFill>
              </a:rPr>
              <a:t>NbACC</a:t>
            </a:r>
            <a:r>
              <a:rPr lang="fr-FR" sz="1800" dirty="0">
                <a:solidFill>
                  <a:schemeClr val="dk1"/>
                </a:solidFill>
              </a:rPr>
              <a:t> 5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>
                <a:solidFill>
                  <a:schemeClr val="dk1"/>
                </a:solidFill>
              </a:rPr>
              <a:t>scan range 50 µm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428A8688-79D0-6E30-012C-F1DB708892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953313"/>
            <a:ext cx="3123387" cy="2910430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784D247A-1001-B36A-B088-E440AD54CF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7620" y="2782358"/>
            <a:ext cx="3511432" cy="3296907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6E11A3C2-EBE5-83FE-4410-425EB07A43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9000" y="3021882"/>
            <a:ext cx="4664684" cy="3018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06762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>
          <a:extLst>
            <a:ext uri="{FF2B5EF4-FFF2-40B4-BE49-F238E27FC236}">
              <a16:creationId xmlns:a16="http://schemas.microsoft.com/office/drawing/2014/main" id="{6DB78521-BAA3-8973-B5F5-6E9EB9956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e4efdd0c05_0_27">
            <a:extLst>
              <a:ext uri="{FF2B5EF4-FFF2-40B4-BE49-F238E27FC236}">
                <a16:creationId xmlns:a16="http://schemas.microsoft.com/office/drawing/2014/main" id="{751EEFF0-4ABA-ECD7-462F-78BA9D7D08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5492" y="-18351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fr-FR" dirty="0"/>
              <a:t>7 </a:t>
            </a:r>
            <a:r>
              <a:rPr lang="fr-FR" dirty="0" err="1"/>
              <a:t>ps</a:t>
            </a:r>
            <a:r>
              <a:rPr lang="fr-FR" dirty="0"/>
              <a:t> </a:t>
            </a:r>
            <a:r>
              <a:rPr lang="fr-FR" dirty="0" err="1"/>
              <a:t>chirp</a:t>
            </a:r>
            <a:r>
              <a:rPr lang="fr-FR" dirty="0"/>
              <a:t> on ACC- 260603 bis </a:t>
            </a:r>
            <a:endParaRPr dirty="0"/>
          </a:p>
        </p:txBody>
      </p:sp>
      <p:sp>
        <p:nvSpPr>
          <p:cNvPr id="158" name="Google Shape;158;g3e4efdd0c05_0_27">
            <a:extLst>
              <a:ext uri="{FF2B5EF4-FFF2-40B4-BE49-F238E27FC236}">
                <a16:creationId xmlns:a16="http://schemas.microsoft.com/office/drawing/2014/main" id="{E605294E-CFAE-1271-3B2C-8CB4BE44EB92}"/>
              </a:ext>
            </a:extLst>
          </p:cNvPr>
          <p:cNvSpPr txBox="1"/>
          <p:nvPr/>
        </p:nvSpPr>
        <p:spPr>
          <a:xfrm>
            <a:off x="3987249" y="745354"/>
            <a:ext cx="7498858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fr-FR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Wavelength</a:t>
            </a:r>
            <a:r>
              <a:rPr lang="fr-FR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  </a:t>
            </a:r>
            <a:r>
              <a:rPr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lang="fr-FR" sz="1800">
                <a:solidFill>
                  <a:schemeClr val="dk1"/>
                </a:solidFill>
              </a:rPr>
              <a:t>929,929.7,930,929.4,927,927.5,927.9,928.3,928.6,929.4,927.2,926.6,</a:t>
            </a:r>
            <a:r>
              <a:rPr lang="fr-FR" sz="1800" b="1">
                <a:solidFill>
                  <a:schemeClr val="dk1"/>
                </a:solidFill>
              </a:rPr>
              <a:t>926.4</a:t>
            </a:r>
            <a:r>
              <a:rPr lang="fr-FR" sz="1800">
                <a:solidFill>
                  <a:schemeClr val="dk1"/>
                </a:solidFill>
              </a:rPr>
              <a:t>,926,924.9]</a:t>
            </a:r>
            <a:endParaRPr lang="fr-FR"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/>
            <a:r>
              <a:rPr lang="fr-FR" sz="1800" dirty="0" err="1">
                <a:solidFill>
                  <a:schemeClr val="dk1"/>
                </a:solidFill>
              </a:rPr>
              <a:t>Rq</a:t>
            </a:r>
            <a:r>
              <a:rPr lang="fr-FR" sz="1800" dirty="0">
                <a:solidFill>
                  <a:schemeClr val="dk1"/>
                </a:solidFill>
              </a:rPr>
              <a:t> : en gras, PMT allumé</a:t>
            </a:r>
            <a:endParaRPr lang="fr-FR"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g3e4efdd0c05_0_27">
            <a:extLst>
              <a:ext uri="{FF2B5EF4-FFF2-40B4-BE49-F238E27FC236}">
                <a16:creationId xmlns:a16="http://schemas.microsoft.com/office/drawing/2014/main" id="{32C7CF18-A6A5-FF50-EA39-7AA807AAEBBB}"/>
              </a:ext>
            </a:extLst>
          </p:cNvPr>
          <p:cNvSpPr txBox="1"/>
          <p:nvPr/>
        </p:nvSpPr>
        <p:spPr>
          <a:xfrm>
            <a:off x="449724" y="686844"/>
            <a:ext cx="4005600" cy="14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>
                <a:solidFill>
                  <a:schemeClr val="dk1"/>
                </a:solidFill>
              </a:rPr>
              <a:t>Power 350,300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>
                <a:solidFill>
                  <a:schemeClr val="dk1"/>
                </a:solidFill>
              </a:rPr>
              <a:t>Nb points 125²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 err="1">
                <a:solidFill>
                  <a:schemeClr val="dk1"/>
                </a:solidFill>
              </a:rPr>
              <a:t>PixelRep</a:t>
            </a:r>
            <a:r>
              <a:rPr lang="fr-FR" sz="1800" dirty="0">
                <a:solidFill>
                  <a:schemeClr val="dk1"/>
                </a:solidFill>
              </a:rPr>
              <a:t> 150 </a:t>
            </a:r>
            <a:r>
              <a:rPr lang="fr-FR" sz="1800" dirty="0" err="1">
                <a:solidFill>
                  <a:schemeClr val="dk1"/>
                </a:solidFill>
              </a:rPr>
              <a:t>NbACC</a:t>
            </a:r>
            <a:r>
              <a:rPr lang="fr-FR" sz="1800" dirty="0">
                <a:solidFill>
                  <a:schemeClr val="dk1"/>
                </a:solidFill>
              </a:rPr>
              <a:t> 10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>
                <a:solidFill>
                  <a:schemeClr val="dk1"/>
                </a:solidFill>
              </a:rPr>
              <a:t>scan range 50 µm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B0621150-E4C2-D73C-65A3-93A7BD851E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724" y="2667926"/>
            <a:ext cx="3123387" cy="2910430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D83E73AA-9E63-8021-6C7D-B212FF316C0B}"/>
              </a:ext>
            </a:extLst>
          </p:cNvPr>
          <p:cNvSpPr txBox="1"/>
          <p:nvPr/>
        </p:nvSpPr>
        <p:spPr>
          <a:xfrm>
            <a:off x="6096000" y="1904614"/>
            <a:ext cx="23647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 b="1" dirty="0"/>
              <a:t>ACC zone</a:t>
            </a: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A5F62CAC-3191-4D74-1C4B-135CAFE939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8075" y="2592095"/>
            <a:ext cx="3373082" cy="2986261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0EB53AE8-275F-6F53-16B7-69217851EB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2155" y="2550945"/>
            <a:ext cx="4592709" cy="2974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9787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>
          <a:extLst>
            <a:ext uri="{FF2B5EF4-FFF2-40B4-BE49-F238E27FC236}">
              <a16:creationId xmlns:a16="http://schemas.microsoft.com/office/drawing/2014/main" id="{78CCB32D-CE73-C897-F541-A64CADC77E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e4efdd0c05_0_27">
            <a:extLst>
              <a:ext uri="{FF2B5EF4-FFF2-40B4-BE49-F238E27FC236}">
                <a16:creationId xmlns:a16="http://schemas.microsoft.com/office/drawing/2014/main" id="{656A89BF-B052-2FD3-383B-8435564A66E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5492" y="-18351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fr-FR" dirty="0"/>
              <a:t>7 </a:t>
            </a:r>
            <a:r>
              <a:rPr lang="fr-FR" dirty="0" err="1"/>
              <a:t>ps</a:t>
            </a:r>
            <a:r>
              <a:rPr lang="fr-FR" dirty="0"/>
              <a:t> </a:t>
            </a:r>
            <a:r>
              <a:rPr lang="fr-FR" dirty="0" err="1"/>
              <a:t>chirp</a:t>
            </a:r>
            <a:r>
              <a:rPr lang="fr-FR" dirty="0"/>
              <a:t> on ACC- 260603 bis </a:t>
            </a:r>
            <a:endParaRPr dirty="0"/>
          </a:p>
        </p:txBody>
      </p:sp>
      <p:sp>
        <p:nvSpPr>
          <p:cNvPr id="158" name="Google Shape;158;g3e4efdd0c05_0_27">
            <a:extLst>
              <a:ext uri="{FF2B5EF4-FFF2-40B4-BE49-F238E27FC236}">
                <a16:creationId xmlns:a16="http://schemas.microsoft.com/office/drawing/2014/main" id="{C5F99707-8D8C-FAE2-4B22-CB34F8CF49DE}"/>
              </a:ext>
            </a:extLst>
          </p:cNvPr>
          <p:cNvSpPr txBox="1"/>
          <p:nvPr/>
        </p:nvSpPr>
        <p:spPr>
          <a:xfrm>
            <a:off x="3987249" y="745354"/>
            <a:ext cx="7498858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fr-FR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Wavelength</a:t>
            </a:r>
            <a:r>
              <a:rPr lang="fr-FR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  </a:t>
            </a:r>
            <a:r>
              <a:rPr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lang="fr-FR" sz="1800">
                <a:solidFill>
                  <a:schemeClr val="dk1"/>
                </a:solidFill>
              </a:rPr>
              <a:t>929,929.7,930,929.4,927,927.5,927.9,928.3,928.6,929.4,927.2,926.6,</a:t>
            </a:r>
            <a:r>
              <a:rPr lang="fr-FR" sz="1800" b="1">
                <a:solidFill>
                  <a:schemeClr val="dk1"/>
                </a:solidFill>
              </a:rPr>
              <a:t>926.4</a:t>
            </a:r>
            <a:r>
              <a:rPr lang="fr-FR" sz="1800">
                <a:solidFill>
                  <a:schemeClr val="dk1"/>
                </a:solidFill>
              </a:rPr>
              <a:t>,926,924.9]</a:t>
            </a:r>
            <a:endParaRPr lang="fr-FR"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/>
            <a:r>
              <a:rPr lang="fr-FR" sz="1800" dirty="0" err="1">
                <a:solidFill>
                  <a:schemeClr val="dk1"/>
                </a:solidFill>
              </a:rPr>
              <a:t>Rq</a:t>
            </a:r>
            <a:r>
              <a:rPr lang="fr-FR" sz="1800" dirty="0">
                <a:solidFill>
                  <a:schemeClr val="dk1"/>
                </a:solidFill>
              </a:rPr>
              <a:t> : en gras, PMT allumé</a:t>
            </a:r>
            <a:endParaRPr lang="fr-FR"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g3e4efdd0c05_0_27">
            <a:extLst>
              <a:ext uri="{FF2B5EF4-FFF2-40B4-BE49-F238E27FC236}">
                <a16:creationId xmlns:a16="http://schemas.microsoft.com/office/drawing/2014/main" id="{74199A9B-0850-AAC7-E107-89868F76D72B}"/>
              </a:ext>
            </a:extLst>
          </p:cNvPr>
          <p:cNvSpPr txBox="1"/>
          <p:nvPr/>
        </p:nvSpPr>
        <p:spPr>
          <a:xfrm>
            <a:off x="449724" y="686844"/>
            <a:ext cx="4005600" cy="14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>
                <a:solidFill>
                  <a:schemeClr val="dk1"/>
                </a:solidFill>
              </a:rPr>
              <a:t>Power 350,300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>
                <a:solidFill>
                  <a:schemeClr val="dk1"/>
                </a:solidFill>
              </a:rPr>
              <a:t>Nb points 125²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 err="1">
                <a:solidFill>
                  <a:schemeClr val="dk1"/>
                </a:solidFill>
              </a:rPr>
              <a:t>PixelRep</a:t>
            </a:r>
            <a:r>
              <a:rPr lang="fr-FR" sz="1800" dirty="0">
                <a:solidFill>
                  <a:schemeClr val="dk1"/>
                </a:solidFill>
              </a:rPr>
              <a:t> 150 </a:t>
            </a:r>
            <a:r>
              <a:rPr lang="fr-FR" sz="1800" dirty="0" err="1">
                <a:solidFill>
                  <a:schemeClr val="dk1"/>
                </a:solidFill>
              </a:rPr>
              <a:t>NbACC</a:t>
            </a:r>
            <a:r>
              <a:rPr lang="fr-FR" sz="1800" dirty="0">
                <a:solidFill>
                  <a:schemeClr val="dk1"/>
                </a:solidFill>
              </a:rPr>
              <a:t> 10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>
                <a:solidFill>
                  <a:schemeClr val="dk1"/>
                </a:solidFill>
              </a:rPr>
              <a:t>scan range 50 µm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0F227FFE-563E-6437-930D-81B152B521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724" y="2667926"/>
            <a:ext cx="3123387" cy="2910430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6A971B01-B09C-3CC7-92EB-D24D12CFA6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4190" y="2550945"/>
            <a:ext cx="3464185" cy="3172350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AE70CFFD-2A02-5BFC-8EEE-EDA184365C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42947" y="2776925"/>
            <a:ext cx="1143160" cy="485843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8E549F69-B365-B557-88FD-D2D03EDA849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50639" y="2667926"/>
            <a:ext cx="4391637" cy="2843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5223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>
          <a:extLst>
            <a:ext uri="{FF2B5EF4-FFF2-40B4-BE49-F238E27FC236}">
              <a16:creationId xmlns:a16="http://schemas.microsoft.com/office/drawing/2014/main" id="{AC600147-A9B1-1FD0-D293-901EE5D87E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e4efdd0c05_0_27">
            <a:extLst>
              <a:ext uri="{FF2B5EF4-FFF2-40B4-BE49-F238E27FC236}">
                <a16:creationId xmlns:a16="http://schemas.microsoft.com/office/drawing/2014/main" id="{D06F36A1-2785-AA08-D26B-97002F0B8D0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5492" y="-18351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fr-FR" dirty="0"/>
              <a:t>7 </a:t>
            </a:r>
            <a:r>
              <a:rPr lang="fr-FR" dirty="0" err="1"/>
              <a:t>ps</a:t>
            </a:r>
            <a:r>
              <a:rPr lang="fr-FR" dirty="0"/>
              <a:t> </a:t>
            </a:r>
            <a:r>
              <a:rPr lang="fr-FR" dirty="0" err="1"/>
              <a:t>chirp</a:t>
            </a:r>
            <a:r>
              <a:rPr lang="fr-FR" dirty="0"/>
              <a:t> on ACC- 260623  </a:t>
            </a:r>
            <a:endParaRPr dirty="0"/>
          </a:p>
        </p:txBody>
      </p:sp>
      <p:sp>
        <p:nvSpPr>
          <p:cNvPr id="158" name="Google Shape;158;g3e4efdd0c05_0_27">
            <a:extLst>
              <a:ext uri="{FF2B5EF4-FFF2-40B4-BE49-F238E27FC236}">
                <a16:creationId xmlns:a16="http://schemas.microsoft.com/office/drawing/2014/main" id="{106BD523-5253-1C59-5156-539822BD2388}"/>
              </a:ext>
            </a:extLst>
          </p:cNvPr>
          <p:cNvSpPr txBox="1"/>
          <p:nvPr/>
        </p:nvSpPr>
        <p:spPr>
          <a:xfrm>
            <a:off x="3987249" y="745354"/>
            <a:ext cx="7498858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fr-FR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Wavelength</a:t>
            </a:r>
            <a:r>
              <a:rPr lang="fr-FR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  </a:t>
            </a:r>
            <a:r>
              <a:rPr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lang="fr-FR" sz="1800">
                <a:solidFill>
                  <a:schemeClr val="dk1"/>
                </a:solidFill>
              </a:rPr>
              <a:t>928.5,928.8,929.2,929.6,930,928.3,928,927.6,927.2,926.9,926.6,927.5]</a:t>
            </a:r>
            <a:endParaRPr lang="fr-FR"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g3e4efdd0c05_0_27">
            <a:extLst>
              <a:ext uri="{FF2B5EF4-FFF2-40B4-BE49-F238E27FC236}">
                <a16:creationId xmlns:a16="http://schemas.microsoft.com/office/drawing/2014/main" id="{34AE9B29-12C5-E190-8497-1C14BC375FA7}"/>
              </a:ext>
            </a:extLst>
          </p:cNvPr>
          <p:cNvSpPr txBox="1"/>
          <p:nvPr/>
        </p:nvSpPr>
        <p:spPr>
          <a:xfrm>
            <a:off x="152572" y="666664"/>
            <a:ext cx="4005600" cy="14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>
                <a:solidFill>
                  <a:schemeClr val="dk1"/>
                </a:solidFill>
              </a:rPr>
              <a:t>Power 300,300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>
                <a:solidFill>
                  <a:schemeClr val="dk1"/>
                </a:solidFill>
              </a:rPr>
              <a:t>Nb points 100²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 err="1">
                <a:solidFill>
                  <a:schemeClr val="dk1"/>
                </a:solidFill>
              </a:rPr>
              <a:t>PixelRep</a:t>
            </a:r>
            <a:r>
              <a:rPr lang="fr-FR" sz="1800" dirty="0">
                <a:solidFill>
                  <a:schemeClr val="dk1"/>
                </a:solidFill>
              </a:rPr>
              <a:t> 100 </a:t>
            </a:r>
            <a:r>
              <a:rPr lang="fr-FR" sz="1800" dirty="0" err="1">
                <a:solidFill>
                  <a:schemeClr val="dk1"/>
                </a:solidFill>
              </a:rPr>
              <a:t>NbACC</a:t>
            </a:r>
            <a:r>
              <a:rPr lang="fr-FR" sz="1800" dirty="0">
                <a:solidFill>
                  <a:schemeClr val="dk1"/>
                </a:solidFill>
              </a:rPr>
              <a:t> 10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>
                <a:solidFill>
                  <a:schemeClr val="dk1"/>
                </a:solidFill>
              </a:rPr>
              <a:t>scan range 100 µm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14D31FAD-45E4-81B5-47D2-6678C3E9C1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162" y="2222854"/>
            <a:ext cx="4005600" cy="4219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2285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>
          <a:extLst>
            <a:ext uri="{FF2B5EF4-FFF2-40B4-BE49-F238E27FC236}">
              <a16:creationId xmlns:a16="http://schemas.microsoft.com/office/drawing/2014/main" id="{FD08D850-D579-B01A-5959-0B71084F1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e4efdd0c05_0_27">
            <a:extLst>
              <a:ext uri="{FF2B5EF4-FFF2-40B4-BE49-F238E27FC236}">
                <a16:creationId xmlns:a16="http://schemas.microsoft.com/office/drawing/2014/main" id="{E8B45188-ADFC-72DD-430F-C2AE015D56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5492" y="-18351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fr-FR" dirty="0"/>
              <a:t>2 </a:t>
            </a:r>
            <a:r>
              <a:rPr lang="fr-FR" dirty="0" err="1"/>
              <a:t>ps</a:t>
            </a:r>
            <a:r>
              <a:rPr lang="fr-FR" dirty="0"/>
              <a:t> </a:t>
            </a:r>
            <a:r>
              <a:rPr lang="fr-FR" dirty="0" err="1"/>
              <a:t>chirp</a:t>
            </a:r>
            <a:r>
              <a:rPr lang="fr-FR" dirty="0"/>
              <a:t> on ACC- 260623  </a:t>
            </a:r>
            <a:endParaRPr dirty="0"/>
          </a:p>
        </p:txBody>
      </p:sp>
      <p:sp>
        <p:nvSpPr>
          <p:cNvPr id="158" name="Google Shape;158;g3e4efdd0c05_0_27">
            <a:extLst>
              <a:ext uri="{FF2B5EF4-FFF2-40B4-BE49-F238E27FC236}">
                <a16:creationId xmlns:a16="http://schemas.microsoft.com/office/drawing/2014/main" id="{12530F4E-E83E-FDB6-2F0C-F66A552811ED}"/>
              </a:ext>
            </a:extLst>
          </p:cNvPr>
          <p:cNvSpPr txBox="1"/>
          <p:nvPr/>
        </p:nvSpPr>
        <p:spPr>
          <a:xfrm>
            <a:off x="3987249" y="745354"/>
            <a:ext cx="7498858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fr-FR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Wavelength</a:t>
            </a:r>
            <a:r>
              <a:rPr lang="fr-FR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  [</a:t>
            </a:r>
            <a:r>
              <a:rPr lang="fr-FR" sz="1800" dirty="0">
                <a:solidFill>
                  <a:schemeClr val="dk1"/>
                </a:solidFill>
              </a:rPr>
              <a:t>928.9,928.6,928.3,928,927.6,927.2,926.8,926.5,925.9,925,924,929.3,929.7,930,930.4,931.1,]</a:t>
            </a:r>
            <a:endParaRPr lang="fr-FR"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g3e4efdd0c05_0_27">
            <a:extLst>
              <a:ext uri="{FF2B5EF4-FFF2-40B4-BE49-F238E27FC236}">
                <a16:creationId xmlns:a16="http://schemas.microsoft.com/office/drawing/2014/main" id="{B450639B-41EC-1CFA-42C2-70D23D89E1E1}"/>
              </a:ext>
            </a:extLst>
          </p:cNvPr>
          <p:cNvSpPr txBox="1"/>
          <p:nvPr/>
        </p:nvSpPr>
        <p:spPr>
          <a:xfrm>
            <a:off x="152572" y="666664"/>
            <a:ext cx="4005600" cy="14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>
                <a:solidFill>
                  <a:schemeClr val="dk1"/>
                </a:solidFill>
              </a:rPr>
              <a:t>Power 200²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>
                <a:solidFill>
                  <a:schemeClr val="dk1"/>
                </a:solidFill>
              </a:rPr>
              <a:t>Nb points 100²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 err="1">
                <a:solidFill>
                  <a:schemeClr val="dk1"/>
                </a:solidFill>
              </a:rPr>
              <a:t>PixelRep</a:t>
            </a:r>
            <a:r>
              <a:rPr lang="fr-FR" sz="1800" dirty="0">
                <a:solidFill>
                  <a:schemeClr val="dk1"/>
                </a:solidFill>
              </a:rPr>
              <a:t> 100 </a:t>
            </a:r>
            <a:r>
              <a:rPr lang="fr-FR" sz="1800" dirty="0" err="1">
                <a:solidFill>
                  <a:schemeClr val="dk1"/>
                </a:solidFill>
              </a:rPr>
              <a:t>NbACC</a:t>
            </a:r>
            <a:r>
              <a:rPr lang="fr-FR" sz="1800" dirty="0">
                <a:solidFill>
                  <a:schemeClr val="dk1"/>
                </a:solidFill>
              </a:rPr>
              <a:t> 10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>
                <a:solidFill>
                  <a:schemeClr val="dk1"/>
                </a:solidFill>
              </a:rPr>
              <a:t>scan range 100 µm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C4F0A255-BFF2-4541-EC65-0A95AED5B8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162" y="2222854"/>
            <a:ext cx="4005600" cy="4219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24359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>
          <a:extLst>
            <a:ext uri="{FF2B5EF4-FFF2-40B4-BE49-F238E27FC236}">
              <a16:creationId xmlns:a16="http://schemas.microsoft.com/office/drawing/2014/main" id="{D40F5414-1057-B71D-8D4E-E7C38EEBC0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e4efdd0c05_0_27">
            <a:extLst>
              <a:ext uri="{FF2B5EF4-FFF2-40B4-BE49-F238E27FC236}">
                <a16:creationId xmlns:a16="http://schemas.microsoft.com/office/drawing/2014/main" id="{36BA8814-1EAA-CEAA-0DE5-543130C22F1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5492" y="-18351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fr-FR" dirty="0"/>
              <a:t>2 </a:t>
            </a:r>
            <a:r>
              <a:rPr lang="fr-FR" dirty="0" err="1"/>
              <a:t>ps</a:t>
            </a:r>
            <a:r>
              <a:rPr lang="fr-FR" dirty="0"/>
              <a:t> </a:t>
            </a:r>
            <a:r>
              <a:rPr lang="fr-FR" dirty="0" err="1"/>
              <a:t>chirp</a:t>
            </a:r>
            <a:r>
              <a:rPr lang="fr-FR" dirty="0"/>
              <a:t> on ACC- 260624 bis </a:t>
            </a:r>
            <a:endParaRPr dirty="0"/>
          </a:p>
        </p:txBody>
      </p:sp>
      <p:sp>
        <p:nvSpPr>
          <p:cNvPr id="158" name="Google Shape;158;g3e4efdd0c05_0_27">
            <a:extLst>
              <a:ext uri="{FF2B5EF4-FFF2-40B4-BE49-F238E27FC236}">
                <a16:creationId xmlns:a16="http://schemas.microsoft.com/office/drawing/2014/main" id="{D612CC2A-8F3E-11FC-10D7-A1440336F155}"/>
              </a:ext>
            </a:extLst>
          </p:cNvPr>
          <p:cNvSpPr txBox="1"/>
          <p:nvPr/>
        </p:nvSpPr>
        <p:spPr>
          <a:xfrm>
            <a:off x="3987248" y="745354"/>
            <a:ext cx="7796011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fr-FR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Wavelength</a:t>
            </a:r>
            <a:r>
              <a:rPr lang="fr-FR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=[</a:t>
            </a:r>
            <a:r>
              <a:rPr lang="fr-FR" sz="1800" dirty="0">
                <a:solidFill>
                  <a:schemeClr val="dk1"/>
                </a:solidFill>
              </a:rPr>
              <a:t>928.6,928.2,927.8,927.4,926.9,926.6,926.3,925.8,925,923.9,923,929.1,929.5,929.9,930.5,930.8,931.1,931.3,931.7,932.1,932.4,933,934]</a:t>
            </a:r>
            <a:endParaRPr lang="fr-FR"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g3e4efdd0c05_0_27">
            <a:extLst>
              <a:ext uri="{FF2B5EF4-FFF2-40B4-BE49-F238E27FC236}">
                <a16:creationId xmlns:a16="http://schemas.microsoft.com/office/drawing/2014/main" id="{B50BE102-71D5-6115-5D8A-8B1DA8C88F29}"/>
              </a:ext>
            </a:extLst>
          </p:cNvPr>
          <p:cNvSpPr txBox="1"/>
          <p:nvPr/>
        </p:nvSpPr>
        <p:spPr>
          <a:xfrm>
            <a:off x="152572" y="666664"/>
            <a:ext cx="4005600" cy="14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>
                <a:solidFill>
                  <a:schemeClr val="dk1"/>
                </a:solidFill>
              </a:rPr>
              <a:t>Power 200²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>
                <a:solidFill>
                  <a:schemeClr val="dk1"/>
                </a:solidFill>
              </a:rPr>
              <a:t>Nb points 100²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 err="1">
                <a:solidFill>
                  <a:schemeClr val="dk1"/>
                </a:solidFill>
              </a:rPr>
              <a:t>PixelRep</a:t>
            </a:r>
            <a:r>
              <a:rPr lang="fr-FR" sz="1800" dirty="0">
                <a:solidFill>
                  <a:schemeClr val="dk1"/>
                </a:solidFill>
              </a:rPr>
              <a:t> 100 </a:t>
            </a:r>
            <a:r>
              <a:rPr lang="fr-FR" sz="1800" dirty="0" err="1">
                <a:solidFill>
                  <a:schemeClr val="dk1"/>
                </a:solidFill>
              </a:rPr>
              <a:t>NbACC</a:t>
            </a:r>
            <a:r>
              <a:rPr lang="fr-FR" sz="1800" dirty="0">
                <a:solidFill>
                  <a:schemeClr val="dk1"/>
                </a:solidFill>
              </a:rPr>
              <a:t> 10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>
                <a:solidFill>
                  <a:schemeClr val="dk1"/>
                </a:solidFill>
              </a:rPr>
              <a:t>scan range 100 µm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</a:endParaRPr>
          </a:p>
        </p:txBody>
      </p:sp>
      <p:sp>
        <p:nvSpPr>
          <p:cNvPr id="4" name="Google Shape;158;g3e4efdd0c05_0_27">
            <a:extLst>
              <a:ext uri="{FF2B5EF4-FFF2-40B4-BE49-F238E27FC236}">
                <a16:creationId xmlns:a16="http://schemas.microsoft.com/office/drawing/2014/main" id="{69C7F0E1-1175-6FD7-96F0-CEEA618AB355}"/>
              </a:ext>
            </a:extLst>
          </p:cNvPr>
          <p:cNvSpPr txBox="1"/>
          <p:nvPr/>
        </p:nvSpPr>
        <p:spPr>
          <a:xfrm>
            <a:off x="4284401" y="1701033"/>
            <a:ext cx="7498858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fr-FR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Wingdings" panose="05000000000000000000" pitchFamily="2" charset="2"/>
              </a:rPr>
              <a:t> Meilleur signal que précédent </a:t>
            </a:r>
            <a:endParaRPr lang="fr-FR"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D15C99AB-3ADF-06B3-D403-6E7C63571F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376" y="1885679"/>
            <a:ext cx="2307462" cy="2217327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94D10F5C-0CD1-B75C-4271-07179B12F8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377" y="4523230"/>
            <a:ext cx="2307462" cy="2318627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ABECAC69-FCAD-C42C-4E0B-6754C015A36B}"/>
              </a:ext>
            </a:extLst>
          </p:cNvPr>
          <p:cNvSpPr txBox="1"/>
          <p:nvPr/>
        </p:nvSpPr>
        <p:spPr>
          <a:xfrm>
            <a:off x="1648356" y="4215453"/>
            <a:ext cx="60988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dirty="0">
                <a:solidFill>
                  <a:schemeClr val="dk1"/>
                </a:solidFill>
              </a:rPr>
              <a:t>929.1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13625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>
          <a:extLst>
            <a:ext uri="{FF2B5EF4-FFF2-40B4-BE49-F238E27FC236}">
              <a16:creationId xmlns:a16="http://schemas.microsoft.com/office/drawing/2014/main" id="{CA1BCE06-F71F-5A9A-7BFD-8B72204D2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e4efdd0c05_0_27">
            <a:extLst>
              <a:ext uri="{FF2B5EF4-FFF2-40B4-BE49-F238E27FC236}">
                <a16:creationId xmlns:a16="http://schemas.microsoft.com/office/drawing/2014/main" id="{D93F194C-FD71-295A-3150-13716E74B37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5492" y="-18351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fr-FR" dirty="0"/>
              <a:t>7 </a:t>
            </a:r>
            <a:r>
              <a:rPr lang="fr-FR" dirty="0" err="1"/>
              <a:t>ps</a:t>
            </a:r>
            <a:r>
              <a:rPr lang="fr-FR" dirty="0"/>
              <a:t> </a:t>
            </a:r>
            <a:r>
              <a:rPr lang="fr-FR" dirty="0" err="1"/>
              <a:t>chirp</a:t>
            </a:r>
            <a:r>
              <a:rPr lang="fr-FR" dirty="0"/>
              <a:t> on ACC- 260624 bis </a:t>
            </a:r>
            <a:endParaRPr dirty="0"/>
          </a:p>
        </p:txBody>
      </p:sp>
      <p:sp>
        <p:nvSpPr>
          <p:cNvPr id="158" name="Google Shape;158;g3e4efdd0c05_0_27">
            <a:extLst>
              <a:ext uri="{FF2B5EF4-FFF2-40B4-BE49-F238E27FC236}">
                <a16:creationId xmlns:a16="http://schemas.microsoft.com/office/drawing/2014/main" id="{9A1561ED-7DF4-47DD-B275-8C1EA5B8059B}"/>
              </a:ext>
            </a:extLst>
          </p:cNvPr>
          <p:cNvSpPr txBox="1"/>
          <p:nvPr/>
        </p:nvSpPr>
        <p:spPr>
          <a:xfrm>
            <a:off x="3987248" y="745354"/>
            <a:ext cx="7796011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fr-FR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Wavelength</a:t>
            </a:r>
            <a:r>
              <a:rPr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=[929.4,928.6,928.3,927.8,927.4,926.9,926.6,926.1,925.5,929.2,929.7,930.2,928.9]</a:t>
            </a:r>
            <a:endParaRPr lang="fr-FR"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g3e4efdd0c05_0_27">
            <a:extLst>
              <a:ext uri="{FF2B5EF4-FFF2-40B4-BE49-F238E27FC236}">
                <a16:creationId xmlns:a16="http://schemas.microsoft.com/office/drawing/2014/main" id="{D01FC3B4-B4E7-BCAD-84C7-9BCECD487BE3}"/>
              </a:ext>
            </a:extLst>
          </p:cNvPr>
          <p:cNvSpPr txBox="1"/>
          <p:nvPr/>
        </p:nvSpPr>
        <p:spPr>
          <a:xfrm>
            <a:off x="152572" y="666664"/>
            <a:ext cx="4005600" cy="14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>
                <a:solidFill>
                  <a:schemeClr val="dk1"/>
                </a:solidFill>
              </a:rPr>
              <a:t>Power 350²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>
                <a:solidFill>
                  <a:schemeClr val="dk1"/>
                </a:solidFill>
              </a:rPr>
              <a:t>Nb points 100²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 err="1">
                <a:solidFill>
                  <a:schemeClr val="dk1"/>
                </a:solidFill>
              </a:rPr>
              <a:t>PixelRep</a:t>
            </a:r>
            <a:r>
              <a:rPr lang="fr-FR" sz="1800" dirty="0">
                <a:solidFill>
                  <a:schemeClr val="dk1"/>
                </a:solidFill>
              </a:rPr>
              <a:t> 120 </a:t>
            </a:r>
            <a:r>
              <a:rPr lang="fr-FR" sz="1800" dirty="0" err="1">
                <a:solidFill>
                  <a:schemeClr val="dk1"/>
                </a:solidFill>
              </a:rPr>
              <a:t>NbACC</a:t>
            </a:r>
            <a:r>
              <a:rPr lang="fr-FR" sz="1800" dirty="0">
                <a:solidFill>
                  <a:schemeClr val="dk1"/>
                </a:solidFill>
              </a:rPr>
              <a:t> 15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>
                <a:solidFill>
                  <a:schemeClr val="dk1"/>
                </a:solidFill>
              </a:rPr>
              <a:t>scan range 100 µm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</a:endParaRPr>
          </a:p>
        </p:txBody>
      </p:sp>
      <p:sp>
        <p:nvSpPr>
          <p:cNvPr id="4" name="Google Shape;158;g3e4efdd0c05_0_27">
            <a:extLst>
              <a:ext uri="{FF2B5EF4-FFF2-40B4-BE49-F238E27FC236}">
                <a16:creationId xmlns:a16="http://schemas.microsoft.com/office/drawing/2014/main" id="{42F2BE90-0D4A-732F-5174-A250A506CFC7}"/>
              </a:ext>
            </a:extLst>
          </p:cNvPr>
          <p:cNvSpPr txBox="1"/>
          <p:nvPr/>
        </p:nvSpPr>
        <p:spPr>
          <a:xfrm>
            <a:off x="4284401" y="1701033"/>
            <a:ext cx="7498858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fr-FR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Wingdings" panose="05000000000000000000" pitchFamily="2" charset="2"/>
              </a:rPr>
              <a:t> Meilleur signal que précédent </a:t>
            </a:r>
            <a:endParaRPr lang="fr-FR"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73361A44-DE20-A8D2-1F69-ABE358474B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764" y="1878064"/>
            <a:ext cx="2600688" cy="2448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20761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>
          <a:extLst>
            <a:ext uri="{FF2B5EF4-FFF2-40B4-BE49-F238E27FC236}">
              <a16:creationId xmlns:a16="http://schemas.microsoft.com/office/drawing/2014/main" id="{ADFE0A1A-05C6-E727-F84F-4575CE67D0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e4efdd0c05_0_27">
            <a:extLst>
              <a:ext uri="{FF2B5EF4-FFF2-40B4-BE49-F238E27FC236}">
                <a16:creationId xmlns:a16="http://schemas.microsoft.com/office/drawing/2014/main" id="{C0649E30-7C16-4DA0-4699-0C3459E6031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5492" y="-18351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fr-FR" dirty="0"/>
              <a:t>2 </a:t>
            </a:r>
            <a:r>
              <a:rPr lang="fr-FR" dirty="0" err="1"/>
              <a:t>ps</a:t>
            </a:r>
            <a:r>
              <a:rPr lang="fr-FR" dirty="0"/>
              <a:t> </a:t>
            </a:r>
            <a:r>
              <a:rPr lang="fr-FR" dirty="0" err="1"/>
              <a:t>chirp</a:t>
            </a:r>
            <a:r>
              <a:rPr lang="fr-FR" dirty="0"/>
              <a:t> on ACC + cal- 260626</a:t>
            </a:r>
            <a:endParaRPr dirty="0"/>
          </a:p>
        </p:txBody>
      </p:sp>
      <p:sp>
        <p:nvSpPr>
          <p:cNvPr id="158" name="Google Shape;158;g3e4efdd0c05_0_27">
            <a:extLst>
              <a:ext uri="{FF2B5EF4-FFF2-40B4-BE49-F238E27FC236}">
                <a16:creationId xmlns:a16="http://schemas.microsoft.com/office/drawing/2014/main" id="{B1CE53B6-DE49-B540-1687-424AD4A6B8EA}"/>
              </a:ext>
            </a:extLst>
          </p:cNvPr>
          <p:cNvSpPr txBox="1"/>
          <p:nvPr/>
        </p:nvSpPr>
        <p:spPr>
          <a:xfrm>
            <a:off x="3987248" y="745354"/>
            <a:ext cx="7796011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fr-FR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Wavelength</a:t>
            </a:r>
            <a:r>
              <a:rPr lang="fr-FR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=[</a:t>
            </a:r>
            <a:r>
              <a:rPr lang="fr-FR" sz="1800" dirty="0">
                <a:solidFill>
                  <a:schemeClr val="dk1"/>
                </a:solidFill>
              </a:rPr>
              <a:t>929.2,928.8,928.5,928.2,927.7,927.4,926.9,926.6,926.2,925.7,925,924.1,929.1,929.5,929.8,930.2,930.5,931,931.8,932.9]</a:t>
            </a:r>
            <a:endParaRPr lang="fr-FR"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g3e4efdd0c05_0_27">
            <a:extLst>
              <a:ext uri="{FF2B5EF4-FFF2-40B4-BE49-F238E27FC236}">
                <a16:creationId xmlns:a16="http://schemas.microsoft.com/office/drawing/2014/main" id="{E766690E-8D52-18FE-57D2-DFE0649C8020}"/>
              </a:ext>
            </a:extLst>
          </p:cNvPr>
          <p:cNvSpPr txBox="1"/>
          <p:nvPr/>
        </p:nvSpPr>
        <p:spPr>
          <a:xfrm>
            <a:off x="152572" y="666664"/>
            <a:ext cx="4005600" cy="14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>
                <a:solidFill>
                  <a:schemeClr val="dk1"/>
                </a:solidFill>
              </a:rPr>
              <a:t>Power 300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>
                <a:solidFill>
                  <a:schemeClr val="dk1"/>
                </a:solidFill>
              </a:rPr>
              <a:t>Nb points 120²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 err="1">
                <a:solidFill>
                  <a:schemeClr val="dk1"/>
                </a:solidFill>
              </a:rPr>
              <a:t>PixelRep</a:t>
            </a:r>
            <a:r>
              <a:rPr lang="fr-FR" sz="1800" dirty="0">
                <a:solidFill>
                  <a:schemeClr val="dk1"/>
                </a:solidFill>
              </a:rPr>
              <a:t> 80 </a:t>
            </a:r>
            <a:r>
              <a:rPr lang="fr-FR" sz="1800" dirty="0" err="1">
                <a:solidFill>
                  <a:schemeClr val="dk1"/>
                </a:solidFill>
              </a:rPr>
              <a:t>NbACC</a:t>
            </a:r>
            <a:r>
              <a:rPr lang="fr-FR" sz="1800" dirty="0">
                <a:solidFill>
                  <a:schemeClr val="dk1"/>
                </a:solidFill>
              </a:rPr>
              <a:t> 5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>
                <a:solidFill>
                  <a:schemeClr val="dk1"/>
                </a:solidFill>
              </a:rPr>
              <a:t>scan range 100 µm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</a:endParaRPr>
          </a:p>
        </p:txBody>
      </p:sp>
      <p:sp>
        <p:nvSpPr>
          <p:cNvPr id="4" name="Google Shape;158;g3e4efdd0c05_0_27">
            <a:extLst>
              <a:ext uri="{FF2B5EF4-FFF2-40B4-BE49-F238E27FC236}">
                <a16:creationId xmlns:a16="http://schemas.microsoft.com/office/drawing/2014/main" id="{556D1020-BD28-B0BE-95E7-62FE3C680BA8}"/>
              </a:ext>
            </a:extLst>
          </p:cNvPr>
          <p:cNvSpPr txBox="1"/>
          <p:nvPr/>
        </p:nvSpPr>
        <p:spPr>
          <a:xfrm>
            <a:off x="4135824" y="1405414"/>
            <a:ext cx="7498858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fr-FR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Wingdings" panose="05000000000000000000" pitchFamily="2" charset="2"/>
              </a:rPr>
              <a:t> Meilleur signal que précédent </a:t>
            </a:r>
            <a:endParaRPr lang="fr-FR"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AF1F65AC-FB52-C1D2-E1CA-58B8AB504D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8294" y="2071054"/>
            <a:ext cx="8864695" cy="4454990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9D096808-1E74-F837-C39D-43E47EABDB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604" y="4713837"/>
            <a:ext cx="2078510" cy="1738553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E12A61DE-7C92-9E3C-3075-EDC93EE459F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2395" r="21303"/>
          <a:stretch>
            <a:fillRect/>
          </a:stretch>
        </p:blipFill>
        <p:spPr>
          <a:xfrm>
            <a:off x="5664115" y="2071054"/>
            <a:ext cx="2963895" cy="2318627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E3A2DE69-6FA2-6124-7095-F60B4F3E66E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0800000" flipH="1">
            <a:off x="152572" y="1996381"/>
            <a:ext cx="2265722" cy="2302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48826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>
          <a:extLst>
            <a:ext uri="{FF2B5EF4-FFF2-40B4-BE49-F238E27FC236}">
              <a16:creationId xmlns:a16="http://schemas.microsoft.com/office/drawing/2014/main" id="{2531FB43-7695-9560-179A-769D4F2706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e4efdd0c05_0_27">
            <a:extLst>
              <a:ext uri="{FF2B5EF4-FFF2-40B4-BE49-F238E27FC236}">
                <a16:creationId xmlns:a16="http://schemas.microsoft.com/office/drawing/2014/main" id="{BC5B31B3-7EAF-8844-7B49-39B88EA771A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5492" y="-18351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fr-FR" dirty="0"/>
              <a:t>2 </a:t>
            </a:r>
            <a:r>
              <a:rPr lang="fr-FR" dirty="0" err="1"/>
              <a:t>ps</a:t>
            </a:r>
            <a:r>
              <a:rPr lang="fr-FR" dirty="0"/>
              <a:t> </a:t>
            </a:r>
            <a:r>
              <a:rPr lang="fr-FR" dirty="0" err="1"/>
              <a:t>chirp</a:t>
            </a:r>
            <a:r>
              <a:rPr lang="fr-FR" dirty="0"/>
              <a:t> on ACC + cal- 260626</a:t>
            </a:r>
            <a:endParaRPr dirty="0"/>
          </a:p>
        </p:txBody>
      </p:sp>
      <p:sp>
        <p:nvSpPr>
          <p:cNvPr id="158" name="Google Shape;158;g3e4efdd0c05_0_27">
            <a:extLst>
              <a:ext uri="{FF2B5EF4-FFF2-40B4-BE49-F238E27FC236}">
                <a16:creationId xmlns:a16="http://schemas.microsoft.com/office/drawing/2014/main" id="{A6A6B72A-9443-27BD-A5A5-B7A00FBB84EE}"/>
              </a:ext>
            </a:extLst>
          </p:cNvPr>
          <p:cNvSpPr txBox="1"/>
          <p:nvPr/>
        </p:nvSpPr>
        <p:spPr>
          <a:xfrm>
            <a:off x="3987248" y="745354"/>
            <a:ext cx="7796011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fr-FR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Wavelength</a:t>
            </a:r>
            <a:r>
              <a:rPr lang="fr-FR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=[</a:t>
            </a:r>
            <a:r>
              <a:rPr lang="fr-FR" sz="1800" dirty="0">
                <a:solidFill>
                  <a:schemeClr val="dk1"/>
                </a:solidFill>
              </a:rPr>
              <a:t>929.2,928.8,928.5,928.2,927.7,927.4,926.9,926.6,926.2,925.7,925,924.1,929.1,929.5,929.8,930.2,930.5,931,931.8,932.9]</a:t>
            </a:r>
            <a:endParaRPr lang="fr-FR"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g3e4efdd0c05_0_27">
            <a:extLst>
              <a:ext uri="{FF2B5EF4-FFF2-40B4-BE49-F238E27FC236}">
                <a16:creationId xmlns:a16="http://schemas.microsoft.com/office/drawing/2014/main" id="{BF5A6D05-EDE1-8F62-9F07-C05182985D24}"/>
              </a:ext>
            </a:extLst>
          </p:cNvPr>
          <p:cNvSpPr txBox="1"/>
          <p:nvPr/>
        </p:nvSpPr>
        <p:spPr>
          <a:xfrm>
            <a:off x="152572" y="666664"/>
            <a:ext cx="4005600" cy="14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>
                <a:solidFill>
                  <a:schemeClr val="dk1"/>
                </a:solidFill>
              </a:rPr>
              <a:t>Power 300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>
                <a:solidFill>
                  <a:schemeClr val="dk1"/>
                </a:solidFill>
              </a:rPr>
              <a:t>Nb points 120²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 err="1">
                <a:solidFill>
                  <a:schemeClr val="dk1"/>
                </a:solidFill>
              </a:rPr>
              <a:t>PixelRep</a:t>
            </a:r>
            <a:r>
              <a:rPr lang="fr-FR" sz="1800" dirty="0">
                <a:solidFill>
                  <a:schemeClr val="dk1"/>
                </a:solidFill>
              </a:rPr>
              <a:t> 80 </a:t>
            </a:r>
            <a:r>
              <a:rPr lang="fr-FR" sz="1800" dirty="0" err="1">
                <a:solidFill>
                  <a:schemeClr val="dk1"/>
                </a:solidFill>
              </a:rPr>
              <a:t>NbACC</a:t>
            </a:r>
            <a:r>
              <a:rPr lang="fr-FR" sz="1800" dirty="0">
                <a:solidFill>
                  <a:schemeClr val="dk1"/>
                </a:solidFill>
              </a:rPr>
              <a:t> 5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>
                <a:solidFill>
                  <a:schemeClr val="dk1"/>
                </a:solidFill>
              </a:rPr>
              <a:t>scan range 100 µm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</a:endParaRPr>
          </a:p>
        </p:txBody>
      </p:sp>
      <p:sp>
        <p:nvSpPr>
          <p:cNvPr id="4" name="Google Shape;158;g3e4efdd0c05_0_27">
            <a:extLst>
              <a:ext uri="{FF2B5EF4-FFF2-40B4-BE49-F238E27FC236}">
                <a16:creationId xmlns:a16="http://schemas.microsoft.com/office/drawing/2014/main" id="{83A1734A-EA58-2382-E45B-3EBEBF98CF87}"/>
              </a:ext>
            </a:extLst>
          </p:cNvPr>
          <p:cNvSpPr txBox="1"/>
          <p:nvPr/>
        </p:nvSpPr>
        <p:spPr>
          <a:xfrm>
            <a:off x="4135824" y="1405414"/>
            <a:ext cx="7498858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fr-FR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Wingdings" panose="05000000000000000000" pitchFamily="2" charset="2"/>
              </a:rPr>
              <a:t> Meilleur signal que précédent </a:t>
            </a:r>
            <a:endParaRPr lang="fr-FR"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A0B75414-2CA3-CB66-810D-B9C3D70211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881" y="2320513"/>
            <a:ext cx="4796411" cy="4237676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8A33361F-3AA4-0B77-2D80-57DF7F31E5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3420" y="2570936"/>
            <a:ext cx="5889839" cy="3736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59693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>
          <a:extLst>
            <a:ext uri="{FF2B5EF4-FFF2-40B4-BE49-F238E27FC236}">
              <a16:creationId xmlns:a16="http://schemas.microsoft.com/office/drawing/2014/main" id="{9FDC570D-EC42-05B4-25BF-E06FF3E9CB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e4efdd0c05_0_27">
            <a:extLst>
              <a:ext uri="{FF2B5EF4-FFF2-40B4-BE49-F238E27FC236}">
                <a16:creationId xmlns:a16="http://schemas.microsoft.com/office/drawing/2014/main" id="{9672136C-2DBF-CBF5-1B79-F717D549661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5492" y="-18351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fr-FR" dirty="0"/>
              <a:t>7 </a:t>
            </a:r>
            <a:r>
              <a:rPr lang="fr-FR" dirty="0" err="1"/>
              <a:t>ps</a:t>
            </a:r>
            <a:r>
              <a:rPr lang="fr-FR" dirty="0"/>
              <a:t> </a:t>
            </a:r>
            <a:r>
              <a:rPr lang="fr-FR" dirty="0" err="1"/>
              <a:t>chirp</a:t>
            </a:r>
            <a:r>
              <a:rPr lang="fr-FR" dirty="0"/>
              <a:t> on ACC + cal- 260626</a:t>
            </a:r>
            <a:endParaRPr dirty="0"/>
          </a:p>
        </p:txBody>
      </p:sp>
      <p:sp>
        <p:nvSpPr>
          <p:cNvPr id="158" name="Google Shape;158;g3e4efdd0c05_0_27">
            <a:extLst>
              <a:ext uri="{FF2B5EF4-FFF2-40B4-BE49-F238E27FC236}">
                <a16:creationId xmlns:a16="http://schemas.microsoft.com/office/drawing/2014/main" id="{BE7AB3D0-405F-D5EC-AB4D-8AD357FEBBD4}"/>
              </a:ext>
            </a:extLst>
          </p:cNvPr>
          <p:cNvSpPr txBox="1"/>
          <p:nvPr/>
        </p:nvSpPr>
        <p:spPr>
          <a:xfrm>
            <a:off x="3987247" y="769440"/>
            <a:ext cx="7796011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fr-FR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Wavelength</a:t>
            </a:r>
            <a:r>
              <a:rPr lang="fr-FR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=[</a:t>
            </a:r>
            <a:r>
              <a:rPr lang="fr-FR" sz="1800" dirty="0">
                <a:solidFill>
                  <a:schemeClr val="dk1"/>
                </a:solidFill>
              </a:rPr>
              <a:t>929.1,928.7,928.5,928.1,927.7,927.4,926.7,926.4,926,929.5,930,927.1]</a:t>
            </a:r>
            <a:endParaRPr lang="fr-FR"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g3e4efdd0c05_0_27">
            <a:extLst>
              <a:ext uri="{FF2B5EF4-FFF2-40B4-BE49-F238E27FC236}">
                <a16:creationId xmlns:a16="http://schemas.microsoft.com/office/drawing/2014/main" id="{7BA42020-F0B3-15B1-FB0D-716D28811A78}"/>
              </a:ext>
            </a:extLst>
          </p:cNvPr>
          <p:cNvSpPr txBox="1"/>
          <p:nvPr/>
        </p:nvSpPr>
        <p:spPr>
          <a:xfrm>
            <a:off x="152572" y="666664"/>
            <a:ext cx="4005600" cy="14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>
                <a:solidFill>
                  <a:schemeClr val="dk1"/>
                </a:solidFill>
              </a:rPr>
              <a:t>Power 350²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>
                <a:solidFill>
                  <a:schemeClr val="dk1"/>
                </a:solidFill>
              </a:rPr>
              <a:t>Nb points 120²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 err="1">
                <a:solidFill>
                  <a:schemeClr val="dk1"/>
                </a:solidFill>
              </a:rPr>
              <a:t>PixelRep</a:t>
            </a:r>
            <a:r>
              <a:rPr lang="fr-FR" sz="1800" dirty="0">
                <a:solidFill>
                  <a:schemeClr val="dk1"/>
                </a:solidFill>
              </a:rPr>
              <a:t> 150 </a:t>
            </a:r>
            <a:r>
              <a:rPr lang="fr-FR" sz="1800" dirty="0" err="1">
                <a:solidFill>
                  <a:schemeClr val="dk1"/>
                </a:solidFill>
              </a:rPr>
              <a:t>NbACC</a:t>
            </a:r>
            <a:r>
              <a:rPr lang="fr-FR" sz="1800" dirty="0">
                <a:solidFill>
                  <a:schemeClr val="dk1"/>
                </a:solidFill>
              </a:rPr>
              <a:t> 10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>
                <a:solidFill>
                  <a:schemeClr val="dk1"/>
                </a:solidFill>
              </a:rPr>
              <a:t>scan range 100 µm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</a:endParaRPr>
          </a:p>
        </p:txBody>
      </p:sp>
      <p:sp>
        <p:nvSpPr>
          <p:cNvPr id="4" name="Google Shape;158;g3e4efdd0c05_0_27">
            <a:extLst>
              <a:ext uri="{FF2B5EF4-FFF2-40B4-BE49-F238E27FC236}">
                <a16:creationId xmlns:a16="http://schemas.microsoft.com/office/drawing/2014/main" id="{C50F590D-FD17-D02B-3435-6BD3CFB2ADA7}"/>
              </a:ext>
            </a:extLst>
          </p:cNvPr>
          <p:cNvSpPr txBox="1"/>
          <p:nvPr/>
        </p:nvSpPr>
        <p:spPr>
          <a:xfrm>
            <a:off x="4135824" y="1405414"/>
            <a:ext cx="7498858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fr-FR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Wingdings" panose="05000000000000000000" pitchFamily="2" charset="2"/>
              </a:rPr>
              <a:t> Meilleur signal que précédent </a:t>
            </a:r>
            <a:endParaRPr lang="fr-FR"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0DCF3D5D-84AB-11B2-0155-6260CABA544E}"/>
              </a:ext>
            </a:extLst>
          </p:cNvPr>
          <p:cNvSpPr txBox="1"/>
          <p:nvPr/>
        </p:nvSpPr>
        <p:spPr>
          <a:xfrm>
            <a:off x="1648356" y="4215453"/>
            <a:ext cx="60988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dirty="0">
                <a:solidFill>
                  <a:schemeClr val="dk1"/>
                </a:solidFill>
              </a:rPr>
              <a:t>929.1</a:t>
            </a: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D65FDB1-3973-D63B-84D1-E272B310C2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 flipH="1">
            <a:off x="860918" y="2004339"/>
            <a:ext cx="2281922" cy="2209709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B51A1FF5-072B-9B38-502A-06BA645F33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0918" y="4499126"/>
            <a:ext cx="2281922" cy="2322737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A73FD452-F724-D4D4-65FF-C6C01B456B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0863" y="2563065"/>
            <a:ext cx="4025046" cy="3577366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66417B95-6973-22A3-AE64-D7FBAAD8C73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09636" y="2800244"/>
            <a:ext cx="4461816" cy="2940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97594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>
          <a:extLst>
            <a:ext uri="{FF2B5EF4-FFF2-40B4-BE49-F238E27FC236}">
              <a16:creationId xmlns:a16="http://schemas.microsoft.com/office/drawing/2014/main" id="{C5265158-4B92-7260-E8EB-BBE9ABB259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e4efdd0c05_0_27">
            <a:extLst>
              <a:ext uri="{FF2B5EF4-FFF2-40B4-BE49-F238E27FC236}">
                <a16:creationId xmlns:a16="http://schemas.microsoft.com/office/drawing/2014/main" id="{B333C369-B8CD-CD37-BC33-E685AD7ADDB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5492" y="-18351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fr-FR" dirty="0"/>
              <a:t>2 </a:t>
            </a:r>
            <a:r>
              <a:rPr lang="fr-FR" dirty="0" err="1"/>
              <a:t>ps</a:t>
            </a:r>
            <a:r>
              <a:rPr lang="fr-FR" dirty="0"/>
              <a:t> </a:t>
            </a:r>
            <a:r>
              <a:rPr lang="fr-FR" dirty="0" err="1"/>
              <a:t>chirp</a:t>
            </a:r>
            <a:r>
              <a:rPr lang="fr-FR" dirty="0"/>
              <a:t> on ACC + cal- 260626</a:t>
            </a:r>
            <a:endParaRPr dirty="0"/>
          </a:p>
        </p:txBody>
      </p:sp>
      <p:sp>
        <p:nvSpPr>
          <p:cNvPr id="158" name="Google Shape;158;g3e4efdd0c05_0_27">
            <a:extLst>
              <a:ext uri="{FF2B5EF4-FFF2-40B4-BE49-F238E27FC236}">
                <a16:creationId xmlns:a16="http://schemas.microsoft.com/office/drawing/2014/main" id="{A0E9B12A-361F-6CE7-A20D-FF9BBE183D39}"/>
              </a:ext>
            </a:extLst>
          </p:cNvPr>
          <p:cNvSpPr txBox="1"/>
          <p:nvPr/>
        </p:nvSpPr>
        <p:spPr>
          <a:xfrm>
            <a:off x="3987248" y="745354"/>
            <a:ext cx="7796011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fr-FR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Wavelength</a:t>
            </a:r>
            <a:r>
              <a:rPr lang="fr-FR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=[</a:t>
            </a:r>
            <a:r>
              <a:rPr lang="fr-FR" sz="1800" dirty="0">
                <a:solidFill>
                  <a:schemeClr val="dk1"/>
                </a:solidFill>
              </a:rPr>
              <a:t>929.2,928.8,928.5,928.2,927.7,927.4,926.9,926.6,926.2,925.7,925,924.1,929.1,929.5,929.8,930.2,930.5,931,931.8,932.9]</a:t>
            </a:r>
            <a:endParaRPr lang="fr-FR"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g3e4efdd0c05_0_27">
            <a:extLst>
              <a:ext uri="{FF2B5EF4-FFF2-40B4-BE49-F238E27FC236}">
                <a16:creationId xmlns:a16="http://schemas.microsoft.com/office/drawing/2014/main" id="{2BDB601B-D1DA-FEE1-AF41-1E4F9FC90D6A}"/>
              </a:ext>
            </a:extLst>
          </p:cNvPr>
          <p:cNvSpPr txBox="1"/>
          <p:nvPr/>
        </p:nvSpPr>
        <p:spPr>
          <a:xfrm>
            <a:off x="152572" y="666664"/>
            <a:ext cx="4005600" cy="14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>
                <a:solidFill>
                  <a:schemeClr val="dk1"/>
                </a:solidFill>
              </a:rPr>
              <a:t>Power 300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>
                <a:solidFill>
                  <a:schemeClr val="dk1"/>
                </a:solidFill>
              </a:rPr>
              <a:t>Nb points 120²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 err="1">
                <a:solidFill>
                  <a:schemeClr val="dk1"/>
                </a:solidFill>
              </a:rPr>
              <a:t>PixelRep</a:t>
            </a:r>
            <a:r>
              <a:rPr lang="fr-FR" sz="1800" dirty="0">
                <a:solidFill>
                  <a:schemeClr val="dk1"/>
                </a:solidFill>
              </a:rPr>
              <a:t> 80 </a:t>
            </a:r>
            <a:r>
              <a:rPr lang="fr-FR" sz="1800" dirty="0" err="1">
                <a:solidFill>
                  <a:schemeClr val="dk1"/>
                </a:solidFill>
              </a:rPr>
              <a:t>NbACC</a:t>
            </a:r>
            <a:r>
              <a:rPr lang="fr-FR" sz="1800" dirty="0">
                <a:solidFill>
                  <a:schemeClr val="dk1"/>
                </a:solidFill>
              </a:rPr>
              <a:t> 5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>
                <a:solidFill>
                  <a:schemeClr val="dk1"/>
                </a:solidFill>
              </a:rPr>
              <a:t>scan range 100 µm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</a:endParaRPr>
          </a:p>
        </p:txBody>
      </p:sp>
      <p:sp>
        <p:nvSpPr>
          <p:cNvPr id="4" name="Google Shape;158;g3e4efdd0c05_0_27">
            <a:extLst>
              <a:ext uri="{FF2B5EF4-FFF2-40B4-BE49-F238E27FC236}">
                <a16:creationId xmlns:a16="http://schemas.microsoft.com/office/drawing/2014/main" id="{60D9D27C-A95B-F329-8246-E235E75CD0EA}"/>
              </a:ext>
            </a:extLst>
          </p:cNvPr>
          <p:cNvSpPr txBox="1"/>
          <p:nvPr/>
        </p:nvSpPr>
        <p:spPr>
          <a:xfrm>
            <a:off x="4135824" y="1405414"/>
            <a:ext cx="7498858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fr-FR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Wingdings" panose="05000000000000000000" pitchFamily="2" charset="2"/>
              </a:rPr>
              <a:t> Meilleur signal que précédent </a:t>
            </a:r>
            <a:endParaRPr lang="fr-FR"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B95927CF-5067-A477-4402-89DC256583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74" y="2320513"/>
            <a:ext cx="4602725" cy="3904335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95E9344F-EC00-87C4-29A6-4A45F6E821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4604" y="2370456"/>
            <a:ext cx="5810078" cy="3742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9689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>
          <a:extLst>
            <a:ext uri="{FF2B5EF4-FFF2-40B4-BE49-F238E27FC236}">
              <a16:creationId xmlns:a16="http://schemas.microsoft.com/office/drawing/2014/main" id="{FB00B453-6DD5-0995-B3D6-CF3CE2D82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e4efdd0c05_0_27">
            <a:extLst>
              <a:ext uri="{FF2B5EF4-FFF2-40B4-BE49-F238E27FC236}">
                <a16:creationId xmlns:a16="http://schemas.microsoft.com/office/drawing/2014/main" id="{63F542C9-FA85-5E61-5324-13E6A9DC60E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5492" y="-18351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fr-FR" dirty="0"/>
              <a:t>2 </a:t>
            </a:r>
            <a:r>
              <a:rPr lang="fr-FR" dirty="0" err="1"/>
              <a:t>ps</a:t>
            </a:r>
            <a:r>
              <a:rPr lang="fr-FR" dirty="0"/>
              <a:t> </a:t>
            </a:r>
            <a:r>
              <a:rPr lang="fr-FR" dirty="0" err="1"/>
              <a:t>chirp</a:t>
            </a:r>
            <a:r>
              <a:rPr lang="fr-FR" dirty="0"/>
              <a:t> on ACC + cal- 260626</a:t>
            </a:r>
            <a:endParaRPr dirty="0"/>
          </a:p>
        </p:txBody>
      </p:sp>
      <p:sp>
        <p:nvSpPr>
          <p:cNvPr id="158" name="Google Shape;158;g3e4efdd0c05_0_27">
            <a:extLst>
              <a:ext uri="{FF2B5EF4-FFF2-40B4-BE49-F238E27FC236}">
                <a16:creationId xmlns:a16="http://schemas.microsoft.com/office/drawing/2014/main" id="{FBF4EE81-571F-C3A6-516C-E31A73B619CC}"/>
              </a:ext>
            </a:extLst>
          </p:cNvPr>
          <p:cNvSpPr txBox="1"/>
          <p:nvPr/>
        </p:nvSpPr>
        <p:spPr>
          <a:xfrm>
            <a:off x="3987248" y="745354"/>
            <a:ext cx="7796011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fr-FR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Wavelength</a:t>
            </a:r>
            <a:r>
              <a:rPr lang="fr-FR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=[</a:t>
            </a:r>
            <a:r>
              <a:rPr lang="fr-FR" sz="1800" dirty="0">
                <a:solidFill>
                  <a:schemeClr val="dk1"/>
                </a:solidFill>
              </a:rPr>
              <a:t>929.2,928.8,928.5,928.2,927.7,927.4,926.9,926.6,926.2,925.7,925,924.1,929.1,929.5,929.8,930.2,930.5,931,931.8,932.9]</a:t>
            </a:r>
            <a:endParaRPr lang="fr-FR"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g3e4efdd0c05_0_27">
            <a:extLst>
              <a:ext uri="{FF2B5EF4-FFF2-40B4-BE49-F238E27FC236}">
                <a16:creationId xmlns:a16="http://schemas.microsoft.com/office/drawing/2014/main" id="{5BB7DD0B-4E4B-19DF-44B4-D02EE74D5294}"/>
              </a:ext>
            </a:extLst>
          </p:cNvPr>
          <p:cNvSpPr txBox="1"/>
          <p:nvPr/>
        </p:nvSpPr>
        <p:spPr>
          <a:xfrm>
            <a:off x="152572" y="666664"/>
            <a:ext cx="4005600" cy="14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>
                <a:solidFill>
                  <a:schemeClr val="dk1"/>
                </a:solidFill>
              </a:rPr>
              <a:t>Power 300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>
                <a:solidFill>
                  <a:schemeClr val="dk1"/>
                </a:solidFill>
              </a:rPr>
              <a:t>Nb points 120²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 err="1">
                <a:solidFill>
                  <a:schemeClr val="dk1"/>
                </a:solidFill>
              </a:rPr>
              <a:t>PixelRep</a:t>
            </a:r>
            <a:r>
              <a:rPr lang="fr-FR" sz="1800" dirty="0">
                <a:solidFill>
                  <a:schemeClr val="dk1"/>
                </a:solidFill>
              </a:rPr>
              <a:t> 80 </a:t>
            </a:r>
            <a:r>
              <a:rPr lang="fr-FR" sz="1800" dirty="0" err="1">
                <a:solidFill>
                  <a:schemeClr val="dk1"/>
                </a:solidFill>
              </a:rPr>
              <a:t>NbACC</a:t>
            </a:r>
            <a:r>
              <a:rPr lang="fr-FR" sz="1800" dirty="0">
                <a:solidFill>
                  <a:schemeClr val="dk1"/>
                </a:solidFill>
              </a:rPr>
              <a:t> 5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>
                <a:solidFill>
                  <a:schemeClr val="dk1"/>
                </a:solidFill>
              </a:rPr>
              <a:t>scan range 100 µm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</a:endParaRPr>
          </a:p>
        </p:txBody>
      </p:sp>
      <p:sp>
        <p:nvSpPr>
          <p:cNvPr id="4" name="Google Shape;158;g3e4efdd0c05_0_27">
            <a:extLst>
              <a:ext uri="{FF2B5EF4-FFF2-40B4-BE49-F238E27FC236}">
                <a16:creationId xmlns:a16="http://schemas.microsoft.com/office/drawing/2014/main" id="{7D5D016A-CB73-F2B3-1A42-6C657BBA294B}"/>
              </a:ext>
            </a:extLst>
          </p:cNvPr>
          <p:cNvSpPr txBox="1"/>
          <p:nvPr/>
        </p:nvSpPr>
        <p:spPr>
          <a:xfrm>
            <a:off x="4135824" y="1405414"/>
            <a:ext cx="7498858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fr-FR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Wingdings" panose="05000000000000000000" pitchFamily="2" charset="2"/>
              </a:rPr>
              <a:t> Meilleur signal que précédent </a:t>
            </a:r>
            <a:endParaRPr lang="fr-FR"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85B4863-9B59-EDB7-6D61-317179DFF3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584" y="2222854"/>
            <a:ext cx="4461173" cy="4011650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5CA57CBA-646C-2A3F-D208-6F623572FB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5885" y="2144164"/>
            <a:ext cx="6257374" cy="4011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815640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>
          <a:extLst>
            <a:ext uri="{FF2B5EF4-FFF2-40B4-BE49-F238E27FC236}">
              <a16:creationId xmlns:a16="http://schemas.microsoft.com/office/drawing/2014/main" id="{A1B35573-3F7E-8482-DE3C-5092F7F99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e4efdd0c05_0_27">
            <a:extLst>
              <a:ext uri="{FF2B5EF4-FFF2-40B4-BE49-F238E27FC236}">
                <a16:creationId xmlns:a16="http://schemas.microsoft.com/office/drawing/2014/main" id="{0C14D0B3-1358-14C9-22F9-15025C35EEA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5492" y="-18351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fr-FR" dirty="0"/>
              <a:t>7 </a:t>
            </a:r>
            <a:r>
              <a:rPr lang="fr-FR" dirty="0" err="1"/>
              <a:t>ps</a:t>
            </a:r>
            <a:r>
              <a:rPr lang="fr-FR" dirty="0"/>
              <a:t> </a:t>
            </a:r>
            <a:r>
              <a:rPr lang="fr-FR" dirty="0" err="1"/>
              <a:t>chirp</a:t>
            </a:r>
            <a:r>
              <a:rPr lang="fr-FR" dirty="0"/>
              <a:t> on ACC + cal- 260626</a:t>
            </a:r>
            <a:endParaRPr dirty="0"/>
          </a:p>
        </p:txBody>
      </p:sp>
      <p:sp>
        <p:nvSpPr>
          <p:cNvPr id="158" name="Google Shape;158;g3e4efdd0c05_0_27">
            <a:extLst>
              <a:ext uri="{FF2B5EF4-FFF2-40B4-BE49-F238E27FC236}">
                <a16:creationId xmlns:a16="http://schemas.microsoft.com/office/drawing/2014/main" id="{B95A1E9A-E35D-CC43-D6D1-3252111B3041}"/>
              </a:ext>
            </a:extLst>
          </p:cNvPr>
          <p:cNvSpPr txBox="1"/>
          <p:nvPr/>
        </p:nvSpPr>
        <p:spPr>
          <a:xfrm>
            <a:off x="3987247" y="769440"/>
            <a:ext cx="7796011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fr-FR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Wavelength</a:t>
            </a:r>
            <a:r>
              <a:rPr lang="fr-FR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=[</a:t>
            </a:r>
            <a:r>
              <a:rPr lang="fr-FR" sz="1800" dirty="0">
                <a:solidFill>
                  <a:schemeClr val="dk1"/>
                </a:solidFill>
              </a:rPr>
              <a:t>929.1,928.7,928.5,928.1,927.7,927.4,926.7,926.4,926,929.5,930,927.1]</a:t>
            </a:r>
            <a:endParaRPr lang="fr-FR"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g3e4efdd0c05_0_27">
            <a:extLst>
              <a:ext uri="{FF2B5EF4-FFF2-40B4-BE49-F238E27FC236}">
                <a16:creationId xmlns:a16="http://schemas.microsoft.com/office/drawing/2014/main" id="{36BC25FF-D172-81DB-F000-940E8BC1A5AC}"/>
              </a:ext>
            </a:extLst>
          </p:cNvPr>
          <p:cNvSpPr txBox="1"/>
          <p:nvPr/>
        </p:nvSpPr>
        <p:spPr>
          <a:xfrm>
            <a:off x="152572" y="666664"/>
            <a:ext cx="4005600" cy="14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>
                <a:solidFill>
                  <a:schemeClr val="dk1"/>
                </a:solidFill>
              </a:rPr>
              <a:t>Power 350²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>
                <a:solidFill>
                  <a:schemeClr val="dk1"/>
                </a:solidFill>
              </a:rPr>
              <a:t>Nb points 120²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 err="1">
                <a:solidFill>
                  <a:schemeClr val="dk1"/>
                </a:solidFill>
              </a:rPr>
              <a:t>PixelRep</a:t>
            </a:r>
            <a:r>
              <a:rPr lang="fr-FR" sz="1800" dirty="0">
                <a:solidFill>
                  <a:schemeClr val="dk1"/>
                </a:solidFill>
              </a:rPr>
              <a:t> 150 </a:t>
            </a:r>
            <a:r>
              <a:rPr lang="fr-FR" sz="1800" dirty="0" err="1">
                <a:solidFill>
                  <a:schemeClr val="dk1"/>
                </a:solidFill>
              </a:rPr>
              <a:t>NbACC</a:t>
            </a:r>
            <a:r>
              <a:rPr lang="fr-FR" sz="1800" dirty="0">
                <a:solidFill>
                  <a:schemeClr val="dk1"/>
                </a:solidFill>
              </a:rPr>
              <a:t> 10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>
                <a:solidFill>
                  <a:schemeClr val="dk1"/>
                </a:solidFill>
              </a:rPr>
              <a:t>scan range 100 µm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</a:endParaRPr>
          </a:p>
        </p:txBody>
      </p:sp>
      <p:sp>
        <p:nvSpPr>
          <p:cNvPr id="4" name="Google Shape;158;g3e4efdd0c05_0_27">
            <a:extLst>
              <a:ext uri="{FF2B5EF4-FFF2-40B4-BE49-F238E27FC236}">
                <a16:creationId xmlns:a16="http://schemas.microsoft.com/office/drawing/2014/main" id="{EB137745-35AA-45BC-1D31-FFA3E61898CF}"/>
              </a:ext>
            </a:extLst>
          </p:cNvPr>
          <p:cNvSpPr txBox="1"/>
          <p:nvPr/>
        </p:nvSpPr>
        <p:spPr>
          <a:xfrm>
            <a:off x="4135824" y="1405414"/>
            <a:ext cx="7498858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fr-FR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Wingdings" panose="05000000000000000000" pitchFamily="2" charset="2"/>
              </a:rPr>
              <a:t> Meilleur signal que précédent </a:t>
            </a:r>
            <a:endParaRPr lang="fr-FR"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D0DE7383-7220-07A6-20AA-5B609C8859FE}"/>
              </a:ext>
            </a:extLst>
          </p:cNvPr>
          <p:cNvSpPr txBox="1"/>
          <p:nvPr/>
        </p:nvSpPr>
        <p:spPr>
          <a:xfrm>
            <a:off x="1648356" y="4215453"/>
            <a:ext cx="60988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dirty="0">
                <a:solidFill>
                  <a:schemeClr val="dk1"/>
                </a:solidFill>
              </a:rPr>
              <a:t>929.1</a:t>
            </a: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0F58B658-849F-70C8-25B7-BC5DF7A2BD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 flipV="1">
            <a:off x="860918" y="2004339"/>
            <a:ext cx="2281922" cy="2209709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7A8BA293-C81C-B0AB-2205-856F7D6D24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0918" y="4499126"/>
            <a:ext cx="2281922" cy="2322737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01E4DB24-79EF-B4B9-75AC-4F37340B99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5405" y="1772303"/>
            <a:ext cx="7252227" cy="4883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93772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>
          <a:extLst>
            <a:ext uri="{FF2B5EF4-FFF2-40B4-BE49-F238E27FC236}">
              <a16:creationId xmlns:a16="http://schemas.microsoft.com/office/drawing/2014/main" id="{5A9AEF83-D88B-9F18-FA89-3762A59E9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e4efdd0c05_0_27">
            <a:extLst>
              <a:ext uri="{FF2B5EF4-FFF2-40B4-BE49-F238E27FC236}">
                <a16:creationId xmlns:a16="http://schemas.microsoft.com/office/drawing/2014/main" id="{8CA7BE7B-9501-3BBD-75C4-716258BF63B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5492" y="-18351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fr-FR" dirty="0"/>
              <a:t>7 </a:t>
            </a:r>
            <a:r>
              <a:rPr lang="fr-FR" dirty="0" err="1"/>
              <a:t>ps</a:t>
            </a:r>
            <a:r>
              <a:rPr lang="fr-FR" dirty="0"/>
              <a:t> </a:t>
            </a:r>
            <a:r>
              <a:rPr lang="fr-FR" dirty="0" err="1"/>
              <a:t>chirp</a:t>
            </a:r>
            <a:r>
              <a:rPr lang="fr-FR" dirty="0"/>
              <a:t> on ACC + cal- 260626</a:t>
            </a:r>
            <a:endParaRPr dirty="0"/>
          </a:p>
        </p:txBody>
      </p:sp>
      <p:sp>
        <p:nvSpPr>
          <p:cNvPr id="158" name="Google Shape;158;g3e4efdd0c05_0_27">
            <a:extLst>
              <a:ext uri="{FF2B5EF4-FFF2-40B4-BE49-F238E27FC236}">
                <a16:creationId xmlns:a16="http://schemas.microsoft.com/office/drawing/2014/main" id="{7055FC6A-4480-5412-EDD2-A8113C45578F}"/>
              </a:ext>
            </a:extLst>
          </p:cNvPr>
          <p:cNvSpPr txBox="1"/>
          <p:nvPr/>
        </p:nvSpPr>
        <p:spPr>
          <a:xfrm>
            <a:off x="3987247" y="769440"/>
            <a:ext cx="7796011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fr-FR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Wavelength</a:t>
            </a:r>
            <a:r>
              <a:rPr lang="fr-FR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=[</a:t>
            </a:r>
            <a:r>
              <a:rPr lang="fr-FR" sz="1800" dirty="0">
                <a:solidFill>
                  <a:schemeClr val="dk1"/>
                </a:solidFill>
              </a:rPr>
              <a:t>929.1,928.7,928.5,928.1,927.7,927.4,926.7,926.4,926,929.5,930,927.1]</a:t>
            </a:r>
            <a:endParaRPr lang="fr-FR"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g3e4efdd0c05_0_27">
            <a:extLst>
              <a:ext uri="{FF2B5EF4-FFF2-40B4-BE49-F238E27FC236}">
                <a16:creationId xmlns:a16="http://schemas.microsoft.com/office/drawing/2014/main" id="{59D4CF19-2197-F699-6565-382175DFE211}"/>
              </a:ext>
            </a:extLst>
          </p:cNvPr>
          <p:cNvSpPr txBox="1"/>
          <p:nvPr/>
        </p:nvSpPr>
        <p:spPr>
          <a:xfrm>
            <a:off x="152572" y="666664"/>
            <a:ext cx="4005600" cy="14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>
                <a:solidFill>
                  <a:schemeClr val="dk1"/>
                </a:solidFill>
              </a:rPr>
              <a:t>Power 350²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>
                <a:solidFill>
                  <a:schemeClr val="dk1"/>
                </a:solidFill>
              </a:rPr>
              <a:t>Nb points 120²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 err="1">
                <a:solidFill>
                  <a:schemeClr val="dk1"/>
                </a:solidFill>
              </a:rPr>
              <a:t>PixelRep</a:t>
            </a:r>
            <a:r>
              <a:rPr lang="fr-FR" sz="1800" dirty="0">
                <a:solidFill>
                  <a:schemeClr val="dk1"/>
                </a:solidFill>
              </a:rPr>
              <a:t> 150 </a:t>
            </a:r>
            <a:r>
              <a:rPr lang="fr-FR" sz="1800" dirty="0" err="1">
                <a:solidFill>
                  <a:schemeClr val="dk1"/>
                </a:solidFill>
              </a:rPr>
              <a:t>NbACC</a:t>
            </a:r>
            <a:r>
              <a:rPr lang="fr-FR" sz="1800" dirty="0">
                <a:solidFill>
                  <a:schemeClr val="dk1"/>
                </a:solidFill>
              </a:rPr>
              <a:t> 10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>
                <a:solidFill>
                  <a:schemeClr val="dk1"/>
                </a:solidFill>
              </a:rPr>
              <a:t>scan range 100 µm</a:t>
            </a:r>
            <a:endParaRPr sz="1800"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</a:endParaRPr>
          </a:p>
        </p:txBody>
      </p:sp>
      <p:sp>
        <p:nvSpPr>
          <p:cNvPr id="4" name="Google Shape;158;g3e4efdd0c05_0_27">
            <a:extLst>
              <a:ext uri="{FF2B5EF4-FFF2-40B4-BE49-F238E27FC236}">
                <a16:creationId xmlns:a16="http://schemas.microsoft.com/office/drawing/2014/main" id="{92BE615E-D6F3-0375-D24D-F6A33D4E63E4}"/>
              </a:ext>
            </a:extLst>
          </p:cNvPr>
          <p:cNvSpPr txBox="1"/>
          <p:nvPr/>
        </p:nvSpPr>
        <p:spPr>
          <a:xfrm>
            <a:off x="4135824" y="1405414"/>
            <a:ext cx="7498858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fr-FR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Wingdings" panose="05000000000000000000" pitchFamily="2" charset="2"/>
              </a:rPr>
              <a:t> Meilleur signal que précédent </a:t>
            </a:r>
            <a:endParaRPr lang="fr-FR"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4DA867F8-9374-3EB8-AAB0-8FD67F41399C}"/>
              </a:ext>
            </a:extLst>
          </p:cNvPr>
          <p:cNvSpPr txBox="1"/>
          <p:nvPr/>
        </p:nvSpPr>
        <p:spPr>
          <a:xfrm>
            <a:off x="1648356" y="4215453"/>
            <a:ext cx="60988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dirty="0">
                <a:solidFill>
                  <a:schemeClr val="dk1"/>
                </a:solidFill>
              </a:rPr>
              <a:t>929.1</a:t>
            </a: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05BBD6E-0DCF-FC3B-521F-557D09C42E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 flipV="1">
            <a:off x="860918" y="2004339"/>
            <a:ext cx="2281922" cy="2209709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BE539CE1-4EBE-1D0E-5922-8AFF04735B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0918" y="4499126"/>
            <a:ext cx="2281922" cy="2322737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55E86B7C-A113-096A-1A90-8FD37863D7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0403" y="2781322"/>
            <a:ext cx="3785777" cy="3483816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ED53A4F2-E94A-708F-D382-A36A966811C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31560" y="3002079"/>
            <a:ext cx="4660440" cy="3042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86792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4BDE362-1DF1-6CF4-866B-F16B51D5D2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-130175"/>
            <a:ext cx="10515600" cy="4351338"/>
          </a:xfrm>
        </p:spPr>
        <p:txBody>
          <a:bodyPr/>
          <a:lstStyle/>
          <a:p>
            <a:pPr marL="114300" indent="0">
              <a:buNone/>
            </a:pPr>
            <a:r>
              <a:rPr lang="fr-FR" dirty="0"/>
              <a:t>2ps                                                                         7 </a:t>
            </a:r>
            <a:r>
              <a:rPr lang="fr-FR" dirty="0" err="1"/>
              <a:t>ps</a:t>
            </a:r>
            <a:endParaRPr lang="fr-FR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B8DCB00F-C597-6197-F13C-7AF665E7E5EE}"/>
              </a:ext>
            </a:extLst>
          </p:cNvPr>
          <p:cNvSpPr txBox="1"/>
          <p:nvPr/>
        </p:nvSpPr>
        <p:spPr>
          <a:xfrm>
            <a:off x="231266" y="488394"/>
            <a:ext cx="809336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 err="1"/>
              <a:t>x_bg</a:t>
            </a:r>
            <a:r>
              <a:rPr lang="fr-FR" dirty="0"/>
              <a:t>=4.068975e+01; </a:t>
            </a:r>
            <a:r>
              <a:rPr lang="fr-FR" dirty="0" err="1"/>
              <a:t>y_bg</a:t>
            </a:r>
            <a:r>
              <a:rPr lang="fr-FR" dirty="0"/>
              <a:t>=5.070873e+01; </a:t>
            </a:r>
            <a:r>
              <a:rPr lang="fr-FR" dirty="0" err="1"/>
              <a:t>width_bg</a:t>
            </a:r>
            <a:r>
              <a:rPr lang="fr-FR" dirty="0"/>
              <a:t>=3.870968e+00; </a:t>
            </a:r>
            <a:r>
              <a:rPr lang="fr-FR" dirty="0" err="1"/>
              <a:t>height_bg</a:t>
            </a:r>
            <a:r>
              <a:rPr lang="fr-FR" dirty="0"/>
              <a:t>=4.554080e+00;</a:t>
            </a:r>
          </a:p>
          <a:p>
            <a:r>
              <a:rPr lang="fr-FR" dirty="0" err="1"/>
              <a:t>x_sig</a:t>
            </a:r>
            <a:r>
              <a:rPr lang="fr-FR" dirty="0"/>
              <a:t>=4.478843e+01; </a:t>
            </a:r>
            <a:r>
              <a:rPr lang="fr-FR" dirty="0" err="1"/>
              <a:t>y_sig</a:t>
            </a:r>
            <a:r>
              <a:rPr lang="fr-FR" dirty="0"/>
              <a:t>=1.752372e+00; </a:t>
            </a:r>
            <a:r>
              <a:rPr lang="fr-FR" dirty="0" err="1"/>
              <a:t>width_sig</a:t>
            </a:r>
            <a:r>
              <a:rPr lang="fr-FR" dirty="0"/>
              <a:t>=6.011385e+01; </a:t>
            </a:r>
            <a:r>
              <a:rPr lang="fr-FR" dirty="0" err="1"/>
              <a:t>height_sig</a:t>
            </a:r>
            <a:r>
              <a:rPr lang="fr-FR" dirty="0"/>
              <a:t>=2.823529e+01;</a:t>
            </a: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CF904A52-4D6B-B6AA-78C7-9D6D5B7DF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8812" y="3788089"/>
            <a:ext cx="4715949" cy="3069911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FA35F4DA-87F6-F911-929A-AD5A4FC271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1182" y="1099673"/>
            <a:ext cx="2795100" cy="2486137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49C1C049-5E18-6F2E-999C-B3BCD5232E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0291" y="1099674"/>
            <a:ext cx="2795101" cy="2460717"/>
          </a:xfrm>
          <a:prstGeom prst="rect">
            <a:avLst/>
          </a:prstGeom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C0626A50-384E-498A-0119-A13F760802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199" y="3788088"/>
            <a:ext cx="4715949" cy="3096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67787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2A98DB-2639-182E-1138-D23D1DD8C9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2A939B9-DED9-2E2E-A297-DE432EBB89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-130175"/>
            <a:ext cx="10515600" cy="4351338"/>
          </a:xfrm>
        </p:spPr>
        <p:txBody>
          <a:bodyPr/>
          <a:lstStyle/>
          <a:p>
            <a:pPr marL="114300" indent="0">
              <a:buNone/>
            </a:pPr>
            <a:r>
              <a:rPr lang="fr-FR" dirty="0"/>
              <a:t>2ps                                                                         7 </a:t>
            </a:r>
            <a:r>
              <a:rPr lang="fr-FR" dirty="0" err="1"/>
              <a:t>ps</a:t>
            </a:r>
            <a:endParaRPr lang="fr-FR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6F813774-2CDD-9859-3D25-78ADF626AFE2}"/>
              </a:ext>
            </a:extLst>
          </p:cNvPr>
          <p:cNvSpPr txBox="1"/>
          <p:nvPr/>
        </p:nvSpPr>
        <p:spPr>
          <a:xfrm>
            <a:off x="847224" y="475314"/>
            <a:ext cx="809336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 err="1"/>
              <a:t>x_bg</a:t>
            </a:r>
            <a:r>
              <a:rPr lang="fr-FR" dirty="0"/>
              <a:t>=2.953226e+01; </a:t>
            </a:r>
            <a:r>
              <a:rPr lang="fr-FR" dirty="0" err="1"/>
              <a:t>y_bg</a:t>
            </a:r>
            <a:r>
              <a:rPr lang="fr-FR" dirty="0"/>
              <a:t>=2.748292e+01; </a:t>
            </a:r>
            <a:r>
              <a:rPr lang="fr-FR" dirty="0" err="1"/>
              <a:t>width_bg</a:t>
            </a:r>
            <a:r>
              <a:rPr lang="fr-FR" dirty="0"/>
              <a:t>=4.098672e+00; </a:t>
            </a:r>
            <a:r>
              <a:rPr lang="fr-FR" dirty="0" err="1"/>
              <a:t>height_bg</a:t>
            </a:r>
            <a:r>
              <a:rPr lang="fr-FR" dirty="0"/>
              <a:t>=4.554080e+00;</a:t>
            </a:r>
            <a:br>
              <a:rPr lang="fr-FR" dirty="0"/>
            </a:br>
            <a:r>
              <a:rPr lang="fr-FR" dirty="0" err="1"/>
              <a:t>x_sig</a:t>
            </a:r>
            <a:r>
              <a:rPr lang="fr-FR" dirty="0"/>
              <a:t>=7.962713e+01; </a:t>
            </a:r>
            <a:r>
              <a:rPr lang="fr-FR" dirty="0" err="1"/>
              <a:t>y_sig</a:t>
            </a:r>
            <a:r>
              <a:rPr lang="fr-FR" dirty="0"/>
              <a:t>=2.429507e+01; </a:t>
            </a:r>
            <a:r>
              <a:rPr lang="fr-FR" dirty="0" err="1"/>
              <a:t>width_sig</a:t>
            </a:r>
            <a:r>
              <a:rPr lang="fr-FR" dirty="0"/>
              <a:t>=2.003795e+01; </a:t>
            </a:r>
            <a:r>
              <a:rPr lang="fr-FR" dirty="0" err="1"/>
              <a:t>height_sig</a:t>
            </a:r>
            <a:r>
              <a:rPr lang="fr-FR" dirty="0"/>
              <a:t>=1.275142e+01;</a:t>
            </a:r>
          </a:p>
          <a:p>
            <a:endParaRPr lang="fr-FR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3386E663-3344-0B68-468E-F9621CBC23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224" y="3777094"/>
            <a:ext cx="4715949" cy="3080906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1EF1365A-08B1-6FB1-AAC7-92E1540059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6372" y="1099673"/>
            <a:ext cx="2897651" cy="2631234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C45678E0-FB97-D5BE-1AF9-F8665F7306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6228" y="1099673"/>
            <a:ext cx="2897651" cy="2577353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0D26E2AE-1C87-3153-E58C-932A5D6AB1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8632" y="3730907"/>
            <a:ext cx="4732841" cy="3080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75203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40C2D5-259E-8ADD-478A-E0868F22E2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FAD0B2D-357B-5B02-76FA-24A194725E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-130175"/>
            <a:ext cx="10515600" cy="4351338"/>
          </a:xfrm>
        </p:spPr>
        <p:txBody>
          <a:bodyPr/>
          <a:lstStyle/>
          <a:p>
            <a:pPr marL="114300" indent="0">
              <a:buNone/>
            </a:pPr>
            <a:r>
              <a:rPr lang="fr-FR" dirty="0"/>
              <a:t>2ps                                                                         7 </a:t>
            </a:r>
            <a:r>
              <a:rPr lang="fr-FR" dirty="0" err="1"/>
              <a:t>ps</a:t>
            </a:r>
            <a:endParaRPr lang="fr-FR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281F4762-8840-423D-8414-35700839E1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223" y="4221162"/>
            <a:ext cx="4036213" cy="2636838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3283362A-5A25-37C8-36B8-FC1C0F95AF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231" y="1245067"/>
            <a:ext cx="3065379" cy="2783541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C92BBCC8-1EDA-515C-074A-FDF4B6C776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4294" y="4221162"/>
            <a:ext cx="4036214" cy="2659702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93B46F5F-0A10-5611-EB24-3400AAD12E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0136" y="1318417"/>
            <a:ext cx="2964530" cy="2636839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6B7E6C49-1536-2CE5-2DB0-1E8A4A784543}"/>
              </a:ext>
            </a:extLst>
          </p:cNvPr>
          <p:cNvSpPr txBox="1"/>
          <p:nvPr/>
        </p:nvSpPr>
        <p:spPr>
          <a:xfrm>
            <a:off x="166878" y="529291"/>
            <a:ext cx="866622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1400" b="0" i="0" dirty="0" err="1">
                <a:effectLst/>
                <a:latin typeface="Menlo"/>
              </a:rPr>
              <a:t>x_bg</a:t>
            </a:r>
            <a:r>
              <a:rPr lang="fr-FR" sz="1400" b="0" i="0" dirty="0">
                <a:effectLst/>
                <a:latin typeface="Menlo"/>
              </a:rPr>
              <a:t>=2.839374e+01; </a:t>
            </a:r>
            <a:r>
              <a:rPr lang="fr-FR" sz="1400" b="0" i="0" dirty="0" err="1">
                <a:effectLst/>
                <a:latin typeface="Menlo"/>
              </a:rPr>
              <a:t>y_bg</a:t>
            </a:r>
            <a:r>
              <a:rPr lang="fr-FR" sz="1400" b="0" i="0" dirty="0">
                <a:effectLst/>
                <a:latin typeface="Menlo"/>
              </a:rPr>
              <a:t>=2.611670e+01; </a:t>
            </a:r>
            <a:r>
              <a:rPr lang="fr-FR" sz="1400" b="0" i="0" dirty="0" err="1">
                <a:effectLst/>
                <a:latin typeface="Menlo"/>
              </a:rPr>
              <a:t>width_bg</a:t>
            </a:r>
            <a:r>
              <a:rPr lang="fr-FR" sz="1400" b="0" i="0" dirty="0">
                <a:effectLst/>
                <a:latin typeface="Menlo"/>
              </a:rPr>
              <a:t>=4.781784e+00; </a:t>
            </a:r>
            <a:r>
              <a:rPr lang="fr-FR" sz="1400" b="0" i="0" dirty="0" err="1">
                <a:effectLst/>
                <a:latin typeface="Menlo"/>
              </a:rPr>
              <a:t>height_bg</a:t>
            </a:r>
            <a:r>
              <a:rPr lang="fr-FR" sz="1400" b="0" i="0" dirty="0">
                <a:effectLst/>
                <a:latin typeface="Menlo"/>
              </a:rPr>
              <a:t>=6.375712e+00;</a:t>
            </a:r>
          </a:p>
          <a:p>
            <a:pPr>
              <a:buNone/>
            </a:pPr>
            <a:r>
              <a:rPr lang="fr-FR" sz="1400" b="0" i="0" dirty="0" err="1">
                <a:effectLst/>
                <a:latin typeface="Menlo"/>
              </a:rPr>
              <a:t>x_sig</a:t>
            </a:r>
            <a:r>
              <a:rPr lang="fr-FR" sz="1400" b="0" i="0" dirty="0">
                <a:effectLst/>
                <a:latin typeface="Menlo"/>
              </a:rPr>
              <a:t>=4.752087e+01; </a:t>
            </a:r>
            <a:r>
              <a:rPr lang="fr-FR" sz="1400" b="0" i="0" dirty="0" err="1">
                <a:effectLst/>
                <a:latin typeface="Menlo"/>
              </a:rPr>
              <a:t>y_sig</a:t>
            </a:r>
            <a:r>
              <a:rPr lang="fr-FR" sz="1400" b="0" i="0" dirty="0">
                <a:effectLst/>
                <a:latin typeface="Menlo"/>
              </a:rPr>
              <a:t>=1.700854e+01; </a:t>
            </a:r>
            <a:r>
              <a:rPr lang="fr-FR" sz="1400" b="0" i="0" dirty="0" err="1">
                <a:effectLst/>
                <a:latin typeface="Menlo"/>
              </a:rPr>
              <a:t>width_sig</a:t>
            </a:r>
            <a:r>
              <a:rPr lang="fr-FR" sz="1400" b="0" i="0" dirty="0">
                <a:effectLst/>
                <a:latin typeface="Menlo"/>
              </a:rPr>
              <a:t>=5.305503e+01; </a:t>
            </a:r>
            <a:r>
              <a:rPr lang="fr-FR" sz="1400" b="0" i="0" dirty="0" err="1">
                <a:effectLst/>
                <a:latin typeface="Menlo"/>
              </a:rPr>
              <a:t>height_sig</a:t>
            </a:r>
            <a:r>
              <a:rPr lang="fr-FR" sz="1400" b="0" i="0" dirty="0">
                <a:effectLst/>
                <a:latin typeface="Menlo"/>
              </a:rPr>
              <a:t>=1.958254e+01;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F2FA57FE-951C-5F39-B452-7C6EB013FAB3}"/>
              </a:ext>
            </a:extLst>
          </p:cNvPr>
          <p:cNvSpPr txBox="1"/>
          <p:nvPr/>
        </p:nvSpPr>
        <p:spPr>
          <a:xfrm>
            <a:off x="6980136" y="4572852"/>
            <a:ext cx="10470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I</a:t>
            </a:r>
            <a:r>
              <a:rPr lang="fr-FR" baseline="-25000" dirty="0"/>
              <a:t>ara</a:t>
            </a:r>
            <a:r>
              <a:rPr lang="fr-FR" dirty="0"/>
              <a:t>/I</a:t>
            </a:r>
            <a:r>
              <a:rPr lang="fr-FR" baseline="-25000" dirty="0"/>
              <a:t>acc</a:t>
            </a:r>
            <a:r>
              <a:rPr lang="fr-FR" dirty="0"/>
              <a:t>~2,9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5498E9E9-5A84-D83D-A1F3-B33BB3E4327C}"/>
              </a:ext>
            </a:extLst>
          </p:cNvPr>
          <p:cNvSpPr txBox="1"/>
          <p:nvPr/>
        </p:nvSpPr>
        <p:spPr>
          <a:xfrm>
            <a:off x="1298664" y="4572852"/>
            <a:ext cx="8980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I</a:t>
            </a:r>
            <a:r>
              <a:rPr lang="fr-FR" baseline="-25000" dirty="0"/>
              <a:t>ara</a:t>
            </a:r>
            <a:r>
              <a:rPr lang="fr-FR" dirty="0"/>
              <a:t>/I</a:t>
            </a:r>
            <a:r>
              <a:rPr lang="fr-FR" baseline="-25000" dirty="0"/>
              <a:t>acc</a:t>
            </a:r>
            <a:r>
              <a:rPr lang="fr-FR" dirty="0"/>
              <a:t>~2</a:t>
            </a:r>
          </a:p>
        </p:txBody>
      </p:sp>
    </p:spTree>
    <p:extLst>
      <p:ext uri="{BB962C8B-B14F-4D97-AF65-F5344CB8AC3E}">
        <p14:creationId xmlns:p14="http://schemas.microsoft.com/office/powerpoint/2010/main" val="24760651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02879E-6F20-CE24-62A9-9594AD0BC8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43FDF8E-82A0-7DA8-3E6B-336A77763D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-130175"/>
            <a:ext cx="10515600" cy="4351338"/>
          </a:xfrm>
        </p:spPr>
        <p:txBody>
          <a:bodyPr/>
          <a:lstStyle/>
          <a:p>
            <a:pPr marL="114300" indent="0">
              <a:buNone/>
            </a:pPr>
            <a:r>
              <a:rPr lang="fr-FR" dirty="0"/>
              <a:t>2ps                                                      7 </a:t>
            </a:r>
            <a:r>
              <a:rPr lang="fr-FR" dirty="0" err="1"/>
              <a:t>ps</a:t>
            </a:r>
            <a:endParaRPr lang="fr-FR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7B188A82-D89D-84B9-7E7A-B06504626A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231" y="1245067"/>
            <a:ext cx="3065379" cy="2783541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83A17393-7C45-0DB7-9558-8D947AB0B1D0}"/>
              </a:ext>
            </a:extLst>
          </p:cNvPr>
          <p:cNvSpPr txBox="1"/>
          <p:nvPr/>
        </p:nvSpPr>
        <p:spPr>
          <a:xfrm>
            <a:off x="166878" y="529291"/>
            <a:ext cx="866622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 err="1"/>
              <a:t>x_bg</a:t>
            </a:r>
            <a:r>
              <a:rPr lang="fr-FR" dirty="0"/>
              <a:t>=1.154364e+01; </a:t>
            </a:r>
            <a:r>
              <a:rPr lang="fr-FR" dirty="0" err="1"/>
              <a:t>y_bg</a:t>
            </a:r>
            <a:r>
              <a:rPr lang="fr-FR" dirty="0"/>
              <a:t>=1.199905e+01; </a:t>
            </a:r>
            <a:r>
              <a:rPr lang="fr-FR" dirty="0" err="1"/>
              <a:t>width_bg</a:t>
            </a:r>
            <a:r>
              <a:rPr lang="fr-FR" dirty="0"/>
              <a:t>=4.781784e+00; </a:t>
            </a:r>
            <a:r>
              <a:rPr lang="fr-FR" dirty="0" err="1"/>
              <a:t>height_bg</a:t>
            </a:r>
            <a:r>
              <a:rPr lang="fr-FR" dirty="0"/>
              <a:t>=4.781784e+00;</a:t>
            </a:r>
            <a:br>
              <a:rPr lang="fr-FR" dirty="0"/>
            </a:br>
            <a:r>
              <a:rPr lang="fr-FR" dirty="0" err="1"/>
              <a:t>x_sig</a:t>
            </a:r>
            <a:r>
              <a:rPr lang="fr-FR" dirty="0"/>
              <a:t>=5.799526e+01; </a:t>
            </a:r>
            <a:r>
              <a:rPr lang="fr-FR" dirty="0" err="1"/>
              <a:t>y_sig</a:t>
            </a:r>
            <a:r>
              <a:rPr lang="fr-FR" dirty="0"/>
              <a:t>=1.951328e+01; </a:t>
            </a:r>
            <a:r>
              <a:rPr lang="fr-FR" dirty="0" err="1"/>
              <a:t>width_sig</a:t>
            </a:r>
            <a:r>
              <a:rPr lang="fr-FR" dirty="0"/>
              <a:t>=5.692600e+00; </a:t>
            </a:r>
            <a:r>
              <a:rPr lang="fr-FR" dirty="0" err="1"/>
              <a:t>height_sig</a:t>
            </a:r>
            <a:r>
              <a:rPr lang="fr-FR" dirty="0"/>
              <a:t>=4.326376e+00;</a:t>
            </a:r>
          </a:p>
          <a:p>
            <a:endParaRPr lang="fr-FR" dirty="0"/>
          </a:p>
          <a:p>
            <a:pPr>
              <a:buNone/>
            </a:pPr>
            <a:endParaRPr lang="fr-FR" sz="1400" b="0" i="0" dirty="0">
              <a:effectLst/>
              <a:latin typeface="Menlo"/>
            </a:endParaRP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D7736E47-21F3-269C-1998-C64B8D66D9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231" y="1245067"/>
            <a:ext cx="3065379" cy="2887245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C4426B5A-E5B0-DF06-BDD8-83EF1E2886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348" y="4221162"/>
            <a:ext cx="3630498" cy="2394194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FD0C8659-A8FD-80DA-053A-01F5C4C4E4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9231" y="1245066"/>
            <a:ext cx="3065379" cy="2783541"/>
          </a:xfrm>
          <a:prstGeom prst="rect">
            <a:avLst/>
          </a:prstGeom>
        </p:spPr>
      </p:pic>
      <p:pic>
        <p:nvPicPr>
          <p:cNvPr id="21" name="Image 20">
            <a:extLst>
              <a:ext uri="{FF2B5EF4-FFF2-40B4-BE49-F238E27FC236}">
                <a16:creationId xmlns:a16="http://schemas.microsoft.com/office/drawing/2014/main" id="{8076B2EF-5534-53D9-D994-22244D29939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56699" y="1175712"/>
            <a:ext cx="3207436" cy="2852895"/>
          </a:xfrm>
          <a:prstGeom prst="rect">
            <a:avLst/>
          </a:prstGeom>
        </p:spPr>
      </p:pic>
      <p:pic>
        <p:nvPicPr>
          <p:cNvPr id="23" name="Image 22">
            <a:extLst>
              <a:ext uri="{FF2B5EF4-FFF2-40B4-BE49-F238E27FC236}">
                <a16:creationId xmlns:a16="http://schemas.microsoft.com/office/drawing/2014/main" id="{3A12D8CE-BBF0-A425-917A-E010423290D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45168" y="4200298"/>
            <a:ext cx="3630498" cy="2415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497933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E0CE8E-4055-3B49-BE97-683DC5300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3931B5F-7C56-E537-71D8-97E736E305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-130175"/>
            <a:ext cx="10515600" cy="4351338"/>
          </a:xfrm>
        </p:spPr>
        <p:txBody>
          <a:bodyPr/>
          <a:lstStyle/>
          <a:p>
            <a:pPr marL="114300" indent="0">
              <a:buNone/>
            </a:pPr>
            <a:r>
              <a:rPr lang="fr-FR" dirty="0"/>
              <a:t>2ps                                                      7 </a:t>
            </a:r>
            <a:r>
              <a:rPr lang="fr-FR" dirty="0" err="1"/>
              <a:t>ps</a:t>
            </a:r>
            <a:endParaRPr lang="fr-FR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9A4F420E-6B4B-2C80-FD88-ADC52C45E5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231" y="1245067"/>
            <a:ext cx="3065379" cy="2783541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3F413D78-67F3-EC43-FF93-12428B26CDD0}"/>
              </a:ext>
            </a:extLst>
          </p:cNvPr>
          <p:cNvSpPr txBox="1"/>
          <p:nvPr/>
        </p:nvSpPr>
        <p:spPr>
          <a:xfrm>
            <a:off x="166878" y="291168"/>
            <a:ext cx="8666226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fr-FR" dirty="0"/>
          </a:p>
          <a:p>
            <a:r>
              <a:rPr lang="fr-FR" dirty="0" err="1"/>
              <a:t>x_bg</a:t>
            </a:r>
            <a:r>
              <a:rPr lang="fr-FR" dirty="0"/>
              <a:t>=1.063074e+02; </a:t>
            </a:r>
            <a:r>
              <a:rPr lang="fr-FR" dirty="0" err="1"/>
              <a:t>y_bg</a:t>
            </a:r>
            <a:r>
              <a:rPr lang="fr-FR" dirty="0"/>
              <a:t>=7.401275e+01; </a:t>
            </a:r>
            <a:r>
              <a:rPr lang="fr-FR" dirty="0" err="1"/>
              <a:t>width_bg</a:t>
            </a:r>
            <a:r>
              <a:rPr lang="fr-FR" dirty="0"/>
              <a:t>=6.288952e+00; </a:t>
            </a:r>
            <a:r>
              <a:rPr lang="fr-FR" dirty="0" err="1"/>
              <a:t>height_bg</a:t>
            </a:r>
            <a:r>
              <a:rPr lang="fr-FR" dirty="0"/>
              <a:t>=6.968839e+00;</a:t>
            </a:r>
            <a:br>
              <a:rPr lang="fr-FR" dirty="0"/>
            </a:br>
            <a:r>
              <a:rPr lang="fr-FR" dirty="0" err="1"/>
              <a:t>x_sig</a:t>
            </a:r>
            <a:r>
              <a:rPr lang="fr-FR" dirty="0"/>
              <a:t>=3.797875e+01; </a:t>
            </a:r>
            <a:r>
              <a:rPr lang="fr-FR" dirty="0" err="1"/>
              <a:t>y_sig</a:t>
            </a:r>
            <a:r>
              <a:rPr lang="fr-FR" dirty="0"/>
              <a:t>=3.814448e+00; </a:t>
            </a:r>
            <a:r>
              <a:rPr lang="fr-FR" dirty="0" err="1"/>
              <a:t>width_sig</a:t>
            </a:r>
            <a:r>
              <a:rPr lang="fr-FR" dirty="0"/>
              <a:t>=3.093484e+01; </a:t>
            </a:r>
            <a:r>
              <a:rPr lang="fr-FR" dirty="0" err="1"/>
              <a:t>height_sig</a:t>
            </a:r>
            <a:r>
              <a:rPr lang="fr-FR" dirty="0"/>
              <a:t>=4.436261e+01;</a:t>
            </a:r>
          </a:p>
          <a:p>
            <a:endParaRPr lang="fr-FR" dirty="0"/>
          </a:p>
          <a:p>
            <a:pPr>
              <a:buNone/>
            </a:pPr>
            <a:endParaRPr lang="fr-FR" sz="1400" b="0" i="0" dirty="0">
              <a:effectLst/>
              <a:latin typeface="Menlo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58A225E5-CF43-31AA-7859-FEC6DA8B31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9619" y="4221163"/>
            <a:ext cx="3781595" cy="2482948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80B19A3A-3B8E-1B4F-B762-10E25A0EE6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348771"/>
            <a:ext cx="3065380" cy="2726542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5F5BFEF3-E096-BBB7-DCDB-AD7DB3F50B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4221163"/>
            <a:ext cx="3811543" cy="2482948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0B588571-7639-18B6-A239-9BDBBDB9A05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9231" y="1221160"/>
            <a:ext cx="3065379" cy="2783541"/>
          </a:xfrm>
          <a:prstGeom prst="rect">
            <a:avLst/>
          </a:prstGeom>
        </p:spPr>
      </p:pic>
      <p:sp>
        <p:nvSpPr>
          <p:cNvPr id="19" name="ZoneTexte 18">
            <a:extLst>
              <a:ext uri="{FF2B5EF4-FFF2-40B4-BE49-F238E27FC236}">
                <a16:creationId xmlns:a16="http://schemas.microsoft.com/office/drawing/2014/main" id="{671A05C3-E630-3F2F-B96D-2196A3B498E3}"/>
              </a:ext>
            </a:extLst>
          </p:cNvPr>
          <p:cNvSpPr txBox="1"/>
          <p:nvPr/>
        </p:nvSpPr>
        <p:spPr>
          <a:xfrm>
            <a:off x="1451064" y="4488617"/>
            <a:ext cx="10470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I</a:t>
            </a:r>
            <a:r>
              <a:rPr lang="fr-FR" baseline="-25000" dirty="0"/>
              <a:t>ara</a:t>
            </a:r>
            <a:r>
              <a:rPr lang="fr-FR" dirty="0"/>
              <a:t>/I</a:t>
            </a:r>
            <a:r>
              <a:rPr lang="fr-FR" baseline="-25000" dirty="0"/>
              <a:t>acc</a:t>
            </a:r>
            <a:r>
              <a:rPr lang="fr-FR" dirty="0"/>
              <a:t>~2,8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ADF2A30C-36A4-3758-48D3-9BAD05F5EC91}"/>
              </a:ext>
            </a:extLst>
          </p:cNvPr>
          <p:cNvSpPr txBox="1"/>
          <p:nvPr/>
        </p:nvSpPr>
        <p:spPr>
          <a:xfrm>
            <a:off x="6096000" y="4493936"/>
            <a:ext cx="10470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I</a:t>
            </a:r>
            <a:r>
              <a:rPr lang="fr-FR" baseline="-25000" dirty="0"/>
              <a:t>ara</a:t>
            </a:r>
            <a:r>
              <a:rPr lang="fr-FR" dirty="0"/>
              <a:t>/I</a:t>
            </a:r>
            <a:r>
              <a:rPr lang="fr-FR" baseline="-25000" dirty="0"/>
              <a:t>acc</a:t>
            </a:r>
            <a:r>
              <a:rPr lang="fr-FR" dirty="0"/>
              <a:t>~6,8</a:t>
            </a:r>
          </a:p>
        </p:txBody>
      </p:sp>
    </p:spTree>
    <p:extLst>
      <p:ext uri="{BB962C8B-B14F-4D97-AF65-F5344CB8AC3E}">
        <p14:creationId xmlns:p14="http://schemas.microsoft.com/office/powerpoint/2010/main" val="271075629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B66C02-4F34-9465-2B9B-FC9FFE0B5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1EDCF93-8416-B0DA-C73E-F7CC5A046C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-130175"/>
            <a:ext cx="10515600" cy="4351338"/>
          </a:xfrm>
        </p:spPr>
        <p:txBody>
          <a:bodyPr/>
          <a:lstStyle/>
          <a:p>
            <a:pPr marL="114300" indent="0">
              <a:buNone/>
            </a:pPr>
            <a:r>
              <a:rPr lang="fr-FR" dirty="0"/>
              <a:t>2ps                                                      7 </a:t>
            </a:r>
            <a:r>
              <a:rPr lang="fr-FR" dirty="0" err="1"/>
              <a:t>ps</a:t>
            </a:r>
            <a:endParaRPr lang="fr-FR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D1526386-C357-1E3D-5CE1-769E70BA2243}"/>
              </a:ext>
            </a:extLst>
          </p:cNvPr>
          <p:cNvSpPr txBox="1"/>
          <p:nvPr/>
        </p:nvSpPr>
        <p:spPr>
          <a:xfrm>
            <a:off x="166878" y="291168"/>
            <a:ext cx="8666226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fr-FR" dirty="0"/>
          </a:p>
          <a:p>
            <a:r>
              <a:rPr lang="fr-FR" dirty="0" err="1"/>
              <a:t>x_bg</a:t>
            </a:r>
            <a:r>
              <a:rPr lang="fr-FR" dirty="0"/>
              <a:t>=9.852657e+01; </a:t>
            </a:r>
            <a:r>
              <a:rPr lang="fr-FR" dirty="0" err="1"/>
              <a:t>y_bg</a:t>
            </a:r>
            <a:r>
              <a:rPr lang="fr-FR" dirty="0"/>
              <a:t>=1.001205e+02; </a:t>
            </a:r>
            <a:r>
              <a:rPr lang="fr-FR" dirty="0" err="1"/>
              <a:t>width_bg</a:t>
            </a:r>
            <a:r>
              <a:rPr lang="fr-FR" dirty="0"/>
              <a:t>=6.831120e+00; </a:t>
            </a:r>
            <a:r>
              <a:rPr lang="fr-FR" dirty="0" err="1"/>
              <a:t>height_bg</a:t>
            </a:r>
            <a:r>
              <a:rPr lang="fr-FR" dirty="0"/>
              <a:t>=5.692600e+00;</a:t>
            </a:r>
            <a:br>
              <a:rPr lang="fr-FR" dirty="0"/>
            </a:br>
            <a:r>
              <a:rPr lang="fr-FR" dirty="0" err="1"/>
              <a:t>x_sig</a:t>
            </a:r>
            <a:r>
              <a:rPr lang="fr-FR" dirty="0"/>
              <a:t>=1.023975e+02; </a:t>
            </a:r>
            <a:r>
              <a:rPr lang="fr-FR" dirty="0" err="1"/>
              <a:t>y_sig</a:t>
            </a:r>
            <a:r>
              <a:rPr lang="fr-FR" dirty="0"/>
              <a:t>=2.207780e+00; </a:t>
            </a:r>
            <a:r>
              <a:rPr lang="fr-FR" dirty="0" err="1"/>
              <a:t>width_sig</a:t>
            </a:r>
            <a:r>
              <a:rPr lang="fr-FR" dirty="0"/>
              <a:t>=1.685009e+01; </a:t>
            </a:r>
            <a:r>
              <a:rPr lang="fr-FR" dirty="0" err="1"/>
              <a:t>height_sig</a:t>
            </a:r>
            <a:r>
              <a:rPr lang="fr-FR" dirty="0"/>
              <a:t>=1.958254e+01;</a:t>
            </a:r>
          </a:p>
          <a:p>
            <a:endParaRPr lang="fr-FR" dirty="0"/>
          </a:p>
          <a:p>
            <a:pPr>
              <a:buNone/>
            </a:pPr>
            <a:endParaRPr lang="fr-FR" sz="1400" b="0" i="0" dirty="0">
              <a:effectLst/>
              <a:latin typeface="Menlo"/>
            </a:endParaRP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8D132FD7-C5FA-B0B5-3728-7C1EDD85B0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062" y="4210042"/>
            <a:ext cx="3998435" cy="2636837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21F4C732-E044-D98A-2AE5-F39DEC0029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5235" y="1133451"/>
            <a:ext cx="3065380" cy="2803818"/>
          </a:xfrm>
          <a:prstGeom prst="rect">
            <a:avLst/>
          </a:prstGeom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497C162E-8D85-DFAD-1136-709BF7B89B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7461" y="4210042"/>
            <a:ext cx="3855933" cy="2510072"/>
          </a:xfrm>
          <a:prstGeom prst="rect">
            <a:avLst/>
          </a:prstGeom>
        </p:spPr>
      </p:pic>
      <p:pic>
        <p:nvPicPr>
          <p:cNvPr id="21" name="Image 20">
            <a:extLst>
              <a:ext uri="{FF2B5EF4-FFF2-40B4-BE49-F238E27FC236}">
                <a16:creationId xmlns:a16="http://schemas.microsoft.com/office/drawing/2014/main" id="{DDB67B8A-63E4-D93B-AEB8-C944CE6202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84950" y="1338874"/>
            <a:ext cx="2690355" cy="2392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39678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40E480-49E8-CCC8-DB06-5B440B73D4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B3E04AE-D9E4-50E0-557F-1D8E19D82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-130175"/>
            <a:ext cx="10515600" cy="4351338"/>
          </a:xfrm>
        </p:spPr>
        <p:txBody>
          <a:bodyPr/>
          <a:lstStyle/>
          <a:p>
            <a:pPr marL="114300" indent="0">
              <a:buNone/>
            </a:pPr>
            <a:r>
              <a:rPr lang="fr-FR" dirty="0"/>
              <a:t>2ps                                                      7 </a:t>
            </a:r>
            <a:r>
              <a:rPr lang="fr-FR" dirty="0" err="1"/>
              <a:t>ps</a:t>
            </a:r>
            <a:endParaRPr lang="fr-FR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E67DA270-7A65-A0F5-29E8-E8588522BB11}"/>
              </a:ext>
            </a:extLst>
          </p:cNvPr>
          <p:cNvSpPr txBox="1"/>
          <p:nvPr/>
        </p:nvSpPr>
        <p:spPr>
          <a:xfrm>
            <a:off x="166878" y="291168"/>
            <a:ext cx="8666226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fr-FR" dirty="0"/>
          </a:p>
          <a:p>
            <a:r>
              <a:rPr lang="fr-FR" dirty="0" err="1"/>
              <a:t>x_bg</a:t>
            </a:r>
            <a:r>
              <a:rPr lang="fr-FR" dirty="0"/>
              <a:t>=1.063074e+02; </a:t>
            </a:r>
            <a:r>
              <a:rPr lang="fr-FR" dirty="0" err="1"/>
              <a:t>y_bg</a:t>
            </a:r>
            <a:r>
              <a:rPr lang="fr-FR" dirty="0"/>
              <a:t>=7.401275e+01; </a:t>
            </a:r>
            <a:r>
              <a:rPr lang="fr-FR" dirty="0" err="1"/>
              <a:t>width_bg</a:t>
            </a:r>
            <a:r>
              <a:rPr lang="fr-FR" dirty="0"/>
              <a:t>=6.288952e+00; </a:t>
            </a:r>
            <a:r>
              <a:rPr lang="fr-FR" dirty="0" err="1"/>
              <a:t>height_bg</a:t>
            </a:r>
            <a:r>
              <a:rPr lang="fr-FR" dirty="0"/>
              <a:t>=6.968839e+00;</a:t>
            </a:r>
            <a:br>
              <a:rPr lang="fr-FR" dirty="0"/>
            </a:br>
            <a:r>
              <a:rPr lang="fr-FR" dirty="0" err="1"/>
              <a:t>x_sig</a:t>
            </a:r>
            <a:r>
              <a:rPr lang="fr-FR" dirty="0"/>
              <a:t>=3.797875e+01; </a:t>
            </a:r>
            <a:r>
              <a:rPr lang="fr-FR" dirty="0" err="1"/>
              <a:t>y_sig</a:t>
            </a:r>
            <a:r>
              <a:rPr lang="fr-FR" dirty="0"/>
              <a:t>=3.814448e+00; </a:t>
            </a:r>
            <a:r>
              <a:rPr lang="fr-FR" dirty="0" err="1"/>
              <a:t>width_sig</a:t>
            </a:r>
            <a:r>
              <a:rPr lang="fr-FR" dirty="0"/>
              <a:t>=3.093484e+01; </a:t>
            </a:r>
            <a:r>
              <a:rPr lang="fr-FR" dirty="0" err="1"/>
              <a:t>height_sig</a:t>
            </a:r>
            <a:r>
              <a:rPr lang="fr-FR" dirty="0"/>
              <a:t>=4.436261e+01;</a:t>
            </a:r>
          </a:p>
          <a:p>
            <a:endParaRPr lang="fr-FR" dirty="0"/>
          </a:p>
          <a:p>
            <a:pPr>
              <a:buNone/>
            </a:pPr>
            <a:endParaRPr lang="fr-FR" sz="1400" b="0" i="0" dirty="0">
              <a:effectLst/>
              <a:latin typeface="Menlo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62947E30-6AD2-26A6-07BA-75EAF26C5A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878" y="3298089"/>
            <a:ext cx="5938877" cy="2931290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DD5BBB3A-AE63-7C06-A366-6E8CE8919C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8068" y="3256730"/>
            <a:ext cx="4630071" cy="3014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69834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03D3DD-60CC-01DE-0D48-1E7ED33E3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34E0355-53DB-F3B3-2A8E-B4380CC39A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-130175"/>
            <a:ext cx="10515600" cy="4351338"/>
          </a:xfrm>
        </p:spPr>
        <p:txBody>
          <a:bodyPr/>
          <a:lstStyle/>
          <a:p>
            <a:pPr marL="114300" indent="0">
              <a:buNone/>
            </a:pPr>
            <a:r>
              <a:rPr lang="fr-FR" dirty="0"/>
              <a:t>2ps                                                      7 </a:t>
            </a:r>
            <a:r>
              <a:rPr lang="fr-FR" dirty="0" err="1"/>
              <a:t>ps</a:t>
            </a:r>
            <a:endParaRPr lang="fr-FR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C5345F87-7341-34D2-2CC3-EBE9F9CA0BE3}"/>
              </a:ext>
            </a:extLst>
          </p:cNvPr>
          <p:cNvSpPr txBox="1"/>
          <p:nvPr/>
        </p:nvSpPr>
        <p:spPr>
          <a:xfrm>
            <a:off x="166878" y="291168"/>
            <a:ext cx="8666226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fr-FR" dirty="0"/>
          </a:p>
          <a:p>
            <a:r>
              <a:rPr lang="fr-FR" dirty="0" err="1"/>
              <a:t>x_bg</a:t>
            </a:r>
            <a:r>
              <a:rPr lang="fr-FR" dirty="0"/>
              <a:t>=1.063074e+02; </a:t>
            </a:r>
            <a:r>
              <a:rPr lang="fr-FR" dirty="0" err="1"/>
              <a:t>y_bg</a:t>
            </a:r>
            <a:r>
              <a:rPr lang="fr-FR" dirty="0"/>
              <a:t>=7.401275e+01; </a:t>
            </a:r>
            <a:r>
              <a:rPr lang="fr-FR" dirty="0" err="1"/>
              <a:t>width_bg</a:t>
            </a:r>
            <a:r>
              <a:rPr lang="fr-FR" dirty="0"/>
              <a:t>=6.288952e+00; </a:t>
            </a:r>
            <a:r>
              <a:rPr lang="fr-FR" dirty="0" err="1"/>
              <a:t>height_bg</a:t>
            </a:r>
            <a:r>
              <a:rPr lang="fr-FR" dirty="0"/>
              <a:t>=6.968839e+00;</a:t>
            </a:r>
            <a:br>
              <a:rPr lang="fr-FR" dirty="0"/>
            </a:br>
            <a:r>
              <a:rPr lang="fr-FR" dirty="0" err="1"/>
              <a:t>x_sig</a:t>
            </a:r>
            <a:r>
              <a:rPr lang="fr-FR" dirty="0"/>
              <a:t>=3.797875e+01; </a:t>
            </a:r>
            <a:r>
              <a:rPr lang="fr-FR" dirty="0" err="1"/>
              <a:t>y_sig</a:t>
            </a:r>
            <a:r>
              <a:rPr lang="fr-FR" dirty="0"/>
              <a:t>=3.814448e+00; </a:t>
            </a:r>
            <a:r>
              <a:rPr lang="fr-FR" dirty="0" err="1"/>
              <a:t>width_sig</a:t>
            </a:r>
            <a:r>
              <a:rPr lang="fr-FR" dirty="0"/>
              <a:t>=3.093484e+01; </a:t>
            </a:r>
            <a:r>
              <a:rPr lang="fr-FR" dirty="0" err="1"/>
              <a:t>height_sig</a:t>
            </a:r>
            <a:r>
              <a:rPr lang="fr-FR" dirty="0"/>
              <a:t>=4.436261e+01;</a:t>
            </a:r>
          </a:p>
          <a:p>
            <a:endParaRPr lang="fr-FR" dirty="0"/>
          </a:p>
          <a:p>
            <a:pPr>
              <a:buNone/>
            </a:pPr>
            <a:endParaRPr lang="fr-FR" sz="1400" b="0" i="0" dirty="0">
              <a:effectLst/>
              <a:latin typeface="Menlo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1243EC05-7F53-B5C5-83DF-C40C24BDE0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9089" y="3912115"/>
            <a:ext cx="4011121" cy="2665417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6C83D53B-91BC-BBE8-0A47-12AADFB84F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56813" y="75902"/>
            <a:ext cx="1880033" cy="1707178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0103C9DE-AB24-329C-A123-99FAD0108C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1444" y="3817670"/>
            <a:ext cx="4011121" cy="2705573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890C293C-A91E-80D0-7B4B-2279BCEEE38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75741" y="1244959"/>
            <a:ext cx="3717815" cy="2636837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2C87E503-76E8-049D-B633-3C0A142DDA3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8705" y="1244959"/>
            <a:ext cx="3491957" cy="2476649"/>
          </a:xfrm>
          <a:prstGeom prst="rect">
            <a:avLst/>
          </a:prstGeom>
        </p:spPr>
      </p:pic>
      <p:cxnSp>
        <p:nvCxnSpPr>
          <p:cNvPr id="17" name="Connecteur droit avec flèche 16">
            <a:extLst>
              <a:ext uri="{FF2B5EF4-FFF2-40B4-BE49-F238E27FC236}">
                <a16:creationId xmlns:a16="http://schemas.microsoft.com/office/drawing/2014/main" id="{96A3B73D-F1AE-E2A6-BFEA-AE15DA66DEF2}"/>
              </a:ext>
            </a:extLst>
          </p:cNvPr>
          <p:cNvCxnSpPr>
            <a:cxnSpLocks/>
          </p:cNvCxnSpPr>
          <p:nvPr/>
        </p:nvCxnSpPr>
        <p:spPr>
          <a:xfrm>
            <a:off x="3031152" y="1559242"/>
            <a:ext cx="269832" cy="0"/>
          </a:xfrm>
          <a:prstGeom prst="straightConnector1">
            <a:avLst/>
          </a:prstGeom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1" name="ZoneTexte 20">
            <a:extLst>
              <a:ext uri="{FF2B5EF4-FFF2-40B4-BE49-F238E27FC236}">
                <a16:creationId xmlns:a16="http://schemas.microsoft.com/office/drawing/2014/main" id="{87F78F25-B7E5-77BF-E288-1A35F81B0B64}"/>
              </a:ext>
            </a:extLst>
          </p:cNvPr>
          <p:cNvSpPr txBox="1"/>
          <p:nvPr/>
        </p:nvSpPr>
        <p:spPr>
          <a:xfrm>
            <a:off x="4058827" y="1358842"/>
            <a:ext cx="16965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Décalage du pic, présence d’ACC ? 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57D7ADB4-56FD-2860-DFB1-5896A4BED429}"/>
              </a:ext>
            </a:extLst>
          </p:cNvPr>
          <p:cNvSpPr txBox="1"/>
          <p:nvPr/>
        </p:nvSpPr>
        <p:spPr>
          <a:xfrm>
            <a:off x="9489035" y="1900531"/>
            <a:ext cx="252984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Recalage du pic par rapport au 2ps fais sens si l’on détecte moins d’ACC en 7ps </a:t>
            </a:r>
          </a:p>
        </p:txBody>
      </p:sp>
    </p:spTree>
    <p:extLst>
      <p:ext uri="{BB962C8B-B14F-4D97-AF65-F5344CB8AC3E}">
        <p14:creationId xmlns:p14="http://schemas.microsoft.com/office/powerpoint/2010/main" val="264123282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525719-7C19-DD00-0C65-8D4227619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BE6419B-45B7-4D93-8DC0-0283F028BE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265" y="-1308976"/>
            <a:ext cx="11697735" cy="2387600"/>
          </a:xfrm>
        </p:spPr>
        <p:txBody>
          <a:bodyPr/>
          <a:lstStyle/>
          <a:p>
            <a:pPr algn="l"/>
            <a:r>
              <a:rPr lang="fr-FR" dirty="0"/>
              <a:t>260708 ACC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90E733D-9AAE-36DF-AD1A-23B3CC6AF5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29200" y="1078624"/>
            <a:ext cx="7049535" cy="1655762"/>
          </a:xfrm>
        </p:spPr>
        <p:txBody>
          <a:bodyPr/>
          <a:lstStyle/>
          <a:p>
            <a:pPr algn="l"/>
            <a:r>
              <a:rPr lang="fr-FR" dirty="0" err="1"/>
              <a:t>Wavelength</a:t>
            </a:r>
            <a:r>
              <a:rPr lang="fr-FR" dirty="0"/>
              <a:t>=[928.5,928.8,929.2,929.6,929.9,930.3,930.8,931.2,931.5,931.8,932.1,932.6,932.9,928.3,927.8,927.5,927.1,926.6,926.1,925.6,925,924.5,923.9,</a:t>
            </a:r>
          </a:p>
        </p:txBody>
      </p:sp>
      <p:sp>
        <p:nvSpPr>
          <p:cNvPr id="12" name="Sous-titre 2">
            <a:extLst>
              <a:ext uri="{FF2B5EF4-FFF2-40B4-BE49-F238E27FC236}">
                <a16:creationId xmlns:a16="http://schemas.microsoft.com/office/drawing/2014/main" id="{ECFE7C0D-AE8A-DABD-D23F-DEF28626A4D9}"/>
              </a:ext>
            </a:extLst>
          </p:cNvPr>
          <p:cNvSpPr txBox="1">
            <a:spLocks/>
          </p:cNvSpPr>
          <p:nvPr/>
        </p:nvSpPr>
        <p:spPr>
          <a:xfrm>
            <a:off x="0" y="1111316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r-FR" dirty="0"/>
              <a:t>Power 200 mW</a:t>
            </a:r>
          </a:p>
          <a:p>
            <a:pPr algn="l"/>
            <a:r>
              <a:rPr lang="fr-FR" dirty="0"/>
              <a:t>Nb pts 130²</a:t>
            </a:r>
          </a:p>
          <a:p>
            <a:pPr algn="l"/>
            <a:r>
              <a:rPr lang="fr-FR" dirty="0" err="1"/>
              <a:t>Pixrep</a:t>
            </a:r>
            <a:r>
              <a:rPr lang="fr-FR" dirty="0"/>
              <a:t> 100</a:t>
            </a:r>
          </a:p>
          <a:p>
            <a:pPr algn="l"/>
            <a:r>
              <a:rPr lang="fr-FR" dirty="0" err="1"/>
              <a:t>Nbacc</a:t>
            </a:r>
            <a:r>
              <a:rPr lang="fr-FR" dirty="0"/>
              <a:t> 5 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04D38F11-592A-E466-EE24-9D6576C327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8728" y="991297"/>
            <a:ext cx="2015220" cy="1895800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2DC8DBDF-1F88-A834-3417-98E21E1911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8586" y="3376578"/>
            <a:ext cx="4105294" cy="2707307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8511839E-F961-F01D-6386-0D16BDD571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265" y="3127248"/>
            <a:ext cx="3682567" cy="3429000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D246068F-6A32-E824-C0EC-68308C2A05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13980" y="3466224"/>
            <a:ext cx="3635714" cy="2578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048866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C4EEE7-C43A-D2DE-21E5-679EDD060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73D07E-0F61-BC2E-DEAD-A0AA234F2A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265" y="-1308976"/>
            <a:ext cx="11697735" cy="2387600"/>
          </a:xfrm>
        </p:spPr>
        <p:txBody>
          <a:bodyPr/>
          <a:lstStyle/>
          <a:p>
            <a:pPr algn="l"/>
            <a:r>
              <a:rPr lang="fr-FR" dirty="0"/>
              <a:t>260708 </a:t>
            </a:r>
            <a:r>
              <a:rPr lang="fr-FR" dirty="0" err="1"/>
              <a:t>ACC_Cal</a:t>
            </a:r>
            <a:r>
              <a:rPr lang="fr-FR" dirty="0"/>
              <a:t> 2 </a:t>
            </a:r>
            <a:r>
              <a:rPr lang="fr-FR" dirty="0" err="1"/>
              <a:t>ps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D5D6FF6-FF4E-0874-27A8-6EC6708982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86964" y="982581"/>
            <a:ext cx="7716285" cy="1655762"/>
          </a:xfrm>
        </p:spPr>
        <p:txBody>
          <a:bodyPr/>
          <a:lstStyle/>
          <a:p>
            <a:pPr algn="l"/>
            <a:r>
              <a:rPr lang="fr-FR" dirty="0" err="1"/>
              <a:t>Wavelength</a:t>
            </a:r>
            <a:r>
              <a:rPr lang="fr-FR" dirty="0"/>
              <a:t>=[927,927.5,928,928.3,928.6,929.1,929.4,929.6,929.8,930.4,930.8,931.1,931.5,931.8,932.5,932.9,933.9,935,</a:t>
            </a:r>
            <a:r>
              <a:rPr lang="fr-FR" b="1" dirty="0"/>
              <a:t>926.8</a:t>
            </a:r>
            <a:r>
              <a:rPr lang="fr-FR" dirty="0"/>
              <a:t>,926.4,926,925.6,925.2,924.8,924,923</a:t>
            </a:r>
          </a:p>
        </p:txBody>
      </p:sp>
      <p:sp>
        <p:nvSpPr>
          <p:cNvPr id="11" name="Sous-titre 2">
            <a:extLst>
              <a:ext uri="{FF2B5EF4-FFF2-40B4-BE49-F238E27FC236}">
                <a16:creationId xmlns:a16="http://schemas.microsoft.com/office/drawing/2014/main" id="{52F8B46E-0529-E84C-8FE4-62B122CA0D4A}"/>
              </a:ext>
            </a:extLst>
          </p:cNvPr>
          <p:cNvSpPr txBox="1">
            <a:spLocks/>
          </p:cNvSpPr>
          <p:nvPr/>
        </p:nvSpPr>
        <p:spPr>
          <a:xfrm>
            <a:off x="0" y="1111316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r-FR" dirty="0"/>
              <a:t>Power 200 mW</a:t>
            </a:r>
          </a:p>
          <a:p>
            <a:pPr algn="l"/>
            <a:r>
              <a:rPr lang="fr-FR" dirty="0"/>
              <a:t>Nb pts 130²</a:t>
            </a:r>
          </a:p>
          <a:p>
            <a:pPr algn="l"/>
            <a:r>
              <a:rPr lang="fr-FR" dirty="0" err="1"/>
              <a:t>Pixrep</a:t>
            </a:r>
            <a:r>
              <a:rPr lang="fr-FR" dirty="0"/>
              <a:t> 100</a:t>
            </a:r>
          </a:p>
          <a:p>
            <a:pPr algn="l"/>
            <a:r>
              <a:rPr lang="fr-FR" dirty="0" err="1"/>
              <a:t>Nbacc</a:t>
            </a:r>
            <a:r>
              <a:rPr lang="fr-FR" dirty="0"/>
              <a:t> 3 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7D2789E0-C087-8C47-14A8-DF0CF8A479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623" y="2799770"/>
            <a:ext cx="4209257" cy="3878340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C518F1F0-5FE7-D632-1815-322397E089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7796" y="2109739"/>
            <a:ext cx="3150777" cy="2234669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C8B33FD8-4DDC-3458-A2FE-BA38B9DB1E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7395" y="4445927"/>
            <a:ext cx="3101178" cy="2199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631060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AB2919-F30A-3A52-311F-56ABB91689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3683751-24D6-C2BB-9D43-2005A976C0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265" y="-1308976"/>
            <a:ext cx="11697735" cy="2387600"/>
          </a:xfrm>
        </p:spPr>
        <p:txBody>
          <a:bodyPr/>
          <a:lstStyle/>
          <a:p>
            <a:pPr algn="l"/>
            <a:r>
              <a:rPr lang="fr-FR" dirty="0"/>
              <a:t>260708 </a:t>
            </a:r>
            <a:r>
              <a:rPr lang="fr-FR" dirty="0" err="1"/>
              <a:t>ACC_Cal</a:t>
            </a:r>
            <a:r>
              <a:rPr lang="fr-FR" dirty="0"/>
              <a:t> 7 </a:t>
            </a:r>
            <a:r>
              <a:rPr lang="fr-FR" dirty="0" err="1"/>
              <a:t>ps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4F08315-C7E5-75B0-1AD0-7F3B206971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62450" y="1078624"/>
            <a:ext cx="7716285" cy="1655762"/>
          </a:xfrm>
        </p:spPr>
        <p:txBody>
          <a:bodyPr/>
          <a:lstStyle/>
          <a:p>
            <a:pPr algn="l"/>
            <a:r>
              <a:rPr lang="fr-FR" dirty="0" err="1"/>
              <a:t>Wavelength</a:t>
            </a:r>
            <a:r>
              <a:rPr lang="fr-FR" dirty="0"/>
              <a:t>=[928.6,929.1,929.5,929.8,930.2,930.6,</a:t>
            </a:r>
            <a:r>
              <a:rPr lang="fr-FR" b="1" dirty="0"/>
              <a:t>931.1,</a:t>
            </a:r>
            <a:r>
              <a:rPr lang="fr-FR" dirty="0"/>
              <a:t>928,927.6,927.2,926.8,926.4,926,925.5,928.3]</a:t>
            </a:r>
          </a:p>
        </p:txBody>
      </p:sp>
      <p:sp>
        <p:nvSpPr>
          <p:cNvPr id="5" name="Sous-titre 2">
            <a:extLst>
              <a:ext uri="{FF2B5EF4-FFF2-40B4-BE49-F238E27FC236}">
                <a16:creationId xmlns:a16="http://schemas.microsoft.com/office/drawing/2014/main" id="{1C29A448-3E99-ABC7-8A7F-A359EBCDEA8B}"/>
              </a:ext>
            </a:extLst>
          </p:cNvPr>
          <p:cNvSpPr txBox="1">
            <a:spLocks/>
          </p:cNvSpPr>
          <p:nvPr/>
        </p:nvSpPr>
        <p:spPr>
          <a:xfrm>
            <a:off x="0" y="1111316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r-FR" dirty="0"/>
              <a:t>Power 350 mW</a:t>
            </a:r>
          </a:p>
          <a:p>
            <a:pPr algn="l"/>
            <a:r>
              <a:rPr lang="fr-FR" dirty="0"/>
              <a:t>Nb pts 130²</a:t>
            </a:r>
          </a:p>
          <a:p>
            <a:pPr algn="l"/>
            <a:r>
              <a:rPr lang="fr-FR" dirty="0" err="1"/>
              <a:t>Pixrep</a:t>
            </a:r>
            <a:r>
              <a:rPr lang="fr-FR" dirty="0"/>
              <a:t> 130</a:t>
            </a:r>
          </a:p>
          <a:p>
            <a:pPr algn="l"/>
            <a:r>
              <a:rPr lang="fr-FR" dirty="0" err="1"/>
              <a:t>Nbacc</a:t>
            </a:r>
            <a:r>
              <a:rPr lang="fr-FR" dirty="0"/>
              <a:t> 5 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231201AC-3D9E-230E-5968-68006D5653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 flipH="1">
            <a:off x="437833" y="3038971"/>
            <a:ext cx="3734117" cy="3647824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D32D4210-58E2-1A9F-54B1-F22055CD20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2450" y="3038971"/>
            <a:ext cx="3360735" cy="3105335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5508A533-B0B0-79A2-389A-99FCCE05E1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0673" y="3201404"/>
            <a:ext cx="3920327" cy="2780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388935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1D9683-9415-5121-7C73-E042F1C04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33004F1-F167-56D9-8758-E44607ACF0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-130175"/>
            <a:ext cx="10515600" cy="4351338"/>
          </a:xfrm>
        </p:spPr>
        <p:txBody>
          <a:bodyPr/>
          <a:lstStyle/>
          <a:p>
            <a:pPr marL="114300" indent="0">
              <a:buNone/>
            </a:pPr>
            <a:r>
              <a:rPr lang="fr-FR" dirty="0"/>
              <a:t>2ps                                                      7 </a:t>
            </a:r>
            <a:r>
              <a:rPr lang="fr-FR" dirty="0" err="1"/>
              <a:t>ps</a:t>
            </a:r>
            <a:endParaRPr lang="fr-FR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0CC73AB0-EA17-D12D-0F2F-5132F3C6B9D1}"/>
              </a:ext>
            </a:extLst>
          </p:cNvPr>
          <p:cNvSpPr txBox="1"/>
          <p:nvPr/>
        </p:nvSpPr>
        <p:spPr>
          <a:xfrm>
            <a:off x="166878" y="291168"/>
            <a:ext cx="8666226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fr-FR" dirty="0"/>
          </a:p>
          <a:p>
            <a:r>
              <a:rPr lang="fr-FR" dirty="0" err="1"/>
              <a:t>x_bg</a:t>
            </a:r>
            <a:r>
              <a:rPr lang="fr-FR" dirty="0"/>
              <a:t>=7.438046e+01; </a:t>
            </a:r>
            <a:r>
              <a:rPr lang="fr-FR" dirty="0" err="1"/>
              <a:t>y_bg</a:t>
            </a:r>
            <a:r>
              <a:rPr lang="fr-FR" dirty="0"/>
              <a:t>=9.090797e+01; </a:t>
            </a:r>
            <a:r>
              <a:rPr lang="fr-FR" dirty="0" err="1"/>
              <a:t>width_bg</a:t>
            </a:r>
            <a:r>
              <a:rPr lang="fr-FR" dirty="0"/>
              <a:t>=9.127135e+00; </a:t>
            </a:r>
            <a:r>
              <a:rPr lang="fr-FR" dirty="0" err="1"/>
              <a:t>height_bg</a:t>
            </a:r>
            <a:r>
              <a:rPr lang="fr-FR" dirty="0"/>
              <a:t>=9.373814e+00;</a:t>
            </a:r>
            <a:br>
              <a:rPr lang="fr-FR" dirty="0"/>
            </a:br>
            <a:r>
              <a:rPr lang="fr-FR" dirty="0" err="1"/>
              <a:t>x_sig</a:t>
            </a:r>
            <a:r>
              <a:rPr lang="fr-FR" dirty="0"/>
              <a:t>=1.047220e+02; </a:t>
            </a:r>
            <a:r>
              <a:rPr lang="fr-FR" dirty="0" err="1"/>
              <a:t>y_sig</a:t>
            </a:r>
            <a:r>
              <a:rPr lang="fr-FR" dirty="0"/>
              <a:t>=9.066129e+01; </a:t>
            </a:r>
            <a:r>
              <a:rPr lang="fr-FR" dirty="0" err="1"/>
              <a:t>width_sig</a:t>
            </a:r>
            <a:r>
              <a:rPr lang="fr-FR" dirty="0"/>
              <a:t>=8.387097e+00; </a:t>
            </a:r>
            <a:r>
              <a:rPr lang="fr-FR" dirty="0" err="1"/>
              <a:t>height_sig</a:t>
            </a:r>
            <a:r>
              <a:rPr lang="fr-FR" dirty="0"/>
              <a:t>=9.867173e+00;</a:t>
            </a:r>
          </a:p>
          <a:p>
            <a:endParaRPr lang="fr-FR" dirty="0"/>
          </a:p>
          <a:p>
            <a:pPr>
              <a:buNone/>
            </a:pPr>
            <a:endParaRPr lang="fr-FR" sz="1400" b="0" i="0" dirty="0">
              <a:effectLst/>
              <a:latin typeface="Menlo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803FCFD4-F126-BF7F-0A66-0B9748998C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3639933"/>
            <a:ext cx="4493047" cy="2926899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0B2479F8-81EB-2EC7-CDCF-A9978F7309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7188" y="993798"/>
            <a:ext cx="2601354" cy="2396845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F7213E95-321D-A321-B736-E377E0C8BC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63963" y="3639933"/>
            <a:ext cx="4489837" cy="2926899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F8BB9CCD-72D0-9664-4ED0-4A02BB8EF4E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77888" y="993798"/>
            <a:ext cx="2601354" cy="2347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37548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598CB1-66ED-8E2B-A0EE-0FB1F595D0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D004B1B-9102-BED8-1DD7-99052D3AAC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-130175"/>
            <a:ext cx="10515600" cy="4351338"/>
          </a:xfrm>
        </p:spPr>
        <p:txBody>
          <a:bodyPr/>
          <a:lstStyle/>
          <a:p>
            <a:pPr marL="114300" indent="0">
              <a:buNone/>
            </a:pPr>
            <a:r>
              <a:rPr lang="fr-FR" dirty="0"/>
              <a:t>2ps                                                      7 </a:t>
            </a:r>
            <a:r>
              <a:rPr lang="fr-FR" dirty="0" err="1"/>
              <a:t>ps</a:t>
            </a:r>
            <a:endParaRPr lang="fr-FR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9289ED41-D7EB-E6CA-A46E-4D38CA43E564}"/>
              </a:ext>
            </a:extLst>
          </p:cNvPr>
          <p:cNvSpPr txBox="1"/>
          <p:nvPr/>
        </p:nvSpPr>
        <p:spPr>
          <a:xfrm>
            <a:off x="166878" y="291168"/>
            <a:ext cx="866622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fr-FR" dirty="0"/>
          </a:p>
          <a:p>
            <a:r>
              <a:rPr lang="fr-FR" dirty="0" err="1"/>
              <a:t>x_bg</a:t>
            </a:r>
            <a:r>
              <a:rPr lang="fr-FR" dirty="0"/>
              <a:t>=7.536717e+01; </a:t>
            </a:r>
            <a:r>
              <a:rPr lang="fr-FR" dirty="0" err="1"/>
              <a:t>y_bg</a:t>
            </a:r>
            <a:r>
              <a:rPr lang="fr-FR" dirty="0"/>
              <a:t>=9.115465e+01; </a:t>
            </a:r>
            <a:r>
              <a:rPr lang="fr-FR" dirty="0" err="1"/>
              <a:t>width_bg</a:t>
            </a:r>
            <a:r>
              <a:rPr lang="fr-FR" dirty="0"/>
              <a:t>=1.036053e+01; </a:t>
            </a:r>
            <a:r>
              <a:rPr lang="fr-FR" dirty="0" err="1"/>
              <a:t>height_bg</a:t>
            </a:r>
            <a:r>
              <a:rPr lang="fr-FR" dirty="0"/>
              <a:t>=1.159393e+01;</a:t>
            </a:r>
            <a:br>
              <a:rPr lang="fr-FR" dirty="0"/>
            </a:br>
            <a:r>
              <a:rPr lang="fr-FR" dirty="0" err="1"/>
              <a:t>x_sig</a:t>
            </a:r>
            <a:r>
              <a:rPr lang="fr-FR" dirty="0"/>
              <a:t>=5.686622e+01; </a:t>
            </a:r>
            <a:r>
              <a:rPr lang="fr-FR" dirty="0" err="1"/>
              <a:t>y_sig</a:t>
            </a:r>
            <a:r>
              <a:rPr lang="fr-FR" dirty="0"/>
              <a:t>=2.257780e+01; </a:t>
            </a:r>
            <a:r>
              <a:rPr lang="fr-FR" dirty="0" err="1"/>
              <a:t>width_sig</a:t>
            </a:r>
            <a:r>
              <a:rPr lang="fr-FR" dirty="0"/>
              <a:t>=1.529412e+01; </a:t>
            </a:r>
            <a:r>
              <a:rPr lang="fr-FR" dirty="0" err="1"/>
              <a:t>height_sig</a:t>
            </a:r>
            <a:r>
              <a:rPr lang="fr-FR" dirty="0"/>
              <a:t>=9.373814e+00;</a:t>
            </a:r>
          </a:p>
          <a:p>
            <a:endParaRPr lang="fr-FR" dirty="0"/>
          </a:p>
          <a:p>
            <a:endParaRPr lang="fr-FR" dirty="0"/>
          </a:p>
          <a:p>
            <a:pPr>
              <a:buNone/>
            </a:pPr>
            <a:endParaRPr lang="fr-FR" sz="1400" b="0" i="0" dirty="0">
              <a:effectLst/>
              <a:latin typeface="Menlo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47391765-A550-471A-759C-7E9DC7FB80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294" y="3639933"/>
            <a:ext cx="4457744" cy="2926899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9594DE00-9482-FC64-D77F-8284FFB50F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44037" y="1103362"/>
            <a:ext cx="2310257" cy="2128633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5DAB256F-D8F6-2E0D-60AF-77A782260A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8009" y="3639933"/>
            <a:ext cx="4249986" cy="2816851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5F9307F6-3826-5CE6-27E5-85606F50376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54294" y="1103316"/>
            <a:ext cx="2407763" cy="2173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841271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CB16FE-E777-7A53-A26C-7D731CC0CB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51EB55A-53A9-A899-62D1-D94428704C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-130175"/>
            <a:ext cx="10515600" cy="4351338"/>
          </a:xfrm>
        </p:spPr>
        <p:txBody>
          <a:bodyPr/>
          <a:lstStyle/>
          <a:p>
            <a:pPr marL="114300" indent="0">
              <a:buNone/>
            </a:pPr>
            <a:r>
              <a:rPr lang="fr-FR" dirty="0"/>
              <a:t>2ps                                                      7 </a:t>
            </a:r>
            <a:r>
              <a:rPr lang="fr-FR" dirty="0" err="1"/>
              <a:t>ps</a:t>
            </a:r>
            <a:endParaRPr lang="fr-FR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4EAA83CF-44D5-535D-F9D0-3ADEA2A11766}"/>
              </a:ext>
            </a:extLst>
          </p:cNvPr>
          <p:cNvSpPr txBox="1"/>
          <p:nvPr/>
        </p:nvSpPr>
        <p:spPr>
          <a:xfrm>
            <a:off x="166878" y="291168"/>
            <a:ext cx="866622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fr-FR" dirty="0"/>
          </a:p>
          <a:p>
            <a:r>
              <a:rPr lang="fr-FR" dirty="0" err="1"/>
              <a:t>x_bg</a:t>
            </a:r>
            <a:r>
              <a:rPr lang="fr-FR" dirty="0"/>
              <a:t>=1.121224e+02; </a:t>
            </a:r>
            <a:r>
              <a:rPr lang="fr-FR" dirty="0" err="1"/>
              <a:t>y_bg</a:t>
            </a:r>
            <a:r>
              <a:rPr lang="fr-FR" dirty="0"/>
              <a:t>=1.175493e+02; </a:t>
            </a:r>
            <a:r>
              <a:rPr lang="fr-FR" dirty="0" err="1"/>
              <a:t>width_bg</a:t>
            </a:r>
            <a:r>
              <a:rPr lang="fr-FR" dirty="0"/>
              <a:t>=4.193548e+00; </a:t>
            </a:r>
            <a:r>
              <a:rPr lang="fr-FR" dirty="0" err="1"/>
              <a:t>height_bg</a:t>
            </a:r>
            <a:r>
              <a:rPr lang="fr-FR" dirty="0"/>
              <a:t>=4.440228e+00;</a:t>
            </a:r>
            <a:br>
              <a:rPr lang="fr-FR" dirty="0"/>
            </a:br>
            <a:r>
              <a:rPr lang="fr-FR" dirty="0" err="1"/>
              <a:t>x_sig</a:t>
            </a:r>
            <a:r>
              <a:rPr lang="fr-FR" dirty="0"/>
              <a:t>=6.278653e+01; </a:t>
            </a:r>
            <a:r>
              <a:rPr lang="fr-FR" dirty="0" err="1"/>
              <a:t>y_sig</a:t>
            </a:r>
            <a:r>
              <a:rPr lang="fr-FR" dirty="0"/>
              <a:t>=6.377324e+01; </a:t>
            </a:r>
            <a:r>
              <a:rPr lang="fr-FR" dirty="0" err="1"/>
              <a:t>width_sig</a:t>
            </a:r>
            <a:r>
              <a:rPr lang="fr-FR" dirty="0"/>
              <a:t>=3.552182e+01; </a:t>
            </a:r>
            <a:r>
              <a:rPr lang="fr-FR" dirty="0" err="1"/>
              <a:t>height_sig</a:t>
            </a:r>
            <a:r>
              <a:rPr lang="fr-FR" dirty="0"/>
              <a:t>=1.850095e+01;</a:t>
            </a:r>
          </a:p>
          <a:p>
            <a:endParaRPr lang="fr-FR" dirty="0"/>
          </a:p>
          <a:p>
            <a:endParaRPr lang="fr-FR" dirty="0"/>
          </a:p>
          <a:p>
            <a:pPr>
              <a:buNone/>
            </a:pPr>
            <a:endParaRPr lang="fr-FR" sz="1400" b="0" i="0" dirty="0">
              <a:effectLst/>
              <a:latin typeface="Menlo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D3B1A941-5843-DFA8-31CA-A5B4A8C8D5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639933"/>
            <a:ext cx="4537323" cy="3218067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0C6934F5-5F0D-24A9-290D-7F8ABA1822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4914" y="1111649"/>
            <a:ext cx="2515077" cy="2317351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FEF722AB-ED02-97F9-A65A-8F406ACC18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2700" y="3689472"/>
            <a:ext cx="4397623" cy="3118987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4BC0AB97-44CE-286E-BDAF-E9DAD85A088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21750" y="1122927"/>
            <a:ext cx="2758068" cy="248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441362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C65C73-75C3-D706-CC1B-2D82E760D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82FC113-890B-72A7-764E-C39B719520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-130175"/>
            <a:ext cx="10515600" cy="4351338"/>
          </a:xfrm>
        </p:spPr>
        <p:txBody>
          <a:bodyPr/>
          <a:lstStyle/>
          <a:p>
            <a:pPr marL="114300" indent="0">
              <a:buNone/>
            </a:pPr>
            <a:r>
              <a:rPr lang="fr-FR" dirty="0"/>
              <a:t>2ps                                                      7 </a:t>
            </a:r>
            <a:r>
              <a:rPr lang="fr-FR" dirty="0" err="1"/>
              <a:t>ps</a:t>
            </a:r>
            <a:endParaRPr lang="fr-FR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DD8D667A-D832-95A0-CB02-DDA18F3CA9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2056" y="3716918"/>
            <a:ext cx="4563339" cy="2917858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DB4E7A2A-A4E6-764E-1A56-E722E0D3B4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3816" y="1015130"/>
            <a:ext cx="2824509" cy="2549164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86C6661D-0A94-2D09-0B73-D7504709D5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77682" y="983665"/>
            <a:ext cx="2824509" cy="2549164"/>
          </a:xfrm>
          <a:prstGeom prst="rect">
            <a:avLst/>
          </a:prstGeom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461B9A69-8C26-332A-3E50-6A5D0DD4975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6605" y="3729050"/>
            <a:ext cx="4563338" cy="2893593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DC6B202E-C3C7-C764-2876-95E1C8861C80}"/>
              </a:ext>
            </a:extLst>
          </p:cNvPr>
          <p:cNvSpPr txBox="1"/>
          <p:nvPr/>
        </p:nvSpPr>
        <p:spPr>
          <a:xfrm>
            <a:off x="117432" y="385488"/>
            <a:ext cx="6097554" cy="5981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l">
              <a:lnSpc>
                <a:spcPts val="1286"/>
              </a:lnSpc>
              <a:buNone/>
            </a:pPr>
            <a:r>
              <a:rPr lang="fr-FR" sz="1400" b="0" i="0" dirty="0">
                <a:effectLst/>
                <a:latin typeface="Menlo"/>
              </a:rPr>
              <a:t>ROI BACKGROUND : x=73, y=91, largeur=6, hauteur=7</a:t>
            </a:r>
            <a:br>
              <a:rPr lang="fr-FR" sz="1400" b="0" i="0" dirty="0">
                <a:effectLst/>
                <a:latin typeface="Menlo"/>
              </a:rPr>
            </a:br>
            <a:r>
              <a:rPr lang="fr-FR" sz="1400" b="0" i="0" dirty="0">
                <a:effectLst/>
                <a:latin typeface="Menlo"/>
              </a:rPr>
              <a:t>ROI SIGNAL : x=61, y=22, largeur=8, hauteur=9</a:t>
            </a:r>
            <a:br>
              <a:rPr lang="fr-FR" sz="1400" b="0" i="0" dirty="0">
                <a:effectLst/>
                <a:latin typeface="Menlo"/>
              </a:rPr>
            </a:br>
            <a:r>
              <a:rPr lang="fr-FR" sz="1400" b="0" i="0" dirty="0">
                <a:effectLst/>
                <a:latin typeface="Menlo"/>
              </a:rPr>
              <a:t>ROI SIGNAL : x=97, y=78, largeur=8, hauteur=9</a:t>
            </a:r>
          </a:p>
        </p:txBody>
      </p:sp>
    </p:spTree>
    <p:extLst>
      <p:ext uri="{BB962C8B-B14F-4D97-AF65-F5344CB8AC3E}">
        <p14:creationId xmlns:p14="http://schemas.microsoft.com/office/powerpoint/2010/main" val="482715395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1694</Words>
  <Application>Microsoft Office PowerPoint</Application>
  <PresentationFormat>Grand écran</PresentationFormat>
  <Paragraphs>250</Paragraphs>
  <Slides>42</Slides>
  <Notes>33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42</vt:i4>
      </vt:variant>
    </vt:vector>
  </HeadingPairs>
  <TitlesOfParts>
    <vt:vector size="46" baseType="lpstr">
      <vt:lpstr>Menlo</vt:lpstr>
      <vt:lpstr>Arial</vt:lpstr>
      <vt:lpstr>Play</vt:lpstr>
      <vt:lpstr>Thème Office</vt:lpstr>
      <vt:lpstr>I) Données Chahira  II) Chirp analysis </vt:lpstr>
      <vt:lpstr>Présentation PowerPoint</vt:lpstr>
      <vt:lpstr>7 ps chirp on calcite - 260529 </vt:lpstr>
      <vt:lpstr>2 ps chirp on calcite - 260522</vt:lpstr>
      <vt:lpstr>2 ps chirp on vatérite - 260527 </vt:lpstr>
      <vt:lpstr>7 ps chirp on vatérite - 260527 </vt:lpstr>
      <vt:lpstr>2 ps chirp on ACC- 260527 </vt:lpstr>
      <vt:lpstr>2 ps chirp on ACC- 260528 </vt:lpstr>
      <vt:lpstr>2 ps chirp on ACC- 260529 </vt:lpstr>
      <vt:lpstr>7 ps chirp on ACC- 260602 </vt:lpstr>
      <vt:lpstr>2 ps chirp on ACC- 260602 </vt:lpstr>
      <vt:lpstr>2 ps chirp on ACC- 260603 </vt:lpstr>
      <vt:lpstr>2 ps chirp on ACC- 260603 bis </vt:lpstr>
      <vt:lpstr>2 ps chirp on ACC- 260603 bis </vt:lpstr>
      <vt:lpstr>7 ps chirp on ACC- 260603 bis </vt:lpstr>
      <vt:lpstr>7 ps chirp on ACC- 260603 bis </vt:lpstr>
      <vt:lpstr>7 ps chirp on ACC- 260623  </vt:lpstr>
      <vt:lpstr>2 ps chirp on ACC- 260623  </vt:lpstr>
      <vt:lpstr>2 ps chirp on ACC- 260624 bis </vt:lpstr>
      <vt:lpstr>7 ps chirp on ACC- 260624 bis </vt:lpstr>
      <vt:lpstr>2 ps chirp on ACC + cal- 260626</vt:lpstr>
      <vt:lpstr>2 ps chirp on ACC + cal- 260626</vt:lpstr>
      <vt:lpstr>7 ps chirp on ACC + cal- 260626</vt:lpstr>
      <vt:lpstr>2 ps chirp on ACC + cal- 260626</vt:lpstr>
      <vt:lpstr>2 ps chirp on ACC + cal- 260626</vt:lpstr>
      <vt:lpstr>7 ps chirp on ACC + cal- 260626</vt:lpstr>
      <vt:lpstr>7 ps chirp on ACC + cal- 260626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260708 ACC</vt:lpstr>
      <vt:lpstr>260708 ACC_Cal 2 ps</vt:lpstr>
      <vt:lpstr>260708 ACC_Cal 7 ps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BUCOURT Sacha</dc:creator>
  <cp:lastModifiedBy>BUCOURT Sacha</cp:lastModifiedBy>
  <cp:revision>31</cp:revision>
  <dcterms:created xsi:type="dcterms:W3CDTF">2026-05-22T13:46:26Z</dcterms:created>
  <dcterms:modified xsi:type="dcterms:W3CDTF">2026-10-23T10:58:21Z</dcterms:modified>
</cp:coreProperties>
</file>
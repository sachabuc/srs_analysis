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365" r:id="rId2"/>
    <p:sldId id="357" r:id="rId3"/>
    <p:sldId id="327" r:id="rId4"/>
    <p:sldId id="366" r:id="rId5"/>
    <p:sldId id="328" r:id="rId6"/>
    <p:sldId id="363" r:id="rId7"/>
    <p:sldId id="361" r:id="rId8"/>
    <p:sldId id="364" r:id="rId9"/>
    <p:sldId id="367" r:id="rId10"/>
    <p:sldId id="342" r:id="rId11"/>
    <p:sldId id="343" r:id="rId12"/>
    <p:sldId id="355" r:id="rId13"/>
    <p:sldId id="341" r:id="rId14"/>
    <p:sldId id="353" r:id="rId15"/>
    <p:sldId id="358" r:id="rId16"/>
    <p:sldId id="352" r:id="rId17"/>
    <p:sldId id="345" r:id="rId18"/>
    <p:sldId id="346" r:id="rId19"/>
    <p:sldId id="347" r:id="rId20"/>
    <p:sldId id="351" r:id="rId21"/>
    <p:sldId id="359" r:id="rId22"/>
    <p:sldId id="360" r:id="rId23"/>
    <p:sldId id="362" r:id="rId2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65"/>
            <p14:sldId id="357"/>
            <p14:sldId id="327"/>
            <p14:sldId id="366"/>
            <p14:sldId id="328"/>
          </p14:sldIdLst>
        </p14:section>
        <p14:section name="Synthétique" id="{56AC251D-6E5C-4CFE-9930-84BF4168610A}">
          <p14:sldIdLst>
            <p14:sldId id="363"/>
            <p14:sldId id="361"/>
            <p14:sldId id="364"/>
            <p14:sldId id="367"/>
            <p14:sldId id="342"/>
            <p14:sldId id="343"/>
            <p14:sldId id="355"/>
            <p14:sldId id="341"/>
          </p14:sldIdLst>
        </p14:section>
        <p14:section name="Corail" id="{CCA9B34D-82CD-4298-BF9C-03A0026B73BF}">
          <p14:sldIdLst>
            <p14:sldId id="353"/>
            <p14:sldId id="358"/>
            <p14:sldId id="352"/>
            <p14:sldId id="345"/>
            <p14:sldId id="346"/>
            <p14:sldId id="347"/>
            <p14:sldId id="351"/>
          </p14:sldIdLst>
        </p14:section>
        <p14:section name="Section sans titre" id="{3A39EE99-5470-4380-A4A0-54DB7E0D4CAB}">
          <p14:sldIdLst>
            <p14:sldId id="359"/>
            <p14:sldId id="360"/>
            <p14:sldId id="3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0695" autoAdjust="0"/>
  </p:normalViewPr>
  <p:slideViewPr>
    <p:cSldViewPr snapToGrid="0">
      <p:cViewPr>
        <p:scale>
          <a:sx n="125" d="100"/>
          <a:sy n="125" d="100"/>
        </p:scale>
        <p:origin x="186" y="-1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C995-A49C-A864-65C1-8EC2701E9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035EC71-5CAE-7FF7-FBA4-162BA04B7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9032CC-A38B-1DCF-8475-D10500F078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9282108-0956-3445-0B24-1B507D8EFD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5768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C8280-AB60-6E81-DC19-C1A0C78B3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EE79D93-FF90-2CF9-6277-5D48D14DE0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B98ED8A-B0E0-3F02-6EC4-6224251CD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233474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153BE-3759-D484-6CA9-4A9F9A109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08FA0A3-5D9D-189D-88AB-E05203E4E4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781F072-2DDC-79C6-A686-36D9EAC692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534043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DC9D9-D2F2-E931-696C-9DC9E6784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D2B9D1C-BEC2-94BD-759A-44EAE7A43E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E6DD9F5-267F-F50D-B538-35E1F3A0C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55532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3B081-6170-0216-B951-F26A13A4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E117AC-2C58-D5AD-9834-64528129C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CA76E7-A5B9-57C4-BBCD-D204ADC18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92299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emf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2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Relationship Id="rId9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39.png"/><Relationship Id="rId7" Type="http://schemas.openxmlformats.org/officeDocument/2006/relationships/image" Target="../media/image5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4CF142-CFD7-B7CC-FE6F-6C90E1D5C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sz="6600" dirty="0"/>
              <a:t>Meeting 15/10/26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272E99-2EE9-A533-5089-4563357E7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arenR"/>
            </a:pPr>
            <a:r>
              <a:rPr lang="fr-FR" dirty="0"/>
              <a:t>Modèle </a:t>
            </a:r>
          </a:p>
          <a:p>
            <a:pPr marL="914400" lvl="1" indent="-457200">
              <a:buAutoNum type="alphaLcParenR"/>
            </a:pPr>
            <a:r>
              <a:rPr lang="fr-FR" dirty="0"/>
              <a:t>Convolution Carbonate*Instrument</a:t>
            </a:r>
          </a:p>
          <a:p>
            <a:pPr marL="914400" lvl="1" indent="-457200">
              <a:buAutoNum type="alphaLcParenR"/>
            </a:pPr>
            <a:r>
              <a:rPr lang="fr-FR" dirty="0"/>
              <a:t>Carbonate</a:t>
            </a:r>
          </a:p>
          <a:p>
            <a:pPr marL="0" indent="0">
              <a:buNone/>
            </a:pPr>
            <a:r>
              <a:rPr lang="fr-FR" dirty="0"/>
              <a:t>2) Expérimentale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sz="2400" dirty="0"/>
              <a:t>a) fit sur A </a:t>
            </a:r>
            <a:endParaRPr lang="fr-FR" dirty="0"/>
          </a:p>
          <a:p>
            <a:pPr marL="0" indent="0">
              <a:buNone/>
            </a:pPr>
            <a:r>
              <a:rPr lang="fr-FR" sz="2400" dirty="0"/>
              <a:t>	b) ACC</a:t>
            </a:r>
          </a:p>
          <a:p>
            <a:pPr marL="0" indent="0">
              <a:buNone/>
            </a:pPr>
            <a:r>
              <a:rPr lang="fr-FR" sz="2400" dirty="0"/>
              <a:t>	c) </a:t>
            </a:r>
            <a:r>
              <a:rPr lang="fr-FR" sz="2400" dirty="0" err="1"/>
              <a:t>Vatérite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r>
              <a:rPr lang="fr-FR" sz="2400" dirty="0"/>
              <a:t>	d) Coral </a:t>
            </a:r>
          </a:p>
          <a:p>
            <a:pPr marL="0" indent="0">
              <a:buNone/>
            </a:pPr>
            <a:r>
              <a:rPr lang="fr-FR" sz="2400" dirty="0"/>
              <a:t>	e) Set </a:t>
            </a:r>
            <a:r>
              <a:rPr lang="fr-FR" sz="2400"/>
              <a:t>up schéma </a:t>
            </a:r>
            <a:endParaRPr lang="fr-FR" sz="2400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7379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D7D0A-6800-5AFA-0949-D51649AD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6B4E47-D5C7-37D3-48AA-BA3E08DCFB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33" y="759951"/>
            <a:ext cx="12132253" cy="1109663"/>
          </a:xfrm>
        </p:spPr>
        <p:txBody>
          <a:bodyPr>
            <a:noAutofit/>
          </a:bodyPr>
          <a:lstStyle/>
          <a:p>
            <a:pPr algn="l"/>
            <a:r>
              <a:rPr lang="fr-FR" dirty="0"/>
              <a:t>Modèle Analytique – Réponse instrumentale 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FC56DEF-E294-D35F-CCFB-2EBC3229E95D}"/>
              </a:ext>
            </a:extLst>
          </p:cNvPr>
          <p:cNvSpPr txBox="1"/>
          <p:nvPr/>
        </p:nvSpPr>
        <p:spPr>
          <a:xfrm>
            <a:off x="354591" y="2101276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5B35C7C-DA44-44DB-75DA-26DE0C964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7959" y="4656756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3B64A33-04C0-97F6-2621-4CEEB7AF9A99}"/>
              </a:ext>
            </a:extLst>
          </p:cNvPr>
          <p:cNvSpPr txBox="1"/>
          <p:nvPr/>
        </p:nvSpPr>
        <p:spPr>
          <a:xfrm>
            <a:off x="354591" y="4770214"/>
            <a:ext cx="22957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Analytiquement, on obtient  : 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643ED664-BE51-59EF-C7FD-268571150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904" y="3408638"/>
            <a:ext cx="3628333" cy="723963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93A88E15-A6E0-CAA9-E728-E406F7A76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2069" y="4709171"/>
            <a:ext cx="3482642" cy="723963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FC21EAF7-E6A7-3359-A999-736F4B176E27}"/>
              </a:ext>
            </a:extLst>
          </p:cNvPr>
          <p:cNvSpPr txBox="1"/>
          <p:nvPr/>
        </p:nvSpPr>
        <p:spPr>
          <a:xfrm>
            <a:off x="7269784" y="4886485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avec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86DBBB8-E232-4BC7-AF00-E8868A9820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1770" y="1931762"/>
            <a:ext cx="4391638" cy="102884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D813ACC-28C5-A386-3CD4-DB8784B914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883" y="6009704"/>
            <a:ext cx="4885774" cy="68068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C1BDB23-B0C2-E086-EF08-E009F4FBB6A5}"/>
              </a:ext>
            </a:extLst>
          </p:cNvPr>
          <p:cNvSpPr txBox="1"/>
          <p:nvPr/>
        </p:nvSpPr>
        <p:spPr>
          <a:xfrm>
            <a:off x="6022228" y="6165378"/>
            <a:ext cx="5814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</a:t>
            </a:r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17DFF50-4BB4-A928-9FC1-A9EBD118C1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2061" y="5931792"/>
            <a:ext cx="5115639" cy="74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863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0D27-45E7-9C74-83DD-042B04B07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9927" y="-520814"/>
            <a:ext cx="9144000" cy="1109663"/>
          </a:xfrm>
        </p:spPr>
        <p:txBody>
          <a:bodyPr>
            <a:normAutofit/>
          </a:bodyPr>
          <a:lstStyle/>
          <a:p>
            <a:r>
              <a:rPr lang="fr-FR" sz="4000" dirty="0"/>
              <a:t>Modèle Carbonates 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8990133"/>
              </p:ext>
            </p:extLst>
          </p:nvPr>
        </p:nvGraphicFramePr>
        <p:xfrm>
          <a:off x="275087" y="983518"/>
          <a:ext cx="11641826" cy="300513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FWHM_déconvolué</a:t>
                      </a:r>
                      <a:r>
                        <a:rPr lang="fr-FR" sz="1800" b="1" dirty="0">
                          <a:solidFill>
                            <a:srgbClr val="FF0000"/>
                          </a:solidFill>
                        </a:rPr>
                        <a:t>*</a:t>
                      </a:r>
                      <a:r>
                        <a:rPr lang="fr-FR" sz="1800" b="1" dirty="0"/>
                        <a:t> (cm-1)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7.9,(?),8.0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0390908"/>
                  </a:ext>
                </a:extLst>
              </a:tr>
            </a:tbl>
          </a:graphicData>
        </a:graphic>
      </p:graphicFrame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275087" y="4099524"/>
            <a:ext cx="815517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(</a:t>
            </a:r>
            <a:r>
              <a:rPr lang="fr-FR" sz="2000" b="1" dirty="0">
                <a:solidFill>
                  <a:srgbClr val="FF0000"/>
                </a:solidFill>
              </a:rPr>
              <a:t>*</a:t>
            </a:r>
            <a:r>
              <a:rPr lang="fr-FR" sz="2000" dirty="0"/>
              <a:t>) déconvolué par la </a:t>
            </a:r>
            <a:r>
              <a:rPr lang="fr-FR" sz="2000" i="1" dirty="0"/>
              <a:t>résolution théorique maximale</a:t>
            </a:r>
            <a:r>
              <a:rPr lang="fr-FR" sz="2000" b="1" dirty="0">
                <a:solidFill>
                  <a:srgbClr val="FF0000"/>
                </a:solidFill>
              </a:rPr>
              <a:t> </a:t>
            </a:r>
            <a:r>
              <a:rPr lang="fr-FR" sz="2000" dirty="0"/>
              <a:t>du </a:t>
            </a:r>
            <a:r>
              <a:rPr lang="fr-FR" sz="2000" dirty="0" err="1"/>
              <a:t>raman</a:t>
            </a:r>
            <a:r>
              <a:rPr lang="fr-FR" sz="2000" dirty="0"/>
              <a:t> spontané :</a:t>
            </a:r>
          </a:p>
          <a:p>
            <a:r>
              <a:rPr lang="fr-FR" sz="2000" dirty="0"/>
              <a:t>Paramètres : </a:t>
            </a:r>
          </a:p>
          <a:p>
            <a:r>
              <a:rPr lang="fr-FR" dirty="0"/>
              <a:t> - </a:t>
            </a:r>
            <a:r>
              <a:rPr lang="fr-FR" dirty="0" err="1"/>
              <a:t>grating</a:t>
            </a:r>
            <a:r>
              <a:rPr lang="fr-FR" dirty="0"/>
              <a:t> : 1800 (500nm)</a:t>
            </a:r>
            <a:br>
              <a:rPr lang="fr-FR" sz="2000" dirty="0"/>
            </a:br>
            <a:r>
              <a:rPr lang="fr-FR" dirty="0"/>
              <a:t> - Laser : 532nm_Edge</a:t>
            </a:r>
            <a:br>
              <a:rPr lang="fr-FR" sz="2000" dirty="0"/>
            </a:br>
            <a:r>
              <a:rPr lang="fr-FR" sz="2000" dirty="0"/>
              <a:t> </a:t>
            </a:r>
            <a:r>
              <a:rPr lang="fr-FR" dirty="0"/>
              <a:t>- objectif x20</a:t>
            </a:r>
            <a:endParaRPr lang="fr-FR" sz="2000" dirty="0"/>
          </a:p>
          <a:p>
            <a:endParaRPr lang="fr-FR" sz="2000" dirty="0"/>
          </a:p>
          <a:p>
            <a:r>
              <a:rPr lang="fr-FR" sz="20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20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20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:</a:t>
            </a:r>
            <a:br>
              <a:rPr lang="fr-FR" sz="2000" dirty="0"/>
            </a:br>
            <a:r>
              <a:rPr lang="fr-FR" sz="2000" dirty="0"/>
              <a:t>- </a:t>
            </a:r>
            <a:r>
              <a:rPr lang="fr-FR" sz="20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20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20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2000" b="1" i="0" dirty="0">
                <a:solidFill>
                  <a:srgbClr val="FF0000"/>
                </a:solidFill>
                <a:effectLst/>
                <a:latin typeface="+mn-lt"/>
              </a:rPr>
              <a:t>*</a:t>
            </a:r>
            <a:r>
              <a:rPr lang="fr-FR" sz="20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endParaRPr lang="fr-FR" sz="2000" dirty="0"/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184D7-145B-8DB4-C251-2370EE668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141D-E1A7-D9F0-1FED-CB7629572A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88" y="217141"/>
            <a:ext cx="5734411" cy="1109663"/>
          </a:xfrm>
        </p:spPr>
        <p:txBody>
          <a:bodyPr>
            <a:normAutofit fontScale="90000"/>
          </a:bodyPr>
          <a:lstStyle/>
          <a:p>
            <a:r>
              <a:rPr lang="fr-FR" sz="4000" dirty="0" err="1"/>
              <a:t>Chirp</a:t>
            </a:r>
            <a:r>
              <a:rPr lang="fr-FR" sz="4000" dirty="0"/>
              <a:t> – Calcul de </a:t>
            </a:r>
            <a:r>
              <a:rPr lang="fr-FR" sz="4000" dirty="0" err="1"/>
              <a:t>FWHM_instr</a:t>
            </a:r>
            <a:endParaRPr lang="fr-FR" sz="4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0BE9739A-7294-26CF-4B68-99D6EAE766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144473"/>
                  </p:ext>
                </p:extLst>
              </p:nvPr>
            </p:nvGraphicFramePr>
            <p:xfrm>
              <a:off x="5447071" y="2604836"/>
              <a:ext cx="6656436" cy="213360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08714">
                      <a:extLst>
                        <a:ext uri="{9D8B030D-6E8A-4147-A177-3AD203B41FA5}">
                          <a16:colId xmlns:a16="http://schemas.microsoft.com/office/drawing/2014/main" val="1187242739"/>
                        </a:ext>
                      </a:extLst>
                    </a:gridCol>
                    <a:gridCol w="1108714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6646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mesurée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(mesure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raman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)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no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3.0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4.9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5.1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14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9.9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1.49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3.8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4.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0BE9739A-7294-26CF-4B68-99D6EAE766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144473"/>
                  </p:ext>
                </p:extLst>
              </p:nvPr>
            </p:nvGraphicFramePr>
            <p:xfrm>
              <a:off x="5447071" y="2604836"/>
              <a:ext cx="6656436" cy="213360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08714">
                      <a:extLst>
                        <a:ext uri="{9D8B030D-6E8A-4147-A177-3AD203B41FA5}">
                          <a16:colId xmlns:a16="http://schemas.microsoft.com/office/drawing/2014/main" val="1187242739"/>
                        </a:ext>
                      </a:extLst>
                    </a:gridCol>
                    <a:gridCol w="1108714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mesurée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(mesure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raman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)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no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3.0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549" t="-118018" r="-301648" b="-1009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8907" t="-118018" r="-200000" b="-1009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099" t="-118018" r="-101099" b="-1009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099" t="-118018" r="-1099" b="-10090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9.9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549" t="-220000" r="-301648" b="-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8907" t="-220000" r="-200000" b="-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099" t="-220000" r="-101099" b="-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099" t="-220000" r="-1099" b="-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ZoneTexte 10">
            <a:extLst>
              <a:ext uri="{FF2B5EF4-FFF2-40B4-BE49-F238E27FC236}">
                <a16:creationId xmlns:a16="http://schemas.microsoft.com/office/drawing/2014/main" id="{EAB3768B-5C9A-BBD4-958E-8EFA6EB9E58E}"/>
              </a:ext>
            </a:extLst>
          </p:cNvPr>
          <p:cNvSpPr txBox="1"/>
          <p:nvPr/>
        </p:nvSpPr>
        <p:spPr>
          <a:xfrm>
            <a:off x="125088" y="5163978"/>
            <a:ext cx="54372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Fig. </a:t>
            </a:r>
            <a:r>
              <a:rPr lang="fr-FR" dirty="0" err="1"/>
              <a:t>Observed</a:t>
            </a:r>
            <a:r>
              <a:rPr lang="fr-FR" dirty="0"/>
              <a:t> </a:t>
            </a:r>
            <a:r>
              <a:rPr lang="fr-FR" dirty="0" err="1"/>
              <a:t>Sum</a:t>
            </a:r>
            <a:r>
              <a:rPr lang="fr-FR" dirty="0"/>
              <a:t> </a:t>
            </a:r>
            <a:r>
              <a:rPr lang="fr-FR" dirty="0" err="1"/>
              <a:t>Frequence</a:t>
            </a:r>
            <a:r>
              <a:rPr lang="fr-FR" dirty="0"/>
              <a:t> </a:t>
            </a:r>
            <a:r>
              <a:rPr lang="fr-FR" dirty="0" err="1"/>
              <a:t>Generation</a:t>
            </a:r>
            <a:r>
              <a:rPr lang="fr-FR" dirty="0"/>
              <a:t> (SFG) </a:t>
            </a:r>
            <a:r>
              <a:rPr lang="fr-FR" dirty="0" err="1"/>
              <a:t>between</a:t>
            </a:r>
            <a:r>
              <a:rPr lang="fr-FR" dirty="0"/>
              <a:t> Stokes and </a:t>
            </a:r>
            <a:r>
              <a:rPr lang="fr-FR" dirty="0" err="1"/>
              <a:t>pump</a:t>
            </a:r>
            <a:r>
              <a:rPr lang="fr-FR" dirty="0"/>
              <a:t> </a:t>
            </a:r>
            <a:r>
              <a:rPr lang="fr-FR" dirty="0" err="1"/>
              <a:t>beam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and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. Full </a:t>
            </a:r>
            <a:r>
              <a:rPr lang="fr-FR" dirty="0" err="1"/>
              <a:t>Widths</a:t>
            </a:r>
            <a:r>
              <a:rPr lang="fr-FR" dirty="0"/>
              <a:t> at Half Maximum (FWHM) </a:t>
            </a:r>
            <a:r>
              <a:rPr lang="fr-FR" dirty="0" err="1"/>
              <a:t>were</a:t>
            </a:r>
            <a:r>
              <a:rPr lang="fr-FR" dirty="0"/>
              <a:t>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</a:t>
            </a:r>
            <a:r>
              <a:rPr lang="fr-FR" dirty="0" err="1"/>
              <a:t>Gaussian</a:t>
            </a:r>
            <a:r>
              <a:rPr lang="fr-FR" dirty="0"/>
              <a:t> </a:t>
            </a:r>
            <a:r>
              <a:rPr lang="fr-FR" dirty="0" err="1"/>
              <a:t>fitting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. 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B3FE928-2928-AE12-F7F9-E34B82BF0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10" y="1771725"/>
            <a:ext cx="4782884" cy="3314550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FB786473-953A-37F8-28A9-AAC0676360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2327" y="87089"/>
            <a:ext cx="4693638" cy="174153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E7F5F58F-431F-4880-1A25-F0E24084E84C}"/>
              </a:ext>
            </a:extLst>
          </p:cNvPr>
          <p:cNvCxnSpPr>
            <a:cxnSpLocks/>
          </p:cNvCxnSpPr>
          <p:nvPr/>
        </p:nvCxnSpPr>
        <p:spPr>
          <a:xfrm>
            <a:off x="7148052" y="1828620"/>
            <a:ext cx="0" cy="7375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8D10CB99-F04A-D1CE-02DC-A3B8E3302C44}"/>
              </a:ext>
            </a:extLst>
          </p:cNvPr>
          <p:cNvSpPr txBox="1"/>
          <p:nvPr/>
        </p:nvSpPr>
        <p:spPr>
          <a:xfrm>
            <a:off x="10897692" y="1919888"/>
            <a:ext cx="158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6"/>
                </a:solidFill>
              </a:rPr>
              <a:t>Cas calcite synthétique 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E72B1D9-C586-68F6-0493-6425A460DB0A}"/>
              </a:ext>
            </a:extLst>
          </p:cNvPr>
          <p:cNvSpPr/>
          <p:nvPr/>
        </p:nvSpPr>
        <p:spPr>
          <a:xfrm>
            <a:off x="10985500" y="2604836"/>
            <a:ext cx="1118006" cy="2133600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5FFA90C2-F960-8B9F-C91F-8C1EBE3865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545" y="5398783"/>
            <a:ext cx="1467055" cy="552527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D5B9AADF-DBCA-E912-65B3-6379E5959975}"/>
              </a:ext>
            </a:extLst>
          </p:cNvPr>
          <p:cNvCxnSpPr>
            <a:cxnSpLocks/>
            <a:stCxn id="36" idx="0"/>
          </p:cNvCxnSpPr>
          <p:nvPr/>
        </p:nvCxnSpPr>
        <p:spPr>
          <a:xfrm flipV="1">
            <a:off x="8258073" y="4777053"/>
            <a:ext cx="0" cy="6217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309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8852" y="-533609"/>
            <a:ext cx="9144000" cy="1109663"/>
          </a:xfrm>
        </p:spPr>
        <p:txBody>
          <a:bodyPr>
            <a:normAutofit/>
          </a:bodyPr>
          <a:lstStyle/>
          <a:p>
            <a:r>
              <a:rPr lang="fr-FR" sz="4000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4428666"/>
              </p:ext>
            </p:extLst>
          </p:nvPr>
        </p:nvGraphicFramePr>
        <p:xfrm>
          <a:off x="0" y="470342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4.2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4.2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[8.2, (8 aussi?), 8.3]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6.3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5.8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5328864"/>
              </p:ext>
            </p:extLst>
          </p:nvPr>
        </p:nvGraphicFramePr>
        <p:xfrm>
          <a:off x="0" y="3202350"/>
          <a:ext cx="11965856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9408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1073,1070(corail)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1830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78C930-2211-C701-FECE-1D469EBFF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14963"/>
            <a:ext cx="10515600" cy="2016881"/>
          </a:xfrm>
        </p:spPr>
        <p:txBody>
          <a:bodyPr>
            <a:noAutofit/>
          </a:bodyPr>
          <a:lstStyle/>
          <a:p>
            <a:r>
              <a:rPr lang="fr-FR" sz="3200" dirty="0"/>
              <a:t>Pourquoi ? </a:t>
            </a:r>
            <a:br>
              <a:rPr lang="fr-FR" sz="3200" dirty="0"/>
            </a:br>
            <a:r>
              <a:rPr lang="fr-FR" sz="3200" dirty="0"/>
              <a:t>	- bruit ?</a:t>
            </a:r>
            <a:br>
              <a:rPr lang="fr-FR" sz="3200" dirty="0"/>
            </a:br>
            <a:r>
              <a:rPr lang="fr-FR" sz="3200" dirty="0"/>
              <a:t>	- illumination non homogène ? </a:t>
            </a:r>
            <a:br>
              <a:rPr lang="fr-FR" sz="3200" dirty="0"/>
            </a:br>
            <a:r>
              <a:rPr lang="fr-FR" sz="3200" dirty="0"/>
              <a:t>	- erreur modèle ? </a:t>
            </a: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91660EBB-F987-0FE1-EBF3-C2E50DBAE4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052493"/>
              </p:ext>
            </p:extLst>
          </p:nvPr>
        </p:nvGraphicFramePr>
        <p:xfrm>
          <a:off x="750324" y="1772920"/>
          <a:ext cx="10515600" cy="165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53724686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1516135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04474164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4350807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2834826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44293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Ratio A(cc/acc)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Synthetic</a:t>
                      </a:r>
                      <a:r>
                        <a:rPr lang="fr-FR" dirty="0"/>
                        <a:t> 260708 1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err="1"/>
                        <a:t>Synthetic</a:t>
                      </a:r>
                      <a:r>
                        <a:rPr lang="fr-FR" dirty="0"/>
                        <a:t> 260708 2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err="1"/>
                        <a:t>Synthetic</a:t>
                      </a:r>
                      <a:r>
                        <a:rPr lang="fr-FR" dirty="0"/>
                        <a:t> 260708 3 (</a:t>
                      </a:r>
                      <a:r>
                        <a:rPr lang="fr-FR" dirty="0" err="1"/>
                        <a:t>see</a:t>
                      </a:r>
                      <a:r>
                        <a:rPr lang="fr-FR" dirty="0"/>
                        <a:t> </a:t>
                      </a:r>
                      <a:r>
                        <a:rPr lang="fr-FR" dirty="0" err="1"/>
                        <a:t>nxt</a:t>
                      </a:r>
                      <a:r>
                        <a:rPr lang="fr-FR" dirty="0"/>
                        <a:t> slide)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Coral - 260715 (</a:t>
                      </a:r>
                      <a:r>
                        <a:rPr lang="fr-FR" dirty="0" err="1"/>
                        <a:t>small</a:t>
                      </a:r>
                      <a:r>
                        <a:rPr lang="fr-FR" dirty="0"/>
                        <a:t> ROI)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Coral - 260715 (big ROI)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8034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2.94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5.86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1999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7ps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1.14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671692"/>
                  </a:ext>
                </a:extLst>
              </a:tr>
            </a:tbl>
          </a:graphicData>
        </a:graphic>
      </p:graphicFrame>
      <p:sp>
        <p:nvSpPr>
          <p:cNvPr id="3" name="Titre 1">
            <a:extLst>
              <a:ext uri="{FF2B5EF4-FFF2-40B4-BE49-F238E27FC236}">
                <a16:creationId xmlns:a16="http://schemas.microsoft.com/office/drawing/2014/main" id="{50685EF4-A89F-691F-EC5B-6EF27CBD61F8}"/>
              </a:ext>
            </a:extLst>
          </p:cNvPr>
          <p:cNvSpPr txBox="1">
            <a:spLocks/>
          </p:cNvSpPr>
          <p:nvPr/>
        </p:nvSpPr>
        <p:spPr>
          <a:xfrm>
            <a:off x="113292" y="170611"/>
            <a:ext cx="9144000" cy="1109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6000" dirty="0"/>
              <a:t>Expérimentale – Fit sur A </a:t>
            </a:r>
          </a:p>
        </p:txBody>
      </p:sp>
    </p:spTree>
    <p:extLst>
      <p:ext uri="{BB962C8B-B14F-4D97-AF65-F5344CB8AC3E}">
        <p14:creationId xmlns:p14="http://schemas.microsoft.com/office/powerpoint/2010/main" val="1208176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324DD-4516-7247-EA70-E62EB4B37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7E7592BE-DACE-D871-10F2-C772923728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ADC245F-3CA4-5578-DA75-1F575603B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665834" y="1002194"/>
            <a:ext cx="2384957" cy="232984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4AD9908-97B6-A421-63B2-994A24E83C0C}"/>
              </a:ext>
            </a:extLst>
          </p:cNvPr>
          <p:cNvSpPr/>
          <p:nvPr/>
        </p:nvSpPr>
        <p:spPr>
          <a:xfrm>
            <a:off x="1844342" y="1433385"/>
            <a:ext cx="209048" cy="1943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744C45-E39D-1848-6301-BBC85FA769AB}"/>
              </a:ext>
            </a:extLst>
          </p:cNvPr>
          <p:cNvSpPr/>
          <p:nvPr/>
        </p:nvSpPr>
        <p:spPr>
          <a:xfrm>
            <a:off x="2389940" y="2322870"/>
            <a:ext cx="129540" cy="1265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FD44097-F403-E9C0-4D80-305579D177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609" y="256935"/>
            <a:ext cx="3097056" cy="2606115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A30DC86B-938E-1E59-B74E-722BC58461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9579" y="256935"/>
            <a:ext cx="3064648" cy="2619594"/>
          </a:xfrm>
          <a:prstGeom prst="rect">
            <a:avLst/>
          </a:prstGeom>
        </p:spPr>
      </p:pic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CC776153-BF00-F2AE-5929-CE134716DD41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968B4CB8-0382-4D20-2180-838BABF6E9F0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0F55370C-54D9-1990-C1EA-EE0EB1110A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0609" y="252394"/>
            <a:ext cx="3097056" cy="2606115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756CDBC9-3C36-DD1E-9C08-5B20136969C5}"/>
              </a:ext>
            </a:extLst>
          </p:cNvPr>
          <p:cNvSpPr txBox="1"/>
          <p:nvPr/>
        </p:nvSpPr>
        <p:spPr>
          <a:xfrm>
            <a:off x="6378703" y="134227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2ps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5FB1F70-2FE7-51C8-81C6-33D786D6A8D9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E226F78E-9807-831D-E44B-EF4C472DCEE2}"/>
              </a:ext>
            </a:extLst>
          </p:cNvPr>
          <p:cNvSpPr txBox="1"/>
          <p:nvPr/>
        </p:nvSpPr>
        <p:spPr>
          <a:xfrm>
            <a:off x="6580289" y="2164109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1032B42E-9C66-8270-11D9-B378F088B7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9581" y="238917"/>
            <a:ext cx="3064646" cy="2619592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6652F504-6FE1-8C7B-E34D-0990EFFD3465}"/>
              </a:ext>
            </a:extLst>
          </p:cNvPr>
          <p:cNvSpPr txBox="1"/>
          <p:nvPr/>
        </p:nvSpPr>
        <p:spPr>
          <a:xfrm>
            <a:off x="10316308" y="21283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5FAD10D5-64B5-1F46-FE03-E2C15E75BB95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EFAE0F4E-B701-D5B3-46AB-13E02AA99997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05EF2E7-8DD9-73DE-3030-76D19C7E82C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5668" y="3068415"/>
            <a:ext cx="4381257" cy="3265614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9B88D62-3BFA-B151-0893-5D2665BE2D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7601" y="3063559"/>
            <a:ext cx="4381257" cy="327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2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8E358-78B2-81EE-5225-84261E911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1ACC567-E438-6C26-B853-684D5E631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1D436C0-7275-1A5D-F070-11E5FE5DE3E0}"/>
              </a:ext>
            </a:extLst>
          </p:cNvPr>
          <p:cNvSpPr txBox="1"/>
          <p:nvPr/>
        </p:nvSpPr>
        <p:spPr>
          <a:xfrm>
            <a:off x="10316308" y="21283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9CC29A4C-C51C-98F5-1B11-E9FFE2460E5D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55283D9F-6180-1F91-B1A0-85D55292510F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B12CA6E2-1FC2-E22D-8816-2FA1D7A8A72F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C0B37200-47B2-145D-EFF8-297CB02BB059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4246C139-9BA7-1EF0-D61B-C68D92F7ABF0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Tableau 19">
            <a:extLst>
              <a:ext uri="{FF2B5EF4-FFF2-40B4-BE49-F238E27FC236}">
                <a16:creationId xmlns:a16="http://schemas.microsoft.com/office/drawing/2014/main" id="{69F708A6-32D6-D52E-58BD-58FB5D4E0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988094"/>
              </p:ext>
            </p:extLst>
          </p:nvPr>
        </p:nvGraphicFramePr>
        <p:xfrm>
          <a:off x="4704796" y="536003"/>
          <a:ext cx="6930138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2203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214650">
                <a:tc>
                  <a:txBody>
                    <a:bodyPr/>
                    <a:lstStyle/>
                    <a:p>
                      <a:r>
                        <a:rPr lang="fr-FR" sz="1400" dirty="0"/>
                        <a:t>260708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Nu (cm-1)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FWHM_phase</a:t>
                      </a:r>
                      <a:r>
                        <a:rPr lang="fr-FR" sz="1400" dirty="0"/>
                        <a:t> (cm-1)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2ps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57234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1085.24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 (UB)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66453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1081.14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1086.15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1078.68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24" name="Image 23">
            <a:extLst>
              <a:ext uri="{FF2B5EF4-FFF2-40B4-BE49-F238E27FC236}">
                <a16:creationId xmlns:a16="http://schemas.microsoft.com/office/drawing/2014/main" id="{B440E8A0-26DE-864F-BB7F-6C0177CA7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441" y="2224293"/>
            <a:ext cx="5041498" cy="4097703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86B5E0CA-D9C4-7E9C-7480-E32B7965CA26}"/>
              </a:ext>
            </a:extLst>
          </p:cNvPr>
          <p:cNvSpPr txBox="1"/>
          <p:nvPr/>
        </p:nvSpPr>
        <p:spPr>
          <a:xfrm>
            <a:off x="6989216" y="956460"/>
            <a:ext cx="795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0.86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E87EDAF2-E70E-7217-9306-86376D1BA1DA}"/>
              </a:ext>
            </a:extLst>
          </p:cNvPr>
          <p:cNvSpPr txBox="1"/>
          <p:nvPr/>
        </p:nvSpPr>
        <p:spPr>
          <a:xfrm>
            <a:off x="6989216" y="1562511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0.76</a:t>
            </a:r>
          </a:p>
        </p:txBody>
      </p:sp>
      <p:sp>
        <p:nvSpPr>
          <p:cNvPr id="41" name="Flèche : en arc 40">
            <a:extLst>
              <a:ext uri="{FF2B5EF4-FFF2-40B4-BE49-F238E27FC236}">
                <a16:creationId xmlns:a16="http://schemas.microsoft.com/office/drawing/2014/main" id="{BA1AA3B8-00D4-4764-5856-2A7705B34C0F}"/>
              </a:ext>
            </a:extLst>
          </p:cNvPr>
          <p:cNvSpPr/>
          <p:nvPr/>
        </p:nvSpPr>
        <p:spPr>
          <a:xfrm rot="16200000" flipV="1">
            <a:off x="6720271" y="1546990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43" name="Flèche : en arc 42">
            <a:extLst>
              <a:ext uri="{FF2B5EF4-FFF2-40B4-BE49-F238E27FC236}">
                <a16:creationId xmlns:a16="http://schemas.microsoft.com/office/drawing/2014/main" id="{941E4BFF-D7B6-F1E7-9497-8EF9145F14C3}"/>
              </a:ext>
            </a:extLst>
          </p:cNvPr>
          <p:cNvSpPr/>
          <p:nvPr/>
        </p:nvSpPr>
        <p:spPr>
          <a:xfrm rot="16200000" flipV="1">
            <a:off x="6702658" y="922479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517105A-A2C7-15FA-49B3-CE46C29BB1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45" y="2371055"/>
            <a:ext cx="5041497" cy="3804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58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A2C75-9881-4FC0-7288-FE9B8A965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BB46C9C1-5EE3-0AD9-CEDF-DA024CEC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BC5F81E-D5A8-2BAB-9657-C06CFF639FC7}"/>
              </a:ext>
            </a:extLst>
          </p:cNvPr>
          <p:cNvSpPr txBox="1"/>
          <p:nvPr/>
        </p:nvSpPr>
        <p:spPr>
          <a:xfrm>
            <a:off x="10316308" y="21283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EFC2765C-60DB-05EF-A68E-C397C61DF357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209E9CEA-1EAC-AE19-BC1A-4827703F8870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C2BE59C2-5E17-DC09-70CC-6AADACA18B14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BFEA48A2-B44D-2F8C-659A-C4A1E67E7F87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3733042-D9A1-07F0-FAF6-EA779CDD73A1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D5A127C6-932A-7DAF-7F68-2C16853E1EBC}"/>
              </a:ext>
            </a:extLst>
          </p:cNvPr>
          <p:cNvSpPr txBox="1"/>
          <p:nvPr/>
        </p:nvSpPr>
        <p:spPr>
          <a:xfrm>
            <a:off x="1905292" y="1431407"/>
            <a:ext cx="2536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2ps</a:t>
            </a:r>
            <a:r>
              <a:rPr lang="fr-FR" dirty="0"/>
              <a:t> - </a:t>
            </a:r>
            <a:r>
              <a:rPr lang="fr-FR" dirty="0" err="1"/>
              <a:t>Fwhm_instr</a:t>
            </a:r>
            <a:r>
              <a:rPr lang="fr-FR" dirty="0"/>
              <a:t> = 13.9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A4AEAF9-485F-9790-2B2C-E23768DED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0" y="2156485"/>
            <a:ext cx="5804385" cy="397758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EAFC9E5C-8E5F-200F-3DD9-249CC6B9B8AB}"/>
              </a:ext>
            </a:extLst>
          </p:cNvPr>
          <p:cNvSpPr txBox="1"/>
          <p:nvPr/>
        </p:nvSpPr>
        <p:spPr>
          <a:xfrm>
            <a:off x="8126918" y="1431407"/>
            <a:ext cx="2424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7ps</a:t>
            </a:r>
            <a:r>
              <a:rPr lang="fr-FR" dirty="0"/>
              <a:t> - </a:t>
            </a:r>
            <a:r>
              <a:rPr lang="fr-FR" dirty="0" err="1"/>
              <a:t>Fwhm_instr</a:t>
            </a:r>
            <a:r>
              <a:rPr lang="fr-FR" dirty="0"/>
              <a:t> = 2.8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215417EC-3B35-062C-4259-23E33525A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716" y="2156486"/>
            <a:ext cx="5804386" cy="397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881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DC2D9F6-6DF1-5B94-ABC2-A837409A0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B31626-BC42-FB18-9BA6-4B569AAAB6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5113C58-1347-7BE7-DD1C-5251AB1C46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AA33F213-7E1B-16F2-3CAE-70703DB3B3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8" y="3585255"/>
            <a:ext cx="3183297" cy="2888904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4154224" y="736371"/>
            <a:ext cx="2452255" cy="2213264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208981" y="969644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1071.1</a:t>
            </a:r>
          </a:p>
          <a:p>
            <a:pPr lvl="1"/>
            <a:r>
              <a:rPr lang="fr-FR" dirty="0"/>
              <a:t>- Raie 1 : nu = 1074.2124 cm^-1</a:t>
            </a:r>
          </a:p>
          <a:p>
            <a:pPr lvl="1"/>
            <a:r>
              <a:rPr lang="fr-FR" dirty="0"/>
              <a:t>- Raie 2 : nu = 1080.6756 cm^-1</a:t>
            </a:r>
          </a:p>
          <a:p>
            <a:pPr lvl="1"/>
            <a:r>
              <a:rPr lang="fr-FR" dirty="0"/>
              <a:t>- Raie 3 : nu = 1090.0957 cm^-1</a:t>
            </a:r>
          </a:p>
          <a:p>
            <a:pPr lvl="1"/>
            <a:r>
              <a:rPr lang="fr-FR" dirty="0"/>
              <a:t>- FWHM 1 : FWHM = 3.1743 cm^-1</a:t>
            </a:r>
          </a:p>
          <a:p>
            <a:pPr lvl="1"/>
            <a:r>
              <a:rPr lang="fr-FR" dirty="0"/>
              <a:t>- FWHM 2 : FWHM = 3.6489 cm^-1</a:t>
            </a:r>
          </a:p>
          <a:p>
            <a:pPr lvl="1"/>
            <a:r>
              <a:rPr lang="fr-FR" dirty="0"/>
              <a:t>- FWHM 3 : FWHM = 5.2779 cm^-1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ADD10F0-082C-C897-2B4A-03B69E1FAB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125" y="736370"/>
            <a:ext cx="3083858" cy="2661316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3385A7C6-1B77-ECAA-B485-AA982452CA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028" y="3460315"/>
            <a:ext cx="4634614" cy="3429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204C8965-24CB-7543-BBD7-BEA8F0CC02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1127" y="3241800"/>
            <a:ext cx="4810837" cy="3647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E279-E16E-59A3-2FB1-6E2E27AB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2CE60A7-112D-54F7-3F6B-077AA4683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7F9937E7-395B-F230-4F5C-3252AAB65C55}"/>
              </a:ext>
            </a:extLst>
          </p:cNvPr>
          <p:cNvGrpSpPr/>
          <p:nvPr/>
        </p:nvGrpSpPr>
        <p:grpSpPr>
          <a:xfrm>
            <a:off x="2632684" y="527937"/>
            <a:ext cx="2740212" cy="2717876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51426BF4-7F9B-F6F3-EC16-D538AFF1BD97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B0A2480-95BD-9304-54DA-1E1009906D16}"/>
                </a:ext>
              </a:extLst>
            </p:cNvPr>
            <p:cNvSpPr/>
            <p:nvPr/>
          </p:nvSpPr>
          <p:spPr>
            <a:xfrm>
              <a:off x="6233177" y="990807"/>
              <a:ext cx="64153" cy="627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15" name="Image 14">
            <a:extLst>
              <a:ext uri="{FF2B5EF4-FFF2-40B4-BE49-F238E27FC236}">
                <a16:creationId xmlns:a16="http://schemas.microsoft.com/office/drawing/2014/main" id="{F40F418F-9114-29BA-8446-5D72FBF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2338" y="3378560"/>
            <a:ext cx="4425198" cy="329878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78CEC086-BE33-D828-F329-DF65393CB4AB}"/>
              </a:ext>
            </a:extLst>
          </p:cNvPr>
          <p:cNvSpPr txBox="1"/>
          <p:nvPr/>
        </p:nvSpPr>
        <p:spPr>
          <a:xfrm>
            <a:off x="298430" y="2950328"/>
            <a:ext cx="1986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Nb points 125²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scan range 50 µm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0B5EEE-B02C-B8FF-0EEA-232675A115FC}"/>
              </a:ext>
            </a:extLst>
          </p:cNvPr>
          <p:cNvSpPr txBox="1"/>
          <p:nvPr/>
        </p:nvSpPr>
        <p:spPr>
          <a:xfrm>
            <a:off x="404103" y="4368788"/>
            <a:ext cx="1775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1 pix = 400 nm²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B4D1D046-2FBD-9B86-14E8-7DFA582067E8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1291700" y="3596659"/>
            <a:ext cx="0" cy="7721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63BFB569-CE02-4572-0C3D-859A06FCA64C}"/>
              </a:ext>
            </a:extLst>
          </p:cNvPr>
          <p:cNvCxnSpPr>
            <a:cxnSpLocks/>
          </p:cNvCxnSpPr>
          <p:nvPr/>
        </p:nvCxnSpPr>
        <p:spPr>
          <a:xfrm>
            <a:off x="7599638" y="3150383"/>
            <a:ext cx="82998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7A0F97C8-8BB7-C2CD-F254-A0FA84FD710F}"/>
              </a:ext>
            </a:extLst>
          </p:cNvPr>
          <p:cNvCxnSpPr>
            <a:cxnSpLocks/>
          </p:cNvCxnSpPr>
          <p:nvPr/>
        </p:nvCxnSpPr>
        <p:spPr>
          <a:xfrm>
            <a:off x="7614285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52B37E61-EC8D-E749-867C-E25490C20986}"/>
              </a:ext>
            </a:extLst>
          </p:cNvPr>
          <p:cNvCxnSpPr>
            <a:cxnSpLocks/>
          </p:cNvCxnSpPr>
          <p:nvPr/>
        </p:nvCxnSpPr>
        <p:spPr>
          <a:xfrm>
            <a:off x="4680997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ZoneTexte 41">
            <a:extLst>
              <a:ext uri="{FF2B5EF4-FFF2-40B4-BE49-F238E27FC236}">
                <a16:creationId xmlns:a16="http://schemas.microsoft.com/office/drawing/2014/main" id="{8BE3074A-378F-32A7-6A4C-A9BBE72CDC03}"/>
              </a:ext>
            </a:extLst>
          </p:cNvPr>
          <p:cNvSpPr txBox="1"/>
          <p:nvPr/>
        </p:nvSpPr>
        <p:spPr>
          <a:xfrm>
            <a:off x="4555042" y="27549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11D4CCE-3ECF-F3AE-F4EB-0C48CBA488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3637" y="3373589"/>
            <a:ext cx="4634610" cy="3428997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52C9B23A-B72F-825B-D167-4F1B3CBC3DB7}"/>
              </a:ext>
            </a:extLst>
          </p:cNvPr>
          <p:cNvSpPr txBox="1"/>
          <p:nvPr/>
        </p:nvSpPr>
        <p:spPr>
          <a:xfrm>
            <a:off x="5868043" y="334094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A80D06B2-3A39-A7EA-39B3-2D541710C4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164" y="519852"/>
            <a:ext cx="3285038" cy="2834931"/>
          </a:xfrm>
          <a:prstGeom prst="rect">
            <a:avLst/>
          </a:prstGeom>
        </p:spPr>
      </p:pic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30774F66-3196-E725-E93A-ACB7FCE7ACCC}"/>
              </a:ext>
            </a:extLst>
          </p:cNvPr>
          <p:cNvCxnSpPr>
            <a:cxnSpLocks/>
          </p:cNvCxnSpPr>
          <p:nvPr/>
        </p:nvCxnSpPr>
        <p:spPr>
          <a:xfrm flipH="1">
            <a:off x="5634508" y="986283"/>
            <a:ext cx="1193028" cy="272599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A91273D0-25E2-D0BA-D681-02B18C63CFAD}"/>
              </a:ext>
            </a:extLst>
          </p:cNvPr>
          <p:cNvCxnSpPr>
            <a:cxnSpLocks/>
          </p:cNvCxnSpPr>
          <p:nvPr/>
        </p:nvCxnSpPr>
        <p:spPr>
          <a:xfrm>
            <a:off x="7461885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130755A2-1552-4FAC-AFCF-448FA2C576F8}"/>
              </a:ext>
            </a:extLst>
          </p:cNvPr>
          <p:cNvSpPr txBox="1"/>
          <p:nvPr/>
        </p:nvSpPr>
        <p:spPr>
          <a:xfrm>
            <a:off x="7335930" y="26025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29D9301C-BCC8-4484-2215-72068124C9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4354" y="547217"/>
            <a:ext cx="3316567" cy="2834929"/>
          </a:xfrm>
          <a:prstGeom prst="rect">
            <a:avLst/>
          </a:prstGeom>
        </p:spPr>
      </p:pic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6B06CA82-286F-8AAA-0904-A0F61661FEEF}"/>
              </a:ext>
            </a:extLst>
          </p:cNvPr>
          <p:cNvCxnSpPr>
            <a:cxnSpLocks/>
          </p:cNvCxnSpPr>
          <p:nvPr/>
        </p:nvCxnSpPr>
        <p:spPr>
          <a:xfrm>
            <a:off x="10844576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363D10E4-25D9-16EB-1111-DFA167A2F5C5}"/>
              </a:ext>
            </a:extLst>
          </p:cNvPr>
          <p:cNvSpPr txBox="1"/>
          <p:nvPr/>
        </p:nvSpPr>
        <p:spPr>
          <a:xfrm>
            <a:off x="10718621" y="2602517"/>
            <a:ext cx="81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18A2CC17-881E-46D2-1119-1D2267C9AD36}"/>
              </a:ext>
            </a:extLst>
          </p:cNvPr>
          <p:cNvSpPr txBox="1"/>
          <p:nvPr/>
        </p:nvSpPr>
        <p:spPr>
          <a:xfrm>
            <a:off x="7334464" y="493888"/>
            <a:ext cx="2725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860C8DED-F8F2-12B9-6698-4BA150B67D75}"/>
              </a:ext>
            </a:extLst>
          </p:cNvPr>
          <p:cNvSpPr txBox="1"/>
          <p:nvPr/>
        </p:nvSpPr>
        <p:spPr>
          <a:xfrm>
            <a:off x="10790796" y="44021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FA64098B-3BB6-6163-17D1-5AC444B862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9256" y="3391248"/>
            <a:ext cx="4634613" cy="3428999"/>
          </a:xfrm>
          <a:prstGeom prst="rect">
            <a:avLst/>
          </a:prstGeom>
        </p:spPr>
      </p:pic>
      <p:sp>
        <p:nvSpPr>
          <p:cNvPr id="51" name="ZoneTexte 50">
            <a:extLst>
              <a:ext uri="{FF2B5EF4-FFF2-40B4-BE49-F238E27FC236}">
                <a16:creationId xmlns:a16="http://schemas.microsoft.com/office/drawing/2014/main" id="{0C462D07-659F-D0B3-5D2E-58686917F766}"/>
              </a:ext>
            </a:extLst>
          </p:cNvPr>
          <p:cNvSpPr txBox="1"/>
          <p:nvPr/>
        </p:nvSpPr>
        <p:spPr>
          <a:xfrm>
            <a:off x="10769407" y="359665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8D9F5B15-6DE8-E1AE-E746-0A5679FAE5F9}"/>
              </a:ext>
            </a:extLst>
          </p:cNvPr>
          <p:cNvCxnSpPr>
            <a:cxnSpLocks/>
          </p:cNvCxnSpPr>
          <p:nvPr/>
        </p:nvCxnSpPr>
        <p:spPr>
          <a:xfrm flipH="1">
            <a:off x="9468221" y="919724"/>
            <a:ext cx="596514" cy="28986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4605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9D1F3-1217-3F5B-324D-D56F1C11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5B31-6664-D46D-85C0-D21A1228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E8F89E1-6525-DAE3-9A90-3B76F304F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60" y="1853556"/>
            <a:ext cx="3132200" cy="2862324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5D90BEA-EBE7-B701-CF39-1EE205B70DB3}"/>
              </a:ext>
            </a:extLst>
          </p:cNvPr>
          <p:cNvSpPr txBox="1"/>
          <p:nvPr/>
        </p:nvSpPr>
        <p:spPr>
          <a:xfrm>
            <a:off x="2981499" y="3625547"/>
            <a:ext cx="8321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3C19370-BF07-8A79-CD76-824D44B3E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999" y="3978442"/>
            <a:ext cx="3595773" cy="269516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FDBDB6C-9F1C-82DC-AB69-125D74407C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323" y="759289"/>
            <a:ext cx="3915825" cy="307420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23A8AA4F-9FE8-9686-2193-E4C88105D1C0}"/>
              </a:ext>
            </a:extLst>
          </p:cNvPr>
          <p:cNvSpPr txBox="1"/>
          <p:nvPr/>
        </p:nvSpPr>
        <p:spPr>
          <a:xfrm>
            <a:off x="6213938" y="3634004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graphicFrame>
        <p:nvGraphicFramePr>
          <p:cNvPr id="30" name="Tableau 29">
            <a:extLst>
              <a:ext uri="{FF2B5EF4-FFF2-40B4-BE49-F238E27FC236}">
                <a16:creationId xmlns:a16="http://schemas.microsoft.com/office/drawing/2014/main" id="{38505EC7-241B-284C-C968-D590CFFCB0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456646"/>
              </p:ext>
            </p:extLst>
          </p:nvPr>
        </p:nvGraphicFramePr>
        <p:xfrm>
          <a:off x="131400" y="4772812"/>
          <a:ext cx="737592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2C159510-C39E-9DD6-4730-D33AFC2CB0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0173" y="650860"/>
            <a:ext cx="2348921" cy="240372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97175E3-A39E-7251-C30A-2971C0554C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5122" y="1623485"/>
            <a:ext cx="3132201" cy="284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928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EA3C-5351-1921-CBAF-129EBECC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29DC01-3DE8-CBB5-1D80-D9B4EA49D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63326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800" b="1" dirty="0" err="1"/>
              <a:t>Corals</a:t>
            </a:r>
            <a:r>
              <a:rPr lang="fr-FR" sz="2800" b="1" dirty="0"/>
              <a:t> 260715 2ps vs 7ps (#4 </a:t>
            </a:r>
            <a:r>
              <a:rPr lang="fr-FR" sz="2800" b="1" dirty="0" err="1"/>
              <a:t>stressed</a:t>
            </a:r>
            <a:r>
              <a:rPr lang="fr-FR" sz="2800" b="1" dirty="0"/>
              <a:t>)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16CB543E-AA06-4A78-F020-38E8B08A16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5090" y="209729"/>
            <a:ext cx="2249594" cy="2302079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3931EE57-AE35-AC2D-4DF5-B0E126ACB38C}"/>
              </a:ext>
            </a:extLst>
          </p:cNvPr>
          <p:cNvSpPr/>
          <p:nvPr/>
        </p:nvSpPr>
        <p:spPr>
          <a:xfrm>
            <a:off x="10515599" y="2042160"/>
            <a:ext cx="426721" cy="2971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8FEE9127-310A-0E1E-1218-931918BFABE8}"/>
              </a:ext>
            </a:extLst>
          </p:cNvPr>
          <p:cNvSpPr txBox="1"/>
          <p:nvPr/>
        </p:nvSpPr>
        <p:spPr>
          <a:xfrm>
            <a:off x="8954952" y="2961198"/>
            <a:ext cx="78435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2ps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0.506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0.745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416.64</a:t>
            </a:r>
          </a:p>
          <a:p>
            <a:r>
              <a:rPr lang="fr-FR" dirty="0"/>
              <a:t>background fit   = -470.884175</a:t>
            </a:r>
          </a:p>
          <a:p>
            <a:r>
              <a:rPr lang="fr-FR" dirty="0"/>
              <a:t>min fit          = -324.167943</a:t>
            </a:r>
          </a:p>
          <a:p>
            <a:r>
              <a:rPr lang="fr-FR" dirty="0"/>
              <a:t>max fit          = 128446.667684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FB783713-4FBB-62BA-1EA8-DB9C7C467030}"/>
              </a:ext>
            </a:extLst>
          </p:cNvPr>
          <p:cNvSpPr txBox="1"/>
          <p:nvPr/>
        </p:nvSpPr>
        <p:spPr>
          <a:xfrm>
            <a:off x="8954952" y="4867956"/>
            <a:ext cx="854790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7 </a:t>
            </a:r>
            <a:r>
              <a:rPr lang="fr-FR" b="1" dirty="0" err="1"/>
              <a:t>ps</a:t>
            </a:r>
            <a:r>
              <a:rPr lang="fr-FR" b="1" dirty="0"/>
              <a:t>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0.970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1.475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-2214.30</a:t>
            </a:r>
          </a:p>
          <a:p>
            <a:r>
              <a:rPr lang="fr-FR" dirty="0"/>
              <a:t>background fit   = 1071.426001</a:t>
            </a:r>
          </a:p>
          <a:p>
            <a:r>
              <a:rPr lang="fr-FR" dirty="0"/>
              <a:t>min fit          = 2024.255660</a:t>
            </a:r>
          </a:p>
          <a:p>
            <a:r>
              <a:rPr lang="fr-FR" dirty="0"/>
              <a:t>max fit          = 100911.778329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CA5D1578-069E-25EE-143F-23228311E541}"/>
              </a:ext>
            </a:extLst>
          </p:cNvPr>
          <p:cNvSpPr txBox="1"/>
          <p:nvPr/>
        </p:nvSpPr>
        <p:spPr>
          <a:xfrm>
            <a:off x="9032633" y="2511808"/>
            <a:ext cx="2817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Stats sur [min(</a:t>
            </a:r>
            <a:r>
              <a:rPr lang="fr-FR" b="1" dirty="0" err="1"/>
              <a:t>wn</a:t>
            </a:r>
            <a:r>
              <a:rPr lang="fr-FR" b="1" dirty="0"/>
              <a:t>) 1076] :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CC1B0D72-D55E-AEBB-0693-7B674386E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764" y="919860"/>
            <a:ext cx="4408747" cy="3070754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6A6B38C1-5057-3DA5-3236-028429AFEC00}"/>
              </a:ext>
            </a:extLst>
          </p:cNvPr>
          <p:cNvSpPr txBox="1"/>
          <p:nvPr/>
        </p:nvSpPr>
        <p:spPr>
          <a:xfrm>
            <a:off x="4911277" y="2211028"/>
            <a:ext cx="111130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5558DEDE-D9BC-540B-006A-54FA380E6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59" y="919859"/>
            <a:ext cx="4408748" cy="3070755"/>
          </a:xfrm>
          <a:prstGeom prst="rect">
            <a:avLst/>
          </a:prstGeom>
        </p:spPr>
      </p:pic>
      <p:sp>
        <p:nvSpPr>
          <p:cNvPr id="41" name="ZoneTexte 40">
            <a:extLst>
              <a:ext uri="{FF2B5EF4-FFF2-40B4-BE49-F238E27FC236}">
                <a16:creationId xmlns:a16="http://schemas.microsoft.com/office/drawing/2014/main" id="{A74DD057-389B-56E3-CF13-727A50895DDD}"/>
              </a:ext>
            </a:extLst>
          </p:cNvPr>
          <p:cNvSpPr txBox="1"/>
          <p:nvPr/>
        </p:nvSpPr>
        <p:spPr>
          <a:xfrm>
            <a:off x="1837832" y="887555"/>
            <a:ext cx="219562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2F628972-AB9C-3820-C248-C736E545FA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406" y="3990614"/>
            <a:ext cx="3691807" cy="1932950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:a16="http://schemas.microsoft.com/office/drawing/2014/main" id="{1F777A24-0910-6FCC-2964-8795D7020C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1277" y="4005191"/>
            <a:ext cx="3691806" cy="1932949"/>
          </a:xfrm>
          <a:prstGeom prst="rect">
            <a:avLst/>
          </a:prstGeom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A8F374BF-223C-787B-FE0B-63D26839ABA6}"/>
              </a:ext>
            </a:extLst>
          </p:cNvPr>
          <p:cNvSpPr txBox="1"/>
          <p:nvPr/>
        </p:nvSpPr>
        <p:spPr>
          <a:xfrm>
            <a:off x="0" y="525146"/>
            <a:ext cx="3503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Réalisé sur la somme des pixels : </a:t>
            </a: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EB300E05-724F-7558-5632-0057A86A27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124" y="5970445"/>
            <a:ext cx="3795089" cy="342930"/>
          </a:xfrm>
          <a:prstGeom prst="rect">
            <a:avLst/>
          </a:prstGeom>
        </p:spPr>
      </p:pic>
      <p:sp>
        <p:nvSpPr>
          <p:cNvPr id="50" name="ZoneTexte 49">
            <a:extLst>
              <a:ext uri="{FF2B5EF4-FFF2-40B4-BE49-F238E27FC236}">
                <a16:creationId xmlns:a16="http://schemas.microsoft.com/office/drawing/2014/main" id="{B50BBAEE-1C54-1FB2-22C8-88C2D9BE7E34}"/>
              </a:ext>
            </a:extLst>
          </p:cNvPr>
          <p:cNvSpPr txBox="1"/>
          <p:nvPr/>
        </p:nvSpPr>
        <p:spPr>
          <a:xfrm>
            <a:off x="2587953" y="6368314"/>
            <a:ext cx="1832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Bckg</a:t>
            </a:r>
            <a:r>
              <a:rPr lang="fr-FR" dirty="0"/>
              <a:t> </a:t>
            </a:r>
            <a:r>
              <a:rPr lang="fr-FR" dirty="0" err="1"/>
              <a:t>variability</a:t>
            </a:r>
            <a:r>
              <a:rPr lang="fr-FR" dirty="0"/>
              <a:t>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>
                <a:extLst>
                  <a:ext uri="{FF2B5EF4-FFF2-40B4-BE49-F238E27FC236}">
                    <a16:creationId xmlns:a16="http://schemas.microsoft.com/office/drawing/2014/main" id="{40B2F10B-A698-6B4F-117E-3D8795514B85}"/>
                  </a:ext>
                </a:extLst>
              </p:cNvPr>
              <p:cNvSpPr txBox="1"/>
              <p:nvPr/>
            </p:nvSpPr>
            <p:spPr>
              <a:xfrm>
                <a:off x="4227213" y="6163169"/>
                <a:ext cx="4529864" cy="7439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>
                                  <a:latin typeface="Cambria Math" panose="02040503050406030204" pitchFamily="18" charset="0"/>
                                </a:rPr>
                                <m:t>bckg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𝑔𝑙𝑜𝑏𝑎𝑙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𝑚𝑒𝑑𝑖𝑎𝑛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i="1">
                                      <a:latin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+mn-lt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i="0">
                                      <a:latin typeface="+mn-lt"/>
                                    </a:rPr>
                                    <m:t>bckg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e>
                          </m:d>
                          <m:r>
                            <a:rPr lang="fr-FR" i="0">
                              <a:latin typeface="+mn-lt"/>
                            </a:rPr>
                            <m:t>×</m:t>
                          </m:r>
                          <m:f>
                            <m:f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i="1">
                                      <a:latin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+mn-lt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i="0">
                                      <a:latin typeface="+mn-lt"/>
                                    </a:rPr>
                                    <m:t>pixel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i="0">
                                  <a:latin typeface="+mn-lt"/>
                                </a:rPr>
                                <m:t>norm</m:t>
                              </m:r>
                            </m:den>
                          </m:f>
                        </m:e>
                      </m:borderBox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ZoneTexte 3">
                <a:extLst>
                  <a:ext uri="{FF2B5EF4-FFF2-40B4-BE49-F238E27FC236}">
                    <a16:creationId xmlns:a16="http://schemas.microsoft.com/office/drawing/2014/main" id="{40B2F10B-A698-6B4F-117E-3D8795514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213" y="6163169"/>
                <a:ext cx="4529864" cy="74392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 5">
            <a:extLst>
              <a:ext uri="{FF2B5EF4-FFF2-40B4-BE49-F238E27FC236}">
                <a16:creationId xmlns:a16="http://schemas.microsoft.com/office/drawing/2014/main" id="{25DE6559-32C3-3DB8-4B70-A93B545295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9198" y="57150"/>
            <a:ext cx="2574970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959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D3978-569E-5D8E-97E7-5B923F530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04EA8D-D802-3DA2-2CEC-FD30C4D90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Coral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AD81B69-FD7E-2A23-BC74-8BCAE9062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4" y="1768677"/>
            <a:ext cx="2188561" cy="2239622"/>
          </a:xfrm>
          <a:prstGeom prst="rect">
            <a:avLst/>
          </a:prstGeom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F3E49FC-537E-C8AE-BB7E-59C852063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375995"/>
              </p:ext>
            </p:extLst>
          </p:nvPr>
        </p:nvGraphicFramePr>
        <p:xfrm>
          <a:off x="433136" y="4742688"/>
          <a:ext cx="1132572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75465086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4174220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FWHM_instr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N_pix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17" name="Image 16">
            <a:extLst>
              <a:ext uri="{FF2B5EF4-FFF2-40B4-BE49-F238E27FC236}">
                <a16:creationId xmlns:a16="http://schemas.microsoft.com/office/drawing/2014/main" id="{DB62B55D-81DE-B231-A506-C4969BA15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264" y="1593863"/>
            <a:ext cx="2797873" cy="2589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0E8B4AE7-BB92-0CFF-2910-BCB24D531FB8}"/>
              </a:ext>
            </a:extLst>
          </p:cNvPr>
          <p:cNvSpPr txBox="1"/>
          <p:nvPr/>
        </p:nvSpPr>
        <p:spPr>
          <a:xfrm>
            <a:off x="6476733" y="997532"/>
            <a:ext cx="6208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7C4D800-AA07-4A51-A7DF-74430E7EF634}"/>
              </a:ext>
            </a:extLst>
          </p:cNvPr>
          <p:cNvSpPr txBox="1"/>
          <p:nvPr/>
        </p:nvSpPr>
        <p:spPr>
          <a:xfrm>
            <a:off x="3555392" y="951395"/>
            <a:ext cx="64569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28DCC324-0D0C-6FD6-7FE2-CF1D6C0B8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507" y="1596088"/>
            <a:ext cx="2797873" cy="2587025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0114A209-B4EC-6EEC-F245-014BA15F2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380" y="186783"/>
            <a:ext cx="3695860" cy="2887549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36584E80-2061-9DBB-B754-231320418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320" y="3149192"/>
            <a:ext cx="2933700" cy="15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771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098D-53C4-C840-B30A-95323CB5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CEA08-EDB1-CBFB-796A-02108849D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CFA125-BD6D-5DA1-3575-141EF2495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A3F3550-5F74-C413-E238-922B87EDF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44FEA6-2102-9F7D-4943-8E4DA2CF2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82CA5FF-097A-A485-B43F-34E1ABDF0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BD8B85F0-686C-8C6A-42BC-66DBC32E7143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702.68 +/- 1229 </a:t>
            </a:r>
          </a:p>
          <a:p>
            <a:r>
              <a:rPr lang="fr-FR" dirty="0" err="1"/>
              <a:t>ACC:A_mean</a:t>
            </a:r>
            <a:r>
              <a:rPr lang="fr-FR" dirty="0"/>
              <a:t> = 4453 +/- 8549.8 </a:t>
            </a:r>
          </a:p>
          <a:p>
            <a:r>
              <a:rPr lang="fr-FR" dirty="0"/>
              <a:t>nu = 1073.5428 +/- 1.7166 cm^-1</a:t>
            </a:r>
          </a:p>
          <a:p>
            <a:r>
              <a:rPr lang="fr-FR" dirty="0"/>
              <a:t>FWHM= 31.8237 +/- 6.0136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5FF58BA-755A-363E-10D7-AC33BD34B448}"/>
              </a:ext>
            </a:extLst>
          </p:cNvPr>
          <p:cNvSpPr txBox="1"/>
          <p:nvPr/>
        </p:nvSpPr>
        <p:spPr>
          <a:xfrm>
            <a:off x="3950920" y="4542189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8311 +/- 3747.4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1346.2 +/- 966.64 </a:t>
            </a:r>
          </a:p>
          <a:p>
            <a:r>
              <a:rPr lang="fr-FR" dirty="0"/>
              <a:t>nu = 1086.0169 +/- 0.1741 cm^-1 </a:t>
            </a:r>
            <a:r>
              <a:rPr lang="fr-FR" sz="1800" dirty="0"/>
              <a:t>FWHM= </a:t>
            </a:r>
            <a:r>
              <a:rPr lang="fr-FR" dirty="0"/>
              <a:t>1.4299 +/- 0.8107 cm^-1</a:t>
            </a:r>
            <a:endParaRPr lang="fr-FR" sz="1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7C2B94-B0F1-D3FE-AE98-26493AD20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717" y="702992"/>
            <a:ext cx="5323513" cy="383919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F7ECD1A-33BD-ADB9-A483-73F61D0B9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232" y="3182588"/>
            <a:ext cx="4513296" cy="36983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4DB405D-5098-7969-E383-EF3FD01A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547" y="3754606"/>
            <a:ext cx="3392218" cy="312632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4BFF1F9-1E1D-ADAD-28F2-A259168560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5032" y="3388274"/>
            <a:ext cx="3079015" cy="219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30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AD8-96A2-114C-50D9-FC6A6C53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90B83A-DC2D-8A98-FD32-FCA29B660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57D6AF-C090-4801-7BB5-3BD8B4DFE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420F354-BFC1-2646-E6F1-A982C9F7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7574F47-C286-1C51-FF73-01D46060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7BA1DA4-A4AC-B6A8-4136-672E9A081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1669978-DDA2-D5B6-457C-6FA91D131818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648.98 +/- 422.52</a:t>
            </a:r>
          </a:p>
          <a:p>
            <a:r>
              <a:rPr lang="fr-FR" dirty="0" err="1"/>
              <a:t>ACC:A_mean</a:t>
            </a:r>
            <a:r>
              <a:rPr lang="fr-FR" dirty="0"/>
              <a:t> = 4568.9 +/- 2423.2</a:t>
            </a:r>
          </a:p>
          <a:p>
            <a:r>
              <a:rPr lang="fr-FR" dirty="0"/>
              <a:t>nu = 1073.8552 +/- 1.5147 cm^-1</a:t>
            </a:r>
          </a:p>
          <a:p>
            <a:r>
              <a:rPr lang="fr-FR" dirty="0"/>
              <a:t>FWHM= 30.2458 +/- 9.4385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F04E5DA-C1B2-788B-10CF-6D9F31C07413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4275 +/- 794.18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1464.6 +/- 604.63</a:t>
            </a:r>
          </a:p>
          <a:p>
            <a:r>
              <a:rPr lang="fr-FR" sz="1800" dirty="0"/>
              <a:t>nu = 1085.4458 +/- 0.2423 cm^-1</a:t>
            </a:r>
          </a:p>
          <a:p>
            <a:r>
              <a:rPr lang="fr-FR" sz="1800" dirty="0"/>
              <a:t>FWHM= 3.1194 +/- 0.9295 cm^-1</a:t>
            </a:r>
          </a:p>
        </p:txBody>
      </p:sp>
    </p:spTree>
    <p:extLst>
      <p:ext uri="{BB962C8B-B14F-4D97-AF65-F5344CB8AC3E}">
        <p14:creationId xmlns:p14="http://schemas.microsoft.com/office/powerpoint/2010/main" val="28399522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25EF6-FACB-CC61-3081-EFBB2FF9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B8448-E1BB-E283-A32D-505A10768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59528D5-620C-28A9-7649-17DF3D9AA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72" y="1014591"/>
            <a:ext cx="2805528" cy="28709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DC319CE-ECB0-A327-8F21-3CE325E37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72" y="3944263"/>
            <a:ext cx="2993563" cy="272827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C1B6D58-E5BE-42DF-B9C7-0DA521156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8935" y="835175"/>
            <a:ext cx="6122434" cy="462870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B8770FE-B393-29E5-B0F8-8902AC6B9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935" y="3991193"/>
            <a:ext cx="3643741" cy="268134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44A9F7D0-66BC-84DD-4190-001B805D4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476" y="3930799"/>
            <a:ext cx="3643741" cy="274174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F726609-81E7-2CC0-B201-31B0D752E7AC}"/>
              </a:ext>
            </a:extLst>
          </p:cNvPr>
          <p:cNvSpPr txBox="1"/>
          <p:nvPr/>
        </p:nvSpPr>
        <p:spPr>
          <a:xfrm>
            <a:off x="9879169" y="1305342"/>
            <a:ext cx="6206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ct val="100000"/>
              </a:lnSpc>
              <a:buNone/>
            </a:pPr>
            <a:r>
              <a:rPr lang="fr-FR" sz="1100" b="0" i="0" dirty="0">
                <a:effectLst/>
                <a:latin typeface="+mn-lt"/>
              </a:rPr>
              <a:t>FWHM instrumentale 2.4980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ARA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Amplitude des phases :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4275 +/- 794.21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1464.7 +/- 604.59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1085.4458 +/- 0.2422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FWHM= 3.1193 +/- 0.9294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ACC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86.662 +/- 68.817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4145.5 +/- 1814.5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1070.4489 +/- 0.6355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 = 34.4327 +/- 4.8101 cm^-1</a:t>
            </a:r>
            <a:endParaRPr lang="fr-FR" sz="11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794395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B481-C080-E500-FEBA-0D46563F7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2959FC-1C77-5E94-F5DB-A226168A87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 vs 7ps 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F57C540-C115-2E55-8B76-B0141ACC8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593" r="47597"/>
          <a:stretch>
            <a:fillRect/>
          </a:stretch>
        </p:blipFill>
        <p:spPr>
          <a:xfrm>
            <a:off x="710922" y="661362"/>
            <a:ext cx="2829977" cy="2662409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042532B-B765-5E08-A7DC-F6D59044F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624"/>
            <a:ext cx="4049486" cy="2829998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C50B1AB-D800-4288-0D7C-DD00B73D0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22" y="3488265"/>
            <a:ext cx="4258987" cy="3327517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CBCF38FA-E460-6D06-80A2-D709C05EBD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1215" y="606740"/>
            <a:ext cx="3109863" cy="2822260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4A64E9F6-093C-1482-4D2B-3B91B091F2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9815" y="661362"/>
            <a:ext cx="3068402" cy="2767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5178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14EC8DBD-8E1C-6F89-4AB9-3908FCC1B35F}"/>
              </a:ext>
            </a:extLst>
          </p:cNvPr>
          <p:cNvSpPr txBox="1"/>
          <p:nvPr/>
        </p:nvSpPr>
        <p:spPr>
          <a:xfrm>
            <a:off x="2322792" y="5702069"/>
            <a:ext cx="70018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Fig. </a:t>
            </a:r>
            <a:r>
              <a:rPr lang="fr-FR" dirty="0" err="1"/>
              <a:t>Observed</a:t>
            </a:r>
            <a:r>
              <a:rPr lang="fr-FR" dirty="0"/>
              <a:t> </a:t>
            </a:r>
            <a:r>
              <a:rPr lang="fr-FR" dirty="0" err="1"/>
              <a:t>Sum</a:t>
            </a:r>
            <a:r>
              <a:rPr lang="fr-FR" dirty="0"/>
              <a:t> </a:t>
            </a:r>
            <a:r>
              <a:rPr lang="fr-FR" dirty="0" err="1"/>
              <a:t>Frequence</a:t>
            </a:r>
            <a:r>
              <a:rPr lang="fr-FR" dirty="0"/>
              <a:t> </a:t>
            </a:r>
            <a:r>
              <a:rPr lang="fr-FR" dirty="0" err="1"/>
              <a:t>Generation</a:t>
            </a:r>
            <a:r>
              <a:rPr lang="fr-FR" dirty="0"/>
              <a:t> (SFG) </a:t>
            </a:r>
            <a:r>
              <a:rPr lang="fr-FR" dirty="0" err="1"/>
              <a:t>between</a:t>
            </a:r>
            <a:r>
              <a:rPr lang="fr-FR" dirty="0"/>
              <a:t> Stokes and </a:t>
            </a:r>
            <a:r>
              <a:rPr lang="fr-FR" dirty="0" err="1"/>
              <a:t>pump</a:t>
            </a:r>
            <a:r>
              <a:rPr lang="fr-FR" dirty="0"/>
              <a:t> </a:t>
            </a:r>
            <a:r>
              <a:rPr lang="fr-FR" dirty="0" err="1"/>
              <a:t>beam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and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. Full </a:t>
            </a:r>
            <a:r>
              <a:rPr lang="fr-FR" dirty="0" err="1"/>
              <a:t>Widths</a:t>
            </a:r>
            <a:r>
              <a:rPr lang="fr-FR" dirty="0"/>
              <a:t> at Half Maximum (FWHM) </a:t>
            </a:r>
            <a:r>
              <a:rPr lang="fr-FR" dirty="0" err="1"/>
              <a:t>were</a:t>
            </a:r>
            <a:r>
              <a:rPr lang="fr-FR" dirty="0"/>
              <a:t>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</a:t>
            </a:r>
            <a:r>
              <a:rPr lang="fr-FR" dirty="0" err="1"/>
              <a:t>Gaussian</a:t>
            </a:r>
            <a:r>
              <a:rPr lang="fr-FR" dirty="0"/>
              <a:t> </a:t>
            </a:r>
            <a:r>
              <a:rPr lang="fr-FR" dirty="0" err="1"/>
              <a:t>fitting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.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C0ADC7E-3093-50CE-AEFD-B9F4F26C8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185" y="1359634"/>
            <a:ext cx="5972175" cy="4138731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09210742-6B75-719E-4EA7-0285F4CF4BAE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Figures finales : </a:t>
            </a:r>
          </a:p>
        </p:txBody>
      </p:sp>
    </p:spTree>
    <p:extLst>
      <p:ext uri="{BB962C8B-B14F-4D97-AF65-F5344CB8AC3E}">
        <p14:creationId xmlns:p14="http://schemas.microsoft.com/office/powerpoint/2010/main" val="2583821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48575-2C9D-4616-0A4A-DFFF35354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F4F999AA-17A8-2BAF-4FE3-6B7846C61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100" y="4306035"/>
            <a:ext cx="2986087" cy="2069365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85E07BD2-23E6-2A5D-3F91-3B8CB697650C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SET UP : </a:t>
            </a:r>
          </a:p>
        </p:txBody>
      </p:sp>
      <p:pic>
        <p:nvPicPr>
          <p:cNvPr id="3" name="Graphique 2">
            <a:extLst>
              <a:ext uri="{FF2B5EF4-FFF2-40B4-BE49-F238E27FC236}">
                <a16:creationId xmlns:a16="http://schemas.microsoft.com/office/drawing/2014/main" id="{A308EB0B-03C3-2F42-0CA0-DB788BD8D7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768" t="15603" r="27619" b="5943"/>
          <a:stretch>
            <a:fillRect/>
          </a:stretch>
        </p:blipFill>
        <p:spPr>
          <a:xfrm>
            <a:off x="2208587" y="1359635"/>
            <a:ext cx="7975600" cy="515620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419FAAD-BA41-862E-2A9A-3F1FA76B5337}"/>
              </a:ext>
            </a:extLst>
          </p:cNvPr>
          <p:cNvSpPr txBox="1"/>
          <p:nvPr/>
        </p:nvSpPr>
        <p:spPr>
          <a:xfrm>
            <a:off x="2476500" y="3244334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(a)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8FC06FC-2DEE-FB75-81D3-B14F472D1166}"/>
              </a:ext>
            </a:extLst>
          </p:cNvPr>
          <p:cNvSpPr txBox="1"/>
          <p:nvPr/>
        </p:nvSpPr>
        <p:spPr>
          <a:xfrm>
            <a:off x="9735025" y="3937735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1980537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76E5D-4190-529A-5917-3C388F83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7F681CD5-C964-4B52-2B6B-BD2347A84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100" y="4306035"/>
            <a:ext cx="2986087" cy="2069365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72EF94C-0EC5-D2E2-02A6-B9B407ECB0EA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SET UP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D82521C-2B33-104C-DB5D-18827306CF24}"/>
              </a:ext>
            </a:extLst>
          </p:cNvPr>
          <p:cNvSpPr txBox="1"/>
          <p:nvPr/>
        </p:nvSpPr>
        <p:spPr>
          <a:xfrm>
            <a:off x="2476500" y="3244334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(a)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B95AF61-7ADB-0A7E-98D2-6FD784E14AF1}"/>
              </a:ext>
            </a:extLst>
          </p:cNvPr>
          <p:cNvSpPr txBox="1"/>
          <p:nvPr/>
        </p:nvSpPr>
        <p:spPr>
          <a:xfrm>
            <a:off x="9735025" y="3937735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(b)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259C9BE-2EEA-83B4-4961-2B7ED7D63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5419" y="823316"/>
            <a:ext cx="8814056" cy="597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2969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1445</Words>
  <Application>Microsoft Office PowerPoint</Application>
  <PresentationFormat>Grand écran</PresentationFormat>
  <Paragraphs>344</Paragraphs>
  <Slides>23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Google Sans Text</vt:lpstr>
      <vt:lpstr>Menlo</vt:lpstr>
      <vt:lpstr>Wingdings</vt:lpstr>
      <vt:lpstr>Thème Office</vt:lpstr>
      <vt:lpstr>Meeting 15/10/26</vt:lpstr>
      <vt:lpstr>Modèle Analytique – Réponse instrumentale </vt:lpstr>
      <vt:lpstr>Modèle Carbonates </vt:lpstr>
      <vt:lpstr>Chirp – Calcul de FWHM_instr</vt:lpstr>
      <vt:lpstr>Modèle Carbonates </vt:lpstr>
      <vt:lpstr>Pourquoi ?   - bruit ?  - illumination non homogène ?   - erreur modèle ?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Corals 260715 2ps vs 7ps (#4 stressed)</vt:lpstr>
      <vt:lpstr>Corals 260715 2ps vs 7ps (#4 stressed)</vt:lpstr>
      <vt:lpstr>Coral 260715 2ps vs 7ps (#4 stressed)</vt:lpstr>
      <vt:lpstr>Corals 260715 2ps (#4 stressed)</vt:lpstr>
      <vt:lpstr>Corals 260715 7ps (#4 stressed)</vt:lpstr>
      <vt:lpstr>Corals 260715 7ps (#4 stressed)</vt:lpstr>
      <vt:lpstr>Corals 260713 2ps vs 7ps (#4 stressed)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BUCOURT Sacha</cp:lastModifiedBy>
  <cp:revision>60</cp:revision>
  <dcterms:created xsi:type="dcterms:W3CDTF">2026-07-01T11:56:10Z</dcterms:created>
  <dcterms:modified xsi:type="dcterms:W3CDTF">2026-10-16T15:45:56Z</dcterms:modified>
</cp:coreProperties>
</file>
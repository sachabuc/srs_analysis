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327" r:id="rId2"/>
    <p:sldId id="328" r:id="rId3"/>
    <p:sldId id="357" r:id="rId4"/>
    <p:sldId id="359" r:id="rId5"/>
    <p:sldId id="360" r:id="rId6"/>
    <p:sldId id="362" r:id="rId7"/>
    <p:sldId id="363" r:id="rId8"/>
    <p:sldId id="330" r:id="rId9"/>
    <p:sldId id="322" r:id="rId10"/>
    <p:sldId id="323" r:id="rId11"/>
    <p:sldId id="340" r:id="rId12"/>
    <p:sldId id="354" r:id="rId13"/>
    <p:sldId id="361" r:id="rId14"/>
    <p:sldId id="342" r:id="rId15"/>
    <p:sldId id="343" r:id="rId16"/>
    <p:sldId id="355" r:id="rId17"/>
    <p:sldId id="341" r:id="rId18"/>
    <p:sldId id="353" r:id="rId19"/>
    <p:sldId id="358" r:id="rId20"/>
    <p:sldId id="352" r:id="rId21"/>
    <p:sldId id="345" r:id="rId22"/>
    <p:sldId id="346" r:id="rId23"/>
    <p:sldId id="347" r:id="rId24"/>
    <p:sldId id="350" r:id="rId25"/>
    <p:sldId id="348" r:id="rId26"/>
    <p:sldId id="351" r:id="rId2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27"/>
            <p14:sldId id="328"/>
            <p14:sldId id="357"/>
            <p14:sldId id="359"/>
            <p14:sldId id="360"/>
            <p14:sldId id="362"/>
          </p14:sldIdLst>
        </p14:section>
        <p14:section name="Synthétique" id="{56AC251D-6E5C-4CFE-9930-84BF4168610A}">
          <p14:sldIdLst>
            <p14:sldId id="363"/>
            <p14:sldId id="330"/>
            <p14:sldId id="322"/>
            <p14:sldId id="323"/>
            <p14:sldId id="340"/>
            <p14:sldId id="354"/>
            <p14:sldId id="361"/>
            <p14:sldId id="342"/>
            <p14:sldId id="343"/>
            <p14:sldId id="355"/>
            <p14:sldId id="341"/>
          </p14:sldIdLst>
        </p14:section>
        <p14:section name="Corail" id="{CCA9B34D-82CD-4298-BF9C-03A0026B73BF}">
          <p14:sldIdLst>
            <p14:sldId id="353"/>
            <p14:sldId id="358"/>
            <p14:sldId id="352"/>
            <p14:sldId id="345"/>
            <p14:sldId id="346"/>
            <p14:sldId id="347"/>
            <p14:sldId id="350"/>
            <p14:sldId id="348"/>
            <p14:sldId id="3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33" autoAdjust="0"/>
    <p:restoredTop sz="90695" autoAdjust="0"/>
  </p:normalViewPr>
  <p:slideViewPr>
    <p:cSldViewPr snapToGrid="0">
      <p:cViewPr>
        <p:scale>
          <a:sx n="75" d="100"/>
          <a:sy n="75" d="100"/>
        </p:scale>
        <p:origin x="7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A00-73FE-BD4A-23DA-2471DE90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387C14-F482-478B-9BF1-9BCE23239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F294C5-BBFE-349D-523D-1D8CB7347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77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462E-279E-6401-9918-2A8A4973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F622DE9-BDF6-78EB-1A8D-1FB2EFE6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022282-2A81-CF36-731F-12F16227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033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FA4-B319-D44D-08CE-CC12C00E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F6BA62-8965-5AB6-4C13-B68E3ADB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264B8A-D240-1A7C-1582-BB4781FE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94530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24B9-D537-4B4D-A691-01143676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3133BE-67B9-E6D7-D7BF-0A3D3E640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AC8B3E-9C90-7EDA-9BB1-F2864F3BF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8132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642C3-701D-B75F-4059-59477DEA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0562EFD-2C6B-18DE-B758-6E3895153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06D2DD1-AE30-196A-4E97-5175BD1F77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33030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C8280-AB60-6E81-DC19-C1A0C78B3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EE79D93-FF90-2CF9-6277-5D48D14DE0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B98ED8A-B0E0-3F02-6EC4-6224251CD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233474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3B081-6170-0216-B951-F26A13A4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E117AC-2C58-D5AD-9834-64528129C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CA76E7-A5B9-57C4-BBCD-D204ADC18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92299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14/10/2026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9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9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46.png"/><Relationship Id="rId7" Type="http://schemas.openxmlformats.org/officeDocument/2006/relationships/image" Target="../media/image62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Relationship Id="rId9" Type="http://schemas.openxmlformats.org/officeDocument/2006/relationships/image" Target="../media/image6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79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36553"/>
              </p:ext>
            </p:extLst>
          </p:nvPr>
        </p:nvGraphicFramePr>
        <p:xfrm>
          <a:off x="274867" y="652785"/>
          <a:ext cx="11641826" cy="263937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68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,21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,05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53049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13.9</a:t>
                          </a:r>
                          <a14:m>
                            <m:oMath xmlns:m="http://schemas.openxmlformats.org/officeDocument/2006/math">
                              <m:r>
                                <a:rPr lang="fr-FR" sz="1400" b="1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fr-FR" sz="1400" b="1" i="0"/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fr-FR" sz="1400" b="1" i="0"/>
                                    <m:t>cm</m:t>
                                  </m:r>
                                </m:e>
                                <m:sup>
                                  <m:r>
                                    <a:rPr lang="fr-FR" sz="1400" b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400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oMath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𝟏𝟒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sSup>
                                  <m:sSupPr>
                                    <m:ctrlPr>
                                      <a:rPr lang="fr-FR" sz="1400" b="1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1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100000" t="-118018" r="-300000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01081" t="-118018" r="-201622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99462" t="-118018" r="-100538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401622" t="-118018" r="-1081" b="-220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20000" r="-300000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20000" r="-201622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462" t="-220000" r="-100538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20000" r="-1081" b="-1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70769" r="-3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70769" r="-201622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70769" r="-108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8806410D-E21B-CAD4-6258-4D8789EF73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2"/>
            <a:ext cx="601892" cy="76199"/>
          </a:xfrm>
          <a:prstGeom prst="bentConnector3">
            <a:avLst>
              <a:gd name="adj1" fmla="val 292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9659DBAE-C33D-BEDA-D4EA-6BAD417437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4"/>
            <a:ext cx="2822802" cy="76198"/>
          </a:xfrm>
          <a:prstGeom prst="bentConnector3">
            <a:avLst>
              <a:gd name="adj1" fmla="val 73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5857655" y="6259497"/>
            <a:ext cx="6791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for the 2 main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br>
              <a:rPr lang="fr-FR" sz="1200" dirty="0"/>
            </a:br>
            <a:r>
              <a:rPr lang="fr-FR" sz="1200" dirty="0"/>
              <a:t>-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2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) / 837.76 nm= 0.65 cm-1 (&lt;1.1 cm-1)</a:t>
            </a:r>
            <a:endParaRPr lang="fr-FR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5CD50D8-FBCB-885C-7FAC-A21FC666C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7" y="3429000"/>
            <a:ext cx="4929790" cy="330576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35A9F1-8384-918F-D268-35122AB24FF2}"/>
              </a:ext>
            </a:extLst>
          </p:cNvPr>
          <p:cNvSpPr/>
          <p:nvPr/>
        </p:nvSpPr>
        <p:spPr>
          <a:xfrm>
            <a:off x="6271927" y="3333417"/>
            <a:ext cx="2201383" cy="208766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53096F9-5DF2-D8B5-2251-85AE1D443810}"/>
              </a:ext>
            </a:extLst>
          </p:cNvPr>
          <p:cNvSpPr/>
          <p:nvPr/>
        </p:nvSpPr>
        <p:spPr>
          <a:xfrm>
            <a:off x="3543520" y="4290690"/>
            <a:ext cx="2552480" cy="90850"/>
          </a:xfrm>
          <a:prstGeom prst="rightArrow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1E39AD-B6FD-62FC-0F33-CBDBC6AC80C1}"/>
              </a:ext>
            </a:extLst>
          </p:cNvPr>
          <p:cNvSpPr/>
          <p:nvPr/>
        </p:nvSpPr>
        <p:spPr>
          <a:xfrm>
            <a:off x="1926771" y="1257300"/>
            <a:ext cx="1685109" cy="203486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CDFCD3-D155-BF28-EEE1-2F2DAC3DDD81}"/>
              </a:ext>
            </a:extLst>
          </p:cNvPr>
          <p:cNvSpPr/>
          <p:nvPr/>
        </p:nvSpPr>
        <p:spPr>
          <a:xfrm>
            <a:off x="8532019" y="3333417"/>
            <a:ext cx="1045369" cy="2087669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B3CE980-6DA7-C94C-17FF-905B18B6AC67}"/>
              </a:ext>
            </a:extLst>
          </p:cNvPr>
          <p:cNvSpPr/>
          <p:nvPr/>
        </p:nvSpPr>
        <p:spPr>
          <a:xfrm>
            <a:off x="7400925" y="5648325"/>
            <a:ext cx="990599" cy="4381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1211" y="-19318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888666"/>
              </p:ext>
            </p:extLst>
          </p:nvPr>
        </p:nvGraphicFramePr>
        <p:xfrm>
          <a:off x="0" y="725980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8496"/>
              </p:ext>
            </p:extLst>
          </p:nvPr>
        </p:nvGraphicFramePr>
        <p:xfrm>
          <a:off x="1" y="3231175"/>
          <a:ext cx="1185816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</a:t>
                      </a:r>
                      <a:r>
                        <a:rPr lang="fr-FR" sz="1800" dirty="0" err="1"/>
                        <a:t>coral</a:t>
                      </a:r>
                      <a:r>
                        <a:rPr lang="fr-FR" sz="18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D7D0A-6800-5AFA-0949-D51649AD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6B4E47-D5C7-37D3-48AA-BA3E08DCFB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996" y="-252770"/>
            <a:ext cx="12132253" cy="110966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Modèle Carbonates – Réponse instrumentale 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FC56DEF-E294-D35F-CCFB-2EBC3229E95D}"/>
              </a:ext>
            </a:extLst>
          </p:cNvPr>
          <p:cNvSpPr txBox="1"/>
          <p:nvPr/>
        </p:nvSpPr>
        <p:spPr>
          <a:xfrm>
            <a:off x="246437" y="1349665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5B35C7C-DA44-44DB-75DA-26DE0C964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9805" y="4019384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3B64A33-04C0-97F6-2621-4CEEB7AF9A99}"/>
              </a:ext>
            </a:extLst>
          </p:cNvPr>
          <p:cNvSpPr txBox="1"/>
          <p:nvPr/>
        </p:nvSpPr>
        <p:spPr>
          <a:xfrm>
            <a:off x="246437" y="4132842"/>
            <a:ext cx="22957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Analytiquement, on obtient  : 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43ED664-BE51-59EF-C7FD-268571150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750" y="2657027"/>
            <a:ext cx="3628333" cy="72396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3A88E15-A6E0-CAA9-E728-E406F7A76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3915" y="4071799"/>
            <a:ext cx="3482642" cy="723963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FC21EAF7-E6A7-3359-A999-736F4B176E27}"/>
              </a:ext>
            </a:extLst>
          </p:cNvPr>
          <p:cNvSpPr txBox="1"/>
          <p:nvPr/>
        </p:nvSpPr>
        <p:spPr>
          <a:xfrm>
            <a:off x="7161630" y="4249113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avec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86DBBB8-E232-4BC7-AF00-E8868A982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3616" y="1086622"/>
            <a:ext cx="4391638" cy="1028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863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4EC8DBD-8E1C-6F89-4AB9-3908FCC1B35F}"/>
              </a:ext>
            </a:extLst>
          </p:cNvPr>
          <p:cNvSpPr txBox="1"/>
          <p:nvPr/>
        </p:nvSpPr>
        <p:spPr>
          <a:xfrm>
            <a:off x="2322792" y="5702069"/>
            <a:ext cx="70018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C0ADC7E-3093-50CE-AEFD-B9F4F26C8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185" y="1359634"/>
            <a:ext cx="5972175" cy="4138731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09210742-6B75-719E-4EA7-0285F4CF4BAE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Figures finales : </a:t>
            </a:r>
          </a:p>
        </p:txBody>
      </p:sp>
    </p:spTree>
    <p:extLst>
      <p:ext uri="{BB962C8B-B14F-4D97-AF65-F5344CB8AC3E}">
        <p14:creationId xmlns:p14="http://schemas.microsoft.com/office/powerpoint/2010/main" val="2583821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48575-2C9D-4616-0A4A-DFFF35354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F4F999AA-17A8-2BAF-4FE3-6B7846C61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85E07BD2-23E6-2A5D-3F91-3B8CB697650C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 : </a:t>
            </a: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A308EB0B-03C3-2F42-0CA0-DB788BD8D7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768" t="15603" r="27619" b="5943"/>
          <a:stretch>
            <a:fillRect/>
          </a:stretch>
        </p:blipFill>
        <p:spPr>
          <a:xfrm>
            <a:off x="2208587" y="1359635"/>
            <a:ext cx="7975600" cy="515620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419FAAD-BA41-862E-2A9A-3F1FA76B5337}"/>
              </a:ext>
            </a:extLst>
          </p:cNvPr>
          <p:cNvSpPr txBox="1"/>
          <p:nvPr/>
        </p:nvSpPr>
        <p:spPr>
          <a:xfrm>
            <a:off x="2476500" y="3244334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8FC06FC-2DEE-FB75-81D3-B14F472D1166}"/>
              </a:ext>
            </a:extLst>
          </p:cNvPr>
          <p:cNvSpPr txBox="1"/>
          <p:nvPr/>
        </p:nvSpPr>
        <p:spPr>
          <a:xfrm>
            <a:off x="9735025" y="3937735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198053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76E5D-4190-529A-5917-3C388F83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7F681CD5-C964-4B52-2B6B-BD2347A84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72EF94C-0EC5-D2E2-02A6-B9B407ECB0EA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D82521C-2B33-104C-DB5D-18827306CF24}"/>
              </a:ext>
            </a:extLst>
          </p:cNvPr>
          <p:cNvSpPr txBox="1"/>
          <p:nvPr/>
        </p:nvSpPr>
        <p:spPr>
          <a:xfrm>
            <a:off x="2476500" y="3244334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B95AF61-7ADB-0A7E-98D2-6FD784E14AF1}"/>
              </a:ext>
            </a:extLst>
          </p:cNvPr>
          <p:cNvSpPr txBox="1"/>
          <p:nvPr/>
        </p:nvSpPr>
        <p:spPr>
          <a:xfrm>
            <a:off x="9735025" y="3937735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259C9BE-2EEA-83B4-4961-2B7ED7D63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419" y="823316"/>
            <a:ext cx="8814056" cy="597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296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78C930-2211-C701-FECE-1D469EBFF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91660EBB-F987-0FE1-EBF3-C2E50DBAE4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1956814"/>
              </p:ext>
            </p:extLst>
          </p:nvPr>
        </p:nvGraphicFramePr>
        <p:xfrm>
          <a:off x="1181099" y="4821766"/>
          <a:ext cx="8842265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8453">
                  <a:extLst>
                    <a:ext uri="{9D8B030D-6E8A-4147-A177-3AD203B41FA5}">
                      <a16:colId xmlns:a16="http://schemas.microsoft.com/office/drawing/2014/main" val="3537246863"/>
                    </a:ext>
                  </a:extLst>
                </a:gridCol>
                <a:gridCol w="1768453">
                  <a:extLst>
                    <a:ext uri="{9D8B030D-6E8A-4147-A177-3AD203B41FA5}">
                      <a16:colId xmlns:a16="http://schemas.microsoft.com/office/drawing/2014/main" val="3115161350"/>
                    </a:ext>
                  </a:extLst>
                </a:gridCol>
                <a:gridCol w="1768453">
                  <a:extLst>
                    <a:ext uri="{9D8B030D-6E8A-4147-A177-3AD203B41FA5}">
                      <a16:colId xmlns:a16="http://schemas.microsoft.com/office/drawing/2014/main" val="1044741646"/>
                    </a:ext>
                  </a:extLst>
                </a:gridCol>
                <a:gridCol w="1768453">
                  <a:extLst>
                    <a:ext uri="{9D8B030D-6E8A-4147-A177-3AD203B41FA5}">
                      <a16:colId xmlns:a16="http://schemas.microsoft.com/office/drawing/2014/main" val="1728348267"/>
                    </a:ext>
                  </a:extLst>
                </a:gridCol>
                <a:gridCol w="1768453">
                  <a:extLst>
                    <a:ext uri="{9D8B030D-6E8A-4147-A177-3AD203B41FA5}">
                      <a16:colId xmlns:a16="http://schemas.microsoft.com/office/drawing/2014/main" val="844293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Coeff A(cc/acc)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Synthetic</a:t>
                      </a:r>
                      <a:r>
                        <a:rPr lang="fr-FR" dirty="0"/>
                        <a:t> 260708 1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err="1"/>
                        <a:t>Synthetic</a:t>
                      </a:r>
                      <a:r>
                        <a:rPr lang="fr-FR" dirty="0"/>
                        <a:t> 260708 2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Coral - 260715 (</a:t>
                      </a:r>
                      <a:r>
                        <a:rPr lang="fr-FR" dirty="0" err="1"/>
                        <a:t>small</a:t>
                      </a:r>
                      <a:r>
                        <a:rPr lang="fr-FR" dirty="0"/>
                        <a:t> ROI)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Coral - 260715 (big ROI)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8034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2.94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5.86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1999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7ps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1.14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/>
                        <a:t>1.23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671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8176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56FE-F3F7-B482-1EBA-601D9623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9AE7B83-BCA3-BCE8-0FEC-A43253052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</a:t>
            </a:r>
            <a:r>
              <a:rPr lang="fr-FR" sz="5100" dirty="0"/>
              <a:t>- 260708 </a:t>
            </a:r>
            <a:r>
              <a:rPr lang="fr-FR" sz="5100" dirty="0" err="1"/>
              <a:t>ACC_Cal</a:t>
            </a:r>
            <a:r>
              <a:rPr lang="fr-FR" sz="5100" dirty="0"/>
              <a:t> – </a:t>
            </a:r>
            <a:r>
              <a:rPr lang="fr-FR" sz="5100" dirty="0" err="1"/>
              <a:t>lsqcurvefit</a:t>
            </a:r>
            <a:r>
              <a:rPr lang="fr-FR" sz="5100" dirty="0"/>
              <a:t> </a:t>
            </a:r>
            <a:r>
              <a:rPr lang="fr-FR" sz="5100" dirty="0" err="1"/>
              <a:t>Map</a:t>
            </a:r>
            <a:r>
              <a:rPr lang="fr-FR" sz="5100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4F26104-1C72-8FCA-9F7A-CC62DFC9F0A6}"/>
              </a:ext>
            </a:extLst>
          </p:cNvPr>
          <p:cNvSpPr txBox="1"/>
          <p:nvPr/>
        </p:nvSpPr>
        <p:spPr>
          <a:xfrm>
            <a:off x="7118544" y="0"/>
            <a:ext cx="61595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Phase 1 : CAL</a:t>
            </a:r>
          </a:p>
          <a:p>
            <a:r>
              <a:rPr lang="fr-FR" dirty="0" err="1"/>
              <a:t>A_mean</a:t>
            </a:r>
            <a:r>
              <a:rPr lang="fr-FR" dirty="0"/>
              <a:t> = 3691.1 +/- 1833.8</a:t>
            </a:r>
          </a:p>
          <a:p>
            <a:r>
              <a:rPr lang="fr-FR" dirty="0"/>
              <a:t>nu = 1085.3015 +/- 0.3722 cm^-1</a:t>
            </a:r>
            <a:br>
              <a:rPr lang="fr-FR" dirty="0"/>
            </a:br>
            <a:r>
              <a:rPr lang="fr-FR" dirty="0"/>
              <a:t>FWHM = 1.6533 +/- 1.0651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800" b="0" i="0" dirty="0">
              <a:effectLst/>
              <a:latin typeface="+mn-lt"/>
            </a:endParaRPr>
          </a:p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effectLst/>
                <a:latin typeface="+mn-lt"/>
              </a:rPr>
              <a:t>Phase 4 : ACC</a:t>
            </a:r>
          </a:p>
          <a:p>
            <a:r>
              <a:rPr lang="fr-FR" dirty="0" err="1"/>
              <a:t>A_mean</a:t>
            </a:r>
            <a:r>
              <a:rPr lang="fr-FR" dirty="0"/>
              <a:t> = 714.78 +/- 162</a:t>
            </a:r>
          </a:p>
          <a:p>
            <a:r>
              <a:rPr lang="fr-FR" dirty="0"/>
              <a:t>nu = 1081.0182 +/- 0.9139 cm^-1</a:t>
            </a:r>
            <a:br>
              <a:rPr lang="fr-FR" dirty="0"/>
            </a:br>
            <a:r>
              <a:rPr lang="fr-FR" dirty="0"/>
              <a:t>FWHM = 28.2891 +/- 2.0484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5770B4B-A866-303F-57DD-0BC5F7096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3893023" y="530363"/>
            <a:ext cx="2427294" cy="237120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B8B5176-9EAC-0308-02EC-2A47871940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03" y="2603763"/>
            <a:ext cx="5341345" cy="41753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07E977-C004-F9A7-71D6-F18D5C5A8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36" y="3059596"/>
            <a:ext cx="4743791" cy="35190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92922EB-9F62-D1C5-C05E-CFD7F8894786}"/>
              </a:ext>
            </a:extLst>
          </p:cNvPr>
          <p:cNvSpPr txBox="1"/>
          <p:nvPr/>
        </p:nvSpPr>
        <p:spPr>
          <a:xfrm>
            <a:off x="9503133" y="53894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</p:spTree>
    <p:extLst>
      <p:ext uri="{BB962C8B-B14F-4D97-AF65-F5344CB8AC3E}">
        <p14:creationId xmlns:p14="http://schemas.microsoft.com/office/powerpoint/2010/main" val="2036208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3B3A-1D26-9369-4B87-9ACCFAC7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E77A796F-A1AF-C30D-4CCD-90C22C0D1B71}"/>
              </a:ext>
            </a:extLst>
          </p:cNvPr>
          <p:cNvSpPr txBox="1"/>
          <p:nvPr/>
        </p:nvSpPr>
        <p:spPr>
          <a:xfrm>
            <a:off x="94807" y="1769388"/>
            <a:ext cx="6001193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CAL 2ps</a:t>
            </a:r>
          </a:p>
          <a:p>
            <a:r>
              <a:rPr lang="fr-FR" dirty="0"/>
              <a:t>p1 : x0 = 38034.7 | </a:t>
            </a:r>
            <a:r>
              <a:rPr lang="fr-FR" dirty="0" err="1"/>
              <a:t>x_fit</a:t>
            </a:r>
            <a:r>
              <a:rPr lang="fr-FR" dirty="0"/>
              <a:t> = 38161.2 | LB = 0 | UB = </a:t>
            </a:r>
            <a:r>
              <a:rPr lang="fr-FR" dirty="0" err="1"/>
              <a:t>Inf</a:t>
            </a:r>
            <a:endParaRPr lang="fr-FR" dirty="0"/>
          </a:p>
          <a:p>
            <a:r>
              <a:rPr lang="fr-FR" dirty="0"/>
              <a:t>p2 : x0 = 1085.5 | </a:t>
            </a:r>
            <a:r>
              <a:rPr lang="fr-FR" dirty="0" err="1"/>
              <a:t>x_fit</a:t>
            </a:r>
            <a:r>
              <a:rPr lang="fr-FR" dirty="0"/>
              <a:t> = 1085.33 | LB = 1084.5 | UB = 1086.5</a:t>
            </a:r>
          </a:p>
          <a:p>
            <a:r>
              <a:rPr lang="fr-FR" dirty="0"/>
              <a:t>p3 : x0 = 3.5 | </a:t>
            </a:r>
            <a:r>
              <a:rPr lang="fr-FR" dirty="0" err="1"/>
              <a:t>x_fit</a:t>
            </a:r>
            <a:r>
              <a:rPr lang="fr-FR" dirty="0"/>
              <a:t> = 4.38159 | LB = 1 | UB = 5</a:t>
            </a:r>
          </a:p>
          <a:p>
            <a:r>
              <a:rPr lang="fr-FR" dirty="0"/>
              <a:t>p4 : x0 = 1916.1 | </a:t>
            </a:r>
            <a:r>
              <a:rPr lang="fr-FR" dirty="0" err="1"/>
              <a:t>x_fit</a:t>
            </a:r>
            <a:r>
              <a:rPr lang="fr-FR" dirty="0"/>
              <a:t> = 6.90727e-07 | LB = 0 | UB = </a:t>
            </a:r>
            <a:r>
              <a:rPr lang="fr-FR" dirty="0" err="1"/>
              <a:t>Inf</a:t>
            </a:r>
            <a:endParaRPr lang="fr-FR" dirty="0"/>
          </a:p>
          <a:p>
            <a:r>
              <a:rPr lang="fr-FR" dirty="0"/>
              <a:t>p5 : x0 = 1073 | </a:t>
            </a:r>
            <a:r>
              <a:rPr lang="fr-FR" dirty="0" err="1"/>
              <a:t>x_fit</a:t>
            </a:r>
            <a:r>
              <a:rPr lang="fr-FR" dirty="0"/>
              <a:t> = 1082 | LB = 1073 | UB = 1082</a:t>
            </a:r>
          </a:p>
          <a:p>
            <a:r>
              <a:rPr lang="fr-FR" dirty="0"/>
              <a:t>p6 : x0 = 30 | </a:t>
            </a:r>
            <a:r>
              <a:rPr lang="fr-FR" dirty="0" err="1"/>
              <a:t>x_fit</a:t>
            </a:r>
            <a:r>
              <a:rPr lang="fr-FR" dirty="0"/>
              <a:t> = 39.9993 | LB = 20 | UB = 40</a:t>
            </a:r>
          </a:p>
          <a:p>
            <a:r>
              <a:rPr lang="fr-FR" dirty="0"/>
              <a:t>p7 : x0 = 103.695 | </a:t>
            </a:r>
            <a:r>
              <a:rPr lang="fr-FR" dirty="0" err="1"/>
              <a:t>x_fit</a:t>
            </a:r>
            <a:r>
              <a:rPr lang="fr-FR" dirty="0"/>
              <a:t> = 146.961 | LB = -</a:t>
            </a:r>
            <a:r>
              <a:rPr lang="fr-FR" dirty="0" err="1"/>
              <a:t>Inf</a:t>
            </a:r>
            <a:r>
              <a:rPr lang="fr-FR" dirty="0"/>
              <a:t> | UB = </a:t>
            </a:r>
            <a:r>
              <a:rPr lang="fr-FR" dirty="0" err="1"/>
              <a:t>Inf</a:t>
            </a:r>
            <a:endParaRPr lang="fr-FR" dirty="0"/>
          </a:p>
          <a:p>
            <a:endParaRPr lang="fr-FR" dirty="0"/>
          </a:p>
          <a:p>
            <a:r>
              <a:rPr lang="fr-FR" dirty="0"/>
              <a:t>ACC 2ps</a:t>
            </a:r>
          </a:p>
          <a:p>
            <a:r>
              <a:rPr lang="fr-FR" dirty="0"/>
              <a:t>p1 : x0 = 14988.2 | </a:t>
            </a:r>
            <a:r>
              <a:rPr lang="fr-FR" dirty="0" err="1"/>
              <a:t>x_fit</a:t>
            </a:r>
            <a:r>
              <a:rPr lang="fr-FR" dirty="0"/>
              <a:t> = 1.77878e-07 | LB = 0 | UB = </a:t>
            </a:r>
            <a:r>
              <a:rPr lang="fr-FR" dirty="0" err="1"/>
              <a:t>Inf</a:t>
            </a:r>
            <a:endParaRPr lang="fr-FR" dirty="0"/>
          </a:p>
          <a:p>
            <a:r>
              <a:rPr lang="fr-FR" dirty="0"/>
              <a:t>p2 : x0 = 1085.5 | </a:t>
            </a:r>
            <a:r>
              <a:rPr lang="fr-FR" dirty="0" err="1"/>
              <a:t>x_fit</a:t>
            </a:r>
            <a:r>
              <a:rPr lang="fr-FR" dirty="0"/>
              <a:t> = 1086.5 | LB = 1084.5 | UB = 1086.5</a:t>
            </a:r>
          </a:p>
          <a:p>
            <a:r>
              <a:rPr lang="fr-FR" dirty="0"/>
              <a:t>p3 : x0 = 3.5 | </a:t>
            </a:r>
            <a:r>
              <a:rPr lang="fr-FR" dirty="0" err="1"/>
              <a:t>x_fit</a:t>
            </a:r>
            <a:r>
              <a:rPr lang="fr-FR" dirty="0"/>
              <a:t> = 5 | LB = 1 | UB = 5</a:t>
            </a:r>
          </a:p>
          <a:p>
            <a:r>
              <a:rPr lang="fr-FR" dirty="0"/>
              <a:t>p4 : x0 = 49701.8 | </a:t>
            </a:r>
            <a:r>
              <a:rPr lang="fr-FR" dirty="0" err="1"/>
              <a:t>x_fit</a:t>
            </a:r>
            <a:r>
              <a:rPr lang="fr-FR" dirty="0"/>
              <a:t> = 66453.7 | LB = 0 | UB = </a:t>
            </a:r>
            <a:r>
              <a:rPr lang="fr-FR" dirty="0" err="1"/>
              <a:t>Inf</a:t>
            </a:r>
            <a:endParaRPr lang="fr-FR" dirty="0"/>
          </a:p>
          <a:p>
            <a:r>
              <a:rPr lang="fr-FR" dirty="0"/>
              <a:t>p5 : x0 = 1073 | </a:t>
            </a:r>
            <a:r>
              <a:rPr lang="fr-FR" dirty="0" err="1"/>
              <a:t>x_fit</a:t>
            </a:r>
            <a:r>
              <a:rPr lang="fr-FR" dirty="0"/>
              <a:t> = 1081.14 | LB = 1073 | UB = 1082</a:t>
            </a:r>
          </a:p>
          <a:p>
            <a:r>
              <a:rPr lang="fr-FR" dirty="0"/>
              <a:t>p6 : x0 = 30 | </a:t>
            </a:r>
            <a:r>
              <a:rPr lang="fr-FR" dirty="0" err="1"/>
              <a:t>x_fit</a:t>
            </a:r>
            <a:r>
              <a:rPr lang="fr-FR" dirty="0"/>
              <a:t> = 30.7285 | LB = 20 | UB = 40</a:t>
            </a:r>
          </a:p>
          <a:p>
            <a:r>
              <a:rPr lang="fr-FR" dirty="0"/>
              <a:t>p7 : x0 = 519.691 | </a:t>
            </a:r>
            <a:r>
              <a:rPr lang="fr-FR" dirty="0" err="1"/>
              <a:t>x_fit</a:t>
            </a:r>
            <a:r>
              <a:rPr lang="fr-FR" dirty="0"/>
              <a:t> = 598.22 | LB = -</a:t>
            </a:r>
            <a:r>
              <a:rPr lang="fr-FR" dirty="0" err="1"/>
              <a:t>Inf</a:t>
            </a:r>
            <a:r>
              <a:rPr lang="fr-FR" dirty="0"/>
              <a:t> | UB = </a:t>
            </a:r>
            <a:r>
              <a:rPr lang="fr-FR" dirty="0" err="1"/>
              <a:t>Inf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DE20DA6-8F7B-934C-F9B3-0D6DB9EA6B3A}"/>
              </a:ext>
            </a:extLst>
          </p:cNvPr>
          <p:cNvSpPr txBox="1"/>
          <p:nvPr/>
        </p:nvSpPr>
        <p:spPr>
          <a:xfrm>
            <a:off x="6266564" y="1769388"/>
            <a:ext cx="6097772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CAL 7ps	</a:t>
            </a:r>
          </a:p>
          <a:p>
            <a:r>
              <a:rPr lang="fr-FR" dirty="0"/>
              <a:t>p1 : x0 = 16975.7 | </a:t>
            </a:r>
            <a:r>
              <a:rPr lang="fr-FR" dirty="0" err="1"/>
              <a:t>x_fit</a:t>
            </a:r>
            <a:r>
              <a:rPr lang="fr-FR" dirty="0"/>
              <a:t> = 15564.8 | LB = 0 | UB = </a:t>
            </a:r>
            <a:r>
              <a:rPr lang="fr-FR" dirty="0" err="1"/>
              <a:t>Inf</a:t>
            </a:r>
            <a:endParaRPr lang="fr-FR" dirty="0"/>
          </a:p>
          <a:p>
            <a:r>
              <a:rPr lang="fr-FR" dirty="0"/>
              <a:t>p2 : x0 = 1085.5 | </a:t>
            </a:r>
            <a:r>
              <a:rPr lang="fr-FR" dirty="0" err="1"/>
              <a:t>x_fit</a:t>
            </a:r>
            <a:r>
              <a:rPr lang="fr-FR" dirty="0"/>
              <a:t> = 1086.12 | LB = 1084.5 | UB = 1086.5</a:t>
            </a:r>
          </a:p>
          <a:p>
            <a:r>
              <a:rPr lang="fr-FR" dirty="0"/>
              <a:t>p3 : x0 = 3.5 | </a:t>
            </a:r>
            <a:r>
              <a:rPr lang="fr-FR" dirty="0" err="1"/>
              <a:t>x_fit</a:t>
            </a:r>
            <a:r>
              <a:rPr lang="fr-FR" dirty="0"/>
              <a:t> = 3.0782 | LB = 1 | UB = 4</a:t>
            </a:r>
          </a:p>
          <a:p>
            <a:r>
              <a:rPr lang="fr-FR" dirty="0"/>
              <a:t>p4 : x0 = 1272.91 | </a:t>
            </a:r>
            <a:r>
              <a:rPr lang="fr-FR" dirty="0" err="1"/>
              <a:t>x_fit</a:t>
            </a:r>
            <a:r>
              <a:rPr lang="fr-FR" dirty="0"/>
              <a:t> = 1016.37 | LB = 0 | UB = </a:t>
            </a:r>
            <a:r>
              <a:rPr lang="fr-FR" dirty="0" err="1"/>
              <a:t>Inf</a:t>
            </a:r>
            <a:endParaRPr lang="fr-FR" dirty="0"/>
          </a:p>
          <a:p>
            <a:r>
              <a:rPr lang="fr-FR" dirty="0"/>
              <a:t>p5 : x0 = 1073 | </a:t>
            </a:r>
            <a:r>
              <a:rPr lang="fr-FR" dirty="0" err="1"/>
              <a:t>x_fit</a:t>
            </a:r>
            <a:r>
              <a:rPr lang="fr-FR" dirty="0"/>
              <a:t> = 1080.74 | LB = 1073 | UB = 1082</a:t>
            </a:r>
          </a:p>
          <a:p>
            <a:r>
              <a:rPr lang="fr-FR" dirty="0"/>
              <a:t>p6 : x0 = 30 | </a:t>
            </a:r>
            <a:r>
              <a:rPr lang="fr-FR" dirty="0" err="1"/>
              <a:t>x_fit</a:t>
            </a:r>
            <a:r>
              <a:rPr lang="fr-FR" dirty="0"/>
              <a:t> = 20 | LB = 20 | UB = 40</a:t>
            </a:r>
          </a:p>
          <a:p>
            <a:r>
              <a:rPr lang="fr-FR" dirty="0"/>
              <a:t>p7 : x0 = -80.9892 | </a:t>
            </a:r>
            <a:r>
              <a:rPr lang="fr-FR" dirty="0" err="1"/>
              <a:t>x_fit</a:t>
            </a:r>
            <a:r>
              <a:rPr lang="fr-FR" dirty="0"/>
              <a:t> = -51.0642 | LB = -</a:t>
            </a:r>
            <a:r>
              <a:rPr lang="fr-FR" dirty="0" err="1"/>
              <a:t>Inf</a:t>
            </a:r>
            <a:r>
              <a:rPr lang="fr-FR" dirty="0"/>
              <a:t> | UB = </a:t>
            </a:r>
            <a:r>
              <a:rPr lang="fr-FR" dirty="0" err="1"/>
              <a:t>Inf</a:t>
            </a:r>
            <a:endParaRPr lang="fr-FR" dirty="0"/>
          </a:p>
          <a:p>
            <a:endParaRPr lang="fr-FR" dirty="0"/>
          </a:p>
          <a:p>
            <a:r>
              <a:rPr lang="fr-FR" dirty="0"/>
              <a:t>ACC 7ps</a:t>
            </a:r>
          </a:p>
          <a:p>
            <a:r>
              <a:rPr lang="fr-FR" dirty="0"/>
              <a:t>p1 : x0 = 1134.75 | </a:t>
            </a:r>
            <a:r>
              <a:rPr lang="fr-FR" dirty="0" err="1"/>
              <a:t>x_fit</a:t>
            </a:r>
            <a:r>
              <a:rPr lang="fr-FR" dirty="0"/>
              <a:t> = 1.71195e-05 | LB = 0 | UB = </a:t>
            </a:r>
            <a:r>
              <a:rPr lang="fr-FR" dirty="0" err="1"/>
              <a:t>Inf</a:t>
            </a:r>
            <a:endParaRPr lang="fr-FR" dirty="0"/>
          </a:p>
          <a:p>
            <a:r>
              <a:rPr lang="fr-FR" dirty="0"/>
              <a:t>p2 : x0 = 1085.5 | </a:t>
            </a:r>
            <a:r>
              <a:rPr lang="fr-FR" dirty="0" err="1"/>
              <a:t>x_fit</a:t>
            </a:r>
            <a:r>
              <a:rPr lang="fr-FR" dirty="0"/>
              <a:t> = 1084.5 | LB = 1084.5 | UB = 1086.5</a:t>
            </a:r>
          </a:p>
          <a:p>
            <a:r>
              <a:rPr lang="fr-FR" dirty="0"/>
              <a:t>p3 : x0 = 3.5 | </a:t>
            </a:r>
            <a:r>
              <a:rPr lang="fr-FR" dirty="0" err="1"/>
              <a:t>x_fit</a:t>
            </a:r>
            <a:r>
              <a:rPr lang="fr-FR" dirty="0"/>
              <a:t> = 1.00009 | LB = 1 | UB = 4</a:t>
            </a:r>
          </a:p>
          <a:p>
            <a:r>
              <a:rPr lang="fr-FR" dirty="0"/>
              <a:t>p4 : x0 = 18203.2 | </a:t>
            </a:r>
            <a:r>
              <a:rPr lang="fr-FR" dirty="0" err="1"/>
              <a:t>x_fit</a:t>
            </a:r>
            <a:r>
              <a:rPr lang="fr-FR" dirty="0"/>
              <a:t> = 18105.1 | LB = 0 | UB = </a:t>
            </a:r>
            <a:r>
              <a:rPr lang="fr-FR" dirty="0" err="1"/>
              <a:t>Inf</a:t>
            </a:r>
            <a:endParaRPr lang="fr-FR" dirty="0"/>
          </a:p>
          <a:p>
            <a:r>
              <a:rPr lang="fr-FR" dirty="0"/>
              <a:t>p5 : x0 = 1073 | </a:t>
            </a:r>
            <a:r>
              <a:rPr lang="fr-FR" dirty="0" err="1"/>
              <a:t>x_fit</a:t>
            </a:r>
            <a:r>
              <a:rPr lang="fr-FR" dirty="0"/>
              <a:t> = 1079.14 | LB = 1073 | UB = 1082</a:t>
            </a:r>
          </a:p>
          <a:p>
            <a:r>
              <a:rPr lang="fr-FR" dirty="0"/>
              <a:t>p6 : x0 = 30 | </a:t>
            </a:r>
            <a:r>
              <a:rPr lang="fr-FR" dirty="0" err="1"/>
              <a:t>x_fit</a:t>
            </a:r>
            <a:r>
              <a:rPr lang="fr-FR" dirty="0"/>
              <a:t> = 24.419 | LB = 20 | UB = 40</a:t>
            </a:r>
          </a:p>
          <a:p>
            <a:r>
              <a:rPr lang="fr-FR" dirty="0"/>
              <a:t>p7 : x0 = 92.062 | </a:t>
            </a:r>
            <a:r>
              <a:rPr lang="fr-FR" dirty="0" err="1"/>
              <a:t>x_fit</a:t>
            </a:r>
            <a:r>
              <a:rPr lang="fr-FR" dirty="0"/>
              <a:t> = 106.856 | LB = -</a:t>
            </a:r>
            <a:r>
              <a:rPr lang="fr-FR" dirty="0" err="1"/>
              <a:t>Inf</a:t>
            </a:r>
            <a:r>
              <a:rPr lang="fr-FR" dirty="0"/>
              <a:t> | UB = </a:t>
            </a:r>
            <a:r>
              <a:rPr lang="fr-FR" dirty="0" err="1"/>
              <a:t>Inf</a:t>
            </a:r>
            <a:endParaRPr lang="fr-FR" dirty="0"/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986B382E-16C3-2650-71A9-B43892F0F4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71978"/>
              </p:ext>
            </p:extLst>
          </p:nvPr>
        </p:nvGraphicFramePr>
        <p:xfrm>
          <a:off x="2030228" y="0"/>
          <a:ext cx="8127999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74617613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26496295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315923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7ps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8371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A_main</a:t>
                      </a:r>
                      <a:r>
                        <a:rPr lang="fr-FR" dirty="0"/>
                        <a:t>(acc/cal)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601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A_second</a:t>
                      </a:r>
                      <a:r>
                        <a:rPr lang="fr-FR" dirty="0"/>
                        <a:t>(acc/cal)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796758"/>
                  </a:ext>
                </a:extLst>
              </a:tr>
            </a:tbl>
          </a:graphicData>
        </a:graphic>
      </p:graphicFrame>
      <p:pic>
        <p:nvPicPr>
          <p:cNvPr id="16" name="Image 15">
            <a:extLst>
              <a:ext uri="{FF2B5EF4-FFF2-40B4-BE49-F238E27FC236}">
                <a16:creationId xmlns:a16="http://schemas.microsoft.com/office/drawing/2014/main" id="{50AE6B6C-1BBF-3A26-7B29-04D541997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911" y="0"/>
            <a:ext cx="98461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58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B165B-7357-9107-81C8-285E9307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7B0C80-0443-DAE3-0C76-0AD7E723E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C0729D-218D-4467-577C-D17A9602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93391F4-082A-B6B7-CF74-D7A06A6E0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14" y="1413643"/>
            <a:ext cx="5249137" cy="48415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EB09C7-AC2C-AAFB-2B09-1AF90A7A7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40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DC03-6A7A-0EDB-4994-54CD278A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DCC31F4-C489-ACC9-11E7-548A7AF5D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DFF4CB-86F0-CF93-02CF-D63138476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070" y="1275347"/>
            <a:ext cx="5879972" cy="517357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35D9641-1139-EC72-4B23-E43F0A416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74" y="1753766"/>
            <a:ext cx="4738510" cy="394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24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78CCB-0E05-376E-B5B6-B1112B4A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7242F30-4781-3F60-7D75-9EA2CDE6C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AE80183-A532-8A17-94B4-9E94645A95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356" y="4740515"/>
            <a:ext cx="2293016" cy="2106943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F771D72-4868-7EE1-17C1-52901223B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183" y="4787899"/>
            <a:ext cx="2207829" cy="201217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60C63DB-A4E6-D6DE-D677-929B5D8D8B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 flipH="1">
            <a:off x="1789609" y="738255"/>
            <a:ext cx="1869036" cy="182584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6734DA2-55F1-C721-E210-ECB2DCDB40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464" y="3612891"/>
            <a:ext cx="3756830" cy="311088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361BE69-B64A-25B8-653D-25DAB4BE2B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7367" y="997969"/>
            <a:ext cx="4165024" cy="243103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0304AF85-DCE0-6584-1715-F183B449EC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4126" y="2680956"/>
            <a:ext cx="2323088" cy="2106943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525A9CD3-F8C1-A055-B529-517E521552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183" y="2737506"/>
            <a:ext cx="2218599" cy="2021991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AE3F397-E3AF-6F88-AD97-3773949B86C5}"/>
              </a:ext>
            </a:extLst>
          </p:cNvPr>
          <p:cNvSpPr txBox="1"/>
          <p:nvPr/>
        </p:nvSpPr>
        <p:spPr>
          <a:xfrm>
            <a:off x="0" y="2405812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2ps</a:t>
            </a:r>
            <a:endParaRPr lang="fr-FR" sz="48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0F7AFFE-2424-CB2C-EC96-C24FBF1C8CEC}"/>
              </a:ext>
            </a:extLst>
          </p:cNvPr>
          <p:cNvSpPr txBox="1"/>
          <p:nvPr/>
        </p:nvSpPr>
        <p:spPr>
          <a:xfrm>
            <a:off x="-69850" y="4545806"/>
            <a:ext cx="62357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7ps</a:t>
            </a:r>
            <a:endParaRPr lang="fr-FR" sz="4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27E133-EEA8-CE92-3D74-ABFF0F5BEF32}"/>
              </a:ext>
            </a:extLst>
          </p:cNvPr>
          <p:cNvSpPr/>
          <p:nvPr/>
        </p:nvSpPr>
        <p:spPr>
          <a:xfrm>
            <a:off x="2489702" y="1087655"/>
            <a:ext cx="264160" cy="262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1672B0-D6B6-F32A-C8D6-0F3E9E4824C0}"/>
              </a:ext>
            </a:extLst>
          </p:cNvPr>
          <p:cNvSpPr/>
          <p:nvPr/>
        </p:nvSpPr>
        <p:spPr>
          <a:xfrm>
            <a:off x="3027680" y="1746734"/>
            <a:ext cx="264160" cy="262428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5416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24DD-4516-7247-EA70-E62EB4B3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7E7592BE-DACE-D871-10F2-C772923728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ADC245F-3CA4-5578-DA75-1F575603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993694" y="883258"/>
            <a:ext cx="2384957" cy="23298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4AD9908-97B6-A421-63B2-994A24E83C0C}"/>
              </a:ext>
            </a:extLst>
          </p:cNvPr>
          <p:cNvSpPr/>
          <p:nvPr/>
        </p:nvSpPr>
        <p:spPr>
          <a:xfrm>
            <a:off x="2172202" y="1314449"/>
            <a:ext cx="209048" cy="1943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744C45-E39D-1848-6301-BBC85FA769AB}"/>
              </a:ext>
            </a:extLst>
          </p:cNvPr>
          <p:cNvSpPr/>
          <p:nvPr/>
        </p:nvSpPr>
        <p:spPr>
          <a:xfrm>
            <a:off x="2717800" y="2203934"/>
            <a:ext cx="129540" cy="1265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FD44097-F403-E9C0-4D80-305579D177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4030" y="951352"/>
            <a:ext cx="3097056" cy="2606115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756CDBC9-3C36-DD1E-9C08-5B20136969C5}"/>
              </a:ext>
            </a:extLst>
          </p:cNvPr>
          <p:cNvSpPr txBox="1"/>
          <p:nvPr/>
        </p:nvSpPr>
        <p:spPr>
          <a:xfrm>
            <a:off x="6352124" y="828644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2ps</a:t>
            </a:r>
            <a:endParaRPr lang="fr-FR" sz="3600" dirty="0">
              <a:solidFill>
                <a:schemeClr val="bg1"/>
              </a:solidFill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64349F1E-ACB9-6F1D-8E71-C9514E5B9E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8909" y="3813355"/>
            <a:ext cx="3239561" cy="241464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A30DC86B-938E-1E59-B74E-722BC58461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3000" y="951352"/>
            <a:ext cx="3064648" cy="2619594"/>
          </a:xfrm>
          <a:prstGeom prst="rect">
            <a:avLst/>
          </a:prstGeom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id="{6652F504-6FE1-8C7B-E34D-0990EFFD3465}"/>
              </a:ext>
            </a:extLst>
          </p:cNvPr>
          <p:cNvSpPr txBox="1"/>
          <p:nvPr/>
        </p:nvSpPr>
        <p:spPr>
          <a:xfrm>
            <a:off x="10289729" y="907255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9687A777-8600-1010-588D-D4C8D6369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1852" y="3813355"/>
            <a:ext cx="3258802" cy="2414640"/>
          </a:xfrm>
          <a:prstGeom prst="rect">
            <a:avLst/>
          </a:prstGeom>
        </p:spPr>
      </p:pic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F5FB1F70-2FE7-51C8-81C6-33D786D6A8D9}"/>
              </a:ext>
            </a:extLst>
          </p:cNvPr>
          <p:cNvCxnSpPr>
            <a:cxnSpLocks/>
          </p:cNvCxnSpPr>
          <p:nvPr/>
        </p:nvCxnSpPr>
        <p:spPr>
          <a:xfrm>
            <a:off x="6844765" y="322785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E226F78E-9807-831D-E44B-EF4C472DCEE2}"/>
              </a:ext>
            </a:extLst>
          </p:cNvPr>
          <p:cNvSpPr txBox="1"/>
          <p:nvPr/>
        </p:nvSpPr>
        <p:spPr>
          <a:xfrm>
            <a:off x="6553710" y="285852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5FAD10D5-64B5-1F46-FE03-E2C15E75BB95}"/>
              </a:ext>
            </a:extLst>
          </p:cNvPr>
          <p:cNvCxnSpPr>
            <a:cxnSpLocks/>
          </p:cNvCxnSpPr>
          <p:nvPr/>
        </p:nvCxnSpPr>
        <p:spPr>
          <a:xfrm>
            <a:off x="10768265" y="3220235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EFAE0F4E-B701-D5B3-46AB-13E02AA99997}"/>
              </a:ext>
            </a:extLst>
          </p:cNvPr>
          <p:cNvSpPr txBox="1"/>
          <p:nvPr/>
        </p:nvSpPr>
        <p:spPr>
          <a:xfrm>
            <a:off x="10477210" y="2850903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C776153-BF00-F2AE-5929-CE134716DD41}"/>
              </a:ext>
            </a:extLst>
          </p:cNvPr>
          <p:cNvCxnSpPr>
            <a:cxnSpLocks/>
          </p:cNvCxnSpPr>
          <p:nvPr/>
        </p:nvCxnSpPr>
        <p:spPr>
          <a:xfrm>
            <a:off x="2974618" y="31521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968B4CB8-0382-4D20-2180-838BABF6E9F0}"/>
              </a:ext>
            </a:extLst>
          </p:cNvPr>
          <p:cNvSpPr txBox="1"/>
          <p:nvPr/>
        </p:nvSpPr>
        <p:spPr>
          <a:xfrm>
            <a:off x="2683563" y="2782809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3C1FA025-9703-9DED-D570-F30340F17BF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9079" y="3542710"/>
            <a:ext cx="3894186" cy="3165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2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039127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B99D236C-2F23-5E9C-F91F-B371A9A95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00B772E2-76A3-A7D7-58DB-58318D424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7166" y="3620634"/>
            <a:ext cx="3105330" cy="281814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5ADD10F0-082C-C897-2B4A-03B69E1FAB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0028" y="736370"/>
            <a:ext cx="3083858" cy="2661316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385A7C6-1B77-ECAA-B485-AA982452CA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088" y="3191493"/>
            <a:ext cx="463461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E279-E16E-59A3-2FB1-6E2E27A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2CE60A7-112D-54F7-3F6B-077AA4683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7F9937E7-395B-F230-4F5C-3252AAB65C55}"/>
              </a:ext>
            </a:extLst>
          </p:cNvPr>
          <p:cNvGrpSpPr/>
          <p:nvPr/>
        </p:nvGrpSpPr>
        <p:grpSpPr>
          <a:xfrm>
            <a:off x="2632684" y="527937"/>
            <a:ext cx="2740212" cy="2717876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51426BF4-7F9B-F6F3-EC16-D538AFF1BD97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B0A2480-95BD-9304-54DA-1E1009906D16}"/>
                </a:ext>
              </a:extLst>
            </p:cNvPr>
            <p:cNvSpPr/>
            <p:nvPr/>
          </p:nvSpPr>
          <p:spPr>
            <a:xfrm>
              <a:off x="6233177" y="990807"/>
              <a:ext cx="64153" cy="627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15" name="Image 14">
            <a:extLst>
              <a:ext uri="{FF2B5EF4-FFF2-40B4-BE49-F238E27FC236}">
                <a16:creationId xmlns:a16="http://schemas.microsoft.com/office/drawing/2014/main" id="{F40F418F-9114-29BA-8446-5D72FBF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2338" y="3378560"/>
            <a:ext cx="4425198" cy="329878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78CEC086-BE33-D828-F329-DF65393CB4AB}"/>
              </a:ext>
            </a:extLst>
          </p:cNvPr>
          <p:cNvSpPr txBox="1"/>
          <p:nvPr/>
        </p:nvSpPr>
        <p:spPr>
          <a:xfrm>
            <a:off x="298430" y="2950328"/>
            <a:ext cx="1986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Nb points 125²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scan range 50 µm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0B5EEE-B02C-B8FF-0EEA-232675A115FC}"/>
              </a:ext>
            </a:extLst>
          </p:cNvPr>
          <p:cNvSpPr txBox="1"/>
          <p:nvPr/>
        </p:nvSpPr>
        <p:spPr>
          <a:xfrm>
            <a:off x="404103" y="4368788"/>
            <a:ext cx="1775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1 pix = 400 nm²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B4D1D046-2FBD-9B86-14E8-7DFA582067E8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1291700" y="3596659"/>
            <a:ext cx="0" cy="7721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3BFB569-CE02-4572-0C3D-859A06FCA64C}"/>
              </a:ext>
            </a:extLst>
          </p:cNvPr>
          <p:cNvCxnSpPr>
            <a:cxnSpLocks/>
          </p:cNvCxnSpPr>
          <p:nvPr/>
        </p:nvCxnSpPr>
        <p:spPr>
          <a:xfrm>
            <a:off x="7599638" y="3150383"/>
            <a:ext cx="82998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7A0F97C8-8BB7-C2CD-F254-A0FA84FD710F}"/>
              </a:ext>
            </a:extLst>
          </p:cNvPr>
          <p:cNvCxnSpPr>
            <a:cxnSpLocks/>
          </p:cNvCxnSpPr>
          <p:nvPr/>
        </p:nvCxnSpPr>
        <p:spPr>
          <a:xfrm>
            <a:off x="7614285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52B37E61-EC8D-E749-867C-E25490C20986}"/>
              </a:ext>
            </a:extLst>
          </p:cNvPr>
          <p:cNvCxnSpPr>
            <a:cxnSpLocks/>
          </p:cNvCxnSpPr>
          <p:nvPr/>
        </p:nvCxnSpPr>
        <p:spPr>
          <a:xfrm>
            <a:off x="4680997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ZoneTexte 41">
            <a:extLst>
              <a:ext uri="{FF2B5EF4-FFF2-40B4-BE49-F238E27FC236}">
                <a16:creationId xmlns:a16="http://schemas.microsoft.com/office/drawing/2014/main" id="{8BE3074A-378F-32A7-6A4C-A9BBE72CDC03}"/>
              </a:ext>
            </a:extLst>
          </p:cNvPr>
          <p:cNvSpPr txBox="1"/>
          <p:nvPr/>
        </p:nvSpPr>
        <p:spPr>
          <a:xfrm>
            <a:off x="4555042" y="27549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11D4CCE-3ECF-F3AE-F4EB-0C48CBA488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3637" y="3373589"/>
            <a:ext cx="4634610" cy="3428997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52C9B23A-B72F-825B-D167-4F1B3CBC3DB7}"/>
              </a:ext>
            </a:extLst>
          </p:cNvPr>
          <p:cNvSpPr txBox="1"/>
          <p:nvPr/>
        </p:nvSpPr>
        <p:spPr>
          <a:xfrm>
            <a:off x="5868043" y="334094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A80D06B2-3A39-A7EA-39B3-2D541710C4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164" y="519852"/>
            <a:ext cx="3285038" cy="2834931"/>
          </a:xfrm>
          <a:prstGeom prst="rect">
            <a:avLst/>
          </a:prstGeom>
        </p:spPr>
      </p:pic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30774F66-3196-E725-E93A-ACB7FCE7ACCC}"/>
              </a:ext>
            </a:extLst>
          </p:cNvPr>
          <p:cNvCxnSpPr>
            <a:cxnSpLocks/>
          </p:cNvCxnSpPr>
          <p:nvPr/>
        </p:nvCxnSpPr>
        <p:spPr>
          <a:xfrm flipH="1">
            <a:off x="5634508" y="986283"/>
            <a:ext cx="1193028" cy="27259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91273D0-25E2-D0BA-D681-02B18C63CFAD}"/>
              </a:ext>
            </a:extLst>
          </p:cNvPr>
          <p:cNvCxnSpPr>
            <a:cxnSpLocks/>
          </p:cNvCxnSpPr>
          <p:nvPr/>
        </p:nvCxnSpPr>
        <p:spPr>
          <a:xfrm>
            <a:off x="7461885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130755A2-1552-4FAC-AFCF-448FA2C576F8}"/>
              </a:ext>
            </a:extLst>
          </p:cNvPr>
          <p:cNvSpPr txBox="1"/>
          <p:nvPr/>
        </p:nvSpPr>
        <p:spPr>
          <a:xfrm>
            <a:off x="7335930" y="26025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29D9301C-BCC8-4484-2215-72068124C9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4354" y="547217"/>
            <a:ext cx="3316567" cy="2834929"/>
          </a:xfrm>
          <a:prstGeom prst="rect">
            <a:avLst/>
          </a:prstGeom>
        </p:spPr>
      </p:pic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6B06CA82-286F-8AAA-0904-A0F61661FEEF}"/>
              </a:ext>
            </a:extLst>
          </p:cNvPr>
          <p:cNvCxnSpPr>
            <a:cxnSpLocks/>
          </p:cNvCxnSpPr>
          <p:nvPr/>
        </p:nvCxnSpPr>
        <p:spPr>
          <a:xfrm>
            <a:off x="10844576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363D10E4-25D9-16EB-1111-DFA167A2F5C5}"/>
              </a:ext>
            </a:extLst>
          </p:cNvPr>
          <p:cNvSpPr txBox="1"/>
          <p:nvPr/>
        </p:nvSpPr>
        <p:spPr>
          <a:xfrm>
            <a:off x="10718621" y="2602517"/>
            <a:ext cx="81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18A2CC17-881E-46D2-1119-1D2267C9AD36}"/>
              </a:ext>
            </a:extLst>
          </p:cNvPr>
          <p:cNvSpPr txBox="1"/>
          <p:nvPr/>
        </p:nvSpPr>
        <p:spPr>
          <a:xfrm>
            <a:off x="7334464" y="493888"/>
            <a:ext cx="2725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860C8DED-F8F2-12B9-6698-4BA150B67D75}"/>
              </a:ext>
            </a:extLst>
          </p:cNvPr>
          <p:cNvSpPr txBox="1"/>
          <p:nvPr/>
        </p:nvSpPr>
        <p:spPr>
          <a:xfrm>
            <a:off x="10790796" y="44021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FA64098B-3BB6-6163-17D1-5AC444B862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9256" y="3391248"/>
            <a:ext cx="4634613" cy="3428999"/>
          </a:xfrm>
          <a:prstGeom prst="rect">
            <a:avLst/>
          </a:prstGeom>
        </p:spPr>
      </p:pic>
      <p:sp>
        <p:nvSpPr>
          <p:cNvPr id="51" name="ZoneTexte 50">
            <a:extLst>
              <a:ext uri="{FF2B5EF4-FFF2-40B4-BE49-F238E27FC236}">
                <a16:creationId xmlns:a16="http://schemas.microsoft.com/office/drawing/2014/main" id="{0C462D07-659F-D0B3-5D2E-58686917F766}"/>
              </a:ext>
            </a:extLst>
          </p:cNvPr>
          <p:cNvSpPr txBox="1"/>
          <p:nvPr/>
        </p:nvSpPr>
        <p:spPr>
          <a:xfrm>
            <a:off x="10769407" y="359665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8D9F5B15-6DE8-E1AE-E746-0A5679FAE5F9}"/>
              </a:ext>
            </a:extLst>
          </p:cNvPr>
          <p:cNvCxnSpPr>
            <a:cxnSpLocks/>
          </p:cNvCxnSpPr>
          <p:nvPr/>
        </p:nvCxnSpPr>
        <p:spPr>
          <a:xfrm flipH="1">
            <a:off x="9468221" y="919724"/>
            <a:ext cx="596514" cy="28986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6055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8F89E1-6525-DAE3-9A90-3B76F304F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60" y="1853556"/>
            <a:ext cx="3132200" cy="286232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5D90BEA-EBE7-B701-CF39-1EE205B70DB3}"/>
              </a:ext>
            </a:extLst>
          </p:cNvPr>
          <p:cNvSpPr txBox="1"/>
          <p:nvPr/>
        </p:nvSpPr>
        <p:spPr>
          <a:xfrm>
            <a:off x="2981499" y="3625547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3C19370-BF07-8A79-CD76-824D44B3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FDBDB6C-9F1C-82DC-AB69-125D74407C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23A8AA4F-9FE8-9686-2193-E4C88105D1C0}"/>
              </a:ext>
            </a:extLst>
          </p:cNvPr>
          <p:cNvSpPr txBox="1"/>
          <p:nvPr/>
        </p:nvSpPr>
        <p:spPr>
          <a:xfrm>
            <a:off x="6213938" y="3634004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38505EC7-241B-284C-C968-D590CFFCB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456646"/>
              </p:ext>
            </p:extLst>
          </p:nvPr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2C159510-C39E-9DD6-4730-D33AFC2CB0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0173" y="650860"/>
            <a:ext cx="2348921" cy="240372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97175E3-A39E-7251-C30A-2971C0554C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5122" y="1623485"/>
            <a:ext cx="3132201" cy="284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A3C-5351-1921-CBAF-129EBECC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9DC01-3DE8-CBB5-1D80-D9B4EA49D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63326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800" b="1" dirty="0" err="1"/>
              <a:t>Corals</a:t>
            </a:r>
            <a:r>
              <a:rPr lang="fr-FR" sz="2800" b="1" dirty="0"/>
              <a:t> 260715 2ps vs 7ps (#4 </a:t>
            </a:r>
            <a:r>
              <a:rPr lang="fr-FR" sz="2800" b="1" dirty="0" err="1"/>
              <a:t>stressed</a:t>
            </a:r>
            <a:r>
              <a:rPr lang="fr-FR" sz="2800" b="1" dirty="0"/>
              <a:t>)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16CB543E-AA06-4A78-F020-38E8B08A16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5090" y="209729"/>
            <a:ext cx="2249594" cy="2302079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3931EE57-AE35-AC2D-4DF5-B0E126ACB38C}"/>
              </a:ext>
            </a:extLst>
          </p:cNvPr>
          <p:cNvSpPr/>
          <p:nvPr/>
        </p:nvSpPr>
        <p:spPr>
          <a:xfrm>
            <a:off x="10515599" y="2042160"/>
            <a:ext cx="426721" cy="2971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14C8F72-2FD2-C214-C2D7-A9953490D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038" y="3839864"/>
            <a:ext cx="4408747" cy="2308324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8FEE9127-310A-0E1E-1218-931918BFABE8}"/>
              </a:ext>
            </a:extLst>
          </p:cNvPr>
          <p:cNvSpPr txBox="1"/>
          <p:nvPr/>
        </p:nvSpPr>
        <p:spPr>
          <a:xfrm>
            <a:off x="8954952" y="2961198"/>
            <a:ext cx="7843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2ps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0.506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0.745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416.64</a:t>
            </a:r>
          </a:p>
          <a:p>
            <a:r>
              <a:rPr lang="fr-FR" dirty="0"/>
              <a:t>background fit   = -470.884175</a:t>
            </a:r>
          </a:p>
          <a:p>
            <a:r>
              <a:rPr lang="fr-FR" dirty="0"/>
              <a:t>min fit          = -324.167943</a:t>
            </a:r>
          </a:p>
          <a:p>
            <a:r>
              <a:rPr lang="fr-FR" dirty="0"/>
              <a:t>max fit          = 128446.667684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770BB4F1-0BD0-AF4D-30CD-9CF8D9B5E0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3064" y="3857591"/>
            <a:ext cx="4411826" cy="2309936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FB783713-4FBB-62BA-1EA8-DB9C7C467030}"/>
              </a:ext>
            </a:extLst>
          </p:cNvPr>
          <p:cNvSpPr txBox="1"/>
          <p:nvPr/>
        </p:nvSpPr>
        <p:spPr>
          <a:xfrm>
            <a:off x="8954952" y="4867956"/>
            <a:ext cx="854790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7 </a:t>
            </a:r>
            <a:r>
              <a:rPr lang="fr-FR" b="1" dirty="0" err="1"/>
              <a:t>ps</a:t>
            </a:r>
            <a:r>
              <a:rPr lang="fr-FR" b="1" dirty="0"/>
              <a:t>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0.970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1.475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-2214.30</a:t>
            </a:r>
          </a:p>
          <a:p>
            <a:r>
              <a:rPr lang="fr-FR" dirty="0"/>
              <a:t>background fit   = 1071.426001</a:t>
            </a:r>
          </a:p>
          <a:p>
            <a:r>
              <a:rPr lang="fr-FR" dirty="0"/>
              <a:t>min fit          = 2024.255660</a:t>
            </a:r>
          </a:p>
          <a:p>
            <a:r>
              <a:rPr lang="fr-FR" dirty="0"/>
              <a:t>max fit          = 100911.778329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A5D1578-069E-25EE-143F-23228311E541}"/>
              </a:ext>
            </a:extLst>
          </p:cNvPr>
          <p:cNvSpPr txBox="1"/>
          <p:nvPr/>
        </p:nvSpPr>
        <p:spPr>
          <a:xfrm>
            <a:off x="9032633" y="2511808"/>
            <a:ext cx="2817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Stats sur [min(</a:t>
            </a:r>
            <a:r>
              <a:rPr lang="fr-FR" b="1" dirty="0" err="1"/>
              <a:t>wn</a:t>
            </a:r>
            <a:r>
              <a:rPr lang="fr-FR" b="1" dirty="0"/>
              <a:t>) 1076] :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CC1B0D72-D55E-AEBB-0693-7B674386E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5764" y="919860"/>
            <a:ext cx="4408747" cy="3070754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6A6B38C1-5057-3DA5-3236-028429AFEC00}"/>
              </a:ext>
            </a:extLst>
          </p:cNvPr>
          <p:cNvSpPr txBox="1"/>
          <p:nvPr/>
        </p:nvSpPr>
        <p:spPr>
          <a:xfrm>
            <a:off x="7680698" y="1092514"/>
            <a:ext cx="11113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5558DEDE-D9BC-540B-006A-54FA380E68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659" y="919859"/>
            <a:ext cx="4408748" cy="3070755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A74DD057-389B-56E3-CF13-727A50895DDD}"/>
              </a:ext>
            </a:extLst>
          </p:cNvPr>
          <p:cNvSpPr txBox="1"/>
          <p:nvPr/>
        </p:nvSpPr>
        <p:spPr>
          <a:xfrm>
            <a:off x="1837832" y="887555"/>
            <a:ext cx="219562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2F628972-AB9C-3820-C248-C736E545F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6" y="4005191"/>
            <a:ext cx="4408747" cy="2308324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1F777A24-0910-6FCC-2964-8795D7020C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3002" y="4022918"/>
            <a:ext cx="4411826" cy="2309936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A8F374BF-223C-787B-FE0B-63D26839ABA6}"/>
              </a:ext>
            </a:extLst>
          </p:cNvPr>
          <p:cNvSpPr txBox="1"/>
          <p:nvPr/>
        </p:nvSpPr>
        <p:spPr>
          <a:xfrm>
            <a:off x="0" y="525146"/>
            <a:ext cx="35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Réalisé sur la somme des pixels : 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EB300E05-724F-7558-5632-0057A86A27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659" y="6419835"/>
            <a:ext cx="3795089" cy="342930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524C9DD8-0027-EF12-5624-FFF706ACCE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6419835"/>
            <a:ext cx="2331922" cy="327688"/>
          </a:xfrm>
          <a:prstGeom prst="rect">
            <a:avLst/>
          </a:prstGeom>
        </p:spPr>
      </p:pic>
      <p:sp>
        <p:nvSpPr>
          <p:cNvPr id="50" name="ZoneTexte 49">
            <a:extLst>
              <a:ext uri="{FF2B5EF4-FFF2-40B4-BE49-F238E27FC236}">
                <a16:creationId xmlns:a16="http://schemas.microsoft.com/office/drawing/2014/main" id="{B50BBAEE-1C54-1FB2-22C8-88C2D9BE7E34}"/>
              </a:ext>
            </a:extLst>
          </p:cNvPr>
          <p:cNvSpPr txBox="1"/>
          <p:nvPr/>
        </p:nvSpPr>
        <p:spPr>
          <a:xfrm>
            <a:off x="4368735" y="6406634"/>
            <a:ext cx="1832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Bckg</a:t>
            </a:r>
            <a:r>
              <a:rPr lang="fr-FR" dirty="0"/>
              <a:t> </a:t>
            </a:r>
            <a:r>
              <a:rPr lang="fr-FR" dirty="0" err="1"/>
              <a:t>variability</a:t>
            </a:r>
            <a:r>
              <a:rPr lang="fr-FR" dirty="0"/>
              <a:t> : </a:t>
            </a:r>
          </a:p>
        </p:txBody>
      </p:sp>
    </p:spTree>
    <p:extLst>
      <p:ext uri="{BB962C8B-B14F-4D97-AF65-F5344CB8AC3E}">
        <p14:creationId xmlns:p14="http://schemas.microsoft.com/office/powerpoint/2010/main" val="31759590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375995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187" y="3182588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7600D-50ED-5B21-F790-883ABD23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9083EF-101B-E436-4F9B-BA69E24D40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1F86BED-F528-510D-FE87-5063835ACBEC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6AA7E2B-5B25-9DF4-9797-4E7E2EE12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68AE27-A09B-2790-6F55-526CADC8D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956CB80-CD31-EF8A-DB08-F02B2D1ADE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011CCB7-2BA9-3059-A3E2-43EB69FAFA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8B162177-3CEE-5D18-EDC1-F2F5A0D66BDD}"/>
              </a:ext>
            </a:extLst>
          </p:cNvPr>
          <p:cNvSpPr txBox="1"/>
          <p:nvPr/>
        </p:nvSpPr>
        <p:spPr>
          <a:xfrm>
            <a:off x="5299998" y="5024761"/>
            <a:ext cx="3472746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dirty="0" err="1"/>
              <a:t>params.methode_ref_spectra</a:t>
            </a:r>
            <a:r>
              <a:rPr lang="fr-FR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FF8D2F7-37C8-050B-449D-964E3731C5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78612EC-0C46-D8A4-05DC-2B51132A2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0821" y="76803"/>
            <a:ext cx="6241629" cy="480580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D22C6F3-8AEB-2239-2FA7-0D295B174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270" y="716263"/>
            <a:ext cx="4572467" cy="352083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2D120EC-271B-6A83-1FA2-3620628C03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8059" y="4402355"/>
            <a:ext cx="2525904" cy="2323915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0BC76AC-C1B6-CDDB-2B5E-A966B22026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5852" y="4760806"/>
            <a:ext cx="2518088" cy="192378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3D5EA3-7947-7E31-BFDA-FA49F0DFCD7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65214" y="2391295"/>
            <a:ext cx="3034253" cy="224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3307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531-A4A6-4004-A0F9-F1964F1DD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BC0DD-3513-6D0B-A24C-2C936F1A3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7ps(#4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58AD298-4969-EE19-BF44-0E08251E2F74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4F72E59-24AD-6766-7817-62BDAB1D2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26A553B-C79A-2570-08C3-1C332A9C6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5BC353E7-E9BD-004C-4694-EDA0DBBCBD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269DDBE-0610-0B7C-6901-D1FAF6A7C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5F7176D8-6ACD-2587-91CD-95375DD34B78}"/>
              </a:ext>
            </a:extLst>
          </p:cNvPr>
          <p:cNvSpPr txBox="1"/>
          <p:nvPr/>
        </p:nvSpPr>
        <p:spPr>
          <a:xfrm>
            <a:off x="5304179" y="5150455"/>
            <a:ext cx="62039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sz="1600" dirty="0" err="1"/>
              <a:t>params.methode_ref_spectra</a:t>
            </a:r>
            <a:r>
              <a:rPr lang="fr-FR" sz="1600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591323A3-9510-3CB7-7B02-8D6D0D2CCB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37" name="Image 36">
            <a:extLst>
              <a:ext uri="{FF2B5EF4-FFF2-40B4-BE49-F238E27FC236}">
                <a16:creationId xmlns:a16="http://schemas.microsoft.com/office/drawing/2014/main" id="{3627B6C1-DCBF-F84D-8361-78B7EBD005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6925" y="4555449"/>
            <a:ext cx="2975942" cy="225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92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3709785" y="1059631"/>
            <a:ext cx="2310363" cy="21735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861" y="4253894"/>
            <a:ext cx="3301279" cy="231593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440" y="4170224"/>
            <a:ext cx="3178421" cy="248327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282" y="1059631"/>
            <a:ext cx="2684438" cy="243617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AF8E1C94-F255-7C59-C95A-193B9DAF3D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60" y="3660175"/>
            <a:ext cx="3034678" cy="306956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31A98645-737D-3629-9788-F42B09FE03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1008" y="4373516"/>
            <a:ext cx="2317171" cy="1816427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31BB09E8-6C9B-9F26-A802-E81F3E9E52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280" y="668057"/>
            <a:ext cx="3034679" cy="2808398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1475" y="1040275"/>
            <a:ext cx="2700923" cy="2436179"/>
          </a:xfrm>
          <a:prstGeom prst="rect">
            <a:avLst/>
          </a:prstGeom>
        </p:spPr>
      </p:pic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2C9750A0-0D4D-C7D4-97ED-BEDB3C995C37}"/>
              </a:ext>
            </a:extLst>
          </p:cNvPr>
          <p:cNvCxnSpPr/>
          <p:nvPr/>
        </p:nvCxnSpPr>
        <p:spPr>
          <a:xfrm>
            <a:off x="3535680" y="668057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47057292-0A01-AD4E-E47F-792CF9165107}"/>
              </a:ext>
            </a:extLst>
          </p:cNvPr>
          <p:cNvCxnSpPr>
            <a:cxnSpLocks/>
          </p:cNvCxnSpPr>
          <p:nvPr/>
        </p:nvCxnSpPr>
        <p:spPr>
          <a:xfrm>
            <a:off x="3535680" y="3660175"/>
            <a:ext cx="205462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44DE4C14-D1B3-829E-D7A0-E6CF92C8483A}"/>
              </a:ext>
            </a:extLst>
          </p:cNvPr>
          <p:cNvCxnSpPr/>
          <p:nvPr/>
        </p:nvCxnSpPr>
        <p:spPr>
          <a:xfrm>
            <a:off x="5590309" y="3660175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2018</Words>
  <Application>Microsoft Office PowerPoint</Application>
  <PresentationFormat>Grand écran</PresentationFormat>
  <Paragraphs>352</Paragraphs>
  <Slides>26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4" baseType="lpstr">
      <vt:lpstr>Google Sans Text</vt:lpstr>
      <vt:lpstr>Menlo</vt:lpstr>
      <vt:lpstr>Aptos</vt:lpstr>
      <vt:lpstr>Aptos Display</vt:lpstr>
      <vt:lpstr>Arial</vt:lpstr>
      <vt:lpstr>Cambria Math</vt:lpstr>
      <vt:lpstr>Wingdings</vt:lpstr>
      <vt:lpstr>Thème Office</vt:lpstr>
      <vt:lpstr>Modèle Carbonates </vt:lpstr>
      <vt:lpstr>Modèle Carbonates </vt:lpstr>
      <vt:lpstr>Modèle Carbonates – Réponse instrumentale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vs 7ps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7ps (#4 stressed)</vt:lpstr>
      <vt:lpstr>Corals 260713 2ps(#4 stressed)</vt:lpstr>
      <vt:lpstr>Corals 260713 7ps(#4 stressed)</vt:lpstr>
      <vt:lpstr>Corals 260713 2ps vs 7ps (#4 stressed)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sacha Bucourt</cp:lastModifiedBy>
  <cp:revision>55</cp:revision>
  <dcterms:created xsi:type="dcterms:W3CDTF">2026-07-01T11:56:10Z</dcterms:created>
  <dcterms:modified xsi:type="dcterms:W3CDTF">2026-10-14T09:12:26Z</dcterms:modified>
</cp:coreProperties>
</file>
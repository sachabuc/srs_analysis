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365" r:id="rId2"/>
    <p:sldId id="357" r:id="rId3"/>
    <p:sldId id="327" r:id="rId4"/>
    <p:sldId id="366" r:id="rId5"/>
    <p:sldId id="328" r:id="rId6"/>
    <p:sldId id="363" r:id="rId7"/>
    <p:sldId id="361" r:id="rId8"/>
    <p:sldId id="364" r:id="rId9"/>
    <p:sldId id="370" r:id="rId10"/>
    <p:sldId id="368" r:id="rId11"/>
    <p:sldId id="374" r:id="rId12"/>
    <p:sldId id="343" r:id="rId13"/>
    <p:sldId id="342" r:id="rId14"/>
    <p:sldId id="355" r:id="rId15"/>
    <p:sldId id="341" r:id="rId16"/>
    <p:sldId id="353" r:id="rId17"/>
    <p:sldId id="373" r:id="rId18"/>
    <p:sldId id="372" r:id="rId19"/>
    <p:sldId id="358" r:id="rId20"/>
    <p:sldId id="352" r:id="rId21"/>
    <p:sldId id="345" r:id="rId22"/>
    <p:sldId id="346" r:id="rId23"/>
    <p:sldId id="347" r:id="rId24"/>
    <p:sldId id="351" r:id="rId25"/>
    <p:sldId id="362" r:id="rId2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èle" id="{38E46940-0790-4E8A-8502-5835EE473836}">
          <p14:sldIdLst>
            <p14:sldId id="365"/>
            <p14:sldId id="357"/>
            <p14:sldId id="327"/>
            <p14:sldId id="366"/>
            <p14:sldId id="328"/>
          </p14:sldIdLst>
        </p14:section>
        <p14:section name="Synthétique" id="{56AC251D-6E5C-4CFE-9930-84BF4168610A}">
          <p14:sldIdLst>
            <p14:sldId id="363"/>
            <p14:sldId id="361"/>
            <p14:sldId id="364"/>
            <p14:sldId id="370"/>
            <p14:sldId id="368"/>
            <p14:sldId id="374"/>
            <p14:sldId id="343"/>
            <p14:sldId id="342"/>
            <p14:sldId id="355"/>
            <p14:sldId id="341"/>
          </p14:sldIdLst>
        </p14:section>
        <p14:section name="Corail" id="{CCA9B34D-82CD-4298-BF9C-03A0026B73BF}">
          <p14:sldIdLst>
            <p14:sldId id="353"/>
            <p14:sldId id="373"/>
            <p14:sldId id="372"/>
            <p14:sldId id="358"/>
            <p14:sldId id="352"/>
            <p14:sldId id="345"/>
            <p14:sldId id="346"/>
            <p14:sldId id="347"/>
            <p14:sldId id="351"/>
          </p14:sldIdLst>
        </p14:section>
        <p14:section name="Section sans titre" id="{3A39EE99-5470-4380-A4A0-54DB7E0D4CAB}">
          <p14:sldIdLst>
            <p14:sldId id="3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0695" autoAdjust="0"/>
  </p:normalViewPr>
  <p:slideViewPr>
    <p:cSldViewPr snapToGrid="0">
      <p:cViewPr varScale="1">
        <p:scale>
          <a:sx n="97" d="100"/>
          <a:sy n="97" d="100"/>
        </p:scale>
        <p:origin x="10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2E4E35-8187-4757-AF44-D7829C233B30}" type="datetimeFigureOut">
              <a:rPr lang="fr-FR" smtClean="0"/>
              <a:t>21/10/2026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0ED21D-356C-4BDC-9372-2CBCC26085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9252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ED21D-356C-4BDC-9372-2CBCC2608535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8600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6C995-A49C-A864-65C1-8EC2701E9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035EC71-5CAE-7FF7-FBA4-162BA04B74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49032CC-A38B-1DCF-8475-D10500F078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9282108-0956-3445-0B24-1B507D8EFD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ED21D-356C-4BDC-9372-2CBCC2608535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5768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ED21D-356C-4BDC-9372-2CBCC2608535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3668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C8280-AB60-6E81-DC19-C1A0C78B3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EE79D93-FF90-2CF9-6277-5D48D14DE0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B98ED8A-B0E0-3F02-6EC4-6224251CD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233474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153BE-3759-D484-6CA9-4A9F9A10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08FA0A3-5D9D-189D-88AB-E05203E4E4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781F072-2DDC-79C6-A686-36D9EAC692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534043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7A5A1-83EF-9B4E-4946-E3ED99128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B449450-14F3-75D1-D237-51530CD8D5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FBF2E36-8340-6813-9131-29A3FDF7F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657615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56857-888C-6C75-C92B-B03C7A097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7D8FBE8-4319-E36F-9550-12C124533E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E89B380-B6CF-A06B-1667-7083A8A75C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909826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B1AFC-ACDD-78E9-75FA-C1C9A40A2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9A7CE79-89C9-F2A3-1BF3-87179100B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FF64D01-3113-AE6F-91FC-DDF59F26F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613016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B09DF-153C-75A0-7A4C-A454C246D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5E68846-60AC-B183-5677-7F9D809510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7D50A49-C429-B033-45A3-0AF3A22E9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288757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3B081-6170-0216-B951-F26A13A44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4E117AC-2C58-D5AD-9834-64528129CF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2CA76E7-A5B9-57C4-BBCD-D204ADC18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992299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B9979-91FC-C5EA-F7D9-3552DE5AB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A1EE4A4-9489-9606-054C-96B16449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A0C0EDD-16AF-30C6-7426-9E83D70CA1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020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797D62-8836-082C-A733-310A610B3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C0697A6-E027-8C09-7012-935DA4443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AD7453-2053-5B67-A3D6-396DA9538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21/10/2026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BEB927-1C25-B313-D7D6-5201CA945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F6DD7C-2C04-2286-16AF-6A641EA9D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9816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15B080-E275-4B60-F79F-6C0D1471D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45D95D-96EA-5587-9F86-591A93B08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A4DAB1-48C2-7433-5E0D-E32E64CC5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21/10/2026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50575B-F850-C1F0-150A-3DE6ECE09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9653168-75C6-A52C-BC66-E734A916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5542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223566-F9F4-86E3-076C-B55824266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030711-712C-BF2C-3CFB-FB4F85C16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2F7148-B737-116A-382B-6253507E0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21/10/2026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60CBF7-85DB-BB63-BA1C-5AB76BE8A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BF2964-7856-E568-703B-CCDAB6C1F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5239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FA3724-6DFC-A032-A3DD-C9BD87FC4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79CC89-8EBB-8E9A-C299-9C8FF62197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0F747B4-0335-1AED-C56C-BF12D3A67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0168405-0388-5D20-5B3C-8E9145103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21/10/2026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4810B57-DD18-ECBF-93A3-4784AE414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6A21713-D34D-C310-BA6E-A776E8679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3313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3B9108-3358-3155-D8F9-191876FDB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B85168B-CC81-E80F-3B30-6A21706F0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5787ECE-24C4-C546-1B4C-90D57212C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679BF4E-AA8D-F083-2181-95AF16D75D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40D7DF1-C9AE-4979-603C-9E3EF6AD5A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72D6130-CC64-FEC5-99E6-180D16E97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21/10/2026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D6AE930-8C04-DF50-EA51-B89B8FE6F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0E9E820-D7ED-5AC5-7477-B4D3D6AB4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6910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9F49E0-8781-3502-CE05-FDECA387F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863C0E1-C46E-10CC-B6CB-585C14CAB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21/10/2026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F1501ED-600A-3258-EA23-D190808AE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43CB3A-176D-4AE7-2ADC-AD669CB6D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8403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7D28B24-87EB-6133-62DD-9A2DB481E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21/10/2026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6CC52DC-C860-CC45-A043-E960022D0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E5EBA4-8D36-4014-1970-DAABBED9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7219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60B160-2994-8665-DF47-D1E40292E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0C6253-1070-34F3-A404-929630193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C83E001-91CA-2309-DFDE-FBB314CDD0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618DC21-0F75-CEF0-23F4-43CBA3DA7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21/10/2026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20D8433-6031-431F-2015-57F0CDBAC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F5F9FA7-B681-E733-5CD5-EB3A30C9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5514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3CE0E6-1176-4DD6-8C68-26610F7A8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C0E54BD-59AC-CB5D-2140-E9AAA88EAA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A476753-9708-8AA5-FC18-D3BB2E05E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06C69FC-FACA-FBDB-55D0-05D8E50C7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21/10/2026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DBC6EC6-FC39-2A9C-CC46-DAF7F5F34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0DD470F-9057-BD5E-B7B7-4D2BE5573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303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4856C9-1A23-124C-6A69-6335810E1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527A9D1-3B8D-ABEB-94A2-E4F785270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F231F2-9E79-8DEE-0670-C19B6C9CB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21/10/2026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C9BB78-701A-C51C-E297-24C052842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D2C1A8-11D5-FB69-ABC1-9374A0C03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6994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73DF7F1-D405-A9DF-EF93-D422296B76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868EB2B-D5FF-4232-B844-B1F59FC88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5FC76F-6C40-E840-E931-619CB8C5F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21/10/2026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7268BF-20FD-83FE-3B7D-6AE5F3C1B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FB67D6-380A-4671-3282-94C8DC596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2494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43AC2A7-52F6-FC9B-6C27-4C1F81778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D22EAC9-C154-C8A1-B5A0-F23AA517E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8F8FE8-B6DD-8CBC-7A7E-EAB612038C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3063B4-2C68-40F2-BC26-4CA99D7F971F}" type="datetimeFigureOut">
              <a:rPr lang="fr-FR" smtClean="0"/>
              <a:t>21/10/2026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B83123F-60B3-2180-C8AD-A60E532E3D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2BA6EE-EF0E-58CC-6B7A-D4E9235BCD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4582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emf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9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png"/><Relationship Id="rId13" Type="http://schemas.openxmlformats.org/officeDocument/2006/relationships/image" Target="../media/image54.png"/><Relationship Id="rId12" Type="http://schemas.openxmlformats.org/officeDocument/2006/relationships/image" Target="../media/image53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52.png"/><Relationship Id="rId10" Type="http://schemas.openxmlformats.org/officeDocument/2006/relationships/image" Target="../media/image51.png"/><Relationship Id="rId9" Type="http://schemas.openxmlformats.org/officeDocument/2006/relationships/image" Target="../media/image50.png"/><Relationship Id="rId1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41.png"/><Relationship Id="rId7" Type="http://schemas.openxmlformats.org/officeDocument/2006/relationships/image" Target="../media/image63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4CF142-CFD7-B7CC-FE6F-6C90E1D5C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6600" dirty="0"/>
              <a:t>Meeting 15/10/26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272E99-2EE9-A533-5089-4563357E7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arenR"/>
            </a:pPr>
            <a:r>
              <a:rPr lang="fr-FR" dirty="0"/>
              <a:t>Modèle </a:t>
            </a:r>
          </a:p>
          <a:p>
            <a:pPr marL="914400" lvl="1" indent="-457200">
              <a:buAutoNum type="alphaLcParenR"/>
            </a:pPr>
            <a:r>
              <a:rPr lang="fr-FR" dirty="0"/>
              <a:t>Convolution Carbonate*Instrument</a:t>
            </a:r>
          </a:p>
          <a:p>
            <a:pPr marL="914400" lvl="1" indent="-457200">
              <a:buAutoNum type="alphaLcParenR"/>
            </a:pPr>
            <a:r>
              <a:rPr lang="fr-FR" dirty="0"/>
              <a:t>Carbonate</a:t>
            </a:r>
          </a:p>
          <a:p>
            <a:pPr marL="0" indent="0">
              <a:buNone/>
            </a:pPr>
            <a:r>
              <a:rPr lang="fr-FR" dirty="0"/>
              <a:t>2) Expérimentale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sz="2400" dirty="0"/>
              <a:t>a) fit sur A </a:t>
            </a:r>
            <a:endParaRPr lang="fr-FR" dirty="0"/>
          </a:p>
          <a:p>
            <a:pPr marL="0" indent="0">
              <a:buNone/>
            </a:pPr>
            <a:r>
              <a:rPr lang="fr-FR" sz="2400" dirty="0"/>
              <a:t>	b) ACC</a:t>
            </a:r>
          </a:p>
          <a:p>
            <a:pPr marL="0" indent="0">
              <a:buNone/>
            </a:pPr>
            <a:r>
              <a:rPr lang="fr-FR" sz="2400" dirty="0"/>
              <a:t>	c) </a:t>
            </a:r>
            <a:r>
              <a:rPr lang="fr-FR" sz="2400" dirty="0" err="1"/>
              <a:t>Vatérite</a:t>
            </a:r>
            <a:r>
              <a:rPr lang="fr-FR" sz="2400" dirty="0"/>
              <a:t> </a:t>
            </a:r>
          </a:p>
          <a:p>
            <a:pPr marL="0" indent="0">
              <a:buNone/>
            </a:pPr>
            <a:r>
              <a:rPr lang="fr-FR" sz="2400" dirty="0"/>
              <a:t>	d) Coral </a:t>
            </a:r>
          </a:p>
          <a:p>
            <a:pPr marL="0" indent="0">
              <a:buNone/>
            </a:pPr>
            <a:r>
              <a:rPr lang="fr-FR" sz="2400" dirty="0"/>
              <a:t>	e) Set up schéma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57379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D7D0A-6800-5AFA-0949-D51649AD9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6B4E47-D5C7-37D3-48AA-BA3E08DCFB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733" y="759951"/>
            <a:ext cx="12132253" cy="1109663"/>
          </a:xfrm>
        </p:spPr>
        <p:txBody>
          <a:bodyPr>
            <a:noAutofit/>
          </a:bodyPr>
          <a:lstStyle/>
          <a:p>
            <a:pPr algn="l"/>
            <a:r>
              <a:rPr lang="fr-FR" dirty="0"/>
              <a:t>Modèle Analytique – Réponse instrumentale 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FC56DEF-E294-D35F-CCFB-2EBC3229E95D}"/>
              </a:ext>
            </a:extLst>
          </p:cNvPr>
          <p:cNvSpPr txBox="1"/>
          <p:nvPr/>
        </p:nvSpPr>
        <p:spPr>
          <a:xfrm>
            <a:off x="354591" y="2101276"/>
            <a:ext cx="27071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/>
              <a:t>Modèle gaussien pour chaque phase :</a:t>
            </a:r>
          </a:p>
          <a:p>
            <a:endParaRPr lang="fr-FR" dirty="0"/>
          </a:p>
          <a:p>
            <a:r>
              <a:rPr lang="fr-FR" b="1" dirty="0"/>
              <a:t>Convolué avec </a:t>
            </a:r>
          </a:p>
          <a:p>
            <a:endParaRPr lang="fr-FR" dirty="0"/>
          </a:p>
          <a:p>
            <a:pPr algn="r"/>
            <a:r>
              <a:rPr lang="fr-FR" dirty="0"/>
              <a:t>Modèle gaussien de la réponse instrumentale :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5B35C7C-DA44-44DB-75DA-26DE0C964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7959" y="4656756"/>
            <a:ext cx="2905530" cy="82879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13B64A33-04C0-97F6-2621-4CEEB7AF9A99}"/>
              </a:ext>
            </a:extLst>
          </p:cNvPr>
          <p:cNvSpPr txBox="1"/>
          <p:nvPr/>
        </p:nvSpPr>
        <p:spPr>
          <a:xfrm>
            <a:off x="354591" y="4770214"/>
            <a:ext cx="22957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800" dirty="0">
                <a:sym typeface="Wingdings" panose="05000000000000000000" pitchFamily="2" charset="2"/>
              </a:rPr>
              <a:t> </a:t>
            </a:r>
            <a:r>
              <a:rPr lang="fr-FR" sz="1800" dirty="0"/>
              <a:t>Analytiquement, on obtient  : 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643ED664-BE51-59EF-C7FD-268571150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904" y="3408638"/>
            <a:ext cx="3628333" cy="723963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93A88E15-A6E0-CAA9-E728-E406F7A769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2069" y="4709171"/>
            <a:ext cx="3482642" cy="723963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FC21EAF7-E6A7-3359-A999-736F4B176E27}"/>
              </a:ext>
            </a:extLst>
          </p:cNvPr>
          <p:cNvSpPr txBox="1"/>
          <p:nvPr/>
        </p:nvSpPr>
        <p:spPr>
          <a:xfrm>
            <a:off x="7269784" y="4886485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/>
              <a:t>avec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86DBBB8-E232-4BC7-AF00-E8868A9820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1770" y="1931762"/>
            <a:ext cx="4391638" cy="102884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D813ACC-28C5-A386-3CD4-DB8784B914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883" y="6009704"/>
            <a:ext cx="4885774" cy="680681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C1BDB23-B0C2-E086-EF08-E009F4FBB6A5}"/>
              </a:ext>
            </a:extLst>
          </p:cNvPr>
          <p:cNvSpPr txBox="1"/>
          <p:nvPr/>
        </p:nvSpPr>
        <p:spPr>
          <a:xfrm>
            <a:off x="6022228" y="6165378"/>
            <a:ext cx="581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ym typeface="Wingdings" panose="05000000000000000000" pitchFamily="2" charset="2"/>
              </a:rPr>
              <a:t></a:t>
            </a:r>
            <a:endParaRPr lang="fr-FR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17DFF50-4BB4-A928-9FC1-A9EBD118C1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2061" y="5941952"/>
            <a:ext cx="5115639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863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3F62A-A533-FF35-45FD-72023A327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B00D27-45E7-9C74-83DD-042B04B07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9927" y="-520814"/>
            <a:ext cx="9144000" cy="1109663"/>
          </a:xfrm>
        </p:spPr>
        <p:txBody>
          <a:bodyPr>
            <a:normAutofit/>
          </a:bodyPr>
          <a:lstStyle/>
          <a:p>
            <a:r>
              <a:rPr lang="fr-FR" sz="4000" dirty="0"/>
              <a:t>Modèle Carbonates 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A50E68C5-353B-200A-4129-724E173DA2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990133"/>
              </p:ext>
            </p:extLst>
          </p:nvPr>
        </p:nvGraphicFramePr>
        <p:xfrm>
          <a:off x="275087" y="983518"/>
          <a:ext cx="11641826" cy="3005137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1663118">
                  <a:extLst>
                    <a:ext uri="{9D8B030D-6E8A-4147-A177-3AD203B41FA5}">
                      <a16:colId xmlns:a16="http://schemas.microsoft.com/office/drawing/2014/main" val="3251183835"/>
                    </a:ext>
                  </a:extLst>
                </a:gridCol>
                <a:gridCol w="1663118">
                  <a:extLst>
                    <a:ext uri="{9D8B030D-6E8A-4147-A177-3AD203B41FA5}">
                      <a16:colId xmlns:a16="http://schemas.microsoft.com/office/drawing/2014/main" val="1204036976"/>
                    </a:ext>
                  </a:extLst>
                </a:gridCol>
                <a:gridCol w="1663118">
                  <a:extLst>
                    <a:ext uri="{9D8B030D-6E8A-4147-A177-3AD203B41FA5}">
                      <a16:colId xmlns:a16="http://schemas.microsoft.com/office/drawing/2014/main" val="3725383711"/>
                    </a:ext>
                  </a:extLst>
                </a:gridCol>
                <a:gridCol w="1663118">
                  <a:extLst>
                    <a:ext uri="{9D8B030D-6E8A-4147-A177-3AD203B41FA5}">
                      <a16:colId xmlns:a16="http://schemas.microsoft.com/office/drawing/2014/main" val="2561449884"/>
                    </a:ext>
                  </a:extLst>
                </a:gridCol>
                <a:gridCol w="1663118">
                  <a:extLst>
                    <a:ext uri="{9D8B030D-6E8A-4147-A177-3AD203B41FA5}">
                      <a16:colId xmlns:a16="http://schemas.microsoft.com/office/drawing/2014/main" val="1270338505"/>
                    </a:ext>
                  </a:extLst>
                </a:gridCol>
                <a:gridCol w="1663118">
                  <a:extLst>
                    <a:ext uri="{9D8B030D-6E8A-4147-A177-3AD203B41FA5}">
                      <a16:colId xmlns:a16="http://schemas.microsoft.com/office/drawing/2014/main" val="2330157547"/>
                    </a:ext>
                  </a:extLst>
                </a:gridCol>
                <a:gridCol w="1663118">
                  <a:extLst>
                    <a:ext uri="{9D8B030D-6E8A-4147-A177-3AD203B41FA5}">
                      <a16:colId xmlns:a16="http://schemas.microsoft.com/office/drawing/2014/main" val="290116242"/>
                    </a:ext>
                  </a:extLst>
                </a:gridCol>
              </a:tblGrid>
              <a:tr h="640080">
                <a:tc gridSpan="7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800" b="1" dirty="0"/>
                        <a:t>Résultat Raman spontané – échantillon synthétique ou géologique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fr-FR" sz="18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fr-FR" sz="18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fr-FR" sz="18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070108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 err="1"/>
                        <a:t>sample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Calcite </a:t>
                      </a:r>
                      <a:r>
                        <a:rPr lang="fr-FR" sz="1800" b="1" dirty="0" err="1"/>
                        <a:t>geologic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Aragonite </a:t>
                      </a:r>
                      <a:r>
                        <a:rPr lang="fr-FR" sz="1800" b="1" dirty="0" err="1"/>
                        <a:t>geologic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 err="1"/>
                        <a:t>Vaterite</a:t>
                      </a:r>
                      <a:r>
                        <a:rPr lang="fr-FR" sz="1800" b="1" dirty="0"/>
                        <a:t> </a:t>
                      </a:r>
                      <a:r>
                        <a:rPr lang="fr-FR" sz="1800" b="1" dirty="0" err="1"/>
                        <a:t>synthetic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ACC </a:t>
                      </a:r>
                      <a:r>
                        <a:rPr lang="fr-FR" sz="1800" b="1" dirty="0" err="1"/>
                        <a:t>synthetic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CCHH </a:t>
                      </a:r>
                      <a:r>
                        <a:rPr lang="fr-FR" sz="1800" b="1" dirty="0" err="1"/>
                        <a:t>synthetic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MHC </a:t>
                      </a:r>
                      <a:r>
                        <a:rPr lang="fr-FR" sz="1800" b="1" dirty="0" err="1"/>
                        <a:t>synthetic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82828191"/>
                  </a:ext>
                </a:extLst>
              </a:tr>
              <a:tr h="7191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Nu (cm</a:t>
                      </a:r>
                      <a:r>
                        <a:rPr lang="fr-FR" sz="1800" b="1" baseline="30000" dirty="0"/>
                        <a:t>-1</a:t>
                      </a:r>
                      <a:r>
                        <a:rPr lang="fr-FR" sz="1800" b="1" baseline="0" dirty="0"/>
                        <a:t>)</a:t>
                      </a: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1085.5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1085.5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1075, (1080,) 1090.8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1100.1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1067.5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898034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FWHM (cm</a:t>
                      </a:r>
                      <a:r>
                        <a:rPr lang="fr-FR" sz="1800" b="1" baseline="30000" dirty="0"/>
                        <a:t>-1</a:t>
                      </a:r>
                      <a:r>
                        <a:rPr lang="fr-FR" sz="1800" b="1" baseline="0" dirty="0"/>
                        <a:t>)</a:t>
                      </a: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8.2, (?), 8.3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6.3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5.8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377277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 err="1"/>
                        <a:t>FWHM_déconvolué</a:t>
                      </a:r>
                      <a:r>
                        <a:rPr lang="fr-FR" sz="1800" b="1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fr-FR" sz="1800" b="1" dirty="0"/>
                        <a:t> (cm-1)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3.5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3.5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7.9,(?),8.0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5.9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5.3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0390908"/>
                  </a:ext>
                </a:extLst>
              </a:tr>
            </a:tbl>
          </a:graphicData>
        </a:graphic>
      </p:graphicFrame>
      <p:sp>
        <p:nvSpPr>
          <p:cNvPr id="32" name="ZoneTexte 31">
            <a:extLst>
              <a:ext uri="{FF2B5EF4-FFF2-40B4-BE49-F238E27FC236}">
                <a16:creationId xmlns:a16="http://schemas.microsoft.com/office/drawing/2014/main" id="{829466EF-A2D7-C08B-72FC-BB936CC05064}"/>
              </a:ext>
            </a:extLst>
          </p:cNvPr>
          <p:cNvSpPr txBox="1"/>
          <p:nvPr/>
        </p:nvSpPr>
        <p:spPr>
          <a:xfrm>
            <a:off x="275087" y="4099524"/>
            <a:ext cx="815517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/>
              <a:t>(</a:t>
            </a:r>
            <a:r>
              <a:rPr lang="fr-FR" sz="2000" b="1" dirty="0">
                <a:solidFill>
                  <a:srgbClr val="FF0000"/>
                </a:solidFill>
              </a:rPr>
              <a:t>*</a:t>
            </a:r>
            <a:r>
              <a:rPr lang="fr-FR" sz="2000" dirty="0"/>
              <a:t>) déconvolué par la </a:t>
            </a:r>
            <a:r>
              <a:rPr lang="fr-FR" sz="2000" i="1" dirty="0"/>
              <a:t>résolution théorique maximale</a:t>
            </a:r>
            <a:r>
              <a:rPr lang="fr-FR" sz="2000" b="1" dirty="0">
                <a:solidFill>
                  <a:srgbClr val="FF0000"/>
                </a:solidFill>
              </a:rPr>
              <a:t> </a:t>
            </a:r>
            <a:r>
              <a:rPr lang="fr-FR" sz="2000" dirty="0"/>
              <a:t>du </a:t>
            </a:r>
            <a:r>
              <a:rPr lang="fr-FR" sz="2000" dirty="0" err="1"/>
              <a:t>raman</a:t>
            </a:r>
            <a:r>
              <a:rPr lang="fr-FR" sz="2000" dirty="0"/>
              <a:t> spontané :</a:t>
            </a:r>
          </a:p>
          <a:p>
            <a:r>
              <a:rPr lang="fr-FR" sz="2000" dirty="0"/>
              <a:t>Paramètres : </a:t>
            </a:r>
          </a:p>
          <a:p>
            <a:r>
              <a:rPr lang="fr-FR" dirty="0"/>
              <a:t> - </a:t>
            </a:r>
            <a:r>
              <a:rPr lang="fr-FR" dirty="0" err="1"/>
              <a:t>grating</a:t>
            </a:r>
            <a:r>
              <a:rPr lang="fr-FR" dirty="0"/>
              <a:t> : 1800 (500nm)</a:t>
            </a:r>
            <a:br>
              <a:rPr lang="fr-FR" sz="2000" dirty="0"/>
            </a:br>
            <a:r>
              <a:rPr lang="fr-FR" dirty="0"/>
              <a:t> - Laser : 532nm_Edge</a:t>
            </a:r>
            <a:br>
              <a:rPr lang="fr-FR" sz="2000" dirty="0"/>
            </a:br>
            <a:r>
              <a:rPr lang="fr-FR" sz="2000" dirty="0"/>
              <a:t> </a:t>
            </a:r>
            <a:r>
              <a:rPr lang="fr-FR" dirty="0"/>
              <a:t>- objectif x20</a:t>
            </a:r>
            <a:endParaRPr lang="fr-FR" sz="2000" dirty="0"/>
          </a:p>
          <a:p>
            <a:endParaRPr lang="fr-FR" sz="2000" dirty="0"/>
          </a:p>
          <a:p>
            <a:r>
              <a:rPr lang="fr-FR" sz="2000" b="0" i="0" dirty="0">
                <a:solidFill>
                  <a:schemeClr val="tx1"/>
                </a:solidFill>
                <a:effectLst/>
                <a:latin typeface="+mn-lt"/>
              </a:rPr>
              <a:t>Spectral </a:t>
            </a:r>
            <a:r>
              <a:rPr lang="fr-FR" sz="2000" b="0" i="0" dirty="0" err="1">
                <a:solidFill>
                  <a:schemeClr val="tx1"/>
                </a:solidFill>
                <a:effectLst/>
                <a:latin typeface="+mn-lt"/>
              </a:rPr>
              <a:t>Resolutions</a:t>
            </a:r>
            <a:r>
              <a:rPr lang="fr-FR" sz="2000" b="0" i="0" dirty="0">
                <a:solidFill>
                  <a:schemeClr val="tx1"/>
                </a:solidFill>
                <a:effectLst/>
                <a:latin typeface="+mn-lt"/>
              </a:rPr>
              <a:t> (Hole50m, 100x Objective, FWHM) :</a:t>
            </a:r>
            <a:br>
              <a:rPr lang="fr-FR" sz="2000" dirty="0"/>
            </a:br>
            <a:r>
              <a:rPr lang="fr-FR" sz="2000" dirty="0"/>
              <a:t>- </a:t>
            </a:r>
            <a:r>
              <a:rPr lang="fr-FR" sz="2000" b="0" i="0" dirty="0" err="1">
                <a:solidFill>
                  <a:schemeClr val="tx1"/>
                </a:solidFill>
                <a:effectLst/>
                <a:latin typeface="+mn-lt"/>
              </a:rPr>
              <a:t>Grating</a:t>
            </a:r>
            <a:r>
              <a:rPr lang="fr-FR" sz="2000" b="0" i="0" dirty="0">
                <a:solidFill>
                  <a:schemeClr val="tx1"/>
                </a:solidFill>
                <a:effectLst/>
                <a:latin typeface="+mn-lt"/>
              </a:rPr>
              <a:t> 1800 g/mm: 585.25 nm 1.66cm-1 (&lt;</a:t>
            </a:r>
            <a:r>
              <a:rPr lang="fr-FR" sz="2000" b="1" i="0" dirty="0">
                <a:solidFill>
                  <a:schemeClr val="tx1"/>
                </a:solidFill>
                <a:effectLst/>
                <a:latin typeface="+mn-lt"/>
              </a:rPr>
              <a:t>2.3 cm-1</a:t>
            </a:r>
            <a:r>
              <a:rPr lang="fr-FR" sz="2000" b="1" i="0" dirty="0">
                <a:solidFill>
                  <a:srgbClr val="FF0000"/>
                </a:solidFill>
                <a:effectLst/>
                <a:latin typeface="+mn-lt"/>
              </a:rPr>
              <a:t>*</a:t>
            </a:r>
            <a:r>
              <a:rPr lang="fr-FR" sz="20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endParaRPr lang="fr-FR" sz="2000" dirty="0"/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60026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184D7-145B-8DB4-C251-2370EE668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71141D-E1A7-D9F0-1FED-CB7629572A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07655" y="183886"/>
            <a:ext cx="5734411" cy="1109663"/>
          </a:xfrm>
        </p:spPr>
        <p:txBody>
          <a:bodyPr>
            <a:normAutofit fontScale="90000"/>
          </a:bodyPr>
          <a:lstStyle/>
          <a:p>
            <a:r>
              <a:rPr lang="fr-FR" sz="4000" dirty="0" err="1"/>
              <a:t>Chirp</a:t>
            </a:r>
            <a:r>
              <a:rPr lang="fr-FR" sz="4000" dirty="0"/>
              <a:t> – Calcul de </a:t>
            </a:r>
            <a:r>
              <a:rPr lang="fr-FR" sz="4000" dirty="0" err="1"/>
              <a:t>FWHM_instr</a:t>
            </a:r>
            <a:endParaRPr lang="fr-FR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au 6">
                <a:extLst>
                  <a:ext uri="{FF2B5EF4-FFF2-40B4-BE49-F238E27FC236}">
                    <a16:creationId xmlns:a16="http://schemas.microsoft.com/office/drawing/2014/main" id="{0BE9739A-7294-26CF-4B68-99D6EAE766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8620885"/>
                  </p:ext>
                </p:extLst>
              </p:nvPr>
            </p:nvGraphicFramePr>
            <p:xfrm>
              <a:off x="5191766" y="2604836"/>
              <a:ext cx="6911740" cy="237744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51238">
                      <a:extLst>
                        <a:ext uri="{9D8B030D-6E8A-4147-A177-3AD203B41FA5}">
                          <a16:colId xmlns:a16="http://schemas.microsoft.com/office/drawing/2014/main" val="1187242739"/>
                        </a:ext>
                      </a:extLst>
                    </a:gridCol>
                    <a:gridCol w="1151238">
                      <a:extLst>
                        <a:ext uri="{9D8B030D-6E8A-4147-A177-3AD203B41FA5}">
                          <a16:colId xmlns:a16="http://schemas.microsoft.com/office/drawing/2014/main" val="3569624622"/>
                        </a:ext>
                      </a:extLst>
                    </a:gridCol>
                    <a:gridCol w="1152316">
                      <a:extLst>
                        <a:ext uri="{9D8B030D-6E8A-4147-A177-3AD203B41FA5}">
                          <a16:colId xmlns:a16="http://schemas.microsoft.com/office/drawing/2014/main" val="1326026841"/>
                        </a:ext>
                      </a:extLst>
                    </a:gridCol>
                    <a:gridCol w="1152316">
                      <a:extLst>
                        <a:ext uri="{9D8B030D-6E8A-4147-A177-3AD203B41FA5}">
                          <a16:colId xmlns:a16="http://schemas.microsoft.com/office/drawing/2014/main" val="230273949"/>
                        </a:ext>
                      </a:extLst>
                    </a:gridCol>
                    <a:gridCol w="1152316">
                      <a:extLst>
                        <a:ext uri="{9D8B030D-6E8A-4147-A177-3AD203B41FA5}">
                          <a16:colId xmlns:a16="http://schemas.microsoft.com/office/drawing/2014/main" val="762247172"/>
                        </a:ext>
                      </a:extLst>
                    </a:gridCol>
                    <a:gridCol w="1152316">
                      <a:extLst>
                        <a:ext uri="{9D8B030D-6E8A-4147-A177-3AD203B41FA5}">
                          <a16:colId xmlns:a16="http://schemas.microsoft.com/office/drawing/2014/main" val="1397279243"/>
                        </a:ext>
                      </a:extLst>
                    </a:gridCol>
                  </a:tblGrid>
                  <a:tr h="782345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>
                              <a:effectLst/>
                            </a:rPr>
                            <a:t>Durée pulse (</a:t>
                          </a:r>
                          <a:r>
                            <a:rPr lang="el-GR" sz="14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Δτ</a:t>
                          </a:r>
                          <a:r>
                            <a:rPr lang="fr-FR" sz="14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)</a:t>
                          </a:r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 err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fwhm_instr</a:t>
                          </a:r>
                          <a:r>
                            <a:rPr lang="fr-FR" sz="140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 mesurée 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 err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fwhm_calcite</a:t>
                          </a:r>
                          <a:r>
                            <a:rPr lang="fr-FR" sz="140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 (mesure </a:t>
                          </a:r>
                          <a:r>
                            <a:rPr lang="fr-FR" sz="1400" dirty="0" err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raman</a:t>
                          </a:r>
                          <a:r>
                            <a:rPr lang="fr-FR" sz="140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) 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>
                              <a:effectLst/>
                            </a:rPr>
                            <a:t>Valeur convoluée théorique</a:t>
                          </a:r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b="1" dirty="0">
                              <a:effectLst/>
                            </a:rPr>
                            <a:t>valeurs expérimentales SRS</a:t>
                          </a:r>
                          <a:endParaRPr lang="fr-FR" sz="1400" b="1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6159894"/>
                      </a:ext>
                    </a:extLst>
                  </a:tr>
                  <a:tr h="782345">
                    <a:tc>
                      <a:txBody>
                        <a:bodyPr/>
                        <a:lstStyle/>
                        <a:p>
                          <a:pPr marL="0" marR="0" algn="ctr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no </a:t>
                          </a:r>
                          <a:r>
                            <a:rPr lang="fr-FR" sz="1400" dirty="0" err="1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chirp</a:t>
                          </a:r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3.0 </a:t>
                          </a:r>
                          <a:r>
                            <a:rPr lang="fr-FR" sz="1400" dirty="0" err="1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ps</a:t>
                          </a:r>
                          <a:r>
                            <a:rPr lang="fr-FR" sz="1400" dirty="0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 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b="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6.9 cm-1 (4.9 pour un pulse)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fr-FR" sz="1400" i="0" dirty="0" smtClean="0"/>
                                  <m:t>3.5</m:t>
                                </m:r>
                                <m:sSup>
                                  <m:sSupPr>
                                    <m:ctrlPr>
                                      <a:rPr lang="fr-FR" sz="1400" i="0"/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fr-FR" sz="1400" i="0"/>
                                      <m:t> cm</m:t>
                                    </m:r>
                                  </m:e>
                                  <m:sup>
                                    <m:r>
                                      <a:rPr lang="fr-FR" sz="14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fr-FR" sz="1400" b="0" i="0" smtClean="0">
                                    <a:latin typeface="Cambria Math" panose="02040503050406030204" pitchFamily="18" charset="0"/>
                                  </a:rPr>
                                  <m:t>7.</m:t>
                                </m:r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sSup>
                                  <m:sSupPr>
                                    <m:ctrlPr>
                                      <a:rPr lang="fr-FR" sz="1400" i="0"/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fr-FR" sz="1400" i="0"/>
                                      <m:t> cm</m:t>
                                    </m:r>
                                  </m:e>
                                  <m:sup>
                                    <m:r>
                                      <a:rPr lang="fr-FR" sz="14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fr-FR" sz="1400" smtClean="0">
                                    <a:latin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fr-FR" sz="1400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sSup>
                                  <m:sSupPr>
                                    <m:ctrlPr>
                                      <a:rPr lang="fr-FR" sz="1400" i="0"/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fr-FR" sz="1400" i="0"/>
                                      <m:t> cm</m:t>
                                    </m:r>
                                  </m:e>
                                  <m:sup>
                                    <m:r>
                                      <a:rPr lang="fr-FR" sz="14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007327800"/>
                      </a:ext>
                    </a:extLst>
                  </a:tr>
                  <a:tr h="78234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24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400" dirty="0" err="1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chirp</a:t>
                          </a:r>
                          <a:r>
                            <a:rPr lang="fr-FR" sz="1400" dirty="0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 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24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400" dirty="0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9.9 </a:t>
                          </a:r>
                          <a:r>
                            <a:rPr lang="fr-FR" sz="1400" dirty="0" err="1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ps</a:t>
                          </a:r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b="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2,0 cm-1 (1.49 pour un pulse)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fr-FR" sz="1400" i="0" dirty="0" smtClean="0"/>
                                  <m:t>3.5</m:t>
                                </m:r>
                                <m:sSup>
                                  <m:sSupPr>
                                    <m:ctrlPr>
                                      <a:rPr lang="fr-FR" sz="1400" i="0"/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fr-FR" sz="1400" i="0"/>
                                      <m:t> cm</m:t>
                                    </m:r>
                                  </m:e>
                                  <m:sup>
                                    <m:r>
                                      <a:rPr lang="fr-FR" sz="14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fr-FR" sz="1400" b="0" i="0" smtClean="0">
                                    <a:latin typeface="Cambria Math" panose="02040503050406030204" pitchFamily="18" charset="0"/>
                                  </a:rPr>
                                  <m:t>4.1</m:t>
                                </m:r>
                                <m:sSup>
                                  <m:sSupPr>
                                    <m:ctrlPr>
                                      <a:rPr lang="fr-FR" sz="1400" i="0"/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fr-FR" sz="1400" i="0"/>
                                      <m:t> cm</m:t>
                                    </m:r>
                                  </m:e>
                                  <m:sup>
                                    <m:r>
                                      <a:rPr lang="fr-FR" sz="14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fr-FR" sz="1400" smtClean="0">
                                    <a:latin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fr-FR" sz="1400" b="0" i="0" smtClean="0">
                                    <a:latin typeface="Cambria Math" panose="02040503050406030204" pitchFamily="18" charset="0"/>
                                  </a:rPr>
                                  <m:t>4.</m:t>
                                </m:r>
                                <m:r>
                                  <a:rPr lang="fr-FR" sz="140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sSup>
                                  <m:sSupPr>
                                    <m:ctrlPr>
                                      <a:rPr lang="fr-FR" sz="1400" i="0"/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fr-FR" sz="1400" i="0"/>
                                      <m:t> cm</m:t>
                                    </m:r>
                                  </m:e>
                                  <m:sup>
                                    <m:r>
                                      <a:rPr lang="fr-FR" sz="14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303044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au 6">
                <a:extLst>
                  <a:ext uri="{FF2B5EF4-FFF2-40B4-BE49-F238E27FC236}">
                    <a16:creationId xmlns:a16="http://schemas.microsoft.com/office/drawing/2014/main" id="{0BE9739A-7294-26CF-4B68-99D6EAE766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8620885"/>
                  </p:ext>
                </p:extLst>
              </p:nvPr>
            </p:nvGraphicFramePr>
            <p:xfrm>
              <a:off x="5191766" y="2604836"/>
              <a:ext cx="6911740" cy="237744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51238">
                      <a:extLst>
                        <a:ext uri="{9D8B030D-6E8A-4147-A177-3AD203B41FA5}">
                          <a16:colId xmlns:a16="http://schemas.microsoft.com/office/drawing/2014/main" val="1187242739"/>
                        </a:ext>
                      </a:extLst>
                    </a:gridCol>
                    <a:gridCol w="1151238">
                      <a:extLst>
                        <a:ext uri="{9D8B030D-6E8A-4147-A177-3AD203B41FA5}">
                          <a16:colId xmlns:a16="http://schemas.microsoft.com/office/drawing/2014/main" val="3569624622"/>
                        </a:ext>
                      </a:extLst>
                    </a:gridCol>
                    <a:gridCol w="1152316">
                      <a:extLst>
                        <a:ext uri="{9D8B030D-6E8A-4147-A177-3AD203B41FA5}">
                          <a16:colId xmlns:a16="http://schemas.microsoft.com/office/drawing/2014/main" val="1326026841"/>
                        </a:ext>
                      </a:extLst>
                    </a:gridCol>
                    <a:gridCol w="1152316">
                      <a:extLst>
                        <a:ext uri="{9D8B030D-6E8A-4147-A177-3AD203B41FA5}">
                          <a16:colId xmlns:a16="http://schemas.microsoft.com/office/drawing/2014/main" val="230273949"/>
                        </a:ext>
                      </a:extLst>
                    </a:gridCol>
                    <a:gridCol w="1152316">
                      <a:extLst>
                        <a:ext uri="{9D8B030D-6E8A-4147-A177-3AD203B41FA5}">
                          <a16:colId xmlns:a16="http://schemas.microsoft.com/office/drawing/2014/main" val="762247172"/>
                        </a:ext>
                      </a:extLst>
                    </a:gridCol>
                    <a:gridCol w="1152316">
                      <a:extLst>
                        <a:ext uri="{9D8B030D-6E8A-4147-A177-3AD203B41FA5}">
                          <a16:colId xmlns:a16="http://schemas.microsoft.com/office/drawing/2014/main" val="1397279243"/>
                        </a:ext>
                      </a:extLst>
                    </a:gridCol>
                  </a:tblGrid>
                  <a:tr h="792480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>
                              <a:effectLst/>
                            </a:rPr>
                            <a:t>Durée pulse (</a:t>
                          </a:r>
                          <a:r>
                            <a:rPr lang="el-GR" sz="14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Δτ</a:t>
                          </a:r>
                          <a:r>
                            <a:rPr lang="fr-FR" sz="14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)</a:t>
                          </a:r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 err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fwhm_instr</a:t>
                          </a:r>
                          <a:r>
                            <a:rPr lang="fr-FR" sz="140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 mesurée 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 err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fwhm_calcite</a:t>
                          </a:r>
                          <a:r>
                            <a:rPr lang="fr-FR" sz="140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 (mesure </a:t>
                          </a:r>
                          <a:r>
                            <a:rPr lang="fr-FR" sz="1400" dirty="0" err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raman</a:t>
                          </a:r>
                          <a:r>
                            <a:rPr lang="fr-FR" sz="140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) 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>
                              <a:effectLst/>
                            </a:rPr>
                            <a:t>Valeur convoluée théorique</a:t>
                          </a:r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b="1" dirty="0">
                              <a:effectLst/>
                            </a:rPr>
                            <a:t>valeurs expérimentales SRS</a:t>
                          </a:r>
                          <a:endParaRPr lang="fr-FR" sz="1400" b="1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6159894"/>
                      </a:ext>
                    </a:extLst>
                  </a:tr>
                  <a:tr h="792480">
                    <a:tc>
                      <a:txBody>
                        <a:bodyPr/>
                        <a:lstStyle/>
                        <a:p>
                          <a:pPr marL="0" marR="0" algn="ctr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no </a:t>
                          </a:r>
                          <a:r>
                            <a:rPr lang="fr-FR" sz="1400" dirty="0" err="1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chirp</a:t>
                          </a:r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dirty="0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3.0 </a:t>
                          </a:r>
                          <a:r>
                            <a:rPr lang="fr-FR" sz="1400" dirty="0" err="1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ps</a:t>
                          </a:r>
                          <a:r>
                            <a:rPr lang="fr-FR" sz="1400" dirty="0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 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b="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6.9 cm-1 (4.9 pour un pulse)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8947" t="-100000" r="-200000" b="-103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1058" t="-100000" r="-101058" b="-103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01058" t="-100000" r="-1058" b="-1030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7327800"/>
                      </a:ext>
                    </a:extLst>
                  </a:tr>
                  <a:tr h="7924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24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400" dirty="0" err="1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chirp</a:t>
                          </a:r>
                          <a:r>
                            <a:rPr lang="fr-FR" sz="1400" dirty="0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 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24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400" dirty="0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9.9 </a:t>
                          </a:r>
                          <a:r>
                            <a:rPr lang="fr-FR" sz="1400" dirty="0" err="1">
                              <a:solidFill>
                                <a:srgbClr val="1F1F1F"/>
                              </a:solidFill>
                              <a:effectLst/>
                              <a:latin typeface="+mn-lt"/>
                            </a:rPr>
                            <a:t>ps</a:t>
                          </a:r>
                          <a:endParaRPr lang="fr-FR" sz="1400" dirty="0">
                            <a:solidFill>
                              <a:srgbClr val="1F1F1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fr-FR" sz="1400" b="0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2,0 cm-1 (1.49 pour un pulse)</a:t>
                          </a:r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8947" t="-201538" r="-200000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1058" t="-201538" r="-101058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4300" marR="114300" marT="76200" marB="762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01058" t="-201538" r="-1058" b="-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030447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ZoneTexte 10">
            <a:extLst>
              <a:ext uri="{FF2B5EF4-FFF2-40B4-BE49-F238E27FC236}">
                <a16:creationId xmlns:a16="http://schemas.microsoft.com/office/drawing/2014/main" id="{EAB3768B-5C9A-BBD4-958E-8EFA6EB9E58E}"/>
              </a:ext>
            </a:extLst>
          </p:cNvPr>
          <p:cNvSpPr txBox="1"/>
          <p:nvPr/>
        </p:nvSpPr>
        <p:spPr>
          <a:xfrm>
            <a:off x="125088" y="5163978"/>
            <a:ext cx="46805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/>
              <a:t>Fig. </a:t>
            </a:r>
            <a:r>
              <a:rPr lang="fr-FR" dirty="0" err="1"/>
              <a:t>Observed</a:t>
            </a:r>
            <a:r>
              <a:rPr lang="fr-FR" dirty="0"/>
              <a:t> </a:t>
            </a:r>
            <a:r>
              <a:rPr lang="fr-FR" dirty="0" err="1"/>
              <a:t>Sum</a:t>
            </a:r>
            <a:r>
              <a:rPr lang="fr-FR" dirty="0"/>
              <a:t> </a:t>
            </a:r>
            <a:r>
              <a:rPr lang="fr-FR" dirty="0" err="1"/>
              <a:t>Frequence</a:t>
            </a:r>
            <a:r>
              <a:rPr lang="fr-FR" dirty="0"/>
              <a:t> </a:t>
            </a:r>
            <a:r>
              <a:rPr lang="fr-FR" dirty="0" err="1"/>
              <a:t>Generation</a:t>
            </a:r>
            <a:r>
              <a:rPr lang="fr-FR" dirty="0"/>
              <a:t> (SFG) </a:t>
            </a:r>
            <a:r>
              <a:rPr lang="fr-FR" dirty="0" err="1"/>
              <a:t>between</a:t>
            </a:r>
            <a:r>
              <a:rPr lang="fr-FR" dirty="0"/>
              <a:t> Stokes and </a:t>
            </a:r>
            <a:r>
              <a:rPr lang="fr-FR" dirty="0" err="1"/>
              <a:t>pump</a:t>
            </a:r>
            <a:r>
              <a:rPr lang="fr-FR" dirty="0"/>
              <a:t> </a:t>
            </a:r>
            <a:r>
              <a:rPr lang="fr-FR" dirty="0" err="1"/>
              <a:t>beam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and </a:t>
            </a:r>
            <a:r>
              <a:rPr lang="fr-FR" dirty="0" err="1"/>
              <a:t>without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. Full </a:t>
            </a:r>
            <a:r>
              <a:rPr lang="fr-FR" dirty="0" err="1"/>
              <a:t>Widths</a:t>
            </a:r>
            <a:r>
              <a:rPr lang="fr-FR" dirty="0"/>
              <a:t> at Half Maximum (FWHM) </a:t>
            </a:r>
            <a:r>
              <a:rPr lang="fr-FR" dirty="0" err="1"/>
              <a:t>were</a:t>
            </a:r>
            <a:r>
              <a:rPr lang="fr-FR" dirty="0"/>
              <a:t> </a:t>
            </a:r>
            <a:r>
              <a:rPr lang="fr-FR" dirty="0" err="1"/>
              <a:t>calculated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the </a:t>
            </a:r>
            <a:r>
              <a:rPr lang="fr-FR" dirty="0" err="1"/>
              <a:t>Gaussian</a:t>
            </a:r>
            <a:r>
              <a:rPr lang="fr-FR" dirty="0"/>
              <a:t> </a:t>
            </a:r>
            <a:r>
              <a:rPr lang="fr-FR" dirty="0" err="1"/>
              <a:t>fitting</a:t>
            </a:r>
            <a:r>
              <a:rPr lang="fr-FR" dirty="0"/>
              <a:t> </a:t>
            </a:r>
            <a:r>
              <a:rPr lang="fr-FR" dirty="0" err="1"/>
              <a:t>function</a:t>
            </a:r>
            <a:r>
              <a:rPr lang="fr-FR" dirty="0"/>
              <a:t>. 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CB3FE928-2928-AE12-F7F9-E34B82BF0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997" y="2280287"/>
            <a:ext cx="4122121" cy="2856639"/>
          </a:xfrm>
          <a:prstGeom prst="rect">
            <a:avLst/>
          </a:prstGeom>
        </p:spPr>
      </p:pic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E7F5F58F-431F-4880-1A25-F0E24084E84C}"/>
              </a:ext>
            </a:extLst>
          </p:cNvPr>
          <p:cNvCxnSpPr>
            <a:cxnSpLocks/>
          </p:cNvCxnSpPr>
          <p:nvPr/>
        </p:nvCxnSpPr>
        <p:spPr>
          <a:xfrm>
            <a:off x="7148052" y="1828620"/>
            <a:ext cx="0" cy="7375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8D10CB99-F04A-D1CE-02DC-A3B8E3302C44}"/>
              </a:ext>
            </a:extLst>
          </p:cNvPr>
          <p:cNvSpPr txBox="1"/>
          <p:nvPr/>
        </p:nvSpPr>
        <p:spPr>
          <a:xfrm>
            <a:off x="10753007" y="1548258"/>
            <a:ext cx="15829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6"/>
                </a:solidFill>
              </a:rPr>
              <a:t>Cas calcite synthétique</a:t>
            </a:r>
          </a:p>
          <a:p>
            <a:r>
              <a:rPr lang="fr-FR" dirty="0">
                <a:solidFill>
                  <a:schemeClr val="accent6"/>
                </a:solidFill>
              </a:rPr>
              <a:t>moyen 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E72B1D9-C586-68F6-0493-6425A460DB0A}"/>
              </a:ext>
            </a:extLst>
          </p:cNvPr>
          <p:cNvSpPr/>
          <p:nvPr/>
        </p:nvSpPr>
        <p:spPr>
          <a:xfrm>
            <a:off x="10985500" y="2604836"/>
            <a:ext cx="1118006" cy="2377440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D5B9AADF-DBCA-E912-65B3-6379E5959975}"/>
              </a:ext>
            </a:extLst>
          </p:cNvPr>
          <p:cNvCxnSpPr>
            <a:cxnSpLocks/>
          </p:cNvCxnSpPr>
          <p:nvPr/>
        </p:nvCxnSpPr>
        <p:spPr>
          <a:xfrm flipV="1">
            <a:off x="8258073" y="4982276"/>
            <a:ext cx="0" cy="4165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 3">
            <a:extLst>
              <a:ext uri="{FF2B5EF4-FFF2-40B4-BE49-F238E27FC236}">
                <a16:creationId xmlns:a16="http://schemas.microsoft.com/office/drawing/2014/main" id="{CB713EEA-C97B-0895-DC90-29D54C1B54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2157" y="260027"/>
            <a:ext cx="4947686" cy="1947359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1A0BFE7-212A-AD99-E876-32EAE4221D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450" y="5206484"/>
            <a:ext cx="3894157" cy="853514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9635A69A-6ADD-187E-0DDC-1D2363085619}"/>
              </a:ext>
            </a:extLst>
          </p:cNvPr>
          <p:cNvSpPr txBox="1"/>
          <p:nvPr/>
        </p:nvSpPr>
        <p:spPr>
          <a:xfrm>
            <a:off x="10388031" y="5136668"/>
            <a:ext cx="17641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Pour une gaussienne limité par la TF. 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F7273B0-ECED-02E9-6C42-20A3D19B3D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3450" y="6172103"/>
            <a:ext cx="4618120" cy="624894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936309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D5771-1918-D494-BFFE-93D53E23E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60BE4A-85DB-EA13-4242-2D9215D140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8852" y="-533609"/>
            <a:ext cx="9144000" cy="1109663"/>
          </a:xfrm>
        </p:spPr>
        <p:txBody>
          <a:bodyPr>
            <a:normAutofit/>
          </a:bodyPr>
          <a:lstStyle/>
          <a:p>
            <a:r>
              <a:rPr lang="fr-FR" sz="4000" dirty="0"/>
              <a:t>Modèle Carbonates 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9607E112-449D-3950-B5F7-2D24324DF0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587268"/>
              </p:ext>
            </p:extLst>
          </p:nvPr>
        </p:nvGraphicFramePr>
        <p:xfrm>
          <a:off x="0" y="470342"/>
          <a:ext cx="11858168" cy="2462866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1694024">
                  <a:extLst>
                    <a:ext uri="{9D8B030D-6E8A-4147-A177-3AD203B41FA5}">
                      <a16:colId xmlns:a16="http://schemas.microsoft.com/office/drawing/2014/main" val="3251183835"/>
                    </a:ext>
                  </a:extLst>
                </a:gridCol>
                <a:gridCol w="1694024">
                  <a:extLst>
                    <a:ext uri="{9D8B030D-6E8A-4147-A177-3AD203B41FA5}">
                      <a16:colId xmlns:a16="http://schemas.microsoft.com/office/drawing/2014/main" val="3137598316"/>
                    </a:ext>
                  </a:extLst>
                </a:gridCol>
                <a:gridCol w="1694024">
                  <a:extLst>
                    <a:ext uri="{9D8B030D-6E8A-4147-A177-3AD203B41FA5}">
                      <a16:colId xmlns:a16="http://schemas.microsoft.com/office/drawing/2014/main" val="3476095014"/>
                    </a:ext>
                  </a:extLst>
                </a:gridCol>
                <a:gridCol w="1694024">
                  <a:extLst>
                    <a:ext uri="{9D8B030D-6E8A-4147-A177-3AD203B41FA5}">
                      <a16:colId xmlns:a16="http://schemas.microsoft.com/office/drawing/2014/main" val="2721168428"/>
                    </a:ext>
                  </a:extLst>
                </a:gridCol>
                <a:gridCol w="1694024">
                  <a:extLst>
                    <a:ext uri="{9D8B030D-6E8A-4147-A177-3AD203B41FA5}">
                      <a16:colId xmlns:a16="http://schemas.microsoft.com/office/drawing/2014/main" val="1270338505"/>
                    </a:ext>
                  </a:extLst>
                </a:gridCol>
                <a:gridCol w="1694024">
                  <a:extLst>
                    <a:ext uri="{9D8B030D-6E8A-4147-A177-3AD203B41FA5}">
                      <a16:colId xmlns:a16="http://schemas.microsoft.com/office/drawing/2014/main" val="2330157547"/>
                    </a:ext>
                  </a:extLst>
                </a:gridCol>
                <a:gridCol w="1694024">
                  <a:extLst>
                    <a:ext uri="{9D8B030D-6E8A-4147-A177-3AD203B41FA5}">
                      <a16:colId xmlns:a16="http://schemas.microsoft.com/office/drawing/2014/main" val="290116242"/>
                    </a:ext>
                  </a:extLst>
                </a:gridCol>
              </a:tblGrid>
              <a:tr h="4511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Paramètres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Calcite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Aragonite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 err="1"/>
                        <a:t>Vaterite</a:t>
                      </a:r>
                      <a:endParaRPr lang="fr-FR" sz="18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ACC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CCHH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MHC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82828191"/>
                  </a:ext>
                </a:extLst>
              </a:tr>
              <a:tr h="577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Nu (cm</a:t>
                      </a:r>
                      <a:r>
                        <a:rPr lang="fr-FR" sz="1800" b="1" baseline="30000" dirty="0"/>
                        <a:t>-1</a:t>
                      </a:r>
                      <a:r>
                        <a:rPr lang="fr-FR" sz="1800" b="1" baseline="0" dirty="0"/>
                        <a:t>)</a:t>
                      </a: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1085.5</a:t>
                      </a:r>
                      <a:r>
                        <a:rPr lang="fr-FR" sz="1800" b="0" baseline="30000" dirty="0"/>
                        <a:t>1</a:t>
                      </a:r>
                    </a:p>
                    <a:p>
                      <a:pPr>
                        <a:buNone/>
                      </a:pPr>
                      <a:r>
                        <a:rPr lang="fr-FR" sz="1800" dirty="0"/>
                        <a:t>1085.9</a:t>
                      </a:r>
                      <a:r>
                        <a:rPr lang="fr-FR" sz="1800" b="0" baseline="30000" dirty="0"/>
                        <a:t>3</a:t>
                      </a:r>
                      <a:endParaRPr lang="fr-FR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1085.5</a:t>
                      </a:r>
                      <a:r>
                        <a:rPr lang="fr-FR" sz="1800" b="0" baseline="30000" dirty="0"/>
                        <a:t>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dirty="0"/>
                        <a:t>1086</a:t>
                      </a:r>
                      <a:r>
                        <a:rPr lang="fr-FR" sz="1800" b="0" dirty="0"/>
                        <a:t>²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1084</a:t>
                      </a:r>
                      <a:r>
                        <a:rPr lang="fr-FR" sz="1800" b="0" baseline="30000" dirty="0"/>
                        <a:t>3</a:t>
                      </a: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[</a:t>
                      </a:r>
                      <a:r>
                        <a:rPr lang="fr-FR" sz="1800" b="1" dirty="0"/>
                        <a:t>1075</a:t>
                      </a:r>
                      <a:r>
                        <a:rPr lang="fr-FR" sz="1800" dirty="0"/>
                        <a:t>, (</a:t>
                      </a:r>
                      <a:r>
                        <a:rPr lang="fr-FR" sz="1800" b="1" dirty="0"/>
                        <a:t>1080</a:t>
                      </a:r>
                      <a:r>
                        <a:rPr lang="fr-FR" sz="1800" dirty="0"/>
                        <a:t>,) </a:t>
                      </a:r>
                      <a:r>
                        <a:rPr lang="fr-FR" sz="1800" b="1" dirty="0"/>
                        <a:t>1090.8</a:t>
                      </a:r>
                      <a:r>
                        <a:rPr lang="fr-FR" sz="1800" dirty="0"/>
                        <a:t>]</a:t>
                      </a:r>
                      <a:r>
                        <a:rPr lang="fr-FR" sz="1800" b="0" baseline="30000" dirty="0"/>
                        <a:t>1</a:t>
                      </a:r>
                    </a:p>
                    <a:p>
                      <a:pPr>
                        <a:buNone/>
                      </a:pPr>
                      <a:r>
                        <a:rPr lang="fr-FR" sz="1800" b="0" dirty="0"/>
                        <a:t>[1073.8, 1080, 1089.5]</a:t>
                      </a:r>
                      <a:r>
                        <a:rPr lang="fr-FR" sz="1800" b="0" baseline="30000" dirty="0"/>
                        <a:t> 3</a:t>
                      </a:r>
                      <a:endParaRPr lang="fr-FR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1077</a:t>
                      </a:r>
                      <a:r>
                        <a:rPr lang="fr-FR" sz="1800" b="1" baseline="30000" dirty="0"/>
                        <a:t>1</a:t>
                      </a:r>
                    </a:p>
                    <a:p>
                      <a:pPr>
                        <a:buNone/>
                      </a:pPr>
                      <a:r>
                        <a:rPr lang="fr-FR" sz="1800" dirty="0"/>
                        <a:t>1075²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1073</a:t>
                      </a:r>
                      <a:r>
                        <a:rPr lang="fr-FR" sz="1800" baseline="300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1085</a:t>
                      </a:r>
                      <a:r>
                        <a:rPr lang="fr-FR" sz="1800" baseline="300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baseline="30000" dirty="0">
                        <a:solidFill>
                          <a:srgbClr val="22222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1100.1</a:t>
                      </a:r>
                      <a:r>
                        <a:rPr lang="fr-FR" sz="1800" b="0" baseline="30000" dirty="0"/>
                        <a:t>1</a:t>
                      </a:r>
                    </a:p>
                    <a:p>
                      <a:pPr>
                        <a:buNone/>
                      </a:pPr>
                      <a:r>
                        <a:rPr lang="fr-FR" sz="1800" b="1" dirty="0"/>
                        <a:t>1097</a:t>
                      </a:r>
                      <a:r>
                        <a:rPr lang="fr-FR" sz="1800" dirty="0"/>
                        <a:t>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1067.5</a:t>
                      </a:r>
                      <a:r>
                        <a:rPr lang="fr-FR" sz="1800" b="0" baseline="30000" dirty="0"/>
                        <a:t>1</a:t>
                      </a:r>
                      <a:endParaRPr lang="fr-FR" sz="18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8980348"/>
                  </a:ext>
                </a:extLst>
              </a:tr>
              <a:tr h="330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 err="1"/>
                        <a:t>FWHM_déconvolué</a:t>
                      </a:r>
                      <a:r>
                        <a:rPr lang="fr-FR" sz="1800" b="1" dirty="0"/>
                        <a:t> (cm-1)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3.5</a:t>
                      </a:r>
                      <a:r>
                        <a:rPr lang="fr-FR" sz="1800" b="0" baseline="30000" dirty="0"/>
                        <a:t>1</a:t>
                      </a:r>
                      <a:endParaRPr lang="fr-FR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3.5 </a:t>
                      </a:r>
                      <a:r>
                        <a:rPr lang="fr-FR" sz="1800" b="0" baseline="30000" dirty="0"/>
                        <a:t>1,6</a:t>
                      </a:r>
                      <a:endParaRPr lang="fr-FR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[7.9, (8 aussi?), 8]</a:t>
                      </a:r>
                      <a:r>
                        <a:rPr lang="fr-FR" sz="1800" b="1" baseline="30000" dirty="0"/>
                        <a:t>1</a:t>
                      </a:r>
                      <a:endParaRPr lang="fr-FR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35</a:t>
                      </a:r>
                      <a:r>
                        <a:rPr lang="fr-FR" sz="1800" b="1" baseline="30000" dirty="0"/>
                        <a:t>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/>
                        <a:t>30</a:t>
                      </a:r>
                      <a:r>
                        <a:rPr lang="fr-FR" sz="1800" b="0" baseline="30000" dirty="0"/>
                        <a:t>4</a:t>
                      </a:r>
                      <a:endParaRPr lang="fr-FR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5.9</a:t>
                      </a:r>
                      <a:r>
                        <a:rPr lang="fr-FR" sz="1800" b="0" baseline="30000" dirty="0"/>
                        <a:t>1</a:t>
                      </a:r>
                      <a:endParaRPr lang="fr-FR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5.3</a:t>
                      </a:r>
                      <a:r>
                        <a:rPr lang="fr-FR" sz="1800" b="0" baseline="30000" dirty="0"/>
                        <a:t>1</a:t>
                      </a:r>
                      <a:endParaRPr lang="fr-FR" sz="18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3772775"/>
                  </a:ext>
                </a:extLst>
              </a:tr>
            </a:tbl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5B074CB8-30E3-35E7-9241-EF41F0E0BC37}"/>
              </a:ext>
            </a:extLst>
          </p:cNvPr>
          <p:cNvSpPr txBox="1"/>
          <p:nvPr/>
        </p:nvSpPr>
        <p:spPr>
          <a:xfrm>
            <a:off x="603536" y="5559504"/>
            <a:ext cx="11254632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baseline="30000" dirty="0">
                <a:solidFill>
                  <a:srgbClr val="222222"/>
                </a:solidFill>
                <a:latin typeface="Arial" panose="020B0604020202020204" pitchFamily="34" charset="0"/>
              </a:rPr>
              <a:t>1</a:t>
            </a:r>
            <a:r>
              <a:rPr lang="fr-FR" sz="1100" dirty="0">
                <a:solidFill>
                  <a:srgbClr val="222222"/>
                </a:solidFill>
                <a:latin typeface="Arial" panose="020B0604020202020204" pitchFamily="34" charset="0"/>
              </a:rPr>
              <a:t>Résultats </a:t>
            </a:r>
            <a:r>
              <a:rPr lang="fr-FR" sz="1100" dirty="0" err="1">
                <a:solidFill>
                  <a:srgbClr val="222222"/>
                </a:solidFill>
                <a:latin typeface="Arial" panose="020B0604020202020204" pitchFamily="34" charset="0"/>
              </a:rPr>
              <a:t>raman</a:t>
            </a:r>
            <a:r>
              <a:rPr lang="fr-FR" sz="1100" dirty="0">
                <a:solidFill>
                  <a:srgbClr val="222222"/>
                </a:solidFill>
                <a:latin typeface="Arial" panose="020B0604020202020204" pitchFamily="34" charset="0"/>
              </a:rPr>
              <a:t> spontané – </a:t>
            </a:r>
            <a:r>
              <a:rPr lang="fr-FR" sz="1100" b="1" dirty="0">
                <a:solidFill>
                  <a:srgbClr val="222222"/>
                </a:solidFill>
                <a:latin typeface="Arial" panose="020B0604020202020204" pitchFamily="34" charset="0"/>
              </a:rPr>
              <a:t>synthétique ou géologique (cal et ara)</a:t>
            </a:r>
            <a:endParaRPr lang="fr-FR" sz="1100" baseline="30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r>
              <a:rPr lang="fr-FR" sz="1100" baseline="30000" dirty="0">
                <a:solidFill>
                  <a:srgbClr val="222222"/>
                </a:solidFill>
                <a:latin typeface="Arial" panose="020B0604020202020204" pitchFamily="34" charset="0"/>
              </a:rPr>
              <a:t>2</a:t>
            </a:r>
            <a:r>
              <a:rPr lang="fr-F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Dicko, Hamadou, et al. "3D Calcium carbonate </a:t>
            </a:r>
            <a:r>
              <a:rPr lang="fr-F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polymorphs</a:t>
            </a:r>
            <a:r>
              <a:rPr lang="fr-F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F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imaging</a:t>
            </a:r>
            <a:r>
              <a:rPr lang="fr-F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F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lang="fr-F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F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stimulated</a:t>
            </a:r>
            <a:r>
              <a:rPr lang="fr-F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Raman </a:t>
            </a:r>
            <a:r>
              <a:rPr lang="fr-F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scattering</a:t>
            </a:r>
            <a:r>
              <a:rPr lang="fr-F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lang="fr-F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biominerals</a:t>
            </a:r>
            <a:r>
              <a:rPr lang="fr-F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." </a:t>
            </a:r>
            <a:r>
              <a:rPr lang="fr-FR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Faraday Discussions</a:t>
            </a:r>
            <a:r>
              <a:rPr lang="fr-F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261 (2025): 286-297. – </a:t>
            </a:r>
            <a:r>
              <a:rPr lang="fr-F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biogénique (corail)</a:t>
            </a:r>
            <a:endParaRPr lang="fr-FR" sz="11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r>
              <a:rPr lang="fr-FR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fr-FR" sz="1100" dirty="0">
                <a:latin typeface="Arial" panose="020B0604020202020204" pitchFamily="34" charset="0"/>
                <a:cs typeface="Arial" panose="020B0604020202020204" pitchFamily="34" charset="0"/>
              </a:rPr>
              <a:t>Colas, C. (2022). </a:t>
            </a:r>
            <a:r>
              <a:rPr lang="fr-FR" sz="1100" i="1" dirty="0">
                <a:latin typeface="Arial" panose="020B0604020202020204" pitchFamily="34" charset="0"/>
                <a:cs typeface="Arial" panose="020B0604020202020204" pitchFamily="34" charset="0"/>
              </a:rPr>
              <a:t>Bio-</a:t>
            </a:r>
            <a:r>
              <a:rPr lang="fr-FR" sz="1100" i="1" dirty="0" err="1">
                <a:latin typeface="Arial" panose="020B0604020202020204" pitchFamily="34" charset="0"/>
                <a:cs typeface="Arial" panose="020B0604020202020204" pitchFamily="34" charset="0"/>
              </a:rPr>
              <a:t>inspired</a:t>
            </a:r>
            <a:r>
              <a:rPr lang="fr-FR" sz="11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synthetic</a:t>
            </a:r>
            <a:r>
              <a:rPr lang="fr-FR" sz="11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00" i="1" dirty="0" err="1">
                <a:latin typeface="Arial" panose="020B0604020202020204" pitchFamily="34" charset="0"/>
                <a:cs typeface="Arial" panose="020B0604020202020204" pitchFamily="34" charset="0"/>
              </a:rPr>
              <a:t>crystals</a:t>
            </a:r>
            <a:r>
              <a:rPr lang="fr-FR" sz="1100" dirty="0">
                <a:latin typeface="Arial" panose="020B0604020202020204" pitchFamily="34" charset="0"/>
                <a:cs typeface="Arial" panose="020B0604020202020204" pitchFamily="34" charset="0"/>
              </a:rPr>
              <a:t> (Doctoral dissertation, Université Paris-Saclay).</a:t>
            </a:r>
          </a:p>
          <a:p>
            <a:r>
              <a:rPr lang="fr-FR" sz="1100" baseline="300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fr-FR" sz="1100" dirty="0">
                <a:latin typeface="Arial" panose="020B0604020202020204" pitchFamily="34" charset="0"/>
                <a:cs typeface="Arial" panose="020B0604020202020204" pitchFamily="34" charset="0"/>
              </a:rPr>
              <a:t>Duboisset et al., « </a:t>
            </a:r>
            <a:r>
              <a:rPr lang="fr-FR" sz="1100" dirty="0" err="1">
                <a:latin typeface="Arial" panose="020B0604020202020204" pitchFamily="34" charset="0"/>
                <a:cs typeface="Arial" panose="020B0604020202020204" pitchFamily="34" charset="0"/>
              </a:rPr>
              <a:t>Amorphous</a:t>
            </a:r>
            <a:r>
              <a:rPr lang="fr-FR" sz="1100" dirty="0">
                <a:latin typeface="Arial" panose="020B0604020202020204" pitchFamily="34" charset="0"/>
                <a:cs typeface="Arial" panose="020B0604020202020204" pitchFamily="34" charset="0"/>
              </a:rPr>
              <a:t>-to-Crystal Transition in the Layer-by-Layer </a:t>
            </a:r>
            <a:r>
              <a:rPr lang="fr-FR" sz="1100" dirty="0" err="1">
                <a:latin typeface="Arial" panose="020B0604020202020204" pitchFamily="34" charset="0"/>
                <a:cs typeface="Arial" panose="020B0604020202020204" pitchFamily="34" charset="0"/>
              </a:rPr>
              <a:t>Growth</a:t>
            </a:r>
            <a:r>
              <a:rPr lang="fr-FR" sz="1100" dirty="0">
                <a:latin typeface="Arial" panose="020B0604020202020204" pitchFamily="34" charset="0"/>
                <a:cs typeface="Arial" panose="020B0604020202020204" pitchFamily="34" charset="0"/>
              </a:rPr>
              <a:t> of Bivalve Shell </a:t>
            </a:r>
            <a:r>
              <a:rPr lang="fr-FR" sz="1100" dirty="0" err="1">
                <a:latin typeface="Arial" panose="020B0604020202020204" pitchFamily="34" charset="0"/>
                <a:cs typeface="Arial" panose="020B0604020202020204" pitchFamily="34" charset="0"/>
              </a:rPr>
              <a:t>Prisms</a:t>
            </a:r>
            <a:r>
              <a:rPr lang="fr-FR" sz="1100" dirty="0">
                <a:latin typeface="Arial" panose="020B0604020202020204" pitchFamily="34" charset="0"/>
                <a:cs typeface="Arial" panose="020B0604020202020204" pitchFamily="34" charset="0"/>
              </a:rPr>
              <a:t> ». – </a:t>
            </a:r>
            <a:r>
              <a:rPr lang="fr-FR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biogenique</a:t>
            </a:r>
            <a:r>
              <a:rPr lang="fr-FR" sz="1100" b="1" dirty="0">
                <a:latin typeface="Arial" panose="020B0604020202020204" pitchFamily="34" charset="0"/>
                <a:cs typeface="Arial" panose="020B0604020202020204" pitchFamily="34" charset="0"/>
              </a:rPr>
              <a:t> (huitre)</a:t>
            </a:r>
          </a:p>
          <a:p>
            <a:r>
              <a:rPr lang="en-U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Lia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Addadi</a:t>
            </a:r>
            <a:r>
              <a:rPr lang="fr-FR" sz="1100" dirty="0">
                <a:latin typeface="Arial" panose="020B0604020202020204" pitchFamily="34" charset="0"/>
                <a:cs typeface="Arial" panose="020B0604020202020204" pitchFamily="34" charset="0"/>
              </a:rPr>
              <a:t> et al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“Taking Advantage of Disorder: Amorphous Calcium Carbonate and Its Roles in Biomineralization” – </a:t>
            </a:r>
            <a:r>
              <a:rPr lang="en-US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biogenique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juvenil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 huitre, </a:t>
            </a:r>
            <a:r>
              <a:rPr lang="en-US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oursin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Farfan et al (2021)“Crystallographic and chemical signatures in coral skeletal aragonite” (National Museum of  Natural History, Washington, DC, USA) – </a:t>
            </a:r>
            <a:r>
              <a:rPr lang="en-US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corail</a:t>
            </a:r>
            <a:endParaRPr lang="fr-FR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0D01F1B0-0BDC-A5A9-1700-7A2492DEC5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328864"/>
              </p:ext>
            </p:extLst>
          </p:nvPr>
        </p:nvGraphicFramePr>
        <p:xfrm>
          <a:off x="0" y="3202350"/>
          <a:ext cx="11965856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9408">
                  <a:extLst>
                    <a:ext uri="{9D8B030D-6E8A-4147-A177-3AD203B41FA5}">
                      <a16:colId xmlns:a16="http://schemas.microsoft.com/office/drawing/2014/main" val="1288489453"/>
                    </a:ext>
                  </a:extLst>
                </a:gridCol>
                <a:gridCol w="1709408">
                  <a:extLst>
                    <a:ext uri="{9D8B030D-6E8A-4147-A177-3AD203B41FA5}">
                      <a16:colId xmlns:a16="http://schemas.microsoft.com/office/drawing/2014/main" val="3546645173"/>
                    </a:ext>
                  </a:extLst>
                </a:gridCol>
                <a:gridCol w="1709408">
                  <a:extLst>
                    <a:ext uri="{9D8B030D-6E8A-4147-A177-3AD203B41FA5}">
                      <a16:colId xmlns:a16="http://schemas.microsoft.com/office/drawing/2014/main" val="2153859496"/>
                    </a:ext>
                  </a:extLst>
                </a:gridCol>
                <a:gridCol w="1709408">
                  <a:extLst>
                    <a:ext uri="{9D8B030D-6E8A-4147-A177-3AD203B41FA5}">
                      <a16:colId xmlns:a16="http://schemas.microsoft.com/office/drawing/2014/main" val="2814571671"/>
                    </a:ext>
                  </a:extLst>
                </a:gridCol>
                <a:gridCol w="1709408">
                  <a:extLst>
                    <a:ext uri="{9D8B030D-6E8A-4147-A177-3AD203B41FA5}">
                      <a16:colId xmlns:a16="http://schemas.microsoft.com/office/drawing/2014/main" val="89165594"/>
                    </a:ext>
                  </a:extLst>
                </a:gridCol>
                <a:gridCol w="1709408">
                  <a:extLst>
                    <a:ext uri="{9D8B030D-6E8A-4147-A177-3AD203B41FA5}">
                      <a16:colId xmlns:a16="http://schemas.microsoft.com/office/drawing/2014/main" val="2783805804"/>
                    </a:ext>
                  </a:extLst>
                </a:gridCol>
                <a:gridCol w="1709408">
                  <a:extLst>
                    <a:ext uri="{9D8B030D-6E8A-4147-A177-3AD203B41FA5}">
                      <a16:colId xmlns:a16="http://schemas.microsoft.com/office/drawing/2014/main" val="884758507"/>
                    </a:ext>
                  </a:extLst>
                </a:gridCol>
              </a:tblGrid>
              <a:tr h="320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 err="1"/>
                        <a:t>nu_LB</a:t>
                      </a:r>
                      <a:r>
                        <a:rPr lang="fr-FR" sz="1800" dirty="0"/>
                        <a:t> (cm⁻¹)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1084.5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1084</a:t>
                      </a: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1073</a:t>
                      </a: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1073,1070(corail)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1097</a:t>
                      </a:r>
                      <a:endParaRPr lang="fr-F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1066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7642651"/>
                  </a:ext>
                </a:extLst>
              </a:tr>
              <a:tr h="183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nu_UB (cm⁻¹)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1086.5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1086.5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1070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2331635"/>
                  </a:ext>
                </a:extLst>
              </a:tr>
              <a:tr h="320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FWHM_LB (cm⁻¹)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0099489"/>
                  </a:ext>
                </a:extLst>
              </a:tr>
              <a:tr h="320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FWHM_UB (cm⁻¹)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7396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7514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78C930-2211-C701-FECE-1D469EBFF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14963"/>
            <a:ext cx="10515600" cy="2016881"/>
          </a:xfrm>
        </p:spPr>
        <p:txBody>
          <a:bodyPr>
            <a:noAutofit/>
          </a:bodyPr>
          <a:lstStyle/>
          <a:p>
            <a:r>
              <a:rPr lang="fr-FR" sz="3200" dirty="0"/>
              <a:t>Pourquoi ? </a:t>
            </a:r>
            <a:br>
              <a:rPr lang="fr-FR" sz="3200" dirty="0"/>
            </a:br>
            <a:r>
              <a:rPr lang="fr-FR" sz="3200" dirty="0"/>
              <a:t>	- bruit ?</a:t>
            </a:r>
            <a:br>
              <a:rPr lang="fr-FR" sz="3200" dirty="0"/>
            </a:br>
            <a:r>
              <a:rPr lang="fr-FR" sz="3200" dirty="0"/>
              <a:t>	- illumination non homogène ? </a:t>
            </a:r>
            <a:br>
              <a:rPr lang="fr-FR" sz="3200" dirty="0"/>
            </a:br>
            <a:r>
              <a:rPr lang="fr-FR" sz="3200" dirty="0"/>
              <a:t>	- erreur modèle ? 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91660EBB-F987-0FE1-EBF3-C2E50DBAE4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052493"/>
              </p:ext>
            </p:extLst>
          </p:nvPr>
        </p:nvGraphicFramePr>
        <p:xfrm>
          <a:off x="750324" y="1772920"/>
          <a:ext cx="10515600" cy="165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353724686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11516135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04474164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84350807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72834826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84429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Ratio A(cc/acc)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Synthetic</a:t>
                      </a:r>
                      <a:r>
                        <a:rPr lang="fr-FR" dirty="0"/>
                        <a:t> 260708 1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 err="1"/>
                        <a:t>Synthetic</a:t>
                      </a:r>
                      <a:r>
                        <a:rPr lang="fr-FR" dirty="0"/>
                        <a:t> 260708 2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 err="1"/>
                        <a:t>Synthetic</a:t>
                      </a:r>
                      <a:r>
                        <a:rPr lang="fr-FR" dirty="0"/>
                        <a:t> 260708 3 (</a:t>
                      </a:r>
                      <a:r>
                        <a:rPr lang="fr-FR" dirty="0" err="1"/>
                        <a:t>see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nxt</a:t>
                      </a:r>
                      <a:r>
                        <a:rPr lang="fr-FR" dirty="0"/>
                        <a:t> slide)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Coral - 260715 (</a:t>
                      </a:r>
                      <a:r>
                        <a:rPr lang="fr-FR" dirty="0" err="1"/>
                        <a:t>small</a:t>
                      </a:r>
                      <a:r>
                        <a:rPr lang="fr-FR" dirty="0"/>
                        <a:t> ROI)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Coral - 260715 (big ROI)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034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2.94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1999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7ps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1.14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671692"/>
                  </a:ext>
                </a:extLst>
              </a:tr>
            </a:tbl>
          </a:graphicData>
        </a:graphic>
      </p:graphicFrame>
      <p:sp>
        <p:nvSpPr>
          <p:cNvPr id="3" name="Titre 1">
            <a:extLst>
              <a:ext uri="{FF2B5EF4-FFF2-40B4-BE49-F238E27FC236}">
                <a16:creationId xmlns:a16="http://schemas.microsoft.com/office/drawing/2014/main" id="{50685EF4-A89F-691F-EC5B-6EF27CBD61F8}"/>
              </a:ext>
            </a:extLst>
          </p:cNvPr>
          <p:cNvSpPr txBox="1">
            <a:spLocks/>
          </p:cNvSpPr>
          <p:nvPr/>
        </p:nvSpPr>
        <p:spPr>
          <a:xfrm>
            <a:off x="113292" y="170611"/>
            <a:ext cx="9144000" cy="1109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/>
              <a:t>Expérimentale – Fit sur A </a:t>
            </a:r>
          </a:p>
        </p:txBody>
      </p:sp>
    </p:spTree>
    <p:extLst>
      <p:ext uri="{BB962C8B-B14F-4D97-AF65-F5344CB8AC3E}">
        <p14:creationId xmlns:p14="http://schemas.microsoft.com/office/powerpoint/2010/main" val="1208176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324DD-4516-7247-EA70-E62EB4B37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7E7592BE-DACE-D871-10F2-C77292372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56135" y="42488"/>
            <a:ext cx="5642924" cy="749032"/>
          </a:xfrm>
        </p:spPr>
        <p:txBody>
          <a:bodyPr>
            <a:normAutofit fontScale="25000" lnSpcReduction="20000"/>
          </a:bodyPr>
          <a:lstStyle/>
          <a:p>
            <a:pPr marL="114300" indent="0">
              <a:buNone/>
            </a:pPr>
            <a:r>
              <a:rPr lang="fr-FR" sz="14400" b="1" dirty="0"/>
              <a:t>2ps vs 7ps - 260708 </a:t>
            </a:r>
            <a:r>
              <a:rPr lang="fr-FR" sz="14400" b="1" dirty="0" err="1"/>
              <a:t>ACC_Cal</a:t>
            </a:r>
            <a:r>
              <a:rPr lang="fr-FR" sz="14400" b="1" dirty="0"/>
              <a:t>  </a:t>
            </a:r>
            <a:r>
              <a:rPr lang="fr-FR" sz="14400" b="1" dirty="0" err="1"/>
              <a:t>synt</a:t>
            </a:r>
            <a:r>
              <a:rPr lang="fr-FR" sz="14400" b="1" dirty="0"/>
              <a:t> </a:t>
            </a:r>
          </a:p>
          <a:p>
            <a:pPr marL="114300" indent="0">
              <a:buNone/>
            </a:pPr>
            <a:r>
              <a:rPr lang="fr-FR" dirty="0"/>
              <a:t>                                                     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ADC245F-3CA4-5578-DA75-1F575603B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665834" y="1002194"/>
            <a:ext cx="2384957" cy="2329842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4AD9908-97B6-A421-63B2-994A24E83C0C}"/>
              </a:ext>
            </a:extLst>
          </p:cNvPr>
          <p:cNvSpPr/>
          <p:nvPr/>
        </p:nvSpPr>
        <p:spPr>
          <a:xfrm>
            <a:off x="1844342" y="1433385"/>
            <a:ext cx="209048" cy="1943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744C45-E39D-1848-6301-BBC85FA769AB}"/>
              </a:ext>
            </a:extLst>
          </p:cNvPr>
          <p:cNvSpPr/>
          <p:nvPr/>
        </p:nvSpPr>
        <p:spPr>
          <a:xfrm>
            <a:off x="2389940" y="2322870"/>
            <a:ext cx="129540" cy="1265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FD44097-F403-E9C0-4D80-305579D17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609" y="256935"/>
            <a:ext cx="3097056" cy="2606115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A30DC86B-938E-1E59-B74E-722BC58461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9579" y="256935"/>
            <a:ext cx="3064648" cy="2619594"/>
          </a:xfrm>
          <a:prstGeom prst="rect">
            <a:avLst/>
          </a:prstGeom>
        </p:spPr>
      </p:pic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CC776153-BF00-F2AE-5929-CE134716DD41}"/>
              </a:ext>
            </a:extLst>
          </p:cNvPr>
          <p:cNvCxnSpPr>
            <a:cxnSpLocks/>
          </p:cNvCxnSpPr>
          <p:nvPr/>
        </p:nvCxnSpPr>
        <p:spPr>
          <a:xfrm>
            <a:off x="2646758" y="3271077"/>
            <a:ext cx="2357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968B4CB8-0382-4D20-2180-838BABF6E9F0}"/>
              </a:ext>
            </a:extLst>
          </p:cNvPr>
          <p:cNvSpPr txBox="1"/>
          <p:nvPr/>
        </p:nvSpPr>
        <p:spPr>
          <a:xfrm>
            <a:off x="2355703" y="2901745"/>
            <a:ext cx="81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10 µm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0F55370C-54D9-1990-C1EA-EE0EB1110A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0609" y="252394"/>
            <a:ext cx="3097056" cy="2606115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756CDBC9-3C36-DD1E-9C08-5B20136969C5}"/>
              </a:ext>
            </a:extLst>
          </p:cNvPr>
          <p:cNvSpPr txBox="1"/>
          <p:nvPr/>
        </p:nvSpPr>
        <p:spPr>
          <a:xfrm>
            <a:off x="6378703" y="134227"/>
            <a:ext cx="1356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2ps</a:t>
            </a:r>
            <a:endParaRPr lang="fr-FR" sz="3600" dirty="0">
              <a:solidFill>
                <a:schemeClr val="bg1"/>
              </a:solidFill>
            </a:endParaRP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F5FB1F70-2FE7-51C8-81C6-33D786D6A8D9}"/>
              </a:ext>
            </a:extLst>
          </p:cNvPr>
          <p:cNvCxnSpPr>
            <a:cxnSpLocks/>
          </p:cNvCxnSpPr>
          <p:nvPr/>
        </p:nvCxnSpPr>
        <p:spPr>
          <a:xfrm>
            <a:off x="6871344" y="2533441"/>
            <a:ext cx="2357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E226F78E-9807-831D-E44B-EF4C472DCEE2}"/>
              </a:ext>
            </a:extLst>
          </p:cNvPr>
          <p:cNvSpPr txBox="1"/>
          <p:nvPr/>
        </p:nvSpPr>
        <p:spPr>
          <a:xfrm>
            <a:off x="6580289" y="2164109"/>
            <a:ext cx="81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10 µm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1032B42E-9C66-8270-11D9-B378F088B7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9581" y="238917"/>
            <a:ext cx="3064646" cy="2619592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6652F504-6FE1-8C7B-E34D-0990EFFD3465}"/>
              </a:ext>
            </a:extLst>
          </p:cNvPr>
          <p:cNvSpPr txBox="1"/>
          <p:nvPr/>
        </p:nvSpPr>
        <p:spPr>
          <a:xfrm>
            <a:off x="10316308" y="212838"/>
            <a:ext cx="1356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7ps</a:t>
            </a:r>
            <a:endParaRPr lang="fr-FR" sz="3600" dirty="0">
              <a:solidFill>
                <a:schemeClr val="bg1"/>
              </a:solidFill>
            </a:endParaRPr>
          </a:p>
        </p:txBody>
      </p: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5FAD10D5-64B5-1F46-FE03-E2C15E75BB95}"/>
              </a:ext>
            </a:extLst>
          </p:cNvPr>
          <p:cNvCxnSpPr>
            <a:cxnSpLocks/>
          </p:cNvCxnSpPr>
          <p:nvPr/>
        </p:nvCxnSpPr>
        <p:spPr>
          <a:xfrm>
            <a:off x="10794844" y="2525818"/>
            <a:ext cx="2357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EFAE0F4E-B701-D5B3-46AB-13E02AA99997}"/>
              </a:ext>
            </a:extLst>
          </p:cNvPr>
          <p:cNvSpPr txBox="1"/>
          <p:nvPr/>
        </p:nvSpPr>
        <p:spPr>
          <a:xfrm>
            <a:off x="10503789" y="2156486"/>
            <a:ext cx="81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10 µm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05EF2E7-8DD9-73DE-3030-76D19C7E82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45668" y="3068415"/>
            <a:ext cx="4381257" cy="326561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9B88D62-3BFA-B151-0893-5D2665BE2DA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57601" y="3063559"/>
            <a:ext cx="4381257" cy="3270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2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8E358-78B2-81EE-5225-84261E911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61ACC567-E438-6C26-B853-684D5E631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56135" y="42488"/>
            <a:ext cx="5642924" cy="749032"/>
          </a:xfrm>
        </p:spPr>
        <p:txBody>
          <a:bodyPr>
            <a:normAutofit fontScale="25000" lnSpcReduction="20000"/>
          </a:bodyPr>
          <a:lstStyle/>
          <a:p>
            <a:pPr marL="114300" indent="0">
              <a:buNone/>
            </a:pPr>
            <a:r>
              <a:rPr lang="fr-FR" sz="14400" b="1" dirty="0"/>
              <a:t>2ps vs 7ps - 260708 </a:t>
            </a:r>
            <a:r>
              <a:rPr lang="fr-FR" sz="14400" b="1" dirty="0" err="1"/>
              <a:t>ACC_Cal</a:t>
            </a:r>
            <a:r>
              <a:rPr lang="fr-FR" sz="14400" b="1" dirty="0"/>
              <a:t>  </a:t>
            </a:r>
            <a:r>
              <a:rPr lang="fr-FR" sz="14400" b="1" dirty="0" err="1"/>
              <a:t>synt</a:t>
            </a:r>
            <a:r>
              <a:rPr lang="fr-FR" sz="14400" b="1" dirty="0"/>
              <a:t> </a:t>
            </a:r>
          </a:p>
          <a:p>
            <a:pPr marL="114300" indent="0">
              <a:buNone/>
            </a:pPr>
            <a:r>
              <a:rPr lang="fr-FR" dirty="0"/>
              <a:t>                                                      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1D436C0-7275-1A5D-F070-11E5FE5DE3E0}"/>
              </a:ext>
            </a:extLst>
          </p:cNvPr>
          <p:cNvSpPr txBox="1"/>
          <p:nvPr/>
        </p:nvSpPr>
        <p:spPr>
          <a:xfrm>
            <a:off x="10316308" y="212838"/>
            <a:ext cx="1356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7ps</a:t>
            </a:r>
            <a:endParaRPr lang="fr-FR" sz="3600" dirty="0">
              <a:solidFill>
                <a:schemeClr val="bg1"/>
              </a:solidFill>
            </a:endParaRPr>
          </a:p>
        </p:txBody>
      </p: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9CC29A4C-C51C-98F5-1B11-E9FFE2460E5D}"/>
              </a:ext>
            </a:extLst>
          </p:cNvPr>
          <p:cNvCxnSpPr>
            <a:cxnSpLocks/>
          </p:cNvCxnSpPr>
          <p:nvPr/>
        </p:nvCxnSpPr>
        <p:spPr>
          <a:xfrm>
            <a:off x="10794844" y="2525818"/>
            <a:ext cx="2357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ZoneTexte 34">
            <a:extLst>
              <a:ext uri="{FF2B5EF4-FFF2-40B4-BE49-F238E27FC236}">
                <a16:creationId xmlns:a16="http://schemas.microsoft.com/office/drawing/2014/main" id="{55283D9F-6180-1F91-B1A0-85D55292510F}"/>
              </a:ext>
            </a:extLst>
          </p:cNvPr>
          <p:cNvSpPr txBox="1"/>
          <p:nvPr/>
        </p:nvSpPr>
        <p:spPr>
          <a:xfrm>
            <a:off x="10503789" y="2156486"/>
            <a:ext cx="81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10 µm</a:t>
            </a:r>
          </a:p>
        </p:txBody>
      </p: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B12CA6E2-1FC2-E22D-8816-2FA1D7A8A72F}"/>
              </a:ext>
            </a:extLst>
          </p:cNvPr>
          <p:cNvCxnSpPr>
            <a:cxnSpLocks/>
          </p:cNvCxnSpPr>
          <p:nvPr/>
        </p:nvCxnSpPr>
        <p:spPr>
          <a:xfrm>
            <a:off x="2646758" y="3271077"/>
            <a:ext cx="2357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C0B37200-47B2-145D-EFF8-297CB02BB059}"/>
              </a:ext>
            </a:extLst>
          </p:cNvPr>
          <p:cNvSpPr txBox="1"/>
          <p:nvPr/>
        </p:nvSpPr>
        <p:spPr>
          <a:xfrm>
            <a:off x="2355703" y="2901745"/>
            <a:ext cx="81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10 µm</a:t>
            </a: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4246C139-9BA7-1EF0-D61B-C68D92F7ABF0}"/>
              </a:ext>
            </a:extLst>
          </p:cNvPr>
          <p:cNvCxnSpPr>
            <a:cxnSpLocks/>
          </p:cNvCxnSpPr>
          <p:nvPr/>
        </p:nvCxnSpPr>
        <p:spPr>
          <a:xfrm>
            <a:off x="6871344" y="2533441"/>
            <a:ext cx="2357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86B5E0CA-D9C4-7E9C-7480-E32B7965CA26}"/>
              </a:ext>
            </a:extLst>
          </p:cNvPr>
          <p:cNvSpPr txBox="1"/>
          <p:nvPr/>
        </p:nvSpPr>
        <p:spPr>
          <a:xfrm>
            <a:off x="6989216" y="956460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x 0.55</a:t>
            </a:r>
          </a:p>
        </p:txBody>
      </p:sp>
      <p:sp>
        <p:nvSpPr>
          <p:cNvPr id="43" name="Flèche : en arc 42">
            <a:extLst>
              <a:ext uri="{FF2B5EF4-FFF2-40B4-BE49-F238E27FC236}">
                <a16:creationId xmlns:a16="http://schemas.microsoft.com/office/drawing/2014/main" id="{941E4BFF-D7B6-F1E7-9497-8EF9145F14C3}"/>
              </a:ext>
            </a:extLst>
          </p:cNvPr>
          <p:cNvSpPr/>
          <p:nvPr/>
        </p:nvSpPr>
        <p:spPr>
          <a:xfrm rot="16200000" flipV="1">
            <a:off x="6702658" y="922479"/>
            <a:ext cx="302144" cy="400373"/>
          </a:xfrm>
          <a:prstGeom prst="circularArrow">
            <a:avLst>
              <a:gd name="adj1" fmla="val 0"/>
              <a:gd name="adj2" fmla="val 1142319"/>
              <a:gd name="adj3" fmla="val 21014151"/>
              <a:gd name="adj4" fmla="val 10800000"/>
              <a:gd name="adj5" fmla="val 1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517105A-A2C7-15FA-49B3-CE46C29BB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45" y="2102055"/>
            <a:ext cx="5041497" cy="3804178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56D17D3F-B7D2-AE48-46A6-D89303479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968" y="2102055"/>
            <a:ext cx="4680368" cy="3804178"/>
          </a:xfrm>
          <a:prstGeom prst="rect">
            <a:avLst/>
          </a:prstGeom>
        </p:spPr>
      </p:pic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55AD878F-03A6-4896-5392-BAB3E62965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065835"/>
              </p:ext>
            </p:extLst>
          </p:nvPr>
        </p:nvGraphicFramePr>
        <p:xfrm>
          <a:off x="4842448" y="142465"/>
          <a:ext cx="6930138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2203">
                  <a:extLst>
                    <a:ext uri="{9D8B030D-6E8A-4147-A177-3AD203B41FA5}">
                      <a16:colId xmlns:a16="http://schemas.microsoft.com/office/drawing/2014/main" val="1686248404"/>
                    </a:ext>
                  </a:extLst>
                </a:gridCol>
                <a:gridCol w="1872645">
                  <a:extLst>
                    <a:ext uri="{9D8B030D-6E8A-4147-A177-3AD203B41FA5}">
                      <a16:colId xmlns:a16="http://schemas.microsoft.com/office/drawing/2014/main" val="1651581824"/>
                    </a:ext>
                  </a:extLst>
                </a:gridCol>
                <a:gridCol w="1872645">
                  <a:extLst>
                    <a:ext uri="{9D8B030D-6E8A-4147-A177-3AD203B41FA5}">
                      <a16:colId xmlns:a16="http://schemas.microsoft.com/office/drawing/2014/main" val="3905708282"/>
                    </a:ext>
                  </a:extLst>
                </a:gridCol>
                <a:gridCol w="1872645">
                  <a:extLst>
                    <a:ext uri="{9D8B030D-6E8A-4147-A177-3AD203B41FA5}">
                      <a16:colId xmlns:a16="http://schemas.microsoft.com/office/drawing/2014/main" val="2562659957"/>
                    </a:ext>
                  </a:extLst>
                </a:gridCol>
              </a:tblGrid>
              <a:tr h="214650">
                <a:tc>
                  <a:txBody>
                    <a:bodyPr/>
                    <a:lstStyle/>
                    <a:p>
                      <a:r>
                        <a:rPr lang="fr-FR" sz="1400" dirty="0"/>
                        <a:t>260708 ROI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Nu (cm-1)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err="1"/>
                        <a:t>FWHM_phase</a:t>
                      </a:r>
                      <a:r>
                        <a:rPr lang="fr-FR" sz="1400" dirty="0"/>
                        <a:t> (cm-1)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411394"/>
                  </a:ext>
                </a:extLst>
              </a:tr>
              <a:tr h="214650">
                <a:tc>
                  <a:txBody>
                    <a:bodyPr/>
                    <a:lstStyle/>
                    <a:p>
                      <a:r>
                        <a:rPr lang="fr-FR" sz="1400" b="1" dirty="0"/>
                        <a:t>2ps 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33862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74629"/>
                  </a:ext>
                </a:extLst>
              </a:tr>
              <a:tr h="2146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/>
                        <a:t>2ps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61552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929246"/>
                  </a:ext>
                </a:extLst>
              </a:tr>
              <a:tr h="214650">
                <a:tc>
                  <a:txBody>
                    <a:bodyPr/>
                    <a:lstStyle/>
                    <a:p>
                      <a:r>
                        <a:rPr lang="fr-FR" sz="1400" b="1" dirty="0"/>
                        <a:t>7ps 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68268"/>
                  </a:ext>
                </a:extLst>
              </a:tr>
              <a:tr h="214650">
                <a:tc>
                  <a:txBody>
                    <a:bodyPr/>
                    <a:lstStyle/>
                    <a:p>
                      <a:r>
                        <a:rPr lang="fr-FR" sz="1400" b="1" dirty="0"/>
                        <a:t>7ps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12761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1078.8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265749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4870A0F4-14E7-DC09-6AF6-8143AFE2A75A}"/>
              </a:ext>
            </a:extLst>
          </p:cNvPr>
          <p:cNvSpPr txBox="1"/>
          <p:nvPr/>
        </p:nvSpPr>
        <p:spPr>
          <a:xfrm>
            <a:off x="7126868" y="562922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x 0.55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B672062-B83C-1B8A-175D-85D0D9127EFB}"/>
              </a:ext>
            </a:extLst>
          </p:cNvPr>
          <p:cNvSpPr txBox="1"/>
          <p:nvPr/>
        </p:nvSpPr>
        <p:spPr>
          <a:xfrm>
            <a:off x="7126868" y="1168973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x 0.73</a:t>
            </a:r>
          </a:p>
        </p:txBody>
      </p:sp>
      <p:sp>
        <p:nvSpPr>
          <p:cNvPr id="12" name="Flèche : en arc 11">
            <a:extLst>
              <a:ext uri="{FF2B5EF4-FFF2-40B4-BE49-F238E27FC236}">
                <a16:creationId xmlns:a16="http://schemas.microsoft.com/office/drawing/2014/main" id="{9909E1E9-1314-9F07-ABB5-61E6A884C906}"/>
              </a:ext>
            </a:extLst>
          </p:cNvPr>
          <p:cNvSpPr/>
          <p:nvPr/>
        </p:nvSpPr>
        <p:spPr>
          <a:xfrm rot="16200000" flipV="1">
            <a:off x="6857923" y="1153452"/>
            <a:ext cx="302144" cy="400373"/>
          </a:xfrm>
          <a:prstGeom prst="circularArrow">
            <a:avLst>
              <a:gd name="adj1" fmla="val 0"/>
              <a:gd name="adj2" fmla="val 1142319"/>
              <a:gd name="adj3" fmla="val 21014151"/>
              <a:gd name="adj4" fmla="val 10800000"/>
              <a:gd name="adj5" fmla="val 1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5" name="Flèche : en arc 14">
            <a:extLst>
              <a:ext uri="{FF2B5EF4-FFF2-40B4-BE49-F238E27FC236}">
                <a16:creationId xmlns:a16="http://schemas.microsoft.com/office/drawing/2014/main" id="{DB5BB741-AF93-B1BA-F392-33D7314A72B3}"/>
              </a:ext>
            </a:extLst>
          </p:cNvPr>
          <p:cNvSpPr/>
          <p:nvPr/>
        </p:nvSpPr>
        <p:spPr>
          <a:xfrm rot="16200000" flipV="1">
            <a:off x="6840310" y="528941"/>
            <a:ext cx="302144" cy="400373"/>
          </a:xfrm>
          <a:prstGeom prst="circularArrow">
            <a:avLst>
              <a:gd name="adj1" fmla="val 0"/>
              <a:gd name="adj2" fmla="val 1142319"/>
              <a:gd name="adj3" fmla="val 21014151"/>
              <a:gd name="adj4" fmla="val 10800000"/>
              <a:gd name="adj5" fmla="val 1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458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AFCEC-21E3-450E-DABC-B156E06CA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DC274F36-5E28-52CA-CE23-60FB9DB0C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56135" y="42488"/>
            <a:ext cx="5642924" cy="749032"/>
          </a:xfrm>
        </p:spPr>
        <p:txBody>
          <a:bodyPr>
            <a:normAutofit fontScale="25000" lnSpcReduction="20000"/>
          </a:bodyPr>
          <a:lstStyle/>
          <a:p>
            <a:pPr marL="114300" indent="0">
              <a:buNone/>
            </a:pPr>
            <a:r>
              <a:rPr lang="fr-FR" sz="14400" b="1" dirty="0"/>
              <a:t>2ps vs 7ps - 260708 </a:t>
            </a:r>
            <a:r>
              <a:rPr lang="fr-FR" sz="14400" b="1" dirty="0" err="1"/>
              <a:t>ACC_Cal</a:t>
            </a:r>
            <a:r>
              <a:rPr lang="fr-FR" sz="14400" b="1" dirty="0"/>
              <a:t>  </a:t>
            </a:r>
            <a:r>
              <a:rPr lang="fr-FR" sz="14400" b="1" dirty="0" err="1"/>
              <a:t>synt</a:t>
            </a:r>
            <a:r>
              <a:rPr lang="fr-FR" sz="14400" b="1" dirty="0"/>
              <a:t> </a:t>
            </a:r>
          </a:p>
          <a:p>
            <a:pPr marL="114300" indent="0">
              <a:buNone/>
            </a:pPr>
            <a:r>
              <a:rPr lang="fr-FR" dirty="0"/>
              <a:t>                                                      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ABED340-FB77-779B-1703-73A17F3A5DD4}"/>
              </a:ext>
            </a:extLst>
          </p:cNvPr>
          <p:cNvSpPr txBox="1"/>
          <p:nvPr/>
        </p:nvSpPr>
        <p:spPr>
          <a:xfrm>
            <a:off x="10316308" y="212838"/>
            <a:ext cx="1356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7ps</a:t>
            </a:r>
            <a:endParaRPr lang="fr-FR" sz="3600" dirty="0">
              <a:solidFill>
                <a:schemeClr val="bg1"/>
              </a:solidFill>
            </a:endParaRPr>
          </a:p>
        </p:txBody>
      </p: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B7CE607F-9E43-5D43-E7CD-84CBDB011FF8}"/>
              </a:ext>
            </a:extLst>
          </p:cNvPr>
          <p:cNvCxnSpPr>
            <a:cxnSpLocks/>
          </p:cNvCxnSpPr>
          <p:nvPr/>
        </p:nvCxnSpPr>
        <p:spPr>
          <a:xfrm>
            <a:off x="10794844" y="2525818"/>
            <a:ext cx="2357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ZoneTexte 34">
            <a:extLst>
              <a:ext uri="{FF2B5EF4-FFF2-40B4-BE49-F238E27FC236}">
                <a16:creationId xmlns:a16="http://schemas.microsoft.com/office/drawing/2014/main" id="{58A6C6CD-0E6D-A131-659E-72F68189E238}"/>
              </a:ext>
            </a:extLst>
          </p:cNvPr>
          <p:cNvSpPr txBox="1"/>
          <p:nvPr/>
        </p:nvSpPr>
        <p:spPr>
          <a:xfrm>
            <a:off x="10503789" y="2156486"/>
            <a:ext cx="81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10 µm</a:t>
            </a:r>
          </a:p>
        </p:txBody>
      </p: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0DB29059-38A6-5B14-D210-4E71FC2B955B}"/>
              </a:ext>
            </a:extLst>
          </p:cNvPr>
          <p:cNvCxnSpPr>
            <a:cxnSpLocks/>
          </p:cNvCxnSpPr>
          <p:nvPr/>
        </p:nvCxnSpPr>
        <p:spPr>
          <a:xfrm>
            <a:off x="2646758" y="3271077"/>
            <a:ext cx="2357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9554DD00-FB48-6175-C876-CFAD1F746C5A}"/>
              </a:ext>
            </a:extLst>
          </p:cNvPr>
          <p:cNvSpPr txBox="1"/>
          <p:nvPr/>
        </p:nvSpPr>
        <p:spPr>
          <a:xfrm>
            <a:off x="2355703" y="2901745"/>
            <a:ext cx="81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10 µm</a:t>
            </a: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4DEDB0D4-76CF-CAE4-E541-F7F71096DAAE}"/>
              </a:ext>
            </a:extLst>
          </p:cNvPr>
          <p:cNvCxnSpPr>
            <a:cxnSpLocks/>
          </p:cNvCxnSpPr>
          <p:nvPr/>
        </p:nvCxnSpPr>
        <p:spPr>
          <a:xfrm>
            <a:off x="6871344" y="2533441"/>
            <a:ext cx="2357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 2">
            <a:extLst>
              <a:ext uri="{FF2B5EF4-FFF2-40B4-BE49-F238E27FC236}">
                <a16:creationId xmlns:a16="http://schemas.microsoft.com/office/drawing/2014/main" id="{60E25B8B-BF2B-0847-434C-B1424A001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81" y="2751707"/>
            <a:ext cx="5836554" cy="398779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1802E03-D6C4-AA3F-B652-4A7A9A143562}"/>
              </a:ext>
            </a:extLst>
          </p:cNvPr>
          <p:cNvSpPr txBox="1"/>
          <p:nvPr/>
        </p:nvSpPr>
        <p:spPr>
          <a:xfrm>
            <a:off x="2486467" y="1797599"/>
            <a:ext cx="61613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5400" b="1" dirty="0"/>
              <a:t>2ps</a:t>
            </a:r>
            <a:endParaRPr lang="fr-FR" sz="54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B40E661-8FE8-9BC1-D0B6-627C32A449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741" y="2751707"/>
            <a:ext cx="5836554" cy="3994889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4A8559A5-3BA5-DD82-FD6C-7C897A5C404D}"/>
              </a:ext>
            </a:extLst>
          </p:cNvPr>
          <p:cNvSpPr txBox="1"/>
          <p:nvPr/>
        </p:nvSpPr>
        <p:spPr>
          <a:xfrm>
            <a:off x="8763000" y="1797599"/>
            <a:ext cx="61599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5400" b="1" dirty="0"/>
              <a:t>7ps</a:t>
            </a:r>
            <a:endParaRPr lang="fr-FR" dirty="0"/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478C06F9-6B59-2611-392E-12C343349A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613739"/>
              </p:ext>
            </p:extLst>
          </p:nvPr>
        </p:nvGraphicFramePr>
        <p:xfrm>
          <a:off x="4842448" y="142465"/>
          <a:ext cx="6930138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2203">
                  <a:extLst>
                    <a:ext uri="{9D8B030D-6E8A-4147-A177-3AD203B41FA5}">
                      <a16:colId xmlns:a16="http://schemas.microsoft.com/office/drawing/2014/main" val="1686248404"/>
                    </a:ext>
                  </a:extLst>
                </a:gridCol>
                <a:gridCol w="1872645">
                  <a:extLst>
                    <a:ext uri="{9D8B030D-6E8A-4147-A177-3AD203B41FA5}">
                      <a16:colId xmlns:a16="http://schemas.microsoft.com/office/drawing/2014/main" val="1651581824"/>
                    </a:ext>
                  </a:extLst>
                </a:gridCol>
                <a:gridCol w="1872645">
                  <a:extLst>
                    <a:ext uri="{9D8B030D-6E8A-4147-A177-3AD203B41FA5}">
                      <a16:colId xmlns:a16="http://schemas.microsoft.com/office/drawing/2014/main" val="3905708282"/>
                    </a:ext>
                  </a:extLst>
                </a:gridCol>
                <a:gridCol w="1872645">
                  <a:extLst>
                    <a:ext uri="{9D8B030D-6E8A-4147-A177-3AD203B41FA5}">
                      <a16:colId xmlns:a16="http://schemas.microsoft.com/office/drawing/2014/main" val="2562659957"/>
                    </a:ext>
                  </a:extLst>
                </a:gridCol>
              </a:tblGrid>
              <a:tr h="214650">
                <a:tc>
                  <a:txBody>
                    <a:bodyPr/>
                    <a:lstStyle/>
                    <a:p>
                      <a:r>
                        <a:rPr lang="fr-FR" sz="1400" dirty="0"/>
                        <a:t>260708 ROI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Nu (cm-1)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err="1"/>
                        <a:t>FWHM_phase</a:t>
                      </a:r>
                      <a:r>
                        <a:rPr lang="fr-FR" sz="1400" dirty="0"/>
                        <a:t> (cm-1)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411394"/>
                  </a:ext>
                </a:extLst>
              </a:tr>
              <a:tr h="214650">
                <a:tc>
                  <a:txBody>
                    <a:bodyPr/>
                    <a:lstStyle/>
                    <a:p>
                      <a:r>
                        <a:rPr lang="fr-FR" sz="1400" b="1" dirty="0"/>
                        <a:t>2ps 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33862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74629"/>
                  </a:ext>
                </a:extLst>
              </a:tr>
              <a:tr h="2146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/>
                        <a:t>2ps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61552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929246"/>
                  </a:ext>
                </a:extLst>
              </a:tr>
              <a:tr h="214650">
                <a:tc>
                  <a:txBody>
                    <a:bodyPr/>
                    <a:lstStyle/>
                    <a:p>
                      <a:r>
                        <a:rPr lang="fr-FR" sz="1400" b="1" dirty="0"/>
                        <a:t>7ps 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68268"/>
                  </a:ext>
                </a:extLst>
              </a:tr>
              <a:tr h="214650">
                <a:tc>
                  <a:txBody>
                    <a:bodyPr/>
                    <a:lstStyle/>
                    <a:p>
                      <a:r>
                        <a:rPr lang="fr-FR" sz="1400" b="1" dirty="0"/>
                        <a:t>7ps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12761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1078.8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265749"/>
                  </a:ext>
                </a:extLst>
              </a:tr>
            </a:tbl>
          </a:graphicData>
        </a:graphic>
      </p:graphicFrame>
      <p:sp>
        <p:nvSpPr>
          <p:cNvPr id="15" name="ZoneTexte 14">
            <a:extLst>
              <a:ext uri="{FF2B5EF4-FFF2-40B4-BE49-F238E27FC236}">
                <a16:creationId xmlns:a16="http://schemas.microsoft.com/office/drawing/2014/main" id="{715B0ED1-5654-65F9-5F64-60F677DE60E3}"/>
              </a:ext>
            </a:extLst>
          </p:cNvPr>
          <p:cNvSpPr txBox="1"/>
          <p:nvPr/>
        </p:nvSpPr>
        <p:spPr>
          <a:xfrm>
            <a:off x="7126868" y="562922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x 0.55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B8EBB7A-83E0-48FC-1CFE-CBA536382D96}"/>
              </a:ext>
            </a:extLst>
          </p:cNvPr>
          <p:cNvSpPr txBox="1"/>
          <p:nvPr/>
        </p:nvSpPr>
        <p:spPr>
          <a:xfrm>
            <a:off x="7126868" y="1168973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x 0.73</a:t>
            </a:r>
          </a:p>
        </p:txBody>
      </p:sp>
      <p:sp>
        <p:nvSpPr>
          <p:cNvPr id="21" name="Flèche : en arc 20">
            <a:extLst>
              <a:ext uri="{FF2B5EF4-FFF2-40B4-BE49-F238E27FC236}">
                <a16:creationId xmlns:a16="http://schemas.microsoft.com/office/drawing/2014/main" id="{0A879605-5A81-268A-D097-341513B0B8C8}"/>
              </a:ext>
            </a:extLst>
          </p:cNvPr>
          <p:cNvSpPr/>
          <p:nvPr/>
        </p:nvSpPr>
        <p:spPr>
          <a:xfrm rot="16200000" flipV="1">
            <a:off x="6857923" y="1153452"/>
            <a:ext cx="302144" cy="400373"/>
          </a:xfrm>
          <a:prstGeom prst="circularArrow">
            <a:avLst>
              <a:gd name="adj1" fmla="val 0"/>
              <a:gd name="adj2" fmla="val 1142319"/>
              <a:gd name="adj3" fmla="val 21014151"/>
              <a:gd name="adj4" fmla="val 10800000"/>
              <a:gd name="adj5" fmla="val 1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3" name="Flèche : en arc 22">
            <a:extLst>
              <a:ext uri="{FF2B5EF4-FFF2-40B4-BE49-F238E27FC236}">
                <a16:creationId xmlns:a16="http://schemas.microsoft.com/office/drawing/2014/main" id="{675F6257-3E7B-8B5C-1821-99B6889D9A60}"/>
              </a:ext>
            </a:extLst>
          </p:cNvPr>
          <p:cNvSpPr/>
          <p:nvPr/>
        </p:nvSpPr>
        <p:spPr>
          <a:xfrm rot="16200000" flipV="1">
            <a:off x="6840310" y="528941"/>
            <a:ext cx="302144" cy="400373"/>
          </a:xfrm>
          <a:prstGeom prst="circularArrow">
            <a:avLst>
              <a:gd name="adj1" fmla="val 0"/>
              <a:gd name="adj2" fmla="val 1142319"/>
              <a:gd name="adj3" fmla="val 21014151"/>
              <a:gd name="adj4" fmla="val 10800000"/>
              <a:gd name="adj5" fmla="val 1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DEEE558B-0430-30DA-D7F2-BB37AC403BAF}"/>
              </a:ext>
            </a:extLst>
          </p:cNvPr>
          <p:cNvSpPr txBox="1"/>
          <p:nvPr/>
        </p:nvSpPr>
        <p:spPr>
          <a:xfrm>
            <a:off x="4605372" y="2921232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2,8</a:t>
            </a:r>
          </a:p>
        </p:txBody>
      </p:sp>
      <p:sp>
        <p:nvSpPr>
          <p:cNvPr id="31" name="Flèche : en arc 30">
            <a:extLst>
              <a:ext uri="{FF2B5EF4-FFF2-40B4-BE49-F238E27FC236}">
                <a16:creationId xmlns:a16="http://schemas.microsoft.com/office/drawing/2014/main" id="{BE206962-02E8-04B1-2241-0B1291299DF4}"/>
              </a:ext>
            </a:extLst>
          </p:cNvPr>
          <p:cNvSpPr/>
          <p:nvPr/>
        </p:nvSpPr>
        <p:spPr>
          <a:xfrm rot="16200000" flipV="1">
            <a:off x="4626547" y="3177337"/>
            <a:ext cx="431800" cy="433577"/>
          </a:xfrm>
          <a:prstGeom prst="circularArrow">
            <a:avLst>
              <a:gd name="adj1" fmla="val 15894"/>
              <a:gd name="adj2" fmla="val 1092206"/>
              <a:gd name="adj3" fmla="val 4078263"/>
              <a:gd name="adj4" fmla="val 16590273"/>
              <a:gd name="adj5" fmla="val 1718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7B8B9A6C-4C50-3E9D-9A3A-2F0D5C7C217A}"/>
              </a:ext>
            </a:extLst>
          </p:cNvPr>
          <p:cNvSpPr txBox="1"/>
          <p:nvPr/>
        </p:nvSpPr>
        <p:spPr>
          <a:xfrm>
            <a:off x="10617361" y="2870967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4.1</a:t>
            </a:r>
          </a:p>
        </p:txBody>
      </p:sp>
      <p:sp>
        <p:nvSpPr>
          <p:cNvPr id="39" name="Flèche : en arc 38">
            <a:extLst>
              <a:ext uri="{FF2B5EF4-FFF2-40B4-BE49-F238E27FC236}">
                <a16:creationId xmlns:a16="http://schemas.microsoft.com/office/drawing/2014/main" id="{EE6CF4BB-CEBA-A3D3-1B15-A3F74BDD5206}"/>
              </a:ext>
            </a:extLst>
          </p:cNvPr>
          <p:cNvSpPr/>
          <p:nvPr/>
        </p:nvSpPr>
        <p:spPr>
          <a:xfrm rot="16200000" flipV="1">
            <a:off x="10626280" y="3139327"/>
            <a:ext cx="456311" cy="433577"/>
          </a:xfrm>
          <a:prstGeom prst="circularArrow">
            <a:avLst>
              <a:gd name="adj1" fmla="val 15894"/>
              <a:gd name="adj2" fmla="val 1092206"/>
              <a:gd name="adj3" fmla="val 4078263"/>
              <a:gd name="adj4" fmla="val 16590273"/>
              <a:gd name="adj5" fmla="val 1718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434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E2187-4F3B-4B31-73F9-4783A0A16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488CAB53-09BE-85C2-3EFF-A94A2A58B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56135" y="42488"/>
            <a:ext cx="5642924" cy="749032"/>
          </a:xfrm>
        </p:spPr>
        <p:txBody>
          <a:bodyPr>
            <a:normAutofit fontScale="25000" lnSpcReduction="20000"/>
          </a:bodyPr>
          <a:lstStyle/>
          <a:p>
            <a:pPr marL="114300" indent="0">
              <a:buNone/>
            </a:pPr>
            <a:r>
              <a:rPr lang="fr-FR" sz="14400" b="1" dirty="0"/>
              <a:t>2ps vs 7ps - 260708 </a:t>
            </a:r>
            <a:r>
              <a:rPr lang="fr-FR" sz="14400" b="1" dirty="0" err="1"/>
              <a:t>ACC_Cal</a:t>
            </a:r>
            <a:r>
              <a:rPr lang="fr-FR" sz="14400" b="1" dirty="0"/>
              <a:t>  </a:t>
            </a:r>
            <a:r>
              <a:rPr lang="fr-FR" sz="14400" b="1" dirty="0" err="1"/>
              <a:t>synt</a:t>
            </a:r>
            <a:r>
              <a:rPr lang="fr-FR" sz="14400" b="1" dirty="0"/>
              <a:t> </a:t>
            </a:r>
          </a:p>
          <a:p>
            <a:pPr marL="114300" indent="0">
              <a:buNone/>
            </a:pPr>
            <a:r>
              <a:rPr lang="fr-FR" dirty="0"/>
              <a:t>                                                      </a:t>
            </a:r>
          </a:p>
        </p:txBody>
      </p: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B58CF158-3DF0-2340-ADBA-EBBA950B4FD6}"/>
              </a:ext>
            </a:extLst>
          </p:cNvPr>
          <p:cNvCxnSpPr>
            <a:cxnSpLocks/>
          </p:cNvCxnSpPr>
          <p:nvPr/>
        </p:nvCxnSpPr>
        <p:spPr>
          <a:xfrm>
            <a:off x="10794844" y="2525818"/>
            <a:ext cx="2357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ZoneTexte 34">
            <a:extLst>
              <a:ext uri="{FF2B5EF4-FFF2-40B4-BE49-F238E27FC236}">
                <a16:creationId xmlns:a16="http://schemas.microsoft.com/office/drawing/2014/main" id="{EEF961A4-7E3C-643D-DB5F-3A154493AE11}"/>
              </a:ext>
            </a:extLst>
          </p:cNvPr>
          <p:cNvSpPr txBox="1"/>
          <p:nvPr/>
        </p:nvSpPr>
        <p:spPr>
          <a:xfrm>
            <a:off x="10503789" y="2156486"/>
            <a:ext cx="81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10 µm</a:t>
            </a:r>
          </a:p>
        </p:txBody>
      </p: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50DB7F7A-934F-152D-6353-65F99A1AF02E}"/>
              </a:ext>
            </a:extLst>
          </p:cNvPr>
          <p:cNvCxnSpPr>
            <a:cxnSpLocks/>
          </p:cNvCxnSpPr>
          <p:nvPr/>
        </p:nvCxnSpPr>
        <p:spPr>
          <a:xfrm>
            <a:off x="2646758" y="3271077"/>
            <a:ext cx="2357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839A8725-4B0D-B4CF-E068-7BFA183B0CB0}"/>
              </a:ext>
            </a:extLst>
          </p:cNvPr>
          <p:cNvSpPr txBox="1"/>
          <p:nvPr/>
        </p:nvSpPr>
        <p:spPr>
          <a:xfrm>
            <a:off x="2355703" y="2901745"/>
            <a:ext cx="8178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10 µm</a:t>
            </a: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550755FD-051A-9943-0A7E-E4FEA1D36B9E}"/>
              </a:ext>
            </a:extLst>
          </p:cNvPr>
          <p:cNvCxnSpPr>
            <a:cxnSpLocks/>
          </p:cNvCxnSpPr>
          <p:nvPr/>
        </p:nvCxnSpPr>
        <p:spPr>
          <a:xfrm>
            <a:off x="6871344" y="2533441"/>
            <a:ext cx="2357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C21E3483-4461-B5B2-99A6-174DDFA3D464}"/>
              </a:ext>
            </a:extLst>
          </p:cNvPr>
          <p:cNvSpPr txBox="1"/>
          <p:nvPr/>
        </p:nvSpPr>
        <p:spPr>
          <a:xfrm>
            <a:off x="127453" y="1043115"/>
            <a:ext cx="38259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2ps</a:t>
            </a:r>
            <a:r>
              <a:rPr lang="fr-FR" dirty="0"/>
              <a:t> - </a:t>
            </a:r>
            <a:r>
              <a:rPr lang="fr-FR" dirty="0" err="1"/>
              <a:t>Fwhm_instr</a:t>
            </a:r>
            <a:r>
              <a:rPr lang="fr-FR" dirty="0"/>
              <a:t> = 13.5 (14 mesuré)</a:t>
            </a:r>
          </a:p>
          <a:p>
            <a:r>
              <a:rPr lang="fr-FR" dirty="0"/>
              <a:t>params.roi1 = [90 95 100 105];</a:t>
            </a:r>
          </a:p>
          <a:p>
            <a:r>
              <a:rPr lang="fr-FR" dirty="0"/>
              <a:t>params.roi2 = [23 30 60 69];</a:t>
            </a:r>
          </a:p>
          <a:p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F52A7A6-EE50-53EF-9161-4BE2C0063DE9}"/>
              </a:ext>
            </a:extLst>
          </p:cNvPr>
          <p:cNvSpPr txBox="1"/>
          <p:nvPr/>
        </p:nvSpPr>
        <p:spPr>
          <a:xfrm>
            <a:off x="8569618" y="1273948"/>
            <a:ext cx="3719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7ps</a:t>
            </a:r>
            <a:r>
              <a:rPr lang="fr-FR" dirty="0"/>
              <a:t> - </a:t>
            </a:r>
            <a:r>
              <a:rPr lang="fr-FR" dirty="0" err="1"/>
              <a:t>Fwhm_instr</a:t>
            </a:r>
            <a:r>
              <a:rPr lang="fr-FR" dirty="0"/>
              <a:t> = 2.8 (4.4 mesuré)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4AADD12-669F-A5C2-DEA8-EC677A4E2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7827" y="283247"/>
            <a:ext cx="2168173" cy="184246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6E13496F-44C2-A9D3-6B53-A63622766E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0733" y="270769"/>
            <a:ext cx="2168174" cy="1854939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57598D47-D75E-0986-28CF-A2CACDC2A8F9}"/>
              </a:ext>
            </a:extLst>
          </p:cNvPr>
          <p:cNvSpPr txBox="1"/>
          <p:nvPr/>
        </p:nvSpPr>
        <p:spPr>
          <a:xfrm>
            <a:off x="4187600" y="1489392"/>
            <a:ext cx="6314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/>
              <a:t>2ps</a:t>
            </a:r>
            <a:endParaRPr lang="fr-FR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8E3CB6F-C239-6C51-25B5-8852F0DE8E59}"/>
              </a:ext>
            </a:extLst>
          </p:cNvPr>
          <p:cNvSpPr txBox="1"/>
          <p:nvPr/>
        </p:nvSpPr>
        <p:spPr>
          <a:xfrm>
            <a:off x="6520180" y="1501654"/>
            <a:ext cx="627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/>
              <a:t>7ps</a:t>
            </a:r>
            <a:endParaRPr lang="fr-FR" dirty="0"/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F8A26505-58B9-C9B7-A30A-5F46BA503239}"/>
              </a:ext>
            </a:extLst>
          </p:cNvPr>
          <p:cNvCxnSpPr/>
          <p:nvPr/>
        </p:nvCxnSpPr>
        <p:spPr>
          <a:xfrm>
            <a:off x="6167120" y="42488"/>
            <a:ext cx="0" cy="65513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" name="Image 2">
            <a:extLst>
              <a:ext uri="{FF2B5EF4-FFF2-40B4-BE49-F238E27FC236}">
                <a16:creationId xmlns:a16="http://schemas.microsoft.com/office/drawing/2014/main" id="{9710F4D7-3DA5-54E9-7DB9-684414AF8F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381" y="2168024"/>
            <a:ext cx="5794045" cy="395875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DD2C914-B3E8-691E-0587-6088A0F5F138}"/>
              </a:ext>
            </a:extLst>
          </p:cNvPr>
          <p:cNvSpPr txBox="1"/>
          <p:nvPr/>
        </p:nvSpPr>
        <p:spPr>
          <a:xfrm>
            <a:off x="2837206" y="2081791"/>
            <a:ext cx="6314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2ps</a:t>
            </a: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3DA0DB6-B8E3-DA7F-63D0-912DF3E670D7}"/>
              </a:ext>
            </a:extLst>
          </p:cNvPr>
          <p:cNvSpPr txBox="1"/>
          <p:nvPr/>
        </p:nvSpPr>
        <p:spPr>
          <a:xfrm>
            <a:off x="4775361" y="2330631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2,9</a:t>
            </a:r>
          </a:p>
        </p:txBody>
      </p:sp>
      <p:sp>
        <p:nvSpPr>
          <p:cNvPr id="15" name="Flèche : en arc 14">
            <a:extLst>
              <a:ext uri="{FF2B5EF4-FFF2-40B4-BE49-F238E27FC236}">
                <a16:creationId xmlns:a16="http://schemas.microsoft.com/office/drawing/2014/main" id="{3E7AB9BA-F7B7-B572-6D19-F5E2B3612DF6}"/>
              </a:ext>
            </a:extLst>
          </p:cNvPr>
          <p:cNvSpPr/>
          <p:nvPr/>
        </p:nvSpPr>
        <p:spPr>
          <a:xfrm rot="16200000" flipV="1">
            <a:off x="4796536" y="2586736"/>
            <a:ext cx="431800" cy="433577"/>
          </a:xfrm>
          <a:prstGeom prst="circularArrow">
            <a:avLst>
              <a:gd name="adj1" fmla="val 15894"/>
              <a:gd name="adj2" fmla="val 1092206"/>
              <a:gd name="adj3" fmla="val 4078263"/>
              <a:gd name="adj4" fmla="val 16590273"/>
              <a:gd name="adj5" fmla="val 1718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85C2AB93-89B1-A45B-A25D-16AF865174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0733" y="2209572"/>
            <a:ext cx="5803812" cy="3965423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09E024EA-4CFA-F3C4-BAAF-755E43E9B1F6}"/>
              </a:ext>
            </a:extLst>
          </p:cNvPr>
          <p:cNvSpPr txBox="1"/>
          <p:nvPr/>
        </p:nvSpPr>
        <p:spPr>
          <a:xfrm>
            <a:off x="8899337" y="2018749"/>
            <a:ext cx="6517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7ps</a:t>
            </a:r>
            <a:endParaRPr lang="fr-FR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9C1A6241-95B0-E381-2D96-0AFF00E70251}"/>
              </a:ext>
            </a:extLst>
          </p:cNvPr>
          <p:cNvSpPr txBox="1"/>
          <p:nvPr/>
        </p:nvSpPr>
        <p:spPr>
          <a:xfrm>
            <a:off x="11098032" y="22095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7</a:t>
            </a:r>
          </a:p>
        </p:txBody>
      </p:sp>
      <p:sp>
        <p:nvSpPr>
          <p:cNvPr id="30" name="Flèche : en arc 29">
            <a:extLst>
              <a:ext uri="{FF2B5EF4-FFF2-40B4-BE49-F238E27FC236}">
                <a16:creationId xmlns:a16="http://schemas.microsoft.com/office/drawing/2014/main" id="{9317CBBB-A39E-C0F7-0B10-7AC5567CA952}"/>
              </a:ext>
            </a:extLst>
          </p:cNvPr>
          <p:cNvSpPr/>
          <p:nvPr/>
        </p:nvSpPr>
        <p:spPr>
          <a:xfrm rot="16200000" flipV="1">
            <a:off x="11119207" y="2465677"/>
            <a:ext cx="431800" cy="433577"/>
          </a:xfrm>
          <a:prstGeom prst="circularArrow">
            <a:avLst>
              <a:gd name="adj1" fmla="val 15894"/>
              <a:gd name="adj2" fmla="val 1092206"/>
              <a:gd name="adj3" fmla="val 4078263"/>
              <a:gd name="adj4" fmla="val 16590273"/>
              <a:gd name="adj5" fmla="val 1718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0058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094050-C3E1-6B51-F4C2-E83A884E9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87325"/>
            <a:ext cx="3733800" cy="1325563"/>
          </a:xfrm>
        </p:spPr>
        <p:txBody>
          <a:bodyPr/>
          <a:lstStyle/>
          <a:p>
            <a:r>
              <a:rPr lang="fr-FR" dirty="0"/>
              <a:t>Littérature </a:t>
            </a:r>
            <a:r>
              <a:rPr lang="fr-FR" dirty="0" err="1"/>
              <a:t>Vatérite</a:t>
            </a:r>
            <a:r>
              <a:rPr lang="fr-FR" dirty="0"/>
              <a:t>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783EC50-7CB4-6D09-4513-3D5E9D14E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784" y="503237"/>
            <a:ext cx="6894298" cy="609646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E1B607D-033F-CDF7-A873-4C0EA84E1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18" y="1379265"/>
            <a:ext cx="4667901" cy="3896269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04E5764F-3EF7-BB49-E6B4-EE2F8F73D686}"/>
              </a:ext>
            </a:extLst>
          </p:cNvPr>
          <p:cNvSpPr txBox="1"/>
          <p:nvPr/>
        </p:nvSpPr>
        <p:spPr>
          <a:xfrm>
            <a:off x="314900" y="5399376"/>
            <a:ext cx="46679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Wehrmeister, U., et al. (2010).</a:t>
            </a:r>
            <a:r>
              <a:rPr lang="fr-FR" dirty="0"/>
              <a:t> </a:t>
            </a:r>
            <a:r>
              <a:rPr lang="fr-FR" i="1" dirty="0"/>
              <a:t>Raman </a:t>
            </a:r>
            <a:r>
              <a:rPr lang="fr-FR" i="1" dirty="0" err="1"/>
              <a:t>spectroscopy</a:t>
            </a:r>
            <a:r>
              <a:rPr lang="fr-FR" i="1" dirty="0"/>
              <a:t> of </a:t>
            </a:r>
            <a:r>
              <a:rPr lang="fr-FR" i="1" dirty="0" err="1"/>
              <a:t>synthetic</a:t>
            </a:r>
            <a:r>
              <a:rPr lang="fr-FR" i="1" dirty="0"/>
              <a:t>, </a:t>
            </a:r>
            <a:r>
              <a:rPr lang="fr-FR" i="1" dirty="0" err="1"/>
              <a:t>geological</a:t>
            </a:r>
            <a:r>
              <a:rPr lang="fr-FR" i="1" dirty="0"/>
              <a:t> and </a:t>
            </a:r>
            <a:r>
              <a:rPr lang="fr-FR" i="1" dirty="0" err="1"/>
              <a:t>biological</a:t>
            </a:r>
            <a:r>
              <a:rPr lang="fr-FR" i="1" dirty="0"/>
              <a:t> </a:t>
            </a:r>
            <a:r>
              <a:rPr lang="fr-FR" i="1" dirty="0" err="1"/>
              <a:t>vaterite</a:t>
            </a:r>
            <a:r>
              <a:rPr lang="fr-FR" i="1" dirty="0"/>
              <a:t>: a Raman </a:t>
            </a:r>
            <a:r>
              <a:rPr lang="fr-FR" i="1" dirty="0" err="1"/>
              <a:t>spectroscopic</a:t>
            </a:r>
            <a:r>
              <a:rPr lang="fr-FR" i="1" dirty="0"/>
              <a:t> </a:t>
            </a:r>
            <a:r>
              <a:rPr lang="fr-FR" i="1" dirty="0" err="1"/>
              <a:t>study</a:t>
            </a:r>
            <a:r>
              <a:rPr lang="fr-FR" i="1" dirty="0"/>
              <a:t>.</a:t>
            </a:r>
            <a:r>
              <a:rPr lang="fr-FR" dirty="0"/>
              <a:t> Journal of Raman </a:t>
            </a:r>
            <a:r>
              <a:rPr lang="fr-FR" dirty="0" err="1"/>
              <a:t>Spectroscopy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48146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1F4A9-8BAF-C8A2-E881-F7596527E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D5F5752E-C1D2-5AFA-A8D5-83B8A3B72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374" y="134227"/>
            <a:ext cx="1991801" cy="749032"/>
          </a:xfrm>
        </p:spPr>
        <p:txBody>
          <a:bodyPr>
            <a:normAutofit fontScale="25000" lnSpcReduction="20000"/>
          </a:bodyPr>
          <a:lstStyle/>
          <a:p>
            <a:pPr marL="114300" indent="0">
              <a:buNone/>
            </a:pPr>
            <a:r>
              <a:rPr lang="fr-FR" sz="9800" b="1" dirty="0"/>
              <a:t>7ps 260527 </a:t>
            </a:r>
            <a:r>
              <a:rPr lang="fr-FR" sz="9800" b="1" dirty="0" err="1"/>
              <a:t>Vatérite</a:t>
            </a:r>
            <a:r>
              <a:rPr lang="fr-FR" sz="9800" b="1" dirty="0"/>
              <a:t> </a:t>
            </a:r>
          </a:p>
          <a:p>
            <a:pPr marL="114300" indent="0">
              <a:buNone/>
            </a:pPr>
            <a:r>
              <a:rPr lang="fr-FR" dirty="0"/>
              <a:t>                                                      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6AD355CA-DC99-5E5A-467A-71F6E4C82041}"/>
              </a:ext>
            </a:extLst>
          </p:cNvPr>
          <p:cNvGrpSpPr/>
          <p:nvPr/>
        </p:nvGrpSpPr>
        <p:grpSpPr>
          <a:xfrm>
            <a:off x="5271907" y="134227"/>
            <a:ext cx="2452255" cy="2213264"/>
            <a:chOff x="5341683" y="134227"/>
            <a:chExt cx="2452255" cy="2213264"/>
          </a:xfrm>
        </p:grpSpPr>
        <p:pic>
          <p:nvPicPr>
            <p:cNvPr id="6" name="Google Shape;137;g3e4efdd0c05_0_0">
              <a:extLst>
                <a:ext uri="{FF2B5EF4-FFF2-40B4-BE49-F238E27FC236}">
                  <a16:creationId xmlns:a16="http://schemas.microsoft.com/office/drawing/2014/main" id="{DD32D86B-D606-F6F4-291E-37F47116F338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5341683" y="134227"/>
              <a:ext cx="2452255" cy="22132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46BFAD8-C17A-1A9B-9EA2-56342F1DC671}"/>
                </a:ext>
              </a:extLst>
            </p:cNvPr>
            <p:cNvSpPr/>
            <p:nvPr/>
          </p:nvSpPr>
          <p:spPr>
            <a:xfrm>
              <a:off x="6208981" y="969644"/>
              <a:ext cx="112548" cy="11196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0000"/>
                </a:solidFill>
              </a:endParaRPr>
            </a:p>
          </p:txBody>
        </p:sp>
      </p:grpSp>
      <p:sp>
        <p:nvSpPr>
          <p:cNvPr id="10" name="ZoneTexte 9">
            <a:extLst>
              <a:ext uri="{FF2B5EF4-FFF2-40B4-BE49-F238E27FC236}">
                <a16:creationId xmlns:a16="http://schemas.microsoft.com/office/drawing/2014/main" id="{21CCC65C-1F27-D8D5-1E49-CF4EA7A10AF3}"/>
              </a:ext>
            </a:extLst>
          </p:cNvPr>
          <p:cNvSpPr txBox="1"/>
          <p:nvPr/>
        </p:nvSpPr>
        <p:spPr>
          <a:xfrm>
            <a:off x="8082996" y="98978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Résultat du fit :</a:t>
            </a:r>
          </a:p>
          <a:p>
            <a:r>
              <a:rPr lang="fr-FR" dirty="0"/>
              <a:t>Phase VAT : </a:t>
            </a:r>
            <a:r>
              <a:rPr lang="fr-FR" dirty="0" err="1"/>
              <a:t>A_fit</a:t>
            </a:r>
            <a:r>
              <a:rPr lang="fr-FR" dirty="0"/>
              <a:t> = 1099</a:t>
            </a:r>
          </a:p>
          <a:p>
            <a:pPr lvl="1"/>
            <a:r>
              <a:rPr lang="fr-FR" dirty="0"/>
              <a:t>- Raie 1 : nu = 1074.23 cm^-1</a:t>
            </a:r>
          </a:p>
          <a:p>
            <a:pPr lvl="1"/>
            <a:r>
              <a:rPr lang="fr-FR" dirty="0"/>
              <a:t>- Raie 2 : nu = 1080.78 cm^-1</a:t>
            </a:r>
          </a:p>
          <a:p>
            <a:pPr lvl="1"/>
            <a:r>
              <a:rPr lang="fr-FR" dirty="0"/>
              <a:t>- Raie 3 : nu = 1090.09 cm^-1</a:t>
            </a:r>
          </a:p>
          <a:p>
            <a:pPr lvl="1"/>
            <a:r>
              <a:rPr lang="fr-FR" dirty="0"/>
              <a:t>- FWHM 1 : FWHM = 3.04 cm^-1</a:t>
            </a:r>
          </a:p>
          <a:p>
            <a:pPr lvl="1"/>
            <a:r>
              <a:rPr lang="fr-FR" dirty="0"/>
              <a:t>- FWHM 2 : FWHM = 2.85 cm^-1</a:t>
            </a:r>
          </a:p>
          <a:p>
            <a:pPr lvl="1"/>
            <a:r>
              <a:rPr lang="fr-FR" dirty="0"/>
              <a:t>- FWHM 3 : FWHM = 5.34 cm^-1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ADD10F0-082C-C897-2B4A-03B69E1FAB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9059" y="120637"/>
            <a:ext cx="3083858" cy="2661316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204C8965-24CB-7543-BBD7-BEA8F0CC02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0159" y="3241800"/>
            <a:ext cx="4810837" cy="364751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EEEAA211-7761-C6A0-C575-018FBD2A64F3}"/>
              </a:ext>
            </a:extLst>
          </p:cNvPr>
          <p:cNvSpPr txBox="1"/>
          <p:nvPr/>
        </p:nvSpPr>
        <p:spPr>
          <a:xfrm>
            <a:off x="8103701" y="531699"/>
            <a:ext cx="6915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0" i="0" dirty="0" err="1">
                <a:effectLst/>
                <a:latin typeface="+mn-lt"/>
              </a:rPr>
              <a:t>Ratio_model</a:t>
            </a:r>
            <a:r>
              <a:rPr lang="fr-FR" sz="1800" b="0" i="0" dirty="0">
                <a:effectLst/>
                <a:latin typeface="+mn-lt"/>
              </a:rPr>
              <a:t>  = [0.</a:t>
            </a:r>
            <a:r>
              <a:rPr lang="fr-FR" dirty="0"/>
              <a:t>45</a:t>
            </a:r>
            <a:r>
              <a:rPr lang="fr-FR" sz="1800" b="0" i="0" dirty="0">
                <a:effectLst/>
                <a:latin typeface="+mn-lt"/>
              </a:rPr>
              <a:t> 0.28 1];</a:t>
            </a:r>
            <a:endParaRPr lang="fr-FR" sz="1000" b="0" i="0" dirty="0">
              <a:effectLst/>
              <a:latin typeface="Menlo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DC988D3-4A8E-4F05-4433-1C2C49DF3A9D}"/>
              </a:ext>
            </a:extLst>
          </p:cNvPr>
          <p:cNvCxnSpPr>
            <a:cxnSpLocks/>
          </p:cNvCxnSpPr>
          <p:nvPr/>
        </p:nvCxnSpPr>
        <p:spPr>
          <a:xfrm flipH="1">
            <a:off x="6953557" y="5162550"/>
            <a:ext cx="18859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76A598A4-EFDF-3026-4EBE-E2F973B8129E}"/>
              </a:ext>
            </a:extLst>
          </p:cNvPr>
          <p:cNvCxnSpPr>
            <a:cxnSpLocks/>
          </p:cNvCxnSpPr>
          <p:nvPr/>
        </p:nvCxnSpPr>
        <p:spPr>
          <a:xfrm flipH="1">
            <a:off x="6953557" y="5543550"/>
            <a:ext cx="23002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5F1BCEAE-002A-2322-9958-AA9906002CFB}"/>
              </a:ext>
            </a:extLst>
          </p:cNvPr>
          <p:cNvSpPr txBox="1"/>
          <p:nvPr/>
        </p:nvSpPr>
        <p:spPr>
          <a:xfrm>
            <a:off x="6953557" y="4890317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/>
              <a:t>0.5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C359C2B4-5BDD-6DE2-BB45-1605F4D0971D}"/>
              </a:ext>
            </a:extLst>
          </p:cNvPr>
          <p:cNvSpPr txBox="1"/>
          <p:nvPr/>
        </p:nvSpPr>
        <p:spPr>
          <a:xfrm>
            <a:off x="6953557" y="5273453"/>
            <a:ext cx="527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/>
              <a:t>0.35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3D3426EC-6C24-C29D-3F81-489FCF5E37F2}"/>
              </a:ext>
            </a:extLst>
          </p:cNvPr>
          <p:cNvSpPr txBox="1"/>
          <p:nvPr/>
        </p:nvSpPr>
        <p:spPr>
          <a:xfrm>
            <a:off x="7236926" y="3863350"/>
            <a:ext cx="1733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Synthetic samples made by Clémentine </a:t>
            </a:r>
            <a:endParaRPr lang="fr-FR" sz="1200" dirty="0"/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23E67255-8E4E-FCF7-24FD-E15D5CBB93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999" y="2674973"/>
            <a:ext cx="5612088" cy="418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222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ADC89-820C-8691-DE4E-4214462E1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E460BE47-34BA-8E67-78B9-377F2900E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374" y="134227"/>
            <a:ext cx="10027920" cy="749032"/>
          </a:xfrm>
        </p:spPr>
        <p:txBody>
          <a:bodyPr>
            <a:normAutofit fontScale="55000" lnSpcReduction="20000"/>
          </a:bodyPr>
          <a:lstStyle/>
          <a:p>
            <a:pPr marL="114300" indent="0">
              <a:buNone/>
            </a:pPr>
            <a:r>
              <a:rPr lang="fr-FR" sz="5100" b="1" dirty="0"/>
              <a:t>2ps 260527 </a:t>
            </a:r>
            <a:r>
              <a:rPr lang="fr-FR" sz="5100" b="1" dirty="0" err="1"/>
              <a:t>Vatérite</a:t>
            </a:r>
            <a:r>
              <a:rPr lang="fr-FR" sz="5100" b="1" dirty="0"/>
              <a:t> </a:t>
            </a:r>
          </a:p>
          <a:p>
            <a:pPr marL="114300" indent="0">
              <a:buNone/>
            </a:pPr>
            <a:r>
              <a:rPr lang="fr-FR" dirty="0"/>
              <a:t>                                                      </a:t>
            </a:r>
          </a:p>
        </p:txBody>
      </p:sp>
      <p:pic>
        <p:nvPicPr>
          <p:cNvPr id="6" name="Google Shape;137;g3e4efdd0c05_0_0">
            <a:extLst>
              <a:ext uri="{FF2B5EF4-FFF2-40B4-BE49-F238E27FC236}">
                <a16:creationId xmlns:a16="http://schemas.microsoft.com/office/drawing/2014/main" id="{831F9502-F5F0-1519-8219-3CB32A5DCB6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5039127" y="736371"/>
            <a:ext cx="2452255" cy="221326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A5E02C8-8EF1-A92A-3E90-67988E4FCE48}"/>
              </a:ext>
            </a:extLst>
          </p:cNvPr>
          <p:cNvSpPr/>
          <p:nvPr/>
        </p:nvSpPr>
        <p:spPr>
          <a:xfrm>
            <a:off x="6208981" y="969644"/>
            <a:ext cx="112548" cy="1119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9208E372-339E-3507-C0F4-93BA40F3E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168" y="632079"/>
            <a:ext cx="3083859" cy="2840796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D85B80AE-4CEB-A96F-7C4F-D947A63CD347}"/>
              </a:ext>
            </a:extLst>
          </p:cNvPr>
          <p:cNvSpPr txBox="1"/>
          <p:nvPr/>
        </p:nvSpPr>
        <p:spPr>
          <a:xfrm>
            <a:off x="7735221" y="960175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Résultat du fit :</a:t>
            </a:r>
            <a:endParaRPr lang="fr-FR" dirty="0"/>
          </a:p>
          <a:p>
            <a:r>
              <a:rPr lang="fr-FR" dirty="0"/>
              <a:t>Phase VAT : </a:t>
            </a:r>
            <a:r>
              <a:rPr lang="fr-FR" dirty="0" err="1"/>
              <a:t>A_fit</a:t>
            </a:r>
            <a:r>
              <a:rPr lang="fr-FR" dirty="0"/>
              <a:t> = 8050.1</a:t>
            </a:r>
          </a:p>
          <a:p>
            <a:pPr lvl="1"/>
            <a:r>
              <a:rPr lang="fr-FR" dirty="0"/>
              <a:t>- Raie 1 : nu = 1073.8006 cm^-1</a:t>
            </a:r>
          </a:p>
          <a:p>
            <a:pPr lvl="1"/>
            <a:r>
              <a:rPr lang="fr-FR" dirty="0"/>
              <a:t>- Raie 2 : nu = 1080.2310 cm^-1</a:t>
            </a:r>
          </a:p>
          <a:p>
            <a:pPr lvl="1"/>
            <a:r>
              <a:rPr lang="fr-FR" dirty="0"/>
              <a:t>- Raie 3 : nu = 1091.7282 cm^-1</a:t>
            </a:r>
          </a:p>
          <a:p>
            <a:pPr lvl="1"/>
            <a:r>
              <a:rPr lang="fr-FR" dirty="0"/>
              <a:t>- FWHM 1 : FWHM = 10.0000 cm^-1</a:t>
            </a:r>
          </a:p>
          <a:p>
            <a:pPr lvl="1"/>
            <a:r>
              <a:rPr lang="fr-FR" dirty="0"/>
              <a:t>- FWHM 2 : FWHM = 3.0289 cm^-1</a:t>
            </a:r>
          </a:p>
          <a:p>
            <a:pPr lvl="1"/>
            <a:r>
              <a:rPr lang="fr-FR" dirty="0"/>
              <a:t>- FWHM 3 : FWHM = 5.5216 cm^-1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3DE36B19-4C87-CAEE-B59A-2AD2F452FE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7168" y="608025"/>
            <a:ext cx="3136083" cy="2888904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411C5946-A1DA-EA54-03BF-41CD8F4A62DE}"/>
              </a:ext>
            </a:extLst>
          </p:cNvPr>
          <p:cNvSpPr txBox="1"/>
          <p:nvPr/>
        </p:nvSpPr>
        <p:spPr>
          <a:xfrm>
            <a:off x="7735221" y="350359"/>
            <a:ext cx="6915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0" i="0" dirty="0" err="1">
                <a:effectLst/>
                <a:latin typeface="+mn-lt"/>
              </a:rPr>
              <a:t>Ratio_model</a:t>
            </a:r>
            <a:r>
              <a:rPr lang="fr-FR" sz="1800" b="0" i="0" dirty="0">
                <a:effectLst/>
                <a:latin typeface="+mn-lt"/>
              </a:rPr>
              <a:t>  = </a:t>
            </a:r>
            <a:r>
              <a:rPr lang="fr-FR" dirty="0" err="1"/>
              <a:t>Ratio_model</a:t>
            </a:r>
            <a:r>
              <a:rPr lang="fr-FR" dirty="0"/>
              <a:t>  = [0.45 0.28 1];</a:t>
            </a:r>
            <a:endParaRPr lang="fr-FR" sz="1000" dirty="0">
              <a:latin typeface="Menlo"/>
            </a:endParaRPr>
          </a:p>
          <a:p>
            <a:pPr>
              <a:buNone/>
            </a:pPr>
            <a:endParaRPr lang="fr-FR" sz="1000" b="0" i="0" dirty="0">
              <a:effectLst/>
              <a:latin typeface="Menlo"/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C2A440E2-92CF-63E0-F44E-A6C5F92308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1568" y="3520983"/>
            <a:ext cx="4329242" cy="322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016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BE279-E16E-59A3-2FB1-6E2E27ABD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62CE60A7-112D-54F7-3F6B-077AA4683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374" y="134227"/>
            <a:ext cx="10027920" cy="749032"/>
          </a:xfrm>
        </p:spPr>
        <p:txBody>
          <a:bodyPr>
            <a:normAutofit fontScale="55000" lnSpcReduction="20000"/>
          </a:bodyPr>
          <a:lstStyle/>
          <a:p>
            <a:pPr marL="114300" indent="0">
              <a:buNone/>
            </a:pPr>
            <a:r>
              <a:rPr lang="fr-FR" sz="5100" b="1" dirty="0"/>
              <a:t>2 vs 7ps 260527 </a:t>
            </a:r>
            <a:r>
              <a:rPr lang="fr-FR" sz="5100" b="1" dirty="0" err="1"/>
              <a:t>Vatérite</a:t>
            </a:r>
            <a:r>
              <a:rPr lang="fr-FR" sz="5100" b="1" dirty="0"/>
              <a:t> </a:t>
            </a:r>
          </a:p>
          <a:p>
            <a:pPr marL="114300" indent="0">
              <a:buNone/>
            </a:pPr>
            <a:r>
              <a:rPr lang="fr-FR" dirty="0"/>
              <a:t>                                                      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7F9937E7-395B-F230-4F5C-3252AAB65C55}"/>
              </a:ext>
            </a:extLst>
          </p:cNvPr>
          <p:cNvGrpSpPr/>
          <p:nvPr/>
        </p:nvGrpSpPr>
        <p:grpSpPr>
          <a:xfrm>
            <a:off x="2632684" y="527937"/>
            <a:ext cx="2740212" cy="2717876"/>
            <a:chOff x="5039127" y="736371"/>
            <a:chExt cx="2452255" cy="2213264"/>
          </a:xfrm>
        </p:grpSpPr>
        <p:pic>
          <p:nvPicPr>
            <p:cNvPr id="6" name="Google Shape;137;g3e4efdd0c05_0_0">
              <a:extLst>
                <a:ext uri="{FF2B5EF4-FFF2-40B4-BE49-F238E27FC236}">
                  <a16:creationId xmlns:a16="http://schemas.microsoft.com/office/drawing/2014/main" id="{51426BF4-7F9B-F6F3-EC16-D538AFF1BD97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5039127" y="736371"/>
              <a:ext cx="2452255" cy="22132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B0A2480-95BD-9304-54DA-1E1009906D16}"/>
                </a:ext>
              </a:extLst>
            </p:cNvPr>
            <p:cNvSpPr/>
            <p:nvPr/>
          </p:nvSpPr>
          <p:spPr>
            <a:xfrm>
              <a:off x="6233177" y="990807"/>
              <a:ext cx="64153" cy="6279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0000"/>
                </a:solidFill>
              </a:endParaRPr>
            </a:p>
          </p:txBody>
        </p:sp>
      </p:grpSp>
      <p:pic>
        <p:nvPicPr>
          <p:cNvPr id="15" name="Image 14">
            <a:extLst>
              <a:ext uri="{FF2B5EF4-FFF2-40B4-BE49-F238E27FC236}">
                <a16:creationId xmlns:a16="http://schemas.microsoft.com/office/drawing/2014/main" id="{F40F418F-9114-29BA-8446-5D72FBF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2338" y="3378560"/>
            <a:ext cx="4425198" cy="3298784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78CEC086-BE33-D828-F329-DF65393CB4AB}"/>
              </a:ext>
            </a:extLst>
          </p:cNvPr>
          <p:cNvSpPr txBox="1"/>
          <p:nvPr/>
        </p:nvSpPr>
        <p:spPr>
          <a:xfrm>
            <a:off x="298430" y="2950328"/>
            <a:ext cx="19865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Nb points 125²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scan range 50 µm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40B5EEE-B02C-B8FF-0EEA-232675A115FC}"/>
              </a:ext>
            </a:extLst>
          </p:cNvPr>
          <p:cNvSpPr txBox="1"/>
          <p:nvPr/>
        </p:nvSpPr>
        <p:spPr>
          <a:xfrm>
            <a:off x="404103" y="4368788"/>
            <a:ext cx="1775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1 pix = 400 nm²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B4D1D046-2FBD-9B86-14E8-7DFA582067E8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>
            <a:off x="1291700" y="3596659"/>
            <a:ext cx="0" cy="772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63BFB569-CE02-4572-0C3D-859A06FCA64C}"/>
              </a:ext>
            </a:extLst>
          </p:cNvPr>
          <p:cNvCxnSpPr>
            <a:cxnSpLocks/>
          </p:cNvCxnSpPr>
          <p:nvPr/>
        </p:nvCxnSpPr>
        <p:spPr>
          <a:xfrm>
            <a:off x="7599638" y="3150383"/>
            <a:ext cx="82998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7A0F97C8-8BB7-C2CD-F254-A0FA84FD710F}"/>
              </a:ext>
            </a:extLst>
          </p:cNvPr>
          <p:cNvCxnSpPr>
            <a:cxnSpLocks/>
          </p:cNvCxnSpPr>
          <p:nvPr/>
        </p:nvCxnSpPr>
        <p:spPr>
          <a:xfrm>
            <a:off x="7614285" y="3150383"/>
            <a:ext cx="5257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52B37E61-EC8D-E749-867C-E25490C20986}"/>
              </a:ext>
            </a:extLst>
          </p:cNvPr>
          <p:cNvCxnSpPr>
            <a:cxnSpLocks/>
          </p:cNvCxnSpPr>
          <p:nvPr/>
        </p:nvCxnSpPr>
        <p:spPr>
          <a:xfrm>
            <a:off x="4680997" y="3150383"/>
            <a:ext cx="5257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ZoneTexte 41">
            <a:extLst>
              <a:ext uri="{FF2B5EF4-FFF2-40B4-BE49-F238E27FC236}">
                <a16:creationId xmlns:a16="http://schemas.microsoft.com/office/drawing/2014/main" id="{8BE3074A-378F-32A7-6A4C-A9BBE72CDC03}"/>
              </a:ext>
            </a:extLst>
          </p:cNvPr>
          <p:cNvSpPr txBox="1"/>
          <p:nvPr/>
        </p:nvSpPr>
        <p:spPr>
          <a:xfrm>
            <a:off x="4555042" y="2754917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10 µm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A80D06B2-3A39-A7EA-39B3-2D541710C4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164" y="519852"/>
            <a:ext cx="3285038" cy="2834931"/>
          </a:xfrm>
          <a:prstGeom prst="rect">
            <a:avLst/>
          </a:prstGeom>
        </p:spPr>
      </p:pic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A91273D0-25E2-D0BA-D681-02B18C63CFAD}"/>
              </a:ext>
            </a:extLst>
          </p:cNvPr>
          <p:cNvCxnSpPr>
            <a:cxnSpLocks/>
          </p:cNvCxnSpPr>
          <p:nvPr/>
        </p:nvCxnSpPr>
        <p:spPr>
          <a:xfrm>
            <a:off x="7461885" y="2997983"/>
            <a:ext cx="5257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130755A2-1552-4FAC-AFCF-448FA2C576F8}"/>
              </a:ext>
            </a:extLst>
          </p:cNvPr>
          <p:cNvSpPr txBox="1"/>
          <p:nvPr/>
        </p:nvSpPr>
        <p:spPr>
          <a:xfrm>
            <a:off x="7335930" y="2602517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10 µm</a:t>
            </a:r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29D9301C-BCC8-4484-2215-72068124C9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4354" y="547217"/>
            <a:ext cx="3316567" cy="2834929"/>
          </a:xfrm>
          <a:prstGeom prst="rect">
            <a:avLst/>
          </a:prstGeom>
        </p:spPr>
      </p:pic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6B06CA82-286F-8AAA-0904-A0F61661FEEF}"/>
              </a:ext>
            </a:extLst>
          </p:cNvPr>
          <p:cNvCxnSpPr>
            <a:cxnSpLocks/>
          </p:cNvCxnSpPr>
          <p:nvPr/>
        </p:nvCxnSpPr>
        <p:spPr>
          <a:xfrm>
            <a:off x="10844576" y="2997983"/>
            <a:ext cx="5257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ZoneTexte 39">
            <a:extLst>
              <a:ext uri="{FF2B5EF4-FFF2-40B4-BE49-F238E27FC236}">
                <a16:creationId xmlns:a16="http://schemas.microsoft.com/office/drawing/2014/main" id="{363D10E4-25D9-16EB-1111-DFA167A2F5C5}"/>
              </a:ext>
            </a:extLst>
          </p:cNvPr>
          <p:cNvSpPr txBox="1"/>
          <p:nvPr/>
        </p:nvSpPr>
        <p:spPr>
          <a:xfrm>
            <a:off x="10718621" y="2602517"/>
            <a:ext cx="817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10 µm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18A2CC17-881E-46D2-1119-1D2267C9AD36}"/>
              </a:ext>
            </a:extLst>
          </p:cNvPr>
          <p:cNvSpPr txBox="1"/>
          <p:nvPr/>
        </p:nvSpPr>
        <p:spPr>
          <a:xfrm>
            <a:off x="7334464" y="493888"/>
            <a:ext cx="27252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/>
              <a:t>7ps</a:t>
            </a:r>
            <a:endParaRPr lang="fr-FR" sz="3200" dirty="0"/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860C8DED-F8F2-12B9-6698-4BA150B67D75}"/>
              </a:ext>
            </a:extLst>
          </p:cNvPr>
          <p:cNvSpPr txBox="1"/>
          <p:nvPr/>
        </p:nvSpPr>
        <p:spPr>
          <a:xfrm>
            <a:off x="10790796" y="44021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/>
              <a:t>2ps</a:t>
            </a:r>
            <a:endParaRPr lang="fr-FR" sz="3200" dirty="0"/>
          </a:p>
        </p:txBody>
      </p:sp>
      <p:pic>
        <p:nvPicPr>
          <p:cNvPr id="49" name="Image 48">
            <a:extLst>
              <a:ext uri="{FF2B5EF4-FFF2-40B4-BE49-F238E27FC236}">
                <a16:creationId xmlns:a16="http://schemas.microsoft.com/office/drawing/2014/main" id="{FA64098B-3BB6-6163-17D1-5AC444B862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9256" y="3391248"/>
            <a:ext cx="4634613" cy="3428999"/>
          </a:xfrm>
          <a:prstGeom prst="rect">
            <a:avLst/>
          </a:prstGeom>
        </p:spPr>
      </p:pic>
      <p:sp>
        <p:nvSpPr>
          <p:cNvPr id="51" name="ZoneTexte 50">
            <a:extLst>
              <a:ext uri="{FF2B5EF4-FFF2-40B4-BE49-F238E27FC236}">
                <a16:creationId xmlns:a16="http://schemas.microsoft.com/office/drawing/2014/main" id="{0C462D07-659F-D0B3-5D2E-58686917F766}"/>
              </a:ext>
            </a:extLst>
          </p:cNvPr>
          <p:cNvSpPr txBox="1"/>
          <p:nvPr/>
        </p:nvSpPr>
        <p:spPr>
          <a:xfrm>
            <a:off x="10769407" y="359665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/>
              <a:t>2ps</a:t>
            </a:r>
            <a:endParaRPr lang="fr-FR" sz="3200" dirty="0"/>
          </a:p>
        </p:txBody>
      </p: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8D9F5B15-6DE8-E1AE-E746-0A5679FAE5F9}"/>
              </a:ext>
            </a:extLst>
          </p:cNvPr>
          <p:cNvCxnSpPr>
            <a:cxnSpLocks/>
          </p:cNvCxnSpPr>
          <p:nvPr/>
        </p:nvCxnSpPr>
        <p:spPr>
          <a:xfrm flipH="1">
            <a:off x="9468221" y="919724"/>
            <a:ext cx="596514" cy="289865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age 6">
            <a:extLst>
              <a:ext uri="{FF2B5EF4-FFF2-40B4-BE49-F238E27FC236}">
                <a16:creationId xmlns:a16="http://schemas.microsoft.com/office/drawing/2014/main" id="{6EC3BC9E-E21B-FACB-01FB-2273A4B59E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95229" y="3375190"/>
            <a:ext cx="4639415" cy="3458035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45E8E25-8A8C-88B0-2E1E-6EF2DDC9B162}"/>
              </a:ext>
            </a:extLst>
          </p:cNvPr>
          <p:cNvSpPr txBox="1"/>
          <p:nvPr/>
        </p:nvSpPr>
        <p:spPr>
          <a:xfrm>
            <a:off x="5901332" y="393536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/>
              <a:t>7ps</a:t>
            </a:r>
            <a:endParaRPr lang="fr-FR" sz="3200" dirty="0"/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30774F66-3196-E725-E93A-ACB7FCE7ACCC}"/>
              </a:ext>
            </a:extLst>
          </p:cNvPr>
          <p:cNvCxnSpPr>
            <a:cxnSpLocks/>
          </p:cNvCxnSpPr>
          <p:nvPr/>
        </p:nvCxnSpPr>
        <p:spPr>
          <a:xfrm flipH="1">
            <a:off x="5720610" y="986283"/>
            <a:ext cx="1106926" cy="30777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46055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B638A-EF94-9C8F-885C-81D2FFCFE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424635B3-903C-3DCB-853C-E6D24E66C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374" y="134227"/>
            <a:ext cx="10027920" cy="749032"/>
          </a:xfrm>
        </p:spPr>
        <p:txBody>
          <a:bodyPr>
            <a:normAutofit fontScale="55000" lnSpcReduction="20000"/>
          </a:bodyPr>
          <a:lstStyle/>
          <a:p>
            <a:pPr marL="114300" indent="0">
              <a:buNone/>
            </a:pPr>
            <a:r>
              <a:rPr lang="fr-FR" sz="5100" b="1" dirty="0"/>
              <a:t>2ps vs 7ps 260527 </a:t>
            </a:r>
            <a:r>
              <a:rPr lang="fr-FR" sz="5100" b="1" dirty="0" err="1"/>
              <a:t>Vatérite</a:t>
            </a:r>
            <a:r>
              <a:rPr lang="fr-FR" sz="5100" b="1" dirty="0"/>
              <a:t> </a:t>
            </a:r>
          </a:p>
          <a:p>
            <a:pPr marL="114300" indent="0">
              <a:buNone/>
            </a:pPr>
            <a:r>
              <a:rPr lang="fr-FR" dirty="0"/>
              <a:t>                                                      </a:t>
            </a:r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36DFB279-8D85-1A9A-9860-0896FB1C9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54" y="989890"/>
            <a:ext cx="10382491" cy="5515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013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9D1F3-1217-3F5B-324D-D56F1C11D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805B31-6664-D46D-85C0-D21A1228BE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492" y="-39193"/>
            <a:ext cx="4228769" cy="1102043"/>
          </a:xfrm>
        </p:spPr>
        <p:txBody>
          <a:bodyPr>
            <a:normAutofit fontScale="90000"/>
          </a:bodyPr>
          <a:lstStyle/>
          <a:p>
            <a:pPr algn="l"/>
            <a:r>
              <a:rPr lang="fr-FR" sz="4000" b="1" dirty="0" err="1"/>
              <a:t>Corals</a:t>
            </a:r>
            <a:r>
              <a:rPr lang="fr-FR" sz="4000" b="1" dirty="0"/>
              <a:t> 260715 2ps (#4 </a:t>
            </a:r>
            <a:r>
              <a:rPr lang="fr-FR" sz="4000" b="1" dirty="0" err="1"/>
              <a:t>stressed</a:t>
            </a:r>
            <a:r>
              <a:rPr lang="fr-FR" sz="4000" b="1" dirty="0"/>
              <a:t>)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6466E450-D8CF-B6F6-8F60-46F20EE2AA07}"/>
              </a:ext>
            </a:extLst>
          </p:cNvPr>
          <p:cNvSpPr txBox="1"/>
          <p:nvPr/>
        </p:nvSpPr>
        <p:spPr>
          <a:xfrm>
            <a:off x="7854741" y="176293"/>
            <a:ext cx="41290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0" i="0" dirty="0">
                <a:effectLst/>
                <a:latin typeface="+mn-lt"/>
              </a:rPr>
              <a:t>R2_min= 0.7;</a:t>
            </a:r>
          </a:p>
          <a:p>
            <a:pPr>
              <a:buNone/>
            </a:pPr>
            <a:r>
              <a:rPr lang="fr-FR" sz="1800" b="0" i="0" dirty="0" err="1">
                <a:effectLst/>
                <a:latin typeface="+mn-lt"/>
              </a:rPr>
              <a:t>threshold_sigma</a:t>
            </a:r>
            <a:r>
              <a:rPr lang="fr-FR" sz="1800" b="0" i="0" dirty="0">
                <a:effectLst/>
                <a:latin typeface="+mn-lt"/>
              </a:rPr>
              <a:t>= 4;</a:t>
            </a:r>
          </a:p>
          <a:p>
            <a:pPr>
              <a:buNone/>
            </a:pPr>
            <a:r>
              <a:rPr lang="fr-FR" sz="1800" b="0" i="0" dirty="0" err="1">
                <a:effectLst/>
                <a:latin typeface="+mn-lt"/>
              </a:rPr>
              <a:t>min_points_above_threshold</a:t>
            </a:r>
            <a:r>
              <a:rPr lang="fr-FR" sz="1800" b="0" i="0" dirty="0">
                <a:effectLst/>
                <a:latin typeface="+mn-lt"/>
              </a:rPr>
              <a:t> = 2;</a:t>
            </a:r>
            <a:endParaRPr lang="fr-FR" sz="1000" dirty="0">
              <a:latin typeface="Menlo"/>
            </a:endParaRPr>
          </a:p>
          <a:p>
            <a:pPr>
              <a:buNone/>
            </a:pPr>
            <a:r>
              <a:rPr lang="fr-FR" b="0" i="0" dirty="0">
                <a:effectLst/>
              </a:rPr>
              <a:t>ACC if A(ACC)</a:t>
            </a:r>
            <a:r>
              <a:rPr lang="fr-FR" dirty="0"/>
              <a:t>&gt;</a:t>
            </a:r>
            <a:r>
              <a:rPr lang="el-GR" b="1" dirty="0"/>
              <a:t> Γ </a:t>
            </a:r>
            <a:r>
              <a:rPr lang="fr-FR" dirty="0"/>
              <a:t>A(ARA) : </a:t>
            </a:r>
            <a:endParaRPr lang="fr-FR" b="0" i="0" dirty="0">
              <a:effectLst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9D11103-695B-3024-1C6D-F47BFAAFB0F0}"/>
              </a:ext>
            </a:extLst>
          </p:cNvPr>
          <p:cNvSpPr txBox="1"/>
          <p:nvPr/>
        </p:nvSpPr>
        <p:spPr>
          <a:xfrm>
            <a:off x="2440219" y="4229466"/>
            <a:ext cx="61367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3600" b="1" dirty="0"/>
              <a:t>Γ</a:t>
            </a:r>
            <a:r>
              <a:rPr lang="fr-FR" sz="3600" b="1" dirty="0"/>
              <a:t> = 1</a:t>
            </a:r>
            <a:endParaRPr lang="fr-FR" sz="3600" dirty="0"/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8A4E8F01-7786-EB05-F512-E4BE96383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961" y="1730640"/>
            <a:ext cx="6430296" cy="4951067"/>
          </a:xfrm>
          <a:prstGeom prst="rect">
            <a:avLst/>
          </a:prstGeom>
        </p:spPr>
      </p:pic>
      <p:sp>
        <p:nvSpPr>
          <p:cNvPr id="36" name="ZoneTexte 35">
            <a:extLst>
              <a:ext uri="{FF2B5EF4-FFF2-40B4-BE49-F238E27FC236}">
                <a16:creationId xmlns:a16="http://schemas.microsoft.com/office/drawing/2014/main" id="{6F540607-8E94-51BE-EA96-3459967929E7}"/>
              </a:ext>
            </a:extLst>
          </p:cNvPr>
          <p:cNvSpPr txBox="1"/>
          <p:nvPr/>
        </p:nvSpPr>
        <p:spPr>
          <a:xfrm>
            <a:off x="5934811" y="1108213"/>
            <a:ext cx="61367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3600" b="1" dirty="0"/>
              <a:t>Γ</a:t>
            </a:r>
            <a:r>
              <a:rPr lang="fr-FR" sz="3600" b="1" dirty="0"/>
              <a:t> = 0.3</a:t>
            </a:r>
            <a:endParaRPr lang="fr-FR" sz="3600" dirty="0"/>
          </a:p>
        </p:txBody>
      </p:sp>
      <p:pic>
        <p:nvPicPr>
          <p:cNvPr id="38" name="Image 37">
            <a:extLst>
              <a:ext uri="{FF2B5EF4-FFF2-40B4-BE49-F238E27FC236}">
                <a16:creationId xmlns:a16="http://schemas.microsoft.com/office/drawing/2014/main" id="{F4FB9592-0A2C-262E-73A0-8D307CCD49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6936" y="4206173"/>
            <a:ext cx="2348921" cy="2403723"/>
          </a:xfrm>
          <a:prstGeom prst="rect">
            <a:avLst/>
          </a:prstGeom>
        </p:spPr>
      </p:pic>
      <p:pic>
        <p:nvPicPr>
          <p:cNvPr id="40" name="Image 39">
            <a:extLst>
              <a:ext uri="{FF2B5EF4-FFF2-40B4-BE49-F238E27FC236}">
                <a16:creationId xmlns:a16="http://schemas.microsoft.com/office/drawing/2014/main" id="{84BFEE20-1A7B-9DF1-2BD5-14265479D2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407" y="1753932"/>
            <a:ext cx="4951067" cy="495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1928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F2D21-8650-8347-724F-73A9B2027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F25FD2-DBE2-1AE5-1DD0-E78B71C0E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492" y="-39193"/>
            <a:ext cx="4228769" cy="1102043"/>
          </a:xfrm>
        </p:spPr>
        <p:txBody>
          <a:bodyPr>
            <a:normAutofit fontScale="90000"/>
          </a:bodyPr>
          <a:lstStyle/>
          <a:p>
            <a:pPr algn="l"/>
            <a:r>
              <a:rPr lang="fr-FR" sz="4000" b="1" dirty="0" err="1"/>
              <a:t>Corals</a:t>
            </a:r>
            <a:r>
              <a:rPr lang="fr-FR" sz="4000" b="1" dirty="0"/>
              <a:t> 260715 7ps (#4 </a:t>
            </a:r>
            <a:r>
              <a:rPr lang="fr-FR" sz="4000" b="1" dirty="0" err="1"/>
              <a:t>stressed</a:t>
            </a:r>
            <a:r>
              <a:rPr lang="fr-FR" sz="4000" b="1" dirty="0"/>
              <a:t>)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1201683-A6E2-DA1A-6F3C-9FF4BB29345E}"/>
              </a:ext>
            </a:extLst>
          </p:cNvPr>
          <p:cNvSpPr txBox="1"/>
          <p:nvPr/>
        </p:nvSpPr>
        <p:spPr>
          <a:xfrm>
            <a:off x="7854741" y="176293"/>
            <a:ext cx="41290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0" i="0" dirty="0">
                <a:effectLst/>
                <a:latin typeface="+mn-lt"/>
              </a:rPr>
              <a:t>R2_min= 0.6;</a:t>
            </a:r>
          </a:p>
          <a:p>
            <a:pPr>
              <a:buNone/>
            </a:pPr>
            <a:r>
              <a:rPr lang="fr-FR" sz="1800" b="0" i="0" dirty="0" err="1">
                <a:effectLst/>
                <a:latin typeface="+mn-lt"/>
              </a:rPr>
              <a:t>threshold_sigma</a:t>
            </a:r>
            <a:r>
              <a:rPr lang="fr-FR" sz="1800" b="0" i="0" dirty="0">
                <a:effectLst/>
                <a:latin typeface="+mn-lt"/>
              </a:rPr>
              <a:t>= 5;</a:t>
            </a:r>
          </a:p>
          <a:p>
            <a:pPr>
              <a:buNone/>
            </a:pPr>
            <a:r>
              <a:rPr lang="fr-FR" sz="1800" b="0" i="0" dirty="0" err="1">
                <a:effectLst/>
                <a:latin typeface="+mn-lt"/>
              </a:rPr>
              <a:t>min_points_above_threshold</a:t>
            </a:r>
            <a:r>
              <a:rPr lang="fr-FR" sz="1800" b="0" i="0" dirty="0">
                <a:effectLst/>
                <a:latin typeface="+mn-lt"/>
              </a:rPr>
              <a:t> = 1;</a:t>
            </a:r>
            <a:endParaRPr lang="fr-FR" sz="1000" dirty="0">
              <a:latin typeface="Menlo"/>
            </a:endParaRPr>
          </a:p>
          <a:p>
            <a:pPr>
              <a:buNone/>
            </a:pPr>
            <a:r>
              <a:rPr lang="fr-FR" b="0" i="0" dirty="0">
                <a:effectLst/>
              </a:rPr>
              <a:t>ACC if A(ACC)</a:t>
            </a:r>
            <a:r>
              <a:rPr lang="fr-FR" dirty="0"/>
              <a:t>&gt;</a:t>
            </a:r>
            <a:r>
              <a:rPr lang="el-GR" b="1" dirty="0"/>
              <a:t> Γ </a:t>
            </a:r>
            <a:r>
              <a:rPr lang="fr-FR" dirty="0"/>
              <a:t>A(ARA) : </a:t>
            </a:r>
            <a:endParaRPr lang="fr-FR" b="0" i="0" dirty="0">
              <a:effectLst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B06930DA-75E6-A3E0-D427-8BD281D61CEB}"/>
              </a:ext>
            </a:extLst>
          </p:cNvPr>
          <p:cNvSpPr txBox="1"/>
          <p:nvPr/>
        </p:nvSpPr>
        <p:spPr>
          <a:xfrm>
            <a:off x="2440219" y="4229466"/>
            <a:ext cx="61367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3600" b="1" dirty="0"/>
              <a:t>Γ</a:t>
            </a:r>
            <a:r>
              <a:rPr lang="fr-FR" sz="3600" b="1" dirty="0"/>
              <a:t> = 1</a:t>
            </a:r>
            <a:endParaRPr lang="fr-FR" sz="3600" dirty="0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8479CCB4-4B16-AC36-74EF-246979F5D6DF}"/>
              </a:ext>
            </a:extLst>
          </p:cNvPr>
          <p:cNvSpPr txBox="1"/>
          <p:nvPr/>
        </p:nvSpPr>
        <p:spPr>
          <a:xfrm>
            <a:off x="5934811" y="1108213"/>
            <a:ext cx="61367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3600" b="1" dirty="0"/>
              <a:t>Γ</a:t>
            </a:r>
            <a:r>
              <a:rPr lang="fr-FR" sz="3600" b="1" dirty="0"/>
              <a:t> = 1</a:t>
            </a:r>
            <a:endParaRPr lang="fr-FR" sz="36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4B22361-16C2-4105-86A7-D99B55516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852" y="1730639"/>
            <a:ext cx="6430297" cy="495106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EA06BB75-A387-B7AC-582E-324F601DFE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6936" y="4206173"/>
            <a:ext cx="2348921" cy="2403723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6BA1163F-7C0A-DCA9-40E0-F4D2AEDB3E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" y="2069035"/>
            <a:ext cx="5361313" cy="432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4596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02574-0FD6-5DB8-C1D3-59435D5BE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A0643B-1886-FF0D-DF59-6866F737E0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492" y="-39193"/>
            <a:ext cx="4228769" cy="1102043"/>
          </a:xfrm>
        </p:spPr>
        <p:txBody>
          <a:bodyPr>
            <a:normAutofit fontScale="90000"/>
          </a:bodyPr>
          <a:lstStyle/>
          <a:p>
            <a:pPr algn="l"/>
            <a:r>
              <a:rPr lang="fr-FR" sz="4000" b="1" dirty="0" err="1"/>
              <a:t>Corals</a:t>
            </a:r>
            <a:r>
              <a:rPr lang="fr-FR" sz="4000" b="1" dirty="0"/>
              <a:t> 260715 2ps vs 7ps (#4 </a:t>
            </a:r>
            <a:r>
              <a:rPr lang="fr-FR" sz="4000" b="1" dirty="0" err="1"/>
              <a:t>stressed</a:t>
            </a:r>
            <a:r>
              <a:rPr lang="fr-FR" sz="4000" b="1" dirty="0"/>
              <a:t>)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9A7D0108-0A74-3F29-49FC-7BDD36E85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999" y="3978442"/>
            <a:ext cx="3595773" cy="2695162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3FEF3777-39D9-0ACB-5130-C35A29C99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323" y="759289"/>
            <a:ext cx="3915825" cy="3074207"/>
          </a:xfrm>
          <a:prstGeom prst="rect">
            <a:avLst/>
          </a:prstGeom>
        </p:spPr>
      </p:pic>
      <p:graphicFrame>
        <p:nvGraphicFramePr>
          <p:cNvPr id="30" name="Tableau 29">
            <a:extLst>
              <a:ext uri="{FF2B5EF4-FFF2-40B4-BE49-F238E27FC236}">
                <a16:creationId xmlns:a16="http://schemas.microsoft.com/office/drawing/2014/main" id="{D8DFE135-A058-36D9-0874-F8FF2F1DC9D7}"/>
              </a:ext>
            </a:extLst>
          </p:cNvPr>
          <p:cNvGraphicFramePr>
            <a:graphicFrameLocks noGrp="1"/>
          </p:cNvGraphicFramePr>
          <p:nvPr/>
        </p:nvGraphicFramePr>
        <p:xfrm>
          <a:off x="131400" y="4772812"/>
          <a:ext cx="7375923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217">
                  <a:extLst>
                    <a:ext uri="{9D8B030D-6E8A-4147-A177-3AD203B41FA5}">
                      <a16:colId xmlns:a16="http://schemas.microsoft.com/office/drawing/2014/main" val="1686248404"/>
                    </a:ext>
                  </a:extLst>
                </a:gridCol>
                <a:gridCol w="1974902">
                  <a:extLst>
                    <a:ext uri="{9D8B030D-6E8A-4147-A177-3AD203B41FA5}">
                      <a16:colId xmlns:a16="http://schemas.microsoft.com/office/drawing/2014/main" val="1651581824"/>
                    </a:ext>
                  </a:extLst>
                </a:gridCol>
                <a:gridCol w="1974902">
                  <a:extLst>
                    <a:ext uri="{9D8B030D-6E8A-4147-A177-3AD203B41FA5}">
                      <a16:colId xmlns:a16="http://schemas.microsoft.com/office/drawing/2014/main" val="3905708282"/>
                    </a:ext>
                  </a:extLst>
                </a:gridCol>
                <a:gridCol w="1974902">
                  <a:extLst>
                    <a:ext uri="{9D8B030D-6E8A-4147-A177-3AD203B41FA5}">
                      <a16:colId xmlns:a16="http://schemas.microsoft.com/office/drawing/2014/main" val="25626599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260715 ROI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FWHM_phase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41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/>
                        <a:t>2ps 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8311 +/- 3747.4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1086.02 +/- 0.17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1.43 +/- 0.81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74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2ps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2823.2 +/- 2918.7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1073.11 +/- 0.36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33.92 +/- 6.33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929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/>
                        <a:t>7ps 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4275 +/- 794.18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1085.45 +/- 0.24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3.12 +/- 0.93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68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/>
                        <a:t>7ps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3741.6 +/- 2693.2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1073.83 +/- 1.53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32.04 +/- 8.97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265749"/>
                  </a:ext>
                </a:extLst>
              </a:tr>
            </a:tbl>
          </a:graphicData>
        </a:graphic>
      </p:graphicFrame>
      <p:pic>
        <p:nvPicPr>
          <p:cNvPr id="4" name="Image 3">
            <a:extLst>
              <a:ext uri="{FF2B5EF4-FFF2-40B4-BE49-F238E27FC236}">
                <a16:creationId xmlns:a16="http://schemas.microsoft.com/office/drawing/2014/main" id="{94A46883-FDB9-9FD8-FEBF-355FAF6A91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975" y="2734"/>
            <a:ext cx="2348921" cy="240372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9C9E9BE-EA6B-0545-D29F-BC1B94D2F3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082" y="2355901"/>
            <a:ext cx="2633006" cy="2399675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391B4962-DF03-B9E3-3DF4-B9111DBA0C24}"/>
              </a:ext>
            </a:extLst>
          </p:cNvPr>
          <p:cNvSpPr txBox="1"/>
          <p:nvPr/>
        </p:nvSpPr>
        <p:spPr>
          <a:xfrm>
            <a:off x="208186" y="1003108"/>
            <a:ext cx="41290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0" i="0" dirty="0">
                <a:effectLst/>
                <a:latin typeface="+mn-lt"/>
              </a:rPr>
              <a:t>R2_min= 0.7;</a:t>
            </a:r>
          </a:p>
          <a:p>
            <a:pPr>
              <a:buNone/>
            </a:pPr>
            <a:r>
              <a:rPr lang="fr-FR" sz="1800" b="0" i="0" dirty="0" err="1">
                <a:effectLst/>
                <a:latin typeface="+mn-lt"/>
              </a:rPr>
              <a:t>threshold_sigma</a:t>
            </a:r>
            <a:r>
              <a:rPr lang="fr-FR" sz="1800" b="0" i="0" dirty="0">
                <a:effectLst/>
                <a:latin typeface="+mn-lt"/>
              </a:rPr>
              <a:t>= 4;</a:t>
            </a:r>
          </a:p>
          <a:p>
            <a:pPr>
              <a:buNone/>
            </a:pPr>
            <a:r>
              <a:rPr lang="fr-FR" sz="1800" b="0" i="0" dirty="0" err="1">
                <a:effectLst/>
                <a:latin typeface="+mn-lt"/>
              </a:rPr>
              <a:t>min_points_above_threshold</a:t>
            </a:r>
            <a:r>
              <a:rPr lang="fr-FR" sz="1800" b="0" i="0" dirty="0">
                <a:effectLst/>
                <a:latin typeface="+mn-lt"/>
              </a:rPr>
              <a:t> = 2;</a:t>
            </a:r>
            <a:endParaRPr lang="fr-FR" sz="1000" dirty="0">
              <a:latin typeface="Menlo"/>
            </a:endParaRPr>
          </a:p>
          <a:p>
            <a:pPr>
              <a:buNone/>
            </a:pPr>
            <a:r>
              <a:rPr lang="fr-FR" b="0" i="0" dirty="0">
                <a:effectLst/>
              </a:rPr>
              <a:t>ACC if A(ACC)</a:t>
            </a:r>
            <a:r>
              <a:rPr lang="fr-FR" dirty="0"/>
              <a:t>&gt;</a:t>
            </a:r>
            <a:r>
              <a:rPr lang="el-GR" b="1" dirty="0"/>
              <a:t> Γ </a:t>
            </a:r>
            <a:r>
              <a:rPr lang="fr-FR" dirty="0"/>
              <a:t>A(ARA) : </a:t>
            </a:r>
            <a:endParaRPr lang="fr-FR" b="0" i="0" dirty="0">
              <a:effectLst/>
            </a:endParaRP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2677524C-3F44-380B-40FD-CF997ED73C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6722" y="2373137"/>
            <a:ext cx="2633006" cy="2399675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575EF9A4-CCD2-0B21-683F-1108A9995C95}"/>
              </a:ext>
            </a:extLst>
          </p:cNvPr>
          <p:cNvSpPr txBox="1"/>
          <p:nvPr/>
        </p:nvSpPr>
        <p:spPr>
          <a:xfrm>
            <a:off x="2440219" y="4229466"/>
            <a:ext cx="61367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3600" b="1" dirty="0"/>
              <a:t>Γ</a:t>
            </a:r>
            <a:r>
              <a:rPr lang="fr-FR" sz="3600" b="1" dirty="0"/>
              <a:t> = 1</a:t>
            </a:r>
            <a:endParaRPr lang="fr-FR" sz="36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F5EAF23F-C2F9-0B05-40E0-5AB9D6A6CEF2}"/>
              </a:ext>
            </a:extLst>
          </p:cNvPr>
          <p:cNvSpPr txBox="1"/>
          <p:nvPr/>
        </p:nvSpPr>
        <p:spPr>
          <a:xfrm>
            <a:off x="5508610" y="4178835"/>
            <a:ext cx="61367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3600" b="1" dirty="0"/>
              <a:t>Γ</a:t>
            </a:r>
            <a:r>
              <a:rPr lang="fr-FR" sz="3600" b="1" dirty="0"/>
              <a:t> = 0.3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16057195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CEA3C-5351-1921-CBAF-129EBECC9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29DC01-3DE8-CBB5-1D80-D9B4EA49D1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563326"/>
            <a:ext cx="9580880" cy="1102043"/>
          </a:xfrm>
        </p:spPr>
        <p:txBody>
          <a:bodyPr>
            <a:normAutofit/>
          </a:bodyPr>
          <a:lstStyle/>
          <a:p>
            <a:pPr algn="l"/>
            <a:r>
              <a:rPr lang="fr-FR" sz="2800" b="1" dirty="0" err="1"/>
              <a:t>Corals</a:t>
            </a:r>
            <a:r>
              <a:rPr lang="fr-FR" sz="2800" b="1" dirty="0"/>
              <a:t> 260715 2ps vs 7ps (#4 </a:t>
            </a:r>
            <a:r>
              <a:rPr lang="fr-FR" sz="2800" b="1" dirty="0" err="1"/>
              <a:t>stressed</a:t>
            </a:r>
            <a:r>
              <a:rPr lang="fr-FR" sz="2800" b="1" dirty="0"/>
              <a:t>)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FEE9127-310A-0E1E-1218-931918BFABE8}"/>
              </a:ext>
            </a:extLst>
          </p:cNvPr>
          <p:cNvSpPr txBox="1"/>
          <p:nvPr/>
        </p:nvSpPr>
        <p:spPr>
          <a:xfrm>
            <a:off x="8954952" y="2961198"/>
            <a:ext cx="78435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2ps :</a:t>
            </a:r>
          </a:p>
          <a:p>
            <a:r>
              <a:rPr lang="fr-FR" dirty="0"/>
              <a:t>RMS </a:t>
            </a:r>
            <a:r>
              <a:rPr lang="fr-FR" dirty="0" err="1"/>
              <a:t>residual</a:t>
            </a:r>
            <a:r>
              <a:rPr lang="fr-FR" dirty="0"/>
              <a:t> = 0.506</a:t>
            </a:r>
          </a:p>
          <a:p>
            <a:r>
              <a:rPr lang="fr-FR" dirty="0"/>
              <a:t>Max </a:t>
            </a:r>
            <a:r>
              <a:rPr lang="fr-FR" dirty="0" err="1"/>
              <a:t>residual</a:t>
            </a:r>
            <a:r>
              <a:rPr lang="fr-FR" dirty="0"/>
              <a:t> = 0.745</a:t>
            </a:r>
          </a:p>
          <a:p>
            <a:r>
              <a:rPr lang="fr-FR" dirty="0"/>
              <a:t>min </a:t>
            </a:r>
            <a:r>
              <a:rPr lang="fr-FR" dirty="0" err="1"/>
              <a:t>experimental</a:t>
            </a:r>
            <a:r>
              <a:rPr lang="fr-FR" dirty="0"/>
              <a:t> = 416.64</a:t>
            </a:r>
          </a:p>
          <a:p>
            <a:r>
              <a:rPr lang="fr-FR" dirty="0"/>
              <a:t>background fit   = -470.884175</a:t>
            </a:r>
          </a:p>
          <a:p>
            <a:r>
              <a:rPr lang="fr-FR" dirty="0"/>
              <a:t>min fit          = -324.167943</a:t>
            </a:r>
          </a:p>
          <a:p>
            <a:r>
              <a:rPr lang="fr-FR" dirty="0"/>
              <a:t>max fit          = 128446.667684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FB783713-4FBB-62BA-1EA8-DB9C7C467030}"/>
              </a:ext>
            </a:extLst>
          </p:cNvPr>
          <p:cNvSpPr txBox="1"/>
          <p:nvPr/>
        </p:nvSpPr>
        <p:spPr>
          <a:xfrm>
            <a:off x="8954952" y="4867956"/>
            <a:ext cx="854790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7 </a:t>
            </a:r>
            <a:r>
              <a:rPr lang="fr-FR" b="1" dirty="0" err="1"/>
              <a:t>ps</a:t>
            </a:r>
            <a:r>
              <a:rPr lang="fr-FR" b="1" dirty="0"/>
              <a:t> :</a:t>
            </a:r>
          </a:p>
          <a:p>
            <a:r>
              <a:rPr lang="fr-FR" dirty="0"/>
              <a:t>RMS </a:t>
            </a:r>
            <a:r>
              <a:rPr lang="fr-FR" dirty="0" err="1"/>
              <a:t>residual</a:t>
            </a:r>
            <a:r>
              <a:rPr lang="fr-FR" dirty="0"/>
              <a:t> = 0.970</a:t>
            </a:r>
          </a:p>
          <a:p>
            <a:r>
              <a:rPr lang="fr-FR" dirty="0"/>
              <a:t>Max </a:t>
            </a:r>
            <a:r>
              <a:rPr lang="fr-FR" dirty="0" err="1"/>
              <a:t>residual</a:t>
            </a:r>
            <a:r>
              <a:rPr lang="fr-FR" dirty="0"/>
              <a:t> = 1.475</a:t>
            </a:r>
          </a:p>
          <a:p>
            <a:r>
              <a:rPr lang="fr-FR" dirty="0"/>
              <a:t>min </a:t>
            </a:r>
            <a:r>
              <a:rPr lang="fr-FR" dirty="0" err="1"/>
              <a:t>experimental</a:t>
            </a:r>
            <a:r>
              <a:rPr lang="fr-FR" dirty="0"/>
              <a:t> = -2214.30</a:t>
            </a:r>
          </a:p>
          <a:p>
            <a:r>
              <a:rPr lang="fr-FR" dirty="0"/>
              <a:t>background fit   = 1071.426001</a:t>
            </a:r>
          </a:p>
          <a:p>
            <a:r>
              <a:rPr lang="fr-FR" dirty="0"/>
              <a:t>min fit          = 2024.255660</a:t>
            </a:r>
          </a:p>
          <a:p>
            <a:r>
              <a:rPr lang="fr-FR" dirty="0"/>
              <a:t>max fit          = 100911.778329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CA5D1578-069E-25EE-143F-23228311E541}"/>
              </a:ext>
            </a:extLst>
          </p:cNvPr>
          <p:cNvSpPr txBox="1"/>
          <p:nvPr/>
        </p:nvSpPr>
        <p:spPr>
          <a:xfrm>
            <a:off x="9032633" y="2511808"/>
            <a:ext cx="2817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Stats sur [min(</a:t>
            </a:r>
            <a:r>
              <a:rPr lang="fr-FR" b="1" dirty="0" err="1"/>
              <a:t>wn</a:t>
            </a:r>
            <a:r>
              <a:rPr lang="fr-FR" b="1" dirty="0"/>
              <a:t>) 1076] :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A8F374BF-223C-787B-FE0B-63D26839ABA6}"/>
              </a:ext>
            </a:extLst>
          </p:cNvPr>
          <p:cNvSpPr txBox="1"/>
          <p:nvPr/>
        </p:nvSpPr>
        <p:spPr>
          <a:xfrm>
            <a:off x="0" y="525146"/>
            <a:ext cx="3503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Réalisé sur la somme des pixels : </a:t>
            </a:r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EB300E05-724F-7558-5632-0057A86A2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124" y="5970445"/>
            <a:ext cx="3795089" cy="342930"/>
          </a:xfrm>
          <a:prstGeom prst="rect">
            <a:avLst/>
          </a:prstGeom>
        </p:spPr>
      </p:pic>
      <p:sp>
        <p:nvSpPr>
          <p:cNvPr id="50" name="ZoneTexte 49">
            <a:extLst>
              <a:ext uri="{FF2B5EF4-FFF2-40B4-BE49-F238E27FC236}">
                <a16:creationId xmlns:a16="http://schemas.microsoft.com/office/drawing/2014/main" id="{B50BBAEE-1C54-1FB2-22C8-88C2D9BE7E34}"/>
              </a:ext>
            </a:extLst>
          </p:cNvPr>
          <p:cNvSpPr txBox="1"/>
          <p:nvPr/>
        </p:nvSpPr>
        <p:spPr>
          <a:xfrm>
            <a:off x="2587953" y="6368314"/>
            <a:ext cx="1832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Bckg</a:t>
            </a:r>
            <a:r>
              <a:rPr lang="fr-FR" dirty="0"/>
              <a:t> </a:t>
            </a:r>
            <a:r>
              <a:rPr lang="fr-FR" dirty="0" err="1"/>
              <a:t>variability</a:t>
            </a:r>
            <a:r>
              <a:rPr lang="fr-FR" dirty="0"/>
              <a:t>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40B2F10B-A698-6B4F-117E-3D8795514B85}"/>
                  </a:ext>
                </a:extLst>
              </p:cNvPr>
              <p:cNvSpPr txBox="1"/>
              <p:nvPr/>
            </p:nvSpPr>
            <p:spPr>
              <a:xfrm>
                <a:off x="4227213" y="6163169"/>
                <a:ext cx="4529864" cy="7439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>
                                  <a:latin typeface="Cambria Math" panose="02040503050406030204" pitchFamily="18" charset="0"/>
                                </a:rPr>
                                <m:t>bckg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𝑔𝑙𝑜𝑏𝑎𝑙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𝑚𝑒𝑑𝑖𝑎𝑛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i="0">
                                      <a:latin typeface="Cambria Math" panose="02040503050406030204" pitchFamily="18" charset="0"/>
                                    </a:rPr>
                                    <m:t>bckg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e>
                          </m:d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i="0">
                                      <a:latin typeface="Cambria Math" panose="02040503050406030204" pitchFamily="18" charset="0"/>
                                    </a:rPr>
                                    <m:t>pixel</m:t>
                                  </m:r>
                                </m:sub>
                              </m:sSub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fr-FR" i="0">
                                  <a:latin typeface="Cambria Math" panose="02040503050406030204" pitchFamily="18" charset="0"/>
                                </a:rPr>
                                <m:t>norm</m:t>
                              </m:r>
                            </m:den>
                          </m:f>
                        </m:e>
                      </m:borderBox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40B2F10B-A698-6B4F-117E-3D8795514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213" y="6163169"/>
                <a:ext cx="4529864" cy="74392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 9">
            <a:extLst>
              <a:ext uri="{FF2B5EF4-FFF2-40B4-BE49-F238E27FC236}">
                <a16:creationId xmlns:a16="http://schemas.microsoft.com/office/drawing/2014/main" id="{8AED136C-AF8B-B16C-3FBF-6FDB542013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413" y="3976860"/>
            <a:ext cx="3642800" cy="190608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013A3B00-7BAD-6FA9-A601-DB5A2E58E7A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6305" y="866213"/>
            <a:ext cx="4399016" cy="3066898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54B9F079-BFCF-30AF-C9AC-D146DE11D9F6}"/>
              </a:ext>
            </a:extLst>
          </p:cNvPr>
          <p:cNvSpPr txBox="1"/>
          <p:nvPr/>
        </p:nvSpPr>
        <p:spPr>
          <a:xfrm>
            <a:off x="1837832" y="887555"/>
            <a:ext cx="21956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b="1" dirty="0"/>
              <a:t>2ps</a:t>
            </a:r>
            <a:endParaRPr lang="fr-FR" dirty="0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E096E417-A1FC-D9CE-5BB3-F4F0A8C72F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96441" y="3990614"/>
            <a:ext cx="3795089" cy="1985771"/>
          </a:xfrm>
          <a:prstGeom prst="rect">
            <a:avLst/>
          </a:prstGeom>
        </p:spPr>
      </p:pic>
      <p:pic>
        <p:nvPicPr>
          <p:cNvPr id="38" name="Image 37">
            <a:extLst>
              <a:ext uri="{FF2B5EF4-FFF2-40B4-BE49-F238E27FC236}">
                <a16:creationId xmlns:a16="http://schemas.microsoft.com/office/drawing/2014/main" id="{77038095-0C63-BECE-D691-A76481F7AE9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05321" y="894477"/>
            <a:ext cx="4385470" cy="3038633"/>
          </a:xfrm>
          <a:prstGeom prst="rect">
            <a:avLst/>
          </a:prstGeom>
        </p:spPr>
      </p:pic>
      <p:sp>
        <p:nvSpPr>
          <p:cNvPr id="45" name="ZoneTexte 44">
            <a:extLst>
              <a:ext uri="{FF2B5EF4-FFF2-40B4-BE49-F238E27FC236}">
                <a16:creationId xmlns:a16="http://schemas.microsoft.com/office/drawing/2014/main" id="{215F6BBA-5800-85BC-4EB8-57FE1744128B}"/>
              </a:ext>
            </a:extLst>
          </p:cNvPr>
          <p:cNvSpPr txBox="1"/>
          <p:nvPr/>
        </p:nvSpPr>
        <p:spPr>
          <a:xfrm>
            <a:off x="6122199" y="881615"/>
            <a:ext cx="11113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b="1" dirty="0"/>
              <a:t>7ps</a:t>
            </a:r>
            <a:endParaRPr lang="fr-FR" dirty="0"/>
          </a:p>
        </p:txBody>
      </p:sp>
      <p:pic>
        <p:nvPicPr>
          <p:cNvPr id="51" name="Image 50">
            <a:extLst>
              <a:ext uri="{FF2B5EF4-FFF2-40B4-BE49-F238E27FC236}">
                <a16:creationId xmlns:a16="http://schemas.microsoft.com/office/drawing/2014/main" id="{532B0F14-BFAF-46A5-DADC-77B8D810302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79198" y="57150"/>
            <a:ext cx="2574970" cy="2133600"/>
          </a:xfrm>
          <a:prstGeom prst="rect">
            <a:avLst/>
          </a:prstGeom>
        </p:spPr>
      </p:pic>
      <p:pic>
        <p:nvPicPr>
          <p:cNvPr id="55" name="Image 54">
            <a:extLst>
              <a:ext uri="{FF2B5EF4-FFF2-40B4-BE49-F238E27FC236}">
                <a16:creationId xmlns:a16="http://schemas.microsoft.com/office/drawing/2014/main" id="{7794AED1-CB30-929D-5394-D7710D9EE0F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5068" y="209729"/>
            <a:ext cx="2249594" cy="2302079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130BA088-E1B1-1228-614D-1FA57CEED740}"/>
              </a:ext>
            </a:extLst>
          </p:cNvPr>
          <p:cNvSpPr/>
          <p:nvPr/>
        </p:nvSpPr>
        <p:spPr>
          <a:xfrm>
            <a:off x="10965577" y="2042160"/>
            <a:ext cx="426721" cy="29718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59590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D3978-569E-5D8E-97E7-5B923F530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04EA8D-D802-3DA2-2CEC-FD30C4D901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2754"/>
            <a:ext cx="9580880" cy="1102043"/>
          </a:xfrm>
        </p:spPr>
        <p:txBody>
          <a:bodyPr>
            <a:normAutofit/>
          </a:bodyPr>
          <a:lstStyle/>
          <a:p>
            <a:pPr algn="l"/>
            <a:r>
              <a:rPr lang="fr-FR" sz="4000" b="1" dirty="0"/>
              <a:t>Coral 260715 2ps vs 7ps (#4 </a:t>
            </a:r>
            <a:r>
              <a:rPr lang="fr-FR" sz="4000" b="1" dirty="0" err="1"/>
              <a:t>stressed</a:t>
            </a:r>
            <a:r>
              <a:rPr lang="fr-FR" sz="4000" b="1" dirty="0"/>
              <a:t>)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AD81B69-FD7E-2A23-BC74-8BCAE9062C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34" y="1768677"/>
            <a:ext cx="2188561" cy="2239622"/>
          </a:xfrm>
          <a:prstGeom prst="rect">
            <a:avLst/>
          </a:prstGeom>
        </p:spPr>
      </p:pic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8F3E49FC-537E-C8AE-BB7E-59C852063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375995"/>
              </p:ext>
            </p:extLst>
          </p:nvPr>
        </p:nvGraphicFramePr>
        <p:xfrm>
          <a:off x="433136" y="4742688"/>
          <a:ext cx="1132572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217">
                  <a:extLst>
                    <a:ext uri="{9D8B030D-6E8A-4147-A177-3AD203B41FA5}">
                      <a16:colId xmlns:a16="http://schemas.microsoft.com/office/drawing/2014/main" val="1686248404"/>
                    </a:ext>
                  </a:extLst>
                </a:gridCol>
                <a:gridCol w="1974902">
                  <a:extLst>
                    <a:ext uri="{9D8B030D-6E8A-4147-A177-3AD203B41FA5}">
                      <a16:colId xmlns:a16="http://schemas.microsoft.com/office/drawing/2014/main" val="1651581824"/>
                    </a:ext>
                  </a:extLst>
                </a:gridCol>
                <a:gridCol w="1974902">
                  <a:extLst>
                    <a:ext uri="{9D8B030D-6E8A-4147-A177-3AD203B41FA5}">
                      <a16:colId xmlns:a16="http://schemas.microsoft.com/office/drawing/2014/main" val="3905708282"/>
                    </a:ext>
                  </a:extLst>
                </a:gridCol>
                <a:gridCol w="1974902">
                  <a:extLst>
                    <a:ext uri="{9D8B030D-6E8A-4147-A177-3AD203B41FA5}">
                      <a16:colId xmlns:a16="http://schemas.microsoft.com/office/drawing/2014/main" val="2562659957"/>
                    </a:ext>
                  </a:extLst>
                </a:gridCol>
                <a:gridCol w="1974902">
                  <a:extLst>
                    <a:ext uri="{9D8B030D-6E8A-4147-A177-3AD203B41FA5}">
                      <a16:colId xmlns:a16="http://schemas.microsoft.com/office/drawing/2014/main" val="2754650862"/>
                    </a:ext>
                  </a:extLst>
                </a:gridCol>
                <a:gridCol w="1974902">
                  <a:extLst>
                    <a:ext uri="{9D8B030D-6E8A-4147-A177-3AD203B41FA5}">
                      <a16:colId xmlns:a16="http://schemas.microsoft.com/office/drawing/2014/main" val="41742206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260715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FWHM_phase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FWHM_instr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N_pix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41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/>
                        <a:t>2ps 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8311 +/- 3747.4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1086.02 +/- 0.17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1.43 +/- 0.81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74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2ps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2823.2 +/- 2918.7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1073.11 +/- 0.36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33.92 +/- 6.33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929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/>
                        <a:t>7ps 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4275 +/- 794.18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1085.45 +/- 0.24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3.12 +/- 0.93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68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/>
                        <a:t>7ps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3741.6 +/- 2693.2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1073.83 +/- 1.53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32.04 +/- 8.97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265749"/>
                  </a:ext>
                </a:extLst>
              </a:tr>
            </a:tbl>
          </a:graphicData>
        </a:graphic>
      </p:graphicFrame>
      <p:pic>
        <p:nvPicPr>
          <p:cNvPr id="17" name="Image 16">
            <a:extLst>
              <a:ext uri="{FF2B5EF4-FFF2-40B4-BE49-F238E27FC236}">
                <a16:creationId xmlns:a16="http://schemas.microsoft.com/office/drawing/2014/main" id="{DB62B55D-81DE-B231-A506-C4969BA15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0264" y="1593863"/>
            <a:ext cx="2797873" cy="2589250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0E8B4AE7-BB92-0CFF-2910-BCB24D531FB8}"/>
              </a:ext>
            </a:extLst>
          </p:cNvPr>
          <p:cNvSpPr txBox="1"/>
          <p:nvPr/>
        </p:nvSpPr>
        <p:spPr>
          <a:xfrm>
            <a:off x="6476733" y="997532"/>
            <a:ext cx="62082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b="1" dirty="0"/>
              <a:t>2ps</a:t>
            </a:r>
            <a:endParaRPr lang="fr-FR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7C4D800-AA07-4A51-A7DF-74430E7EF634}"/>
              </a:ext>
            </a:extLst>
          </p:cNvPr>
          <p:cNvSpPr txBox="1"/>
          <p:nvPr/>
        </p:nvSpPr>
        <p:spPr>
          <a:xfrm>
            <a:off x="3555392" y="951395"/>
            <a:ext cx="64569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b="1" dirty="0"/>
              <a:t>7ps</a:t>
            </a:r>
            <a:endParaRPr lang="fr-FR" dirty="0"/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28DCC324-0D0C-6FD6-7FE2-CF1D6C0B8C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507" y="1596088"/>
            <a:ext cx="2797873" cy="2587025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0114A209-B4EC-6EEC-F245-014BA15F2B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4380" y="186783"/>
            <a:ext cx="3695860" cy="2887549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36584E80-2061-9DBB-B754-2313204183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6320" y="3149192"/>
            <a:ext cx="2933700" cy="152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771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0098D-53C4-C840-B30A-95323CB50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3CEA08-EDB1-CBFB-796A-02108849D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2754"/>
            <a:ext cx="9580880" cy="1102043"/>
          </a:xfrm>
        </p:spPr>
        <p:txBody>
          <a:bodyPr>
            <a:normAutofit/>
          </a:bodyPr>
          <a:lstStyle/>
          <a:p>
            <a:pPr algn="l"/>
            <a:r>
              <a:rPr lang="fr-FR" sz="4000" b="1" dirty="0" err="1"/>
              <a:t>Corals</a:t>
            </a:r>
            <a:r>
              <a:rPr lang="fr-FR" sz="4000" b="1" dirty="0"/>
              <a:t> 260715 2ps (#4 </a:t>
            </a:r>
            <a:r>
              <a:rPr lang="fr-FR" sz="4000" b="1" dirty="0" err="1"/>
              <a:t>stressed</a:t>
            </a:r>
            <a:r>
              <a:rPr lang="fr-FR" sz="4000" b="1" dirty="0"/>
              <a:t>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9CFA125-BD6D-5DA1-3575-141EF2495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72" y="3754606"/>
            <a:ext cx="3370245" cy="312632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A3F3550-5F74-C413-E238-922B87EDF3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74" y="739526"/>
            <a:ext cx="2946340" cy="301508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2244FEA6-2102-9F7D-4943-8E4DA2CF29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0231" y="702993"/>
            <a:ext cx="5302169" cy="3839196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382CA5FF-097A-A485-B43F-34E1ABDF09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4232" y="3429000"/>
            <a:ext cx="4513296" cy="3429020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BD8B85F0-686C-8C6A-42BC-66DBC32E7143}"/>
              </a:ext>
            </a:extLst>
          </p:cNvPr>
          <p:cNvSpPr txBox="1"/>
          <p:nvPr/>
        </p:nvSpPr>
        <p:spPr>
          <a:xfrm>
            <a:off x="9052400" y="459421"/>
            <a:ext cx="324643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ACC</a:t>
            </a:r>
          </a:p>
          <a:p>
            <a:r>
              <a:rPr lang="fr-FR" dirty="0"/>
              <a:t>ARA: </a:t>
            </a:r>
            <a:r>
              <a:rPr lang="fr-FR" dirty="0" err="1"/>
              <a:t>A_mean</a:t>
            </a:r>
            <a:r>
              <a:rPr lang="fr-FR" dirty="0"/>
              <a:t> = 702.68 +/- 1229 </a:t>
            </a:r>
          </a:p>
          <a:p>
            <a:r>
              <a:rPr lang="fr-FR" dirty="0" err="1"/>
              <a:t>ACC:A_mean</a:t>
            </a:r>
            <a:r>
              <a:rPr lang="fr-FR" dirty="0"/>
              <a:t> = 4453 +/- 8549.8 </a:t>
            </a:r>
          </a:p>
          <a:p>
            <a:r>
              <a:rPr lang="fr-FR" dirty="0"/>
              <a:t>nu = 1073.5428 +/- 1.7166 cm^-1</a:t>
            </a:r>
          </a:p>
          <a:p>
            <a:r>
              <a:rPr lang="fr-FR" dirty="0"/>
              <a:t>FWHM= 31.8237 +/- 6.0136 cm^-1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5FF58BA-755A-363E-10D7-AC33BD34B448}"/>
              </a:ext>
            </a:extLst>
          </p:cNvPr>
          <p:cNvSpPr txBox="1"/>
          <p:nvPr/>
        </p:nvSpPr>
        <p:spPr>
          <a:xfrm>
            <a:off x="3950920" y="4542189"/>
            <a:ext cx="343595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ARA</a:t>
            </a:r>
            <a:endParaRPr lang="fr-FR" sz="1800" dirty="0"/>
          </a:p>
          <a:p>
            <a:r>
              <a:rPr lang="fr-FR" sz="1800" dirty="0"/>
              <a:t>ARA : </a:t>
            </a:r>
            <a:r>
              <a:rPr lang="fr-FR" sz="1800" dirty="0" err="1"/>
              <a:t>A_mean</a:t>
            </a:r>
            <a:r>
              <a:rPr lang="fr-FR" sz="1800" dirty="0"/>
              <a:t> = </a:t>
            </a:r>
            <a:r>
              <a:rPr lang="fr-FR" dirty="0"/>
              <a:t>8311 +/- 3747.4</a:t>
            </a:r>
          </a:p>
          <a:p>
            <a:r>
              <a:rPr lang="fr-FR" sz="1800" dirty="0"/>
              <a:t>ACC: </a:t>
            </a:r>
            <a:r>
              <a:rPr lang="fr-FR" sz="1800" dirty="0" err="1"/>
              <a:t>A_mean</a:t>
            </a:r>
            <a:r>
              <a:rPr lang="fr-FR" sz="1800" dirty="0"/>
              <a:t> = </a:t>
            </a:r>
            <a:r>
              <a:rPr lang="fr-FR" dirty="0"/>
              <a:t>1346.2 +/- 966.64 </a:t>
            </a:r>
          </a:p>
          <a:p>
            <a:r>
              <a:rPr lang="fr-FR" dirty="0"/>
              <a:t>nu = 1086.0169 +/- 0.1741 cm^-1 </a:t>
            </a:r>
            <a:r>
              <a:rPr lang="fr-FR" sz="1800" dirty="0"/>
              <a:t>FWHM= </a:t>
            </a:r>
            <a:r>
              <a:rPr lang="fr-FR" dirty="0"/>
              <a:t>1.4299 +/- 0.8107 cm^-1</a:t>
            </a:r>
            <a:endParaRPr lang="fr-FR" sz="18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57C2B94-B0F1-D3FE-AE98-26493AD201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4717" y="702992"/>
            <a:ext cx="5323513" cy="383919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F7ECD1A-33BD-ADB9-A483-73F61D0B99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4232" y="3182588"/>
            <a:ext cx="4513296" cy="369834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44DB405D-5098-7969-E383-EF3FD01A96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547" y="3754606"/>
            <a:ext cx="3392218" cy="312632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84BFF1F9-1E1D-ADAD-28F2-A259168560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5032" y="3388274"/>
            <a:ext cx="3079015" cy="219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0130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6AAD8-96A2-114C-50D9-FC6A6C530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90B83A-DC2D-8A98-FD32-FCA29B6604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2754"/>
            <a:ext cx="9580880" cy="1102043"/>
          </a:xfrm>
        </p:spPr>
        <p:txBody>
          <a:bodyPr>
            <a:normAutofit/>
          </a:bodyPr>
          <a:lstStyle/>
          <a:p>
            <a:pPr algn="l"/>
            <a:r>
              <a:rPr lang="fr-FR" sz="4000" b="1" dirty="0" err="1"/>
              <a:t>Corals</a:t>
            </a:r>
            <a:r>
              <a:rPr lang="fr-FR" sz="4000" b="1" dirty="0"/>
              <a:t> 260715 7ps (#4 </a:t>
            </a:r>
            <a:r>
              <a:rPr lang="fr-FR" sz="4000" b="1" dirty="0" err="1"/>
              <a:t>stressed</a:t>
            </a:r>
            <a:r>
              <a:rPr lang="fr-FR" sz="4000" b="1" dirty="0"/>
              <a:t>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A57D6AF-C090-4801-7BB5-3BD8B4DFE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72" y="3754606"/>
            <a:ext cx="3370245" cy="312632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420F354-BFC1-2646-E6F1-A982C9F729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74" y="739526"/>
            <a:ext cx="2946340" cy="301508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7574F47-C286-1C51-FF73-01D460609C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0231" y="702993"/>
            <a:ext cx="5302169" cy="3839196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47BA1DA4-A4AC-B6A8-4136-672E9A0816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4232" y="3429000"/>
            <a:ext cx="4513296" cy="3429020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A1669978-DDA2-D5B6-457C-6FA91D131818}"/>
              </a:ext>
            </a:extLst>
          </p:cNvPr>
          <p:cNvSpPr txBox="1"/>
          <p:nvPr/>
        </p:nvSpPr>
        <p:spPr>
          <a:xfrm>
            <a:off x="9052400" y="459421"/>
            <a:ext cx="324643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ACC</a:t>
            </a:r>
          </a:p>
          <a:p>
            <a:r>
              <a:rPr lang="fr-FR" dirty="0"/>
              <a:t>ARA: </a:t>
            </a:r>
            <a:r>
              <a:rPr lang="fr-FR" dirty="0" err="1"/>
              <a:t>A_mean</a:t>
            </a:r>
            <a:r>
              <a:rPr lang="fr-FR" dirty="0"/>
              <a:t> = 648.98 +/- 422.52</a:t>
            </a:r>
          </a:p>
          <a:p>
            <a:r>
              <a:rPr lang="fr-FR" dirty="0" err="1"/>
              <a:t>ACC:A_mean</a:t>
            </a:r>
            <a:r>
              <a:rPr lang="fr-FR" dirty="0"/>
              <a:t> = 4568.9 +/- 2423.2</a:t>
            </a:r>
          </a:p>
          <a:p>
            <a:r>
              <a:rPr lang="fr-FR" dirty="0"/>
              <a:t>nu = 1073.8552 +/- 1.5147 cm^-1</a:t>
            </a:r>
          </a:p>
          <a:p>
            <a:r>
              <a:rPr lang="fr-FR" dirty="0"/>
              <a:t>FWHM= 30.2458 +/- 9.4385 cm^-1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F04E5DA-C1B2-788B-10CF-6D9F31C07413}"/>
              </a:ext>
            </a:extLst>
          </p:cNvPr>
          <p:cNvSpPr txBox="1"/>
          <p:nvPr/>
        </p:nvSpPr>
        <p:spPr>
          <a:xfrm>
            <a:off x="3994139" y="4785761"/>
            <a:ext cx="343595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ARA</a:t>
            </a:r>
            <a:endParaRPr lang="fr-FR" sz="1800" dirty="0"/>
          </a:p>
          <a:p>
            <a:r>
              <a:rPr lang="fr-FR" sz="1800" dirty="0"/>
              <a:t>ARA : </a:t>
            </a:r>
            <a:r>
              <a:rPr lang="fr-FR" sz="1800" dirty="0" err="1"/>
              <a:t>A_mean</a:t>
            </a:r>
            <a:r>
              <a:rPr lang="fr-FR" sz="1800" dirty="0"/>
              <a:t> = 4275 +/- 794.18</a:t>
            </a:r>
          </a:p>
          <a:p>
            <a:r>
              <a:rPr lang="fr-FR" sz="1800" dirty="0"/>
              <a:t>ACC: </a:t>
            </a:r>
            <a:r>
              <a:rPr lang="fr-FR" sz="1800" dirty="0" err="1"/>
              <a:t>A_mean</a:t>
            </a:r>
            <a:r>
              <a:rPr lang="fr-FR" sz="1800" dirty="0"/>
              <a:t> = 1464.6 +/- 604.63</a:t>
            </a:r>
          </a:p>
          <a:p>
            <a:r>
              <a:rPr lang="fr-FR" sz="1800" dirty="0"/>
              <a:t>nu = 1085.4458 +/- 0.2423 cm^-1</a:t>
            </a:r>
          </a:p>
          <a:p>
            <a:r>
              <a:rPr lang="fr-FR" sz="1800" dirty="0"/>
              <a:t>FWHM= 3.1194 +/- 0.9295 cm^-1</a:t>
            </a:r>
          </a:p>
        </p:txBody>
      </p:sp>
    </p:spTree>
    <p:extLst>
      <p:ext uri="{BB962C8B-B14F-4D97-AF65-F5344CB8AC3E}">
        <p14:creationId xmlns:p14="http://schemas.microsoft.com/office/powerpoint/2010/main" val="28399522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25EF6-FACB-CC61-3081-EFBB2FF90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0B8448-E1BB-E283-A32D-505A107689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2754"/>
            <a:ext cx="9580880" cy="1102043"/>
          </a:xfrm>
        </p:spPr>
        <p:txBody>
          <a:bodyPr>
            <a:normAutofit/>
          </a:bodyPr>
          <a:lstStyle/>
          <a:p>
            <a:pPr algn="l"/>
            <a:r>
              <a:rPr lang="fr-FR" sz="4000" dirty="0" err="1"/>
              <a:t>Corals</a:t>
            </a:r>
            <a:r>
              <a:rPr lang="fr-FR" sz="4000" dirty="0"/>
              <a:t> 260715 7ps (#4 </a:t>
            </a:r>
            <a:r>
              <a:rPr lang="fr-FR" sz="4000" dirty="0" err="1"/>
              <a:t>stressed</a:t>
            </a:r>
            <a:r>
              <a:rPr lang="fr-FR" sz="4000" dirty="0"/>
              <a:t>)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59528D5-620C-28A9-7649-17DF3D9AA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72" y="1014591"/>
            <a:ext cx="2805528" cy="287098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DC319CE-ECB0-A327-8F21-3CE325E37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572" y="3944263"/>
            <a:ext cx="2993563" cy="2728279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8C1B6D58-E5BE-42DF-B9C7-0DA521156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8935" y="835175"/>
            <a:ext cx="6122434" cy="4628708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1B8770FE-B393-29E5-B0F8-8902AC6B95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8935" y="3991193"/>
            <a:ext cx="3643741" cy="2681349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44A9F7D0-66BC-84DD-4190-001B805D46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0476" y="3930799"/>
            <a:ext cx="3643741" cy="2741743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0F726609-81E7-2CC0-B201-31B0D752E7AC}"/>
              </a:ext>
            </a:extLst>
          </p:cNvPr>
          <p:cNvSpPr txBox="1"/>
          <p:nvPr/>
        </p:nvSpPr>
        <p:spPr>
          <a:xfrm>
            <a:off x="9879169" y="1305342"/>
            <a:ext cx="620698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00000"/>
              </a:lnSpc>
              <a:buNone/>
            </a:pPr>
            <a:r>
              <a:rPr lang="fr-FR" sz="1100" b="0" i="0" dirty="0">
                <a:effectLst/>
                <a:latin typeface="+mn-lt"/>
              </a:rPr>
              <a:t>FWHM instrumentale 2.4980 cm^-1</a:t>
            </a:r>
            <a:br>
              <a:rPr lang="fr-FR" sz="1100" b="0" i="0" dirty="0">
                <a:effectLst/>
                <a:latin typeface="+mn-lt"/>
              </a:rPr>
            </a:br>
            <a:r>
              <a:rPr lang="fr-FR" sz="1100" b="0" i="0" dirty="0">
                <a:effectLst/>
                <a:latin typeface="+mn-lt"/>
              </a:rPr>
              <a:t>Phase 2 : ARA</a:t>
            </a:r>
            <a:br>
              <a:rPr lang="fr-FR" sz="1100" b="0" i="0" dirty="0">
                <a:effectLst/>
                <a:latin typeface="+mn-lt"/>
              </a:rPr>
            </a:br>
            <a:r>
              <a:rPr lang="fr-FR" sz="1100" b="0" i="0" dirty="0">
                <a:effectLst/>
                <a:latin typeface="+mn-lt"/>
              </a:rPr>
              <a:t>Amplitude des phases :</a:t>
            </a:r>
            <a:br>
              <a:rPr lang="fr-FR" sz="1100" b="0" i="0" dirty="0">
                <a:effectLst/>
                <a:latin typeface="+mn-lt"/>
              </a:rPr>
            </a:br>
            <a:r>
              <a:rPr lang="fr-FR" sz="1100" b="0" i="0" dirty="0">
                <a:effectLst/>
                <a:latin typeface="+mn-lt"/>
              </a:rPr>
              <a:t>Phase 2 : </a:t>
            </a:r>
            <a:r>
              <a:rPr lang="fr-FR" sz="1100" b="0" i="0" dirty="0" err="1">
                <a:effectLst/>
                <a:latin typeface="+mn-lt"/>
              </a:rPr>
              <a:t>A_mean</a:t>
            </a:r>
            <a:r>
              <a:rPr lang="fr-FR" sz="1100" b="0" i="0" dirty="0">
                <a:effectLst/>
                <a:latin typeface="+mn-lt"/>
              </a:rPr>
              <a:t> = 4275 +/- 794.21</a:t>
            </a:r>
            <a:br>
              <a:rPr lang="fr-FR" sz="1100" b="0" i="0" dirty="0">
                <a:effectLst/>
                <a:latin typeface="+mn-lt"/>
              </a:rPr>
            </a:br>
            <a:r>
              <a:rPr lang="fr-FR" sz="1100" b="0" i="0" dirty="0">
                <a:effectLst/>
                <a:latin typeface="+mn-lt"/>
              </a:rPr>
              <a:t>Phase 4 : </a:t>
            </a:r>
            <a:r>
              <a:rPr lang="fr-FR" sz="1100" b="0" i="0" dirty="0" err="1">
                <a:effectLst/>
                <a:latin typeface="+mn-lt"/>
              </a:rPr>
              <a:t>A_mean</a:t>
            </a:r>
            <a:r>
              <a:rPr lang="fr-FR" sz="1100" b="0" i="0" dirty="0">
                <a:effectLst/>
                <a:latin typeface="+mn-lt"/>
              </a:rPr>
              <a:t> = 1464.7 +/- 604.59</a:t>
            </a:r>
            <a:br>
              <a:rPr lang="fr-FR" sz="1100" b="0" i="0" dirty="0">
                <a:effectLst/>
                <a:latin typeface="+mn-lt"/>
              </a:rPr>
            </a:br>
            <a:r>
              <a:rPr lang="fr-FR" sz="1100" b="0" i="0" dirty="0">
                <a:effectLst/>
                <a:latin typeface="+mn-lt"/>
              </a:rPr>
              <a:t>nu = 1085.4458 +/- 0.2422 cm^-1</a:t>
            </a:r>
            <a:br>
              <a:rPr lang="fr-FR" sz="1100" b="0" i="0" dirty="0">
                <a:effectLst/>
                <a:latin typeface="+mn-lt"/>
              </a:rPr>
            </a:br>
            <a:r>
              <a:rPr lang="fr-FR" sz="1100" b="0" i="0" dirty="0">
                <a:effectLst/>
                <a:latin typeface="+mn-lt"/>
              </a:rPr>
              <a:t>FWHM= 3.1193 +/- 0.9294 cm^-1</a:t>
            </a:r>
            <a:br>
              <a:rPr lang="fr-FR" sz="1100" b="0" i="0" dirty="0">
                <a:effectLst/>
                <a:latin typeface="+mn-lt"/>
              </a:rPr>
            </a:br>
            <a:r>
              <a:rPr lang="fr-FR" sz="1100" b="0" i="0" dirty="0">
                <a:effectLst/>
                <a:latin typeface="+mn-lt"/>
              </a:rPr>
              <a:t>Phase 4 : ACC</a:t>
            </a:r>
            <a:br>
              <a:rPr lang="fr-FR" sz="1100" b="0" i="0" dirty="0">
                <a:effectLst/>
                <a:latin typeface="+mn-lt"/>
              </a:rPr>
            </a:br>
            <a:r>
              <a:rPr lang="fr-FR" sz="1100" b="0" i="0" dirty="0">
                <a:effectLst/>
                <a:latin typeface="+mn-lt"/>
              </a:rPr>
              <a:t>Phase 2 : </a:t>
            </a:r>
            <a:r>
              <a:rPr lang="fr-FR" sz="1100" b="0" i="0" dirty="0" err="1">
                <a:effectLst/>
                <a:latin typeface="+mn-lt"/>
              </a:rPr>
              <a:t>A_mean</a:t>
            </a:r>
            <a:r>
              <a:rPr lang="fr-FR" sz="1100" b="0" i="0" dirty="0">
                <a:effectLst/>
                <a:latin typeface="+mn-lt"/>
              </a:rPr>
              <a:t> = 86.662 +/- 68.817</a:t>
            </a:r>
            <a:br>
              <a:rPr lang="fr-FR" sz="1100" b="0" i="0" dirty="0">
                <a:effectLst/>
                <a:latin typeface="+mn-lt"/>
              </a:rPr>
            </a:br>
            <a:r>
              <a:rPr lang="fr-FR" sz="1100" b="0" i="0" dirty="0">
                <a:effectLst/>
                <a:latin typeface="+mn-lt"/>
              </a:rPr>
              <a:t>Phase 4 : </a:t>
            </a:r>
            <a:r>
              <a:rPr lang="fr-FR" sz="1100" b="0" i="0" dirty="0" err="1">
                <a:effectLst/>
                <a:latin typeface="+mn-lt"/>
              </a:rPr>
              <a:t>A_mean</a:t>
            </a:r>
            <a:r>
              <a:rPr lang="fr-FR" sz="1100" b="0" i="0" dirty="0">
                <a:effectLst/>
                <a:latin typeface="+mn-lt"/>
              </a:rPr>
              <a:t> = 4145.5 +/- 1814.5</a:t>
            </a:r>
            <a:br>
              <a:rPr lang="fr-FR" sz="1100" b="0" i="0" dirty="0">
                <a:effectLst/>
                <a:latin typeface="+mn-lt"/>
              </a:rPr>
            </a:br>
            <a:r>
              <a:rPr lang="fr-FR" sz="1100" b="0" i="0" dirty="0">
                <a:effectLst/>
                <a:latin typeface="+mn-lt"/>
              </a:rPr>
              <a:t>nu = 1070.4489 +/- 0.6355 cm^-1</a:t>
            </a:r>
            <a:br>
              <a:rPr lang="fr-FR" sz="1100" b="0" i="0" dirty="0">
                <a:effectLst/>
                <a:latin typeface="+mn-lt"/>
              </a:rPr>
            </a:br>
            <a:r>
              <a:rPr lang="fr-FR" sz="1100" b="0" i="0" dirty="0">
                <a:effectLst/>
                <a:latin typeface="+mn-lt"/>
              </a:rPr>
              <a:t>FWHM = 34.4327 +/- 4.8101 cm^-1</a:t>
            </a:r>
            <a:endParaRPr lang="fr-FR" sz="1100" b="0" i="0" dirty="0"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17943953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8B481-C080-E500-FEBA-0D46563F7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2959FC-1C77-5E94-F5DB-A226168A87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551041"/>
            <a:ext cx="9580880" cy="1102043"/>
          </a:xfrm>
        </p:spPr>
        <p:txBody>
          <a:bodyPr>
            <a:normAutofit/>
          </a:bodyPr>
          <a:lstStyle/>
          <a:p>
            <a:pPr algn="l"/>
            <a:r>
              <a:rPr lang="fr-FR" sz="2000" b="1" dirty="0" err="1"/>
              <a:t>Corals</a:t>
            </a:r>
            <a:r>
              <a:rPr lang="fr-FR" sz="2000" b="1" dirty="0"/>
              <a:t> 260713 2ps vs 7ps (#4 </a:t>
            </a:r>
            <a:r>
              <a:rPr lang="fr-FR" sz="2000" b="1" dirty="0" err="1"/>
              <a:t>stressed</a:t>
            </a:r>
            <a:r>
              <a:rPr lang="fr-FR" sz="2000" b="1" dirty="0"/>
              <a:t>)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5F57C540-C115-2E55-8B76-B0141ACC8B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593" r="47597"/>
          <a:stretch>
            <a:fillRect/>
          </a:stretch>
        </p:blipFill>
        <p:spPr>
          <a:xfrm>
            <a:off x="710922" y="661362"/>
            <a:ext cx="2829977" cy="266240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C042532B-B765-5E08-A7DC-F6D59044F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729624"/>
            <a:ext cx="4049486" cy="2829998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DC50B1AB-D800-4288-0D7C-DD00B73D04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922" y="3488265"/>
            <a:ext cx="4258987" cy="3327517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CBCF38FA-E460-6D06-80A2-D709C05EBD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1215" y="606740"/>
            <a:ext cx="3109863" cy="2822260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4A64E9F6-093C-1482-4D2B-3B91B091F2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9815" y="661362"/>
            <a:ext cx="3068402" cy="276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5178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76E5D-4190-529A-5917-3C388F837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>
            <a:extLst>
              <a:ext uri="{FF2B5EF4-FFF2-40B4-BE49-F238E27FC236}">
                <a16:creationId xmlns:a16="http://schemas.microsoft.com/office/drawing/2014/main" id="{D72EF94C-0EC5-D2E2-02A6-B9B407ECB0EA}"/>
              </a:ext>
            </a:extLst>
          </p:cNvPr>
          <p:cNvSpPr txBox="1">
            <a:spLocks/>
          </p:cNvSpPr>
          <p:nvPr/>
        </p:nvSpPr>
        <p:spPr>
          <a:xfrm>
            <a:off x="227387" y="268485"/>
            <a:ext cx="12132253" cy="11096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b="1" dirty="0"/>
              <a:t>SET UP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288B82A-EF9C-6BC9-A226-30318BAD4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224" y="749189"/>
            <a:ext cx="8588963" cy="572895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1FF4CBA-A37B-BD0E-60D8-4E013A9B9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00" y="4306035"/>
            <a:ext cx="2986087" cy="2069365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458D6092-BA06-98CF-684A-4DF85B21A5A7}"/>
              </a:ext>
            </a:extLst>
          </p:cNvPr>
          <p:cNvSpPr txBox="1"/>
          <p:nvPr/>
        </p:nvSpPr>
        <p:spPr>
          <a:xfrm>
            <a:off x="1906229" y="1100902"/>
            <a:ext cx="44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(a)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4DD409B-EAFF-7D13-C41D-329167A7DB1A}"/>
              </a:ext>
            </a:extLst>
          </p:cNvPr>
          <p:cNvSpPr txBox="1"/>
          <p:nvPr/>
        </p:nvSpPr>
        <p:spPr>
          <a:xfrm>
            <a:off x="7050818" y="4018626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232729699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1710</Words>
  <Application>Microsoft Office PowerPoint</Application>
  <PresentationFormat>Grand écran</PresentationFormat>
  <Paragraphs>407</Paragraphs>
  <Slides>25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3" baseType="lpstr">
      <vt:lpstr>Aptos</vt:lpstr>
      <vt:lpstr>Aptos Display</vt:lpstr>
      <vt:lpstr>Arial</vt:lpstr>
      <vt:lpstr>Cambria Math</vt:lpstr>
      <vt:lpstr>Google Sans Text</vt:lpstr>
      <vt:lpstr>Menlo</vt:lpstr>
      <vt:lpstr>Wingdings</vt:lpstr>
      <vt:lpstr>Thème Office</vt:lpstr>
      <vt:lpstr>Meeting 15/10/26</vt:lpstr>
      <vt:lpstr>Modèle Analytique – Réponse instrumentale </vt:lpstr>
      <vt:lpstr>Modèle Carbonates </vt:lpstr>
      <vt:lpstr>Chirp – Calcul de FWHM_instr</vt:lpstr>
      <vt:lpstr>Modèle Carbonates </vt:lpstr>
      <vt:lpstr>Pourquoi ?   - bruit ?  - illumination non homogène ?   - erreur modèle ? </vt:lpstr>
      <vt:lpstr>Présentation PowerPoint</vt:lpstr>
      <vt:lpstr>Présentation PowerPoint</vt:lpstr>
      <vt:lpstr>Présentation PowerPoint</vt:lpstr>
      <vt:lpstr>Présentation PowerPoint</vt:lpstr>
      <vt:lpstr>Littérature Vatérite </vt:lpstr>
      <vt:lpstr>Présentation PowerPoint</vt:lpstr>
      <vt:lpstr>Présentation PowerPoint</vt:lpstr>
      <vt:lpstr>Présentation PowerPoint</vt:lpstr>
      <vt:lpstr>Présentation PowerPoint</vt:lpstr>
      <vt:lpstr>Corals 260715 2ps (#4 stressed)</vt:lpstr>
      <vt:lpstr>Corals 260715 7ps (#4 stressed)</vt:lpstr>
      <vt:lpstr>Corals 260715 2ps vs 7ps (#4 stressed)</vt:lpstr>
      <vt:lpstr>Corals 260715 2ps vs 7ps (#4 stressed)</vt:lpstr>
      <vt:lpstr>Coral 260715 2ps vs 7ps (#4 stressed)</vt:lpstr>
      <vt:lpstr>Corals 260715 2ps (#4 stressed)</vt:lpstr>
      <vt:lpstr>Corals 260715 7ps (#4 stressed)</vt:lpstr>
      <vt:lpstr>Corals 260715 7ps (#4 stressed)</vt:lpstr>
      <vt:lpstr>Corals 260713 2ps vs 7ps (#4 stressed)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BUCOURT Sacha</dc:creator>
  <cp:lastModifiedBy>BUCOURT Sacha</cp:lastModifiedBy>
  <cp:revision>66</cp:revision>
  <dcterms:created xsi:type="dcterms:W3CDTF">2026-07-01T11:56:10Z</dcterms:created>
  <dcterms:modified xsi:type="dcterms:W3CDTF">2026-10-21T16:23:39Z</dcterms:modified>
</cp:coreProperties>
</file>
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365" r:id="rId2"/>
    <p:sldId id="357" r:id="rId3"/>
    <p:sldId id="327" r:id="rId4"/>
    <p:sldId id="366" r:id="rId5"/>
    <p:sldId id="328" r:id="rId6"/>
    <p:sldId id="363" r:id="rId7"/>
    <p:sldId id="361" r:id="rId8"/>
    <p:sldId id="364" r:id="rId9"/>
    <p:sldId id="367" r:id="rId10"/>
    <p:sldId id="342" r:id="rId11"/>
    <p:sldId id="343" r:id="rId12"/>
    <p:sldId id="355" r:id="rId13"/>
    <p:sldId id="341" r:id="rId14"/>
    <p:sldId id="353" r:id="rId15"/>
    <p:sldId id="358" r:id="rId16"/>
    <p:sldId id="352" r:id="rId17"/>
    <p:sldId id="345" r:id="rId18"/>
    <p:sldId id="346" r:id="rId19"/>
    <p:sldId id="347" r:id="rId20"/>
    <p:sldId id="351" r:id="rId21"/>
    <p:sldId id="359" r:id="rId22"/>
    <p:sldId id="360" r:id="rId23"/>
    <p:sldId id="362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65"/>
            <p14:sldId id="357"/>
            <p14:sldId id="327"/>
            <p14:sldId id="366"/>
            <p14:sldId id="328"/>
          </p14:sldIdLst>
        </p14:section>
        <p14:section name="Synthétique" id="{56AC251D-6E5C-4CFE-9930-84BF4168610A}">
          <p14:sldIdLst>
            <p14:sldId id="363"/>
            <p14:sldId id="361"/>
            <p14:sldId id="364"/>
            <p14:sldId id="367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58"/>
            <p14:sldId id="352"/>
            <p14:sldId id="345"/>
            <p14:sldId id="346"/>
            <p14:sldId id="347"/>
            <p14:sldId id="351"/>
          </p14:sldIdLst>
        </p14:section>
        <p14:section name="Section sans titre" id="{3A39EE99-5470-4380-A4A0-54DB7E0D4CAB}">
          <p14:sldIdLst>
            <p14:sldId id="359"/>
            <p14:sldId id="360"/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0695" autoAdjust="0"/>
  </p:normalViewPr>
  <p:slideViewPr>
    <p:cSldViewPr snapToGrid="0">
      <p:cViewPr varScale="1">
        <p:scale>
          <a:sx n="75" d="100"/>
          <a:sy n="75" d="100"/>
        </p:scale>
        <p:origin x="9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C995-A49C-A864-65C1-8EC2701E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35EC71-5CAE-7FF7-FBA4-162BA04B7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9032CC-A38B-1DCF-8475-D10500F07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9282108-0956-3445-0B24-1B507D8EF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76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8280-AB60-6E81-DC19-C1A0C78B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E79D93-FF90-2CF9-6277-5D48D14DE0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B98ED8A-B0E0-3F02-6EC4-6224251CD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3347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53BE-3759-D484-6CA9-4A9F9A10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8FA0A3-5D9D-189D-88AB-E05203E4E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81F072-2DDC-79C6-A686-36D9EAC69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3404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C9D9-D2F2-E931-696C-9DC9E678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D2B9D1C-BEC2-94BD-759A-44EAE7A43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E6DD9F5-267F-F50D-B538-35E1F3A0C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5532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19/10/2026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39.png"/><Relationship Id="rId7" Type="http://schemas.openxmlformats.org/officeDocument/2006/relationships/image" Target="../media/image5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4CF142-CFD7-B7CC-FE6F-6C90E1D5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6600" dirty="0"/>
              <a:t>Meeting 15/10/26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272E99-2EE9-A533-5089-4563357E7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fr-FR" dirty="0"/>
              <a:t>Modèle </a:t>
            </a:r>
          </a:p>
          <a:p>
            <a:pPr marL="914400" lvl="1" indent="-457200">
              <a:buAutoNum type="alphaLcParenR"/>
            </a:pPr>
            <a:r>
              <a:rPr lang="fr-FR" dirty="0"/>
              <a:t>Convolution Carbonate*Instrument</a:t>
            </a:r>
          </a:p>
          <a:p>
            <a:pPr marL="914400" lvl="1" indent="-457200">
              <a:buAutoNum type="alphaLcParenR"/>
            </a:pPr>
            <a:r>
              <a:rPr lang="fr-FR" dirty="0"/>
              <a:t>Carbonate</a:t>
            </a:r>
          </a:p>
          <a:p>
            <a:pPr marL="0" indent="0">
              <a:buNone/>
            </a:pPr>
            <a:r>
              <a:rPr lang="fr-FR" dirty="0"/>
              <a:t>2) Expérimentale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a) fit sur A </a:t>
            </a:r>
            <a:endParaRPr lang="fr-FR" dirty="0"/>
          </a:p>
          <a:p>
            <a:pPr marL="0" indent="0">
              <a:buNone/>
            </a:pPr>
            <a:r>
              <a:rPr lang="fr-FR" sz="2400" dirty="0"/>
              <a:t>	b) ACC</a:t>
            </a:r>
          </a:p>
          <a:p>
            <a:pPr marL="0" indent="0">
              <a:buNone/>
            </a:pPr>
            <a:r>
              <a:rPr lang="fr-FR" sz="2400" dirty="0"/>
              <a:t>	c) </a:t>
            </a:r>
            <a:r>
              <a:rPr lang="fr-FR" sz="2400" dirty="0" err="1"/>
              <a:t>Vatérite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r>
              <a:rPr lang="fr-FR" sz="2400" dirty="0"/>
              <a:t>	d) Coral </a:t>
            </a:r>
          </a:p>
          <a:p>
            <a:pPr marL="0" indent="0">
              <a:buNone/>
            </a:pPr>
            <a:r>
              <a:rPr lang="fr-FR" sz="2400" dirty="0"/>
              <a:t>	e) Set </a:t>
            </a:r>
            <a:r>
              <a:rPr lang="fr-FR" sz="2400"/>
              <a:t>up schéma </a:t>
            </a:r>
            <a:endParaRPr lang="fr-FR" sz="24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7379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33" y="759951"/>
            <a:ext cx="12132253" cy="1109663"/>
          </a:xfrm>
        </p:spPr>
        <p:txBody>
          <a:bodyPr>
            <a:noAutofit/>
          </a:bodyPr>
          <a:lstStyle/>
          <a:p>
            <a:pPr algn="l"/>
            <a:r>
              <a:rPr lang="fr-FR" dirty="0"/>
              <a:t>Modèle Analytique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354591" y="2101276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959" y="4656756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354591" y="4770214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04" y="3408638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069" y="4709171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269784" y="488648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770" y="1931762"/>
            <a:ext cx="4391638" cy="102884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813ACC-28C5-A386-3CD4-DB8784B91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83" y="6009704"/>
            <a:ext cx="4885774" cy="68068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1BDB23-B0C2-E086-EF08-E009F4FBB6A5}"/>
              </a:ext>
            </a:extLst>
          </p:cNvPr>
          <p:cNvSpPr txBox="1"/>
          <p:nvPr/>
        </p:nvSpPr>
        <p:spPr>
          <a:xfrm>
            <a:off x="6022228" y="6165378"/>
            <a:ext cx="58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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17DFF50-4BB4-A928-9FC1-A9EBD118C1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061" y="5931792"/>
            <a:ext cx="5115639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9927" y="-520814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90133"/>
              </p:ext>
            </p:extLst>
          </p:nvPr>
        </p:nvGraphicFramePr>
        <p:xfrm>
          <a:off x="275087" y="983518"/>
          <a:ext cx="11641826" cy="300513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275087" y="4099524"/>
            <a:ext cx="81551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(</a:t>
            </a:r>
            <a:r>
              <a:rPr lang="fr-FR" sz="2000" b="1" dirty="0">
                <a:solidFill>
                  <a:srgbClr val="FF0000"/>
                </a:solidFill>
              </a:rPr>
              <a:t>*</a:t>
            </a:r>
            <a:r>
              <a:rPr lang="fr-FR" sz="2000" dirty="0"/>
              <a:t>) déconvolué par la </a:t>
            </a:r>
            <a:r>
              <a:rPr lang="fr-FR" sz="2000" i="1" dirty="0"/>
              <a:t>résolution théorique maximale</a:t>
            </a:r>
            <a:r>
              <a:rPr lang="fr-FR" sz="2000" b="1" dirty="0">
                <a:solidFill>
                  <a:srgbClr val="FF0000"/>
                </a:solidFill>
              </a:rPr>
              <a:t> </a:t>
            </a:r>
            <a:r>
              <a:rPr lang="fr-FR" sz="2000" dirty="0"/>
              <a:t>du </a:t>
            </a:r>
            <a:r>
              <a:rPr lang="fr-FR" sz="2000" dirty="0" err="1"/>
              <a:t>raman</a:t>
            </a:r>
            <a:r>
              <a:rPr lang="fr-FR" sz="2000" dirty="0"/>
              <a:t> spontané :</a:t>
            </a:r>
          </a:p>
          <a:p>
            <a:r>
              <a:rPr lang="fr-FR" sz="2000" dirty="0"/>
              <a:t>Paramètres : </a:t>
            </a:r>
          </a:p>
          <a:p>
            <a:r>
              <a:rPr lang="fr-FR" dirty="0"/>
              <a:t> - </a:t>
            </a:r>
            <a:r>
              <a:rPr lang="fr-FR" dirty="0" err="1"/>
              <a:t>grating</a:t>
            </a:r>
            <a:r>
              <a:rPr lang="fr-FR" dirty="0"/>
              <a:t> : 1800 (500nm)</a:t>
            </a:r>
            <a:br>
              <a:rPr lang="fr-FR" sz="2000" dirty="0"/>
            </a:br>
            <a:r>
              <a:rPr lang="fr-FR" dirty="0"/>
              <a:t> - Laser : 532nm_Edge</a:t>
            </a:r>
            <a:br>
              <a:rPr lang="fr-FR" sz="2000" dirty="0"/>
            </a:br>
            <a:r>
              <a:rPr lang="fr-FR" sz="2000" dirty="0"/>
              <a:t> </a:t>
            </a:r>
            <a:r>
              <a:rPr lang="fr-FR" dirty="0"/>
              <a:t>- objectif x20</a:t>
            </a:r>
            <a:endParaRPr lang="fr-FR" sz="2000" dirty="0"/>
          </a:p>
          <a:p>
            <a:endParaRPr lang="fr-FR" sz="2000" dirty="0"/>
          </a:p>
          <a:p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:</a:t>
            </a:r>
            <a:br>
              <a:rPr lang="fr-FR" sz="2000" dirty="0"/>
            </a:br>
            <a:r>
              <a:rPr lang="fr-FR" sz="2000" dirty="0"/>
              <a:t>- </a:t>
            </a:r>
            <a:r>
              <a:rPr lang="fr-FR" sz="20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20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2000" b="1" i="0" dirty="0">
                <a:solidFill>
                  <a:srgbClr val="FF0000"/>
                </a:solidFill>
                <a:effectLst/>
                <a:latin typeface="+mn-lt"/>
              </a:rPr>
              <a:t>*</a:t>
            </a:r>
            <a:r>
              <a:rPr lang="fr-FR" sz="20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184D7-145B-8DB4-C251-2370EE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141D-E1A7-D9F0-1FED-CB762957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07655" y="183886"/>
            <a:ext cx="5734411" cy="1109663"/>
          </a:xfrm>
        </p:spPr>
        <p:txBody>
          <a:bodyPr>
            <a:normAutofit fontScale="90000"/>
          </a:bodyPr>
          <a:lstStyle/>
          <a:p>
            <a:r>
              <a:rPr lang="fr-FR" sz="4000" dirty="0" err="1"/>
              <a:t>Chirp</a:t>
            </a:r>
            <a:r>
              <a:rPr lang="fr-FR" sz="4000" dirty="0"/>
              <a:t> – Calcul de </a:t>
            </a:r>
            <a:r>
              <a:rPr lang="fr-FR" sz="4000" dirty="0" err="1"/>
              <a:t>FWHM_instr</a:t>
            </a:r>
            <a:endParaRPr lang="fr-FR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0717091"/>
                  </p:ext>
                </p:extLst>
              </p:nvPr>
            </p:nvGraphicFramePr>
            <p:xfrm>
              <a:off x="5447071" y="2604836"/>
              <a:ext cx="6656436" cy="21336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08714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08714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4.9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5.1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1.49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3.8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0717091"/>
                  </p:ext>
                </p:extLst>
              </p:nvPr>
            </p:nvGraphicFramePr>
            <p:xfrm>
              <a:off x="5447071" y="2604836"/>
              <a:ext cx="6656436" cy="21336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08714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08714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09752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549" t="-118018" r="-301648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07" t="-118018" r="-200000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99" t="-118018" r="-101099" b="-1009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99" t="-118018" r="-1099" b="-1009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549" t="-220000" r="-301648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07" t="-220000" r="-200000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99" t="-220000" r="-101099" b="-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99" t="-220000" r="-1099" b="-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ZoneTexte 10">
            <a:extLst>
              <a:ext uri="{FF2B5EF4-FFF2-40B4-BE49-F238E27FC236}">
                <a16:creationId xmlns:a16="http://schemas.microsoft.com/office/drawing/2014/main" id="{EAB3768B-5C9A-BBD4-958E-8EFA6EB9E58E}"/>
              </a:ext>
            </a:extLst>
          </p:cNvPr>
          <p:cNvSpPr txBox="1"/>
          <p:nvPr/>
        </p:nvSpPr>
        <p:spPr>
          <a:xfrm>
            <a:off x="125088" y="5163978"/>
            <a:ext cx="46805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B3FE928-2928-AE12-F7F9-E34B82BF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97" y="2280287"/>
            <a:ext cx="4122121" cy="2856639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7F5F58F-431F-4880-1A25-F0E24084E84C}"/>
              </a:ext>
            </a:extLst>
          </p:cNvPr>
          <p:cNvCxnSpPr>
            <a:cxnSpLocks/>
          </p:cNvCxnSpPr>
          <p:nvPr/>
        </p:nvCxnSpPr>
        <p:spPr>
          <a:xfrm>
            <a:off x="7148052" y="1828620"/>
            <a:ext cx="0" cy="7375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8D10CB99-F04A-D1CE-02DC-A3B8E3302C44}"/>
              </a:ext>
            </a:extLst>
          </p:cNvPr>
          <p:cNvSpPr txBox="1"/>
          <p:nvPr/>
        </p:nvSpPr>
        <p:spPr>
          <a:xfrm>
            <a:off x="10918972" y="4777053"/>
            <a:ext cx="158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6"/>
                </a:solidFill>
              </a:rPr>
              <a:t>Cas calcite synthétique 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2B1D9-C586-68F6-0493-6425A460DB0A}"/>
              </a:ext>
            </a:extLst>
          </p:cNvPr>
          <p:cNvSpPr/>
          <p:nvPr/>
        </p:nvSpPr>
        <p:spPr>
          <a:xfrm>
            <a:off x="10985500" y="2604836"/>
            <a:ext cx="1118006" cy="213360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5B9AADF-DBCA-E912-65B3-6379E5959975}"/>
              </a:ext>
            </a:extLst>
          </p:cNvPr>
          <p:cNvCxnSpPr>
            <a:cxnSpLocks/>
          </p:cNvCxnSpPr>
          <p:nvPr/>
        </p:nvCxnSpPr>
        <p:spPr>
          <a:xfrm flipV="1">
            <a:off x="8258073" y="4777053"/>
            <a:ext cx="0" cy="6217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CB713EEA-C97B-0895-DC90-29D54C1B5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157" y="183886"/>
            <a:ext cx="4947686" cy="194735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1A0BFE7-212A-AD99-E876-32EAE4221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121" y="5187627"/>
            <a:ext cx="3894157" cy="85351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9635A69A-6ADD-187E-0DDC-1D2363085619}"/>
              </a:ext>
            </a:extLst>
          </p:cNvPr>
          <p:cNvSpPr txBox="1"/>
          <p:nvPr/>
        </p:nvSpPr>
        <p:spPr>
          <a:xfrm>
            <a:off x="6384121" y="6080546"/>
            <a:ext cx="543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Pour une gaussienne limité par la TF.  </a:t>
            </a:r>
          </a:p>
        </p:txBody>
      </p:sp>
    </p:spTree>
    <p:extLst>
      <p:ext uri="{BB962C8B-B14F-4D97-AF65-F5344CB8AC3E}">
        <p14:creationId xmlns:p14="http://schemas.microsoft.com/office/powerpoint/2010/main" val="3936309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8852" y="-533609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428666"/>
              </p:ext>
            </p:extLst>
          </p:nvPr>
        </p:nvGraphicFramePr>
        <p:xfrm>
          <a:off x="0" y="470342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4.2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328864"/>
              </p:ext>
            </p:extLst>
          </p:nvPr>
        </p:nvGraphicFramePr>
        <p:xfrm>
          <a:off x="0" y="3202350"/>
          <a:ext cx="1196585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408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1073,1070(corail)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1830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78C930-2211-C701-FECE-1D469EBFF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4963"/>
            <a:ext cx="10515600" cy="2016881"/>
          </a:xfrm>
        </p:spPr>
        <p:txBody>
          <a:bodyPr>
            <a:noAutofit/>
          </a:bodyPr>
          <a:lstStyle/>
          <a:p>
            <a:r>
              <a:rPr lang="fr-FR" sz="3200" dirty="0"/>
              <a:t>Pourquoi ? </a:t>
            </a:r>
            <a:br>
              <a:rPr lang="fr-FR" sz="3200" dirty="0"/>
            </a:br>
            <a:r>
              <a:rPr lang="fr-FR" sz="3200" dirty="0"/>
              <a:t>	- bruit ?</a:t>
            </a:r>
            <a:br>
              <a:rPr lang="fr-FR" sz="3200" dirty="0"/>
            </a:br>
            <a:r>
              <a:rPr lang="fr-FR" sz="3200" dirty="0"/>
              <a:t>	- illumination non homogène ? </a:t>
            </a:r>
            <a:br>
              <a:rPr lang="fr-FR" sz="3200" dirty="0"/>
            </a:br>
            <a:r>
              <a:rPr lang="fr-FR" sz="3200" dirty="0"/>
              <a:t>	- erreur modèle ? 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91660EBB-F987-0FE1-EBF3-C2E50DBA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52493"/>
              </p:ext>
            </p:extLst>
          </p:nvPr>
        </p:nvGraphicFramePr>
        <p:xfrm>
          <a:off x="750324" y="1772920"/>
          <a:ext cx="10515600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53724686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1516135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04474164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350807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2834826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429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Ratio A(cc/acc)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err="1"/>
                        <a:t>Synthetic</a:t>
                      </a:r>
                      <a:r>
                        <a:rPr lang="fr-FR" dirty="0"/>
                        <a:t> 260708 3 (</a:t>
                      </a:r>
                      <a:r>
                        <a:rPr lang="fr-FR" dirty="0" err="1"/>
                        <a:t>see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nxt</a:t>
                      </a:r>
                      <a:r>
                        <a:rPr lang="fr-FR" dirty="0"/>
                        <a:t>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</a:t>
                      </a:r>
                      <a:r>
                        <a:rPr lang="fr-FR" dirty="0" err="1"/>
                        <a:t>small</a:t>
                      </a:r>
                      <a:r>
                        <a:rPr lang="fr-FR" dirty="0"/>
                        <a:t> ROI)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Coral - 260715 (big ROI)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034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2.94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5.86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1999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7ps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671692"/>
                  </a:ext>
                </a:extLst>
              </a:tr>
            </a:tbl>
          </a:graphicData>
        </a:graphic>
      </p:graphicFrame>
      <p:sp>
        <p:nvSpPr>
          <p:cNvPr id="3" name="Titre 1">
            <a:extLst>
              <a:ext uri="{FF2B5EF4-FFF2-40B4-BE49-F238E27FC236}">
                <a16:creationId xmlns:a16="http://schemas.microsoft.com/office/drawing/2014/main" id="{50685EF4-A89F-691F-EC5B-6EF27CBD61F8}"/>
              </a:ext>
            </a:extLst>
          </p:cNvPr>
          <p:cNvSpPr txBox="1">
            <a:spLocks/>
          </p:cNvSpPr>
          <p:nvPr/>
        </p:nvSpPr>
        <p:spPr>
          <a:xfrm>
            <a:off x="113292" y="170611"/>
            <a:ext cx="9144000" cy="1109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6000" dirty="0"/>
              <a:t>Expérimentale – Fit sur A </a:t>
            </a:r>
          </a:p>
        </p:txBody>
      </p:sp>
    </p:spTree>
    <p:extLst>
      <p:ext uri="{BB962C8B-B14F-4D97-AF65-F5344CB8AC3E}">
        <p14:creationId xmlns:p14="http://schemas.microsoft.com/office/powerpoint/2010/main" val="120817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4DD-4516-7247-EA70-E62EB4B3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E7592BE-DACE-D871-10F2-C77292372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DC245F-3CA4-5578-DA75-1F57560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665834" y="1002194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AD9908-97B6-A421-63B2-994A24E83C0C}"/>
              </a:ext>
            </a:extLst>
          </p:cNvPr>
          <p:cNvSpPr/>
          <p:nvPr/>
        </p:nvSpPr>
        <p:spPr>
          <a:xfrm>
            <a:off x="1844342" y="1433385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744C45-E39D-1848-6301-BBC85FA769AB}"/>
              </a:ext>
            </a:extLst>
          </p:cNvPr>
          <p:cNvSpPr/>
          <p:nvPr/>
        </p:nvSpPr>
        <p:spPr>
          <a:xfrm>
            <a:off x="2389940" y="2322870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FD44097-F403-E9C0-4D80-305579D17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609" y="256935"/>
            <a:ext cx="3097056" cy="260611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30DC86B-938E-1E59-B74E-722BC5846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9579" y="256935"/>
            <a:ext cx="3064648" cy="2619594"/>
          </a:xfrm>
          <a:prstGeom prst="rect">
            <a:avLst/>
          </a:prstGeom>
        </p:spPr>
      </p:pic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C776153-BF00-F2AE-5929-CE134716DD41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68B4CB8-0382-4D20-2180-838BABF6E9F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F55370C-54D9-1990-C1EA-EE0EB1110A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609" y="252394"/>
            <a:ext cx="3097056" cy="260611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756CDBC9-3C36-DD1E-9C08-5B20136969C5}"/>
              </a:ext>
            </a:extLst>
          </p:cNvPr>
          <p:cNvSpPr txBox="1"/>
          <p:nvPr/>
        </p:nvSpPr>
        <p:spPr>
          <a:xfrm>
            <a:off x="6378703" y="134227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5FB1F70-2FE7-51C8-81C6-33D786D6A8D9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E226F78E-9807-831D-E44B-EF4C472DCEE2}"/>
              </a:ext>
            </a:extLst>
          </p:cNvPr>
          <p:cNvSpPr txBox="1"/>
          <p:nvPr/>
        </p:nvSpPr>
        <p:spPr>
          <a:xfrm>
            <a:off x="6580289" y="216410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1032B42E-9C66-8270-11D9-B378F088B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581" y="238917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6652F504-6FE1-8C7B-E34D-0990EFFD3465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5FAD10D5-64B5-1F46-FE03-E2C15E75BB95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EFAE0F4E-B701-D5B3-46AB-13E02AA99997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05EF2E7-8DD9-73DE-3030-76D19C7E8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5668" y="3068415"/>
            <a:ext cx="4381257" cy="32656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9B88D62-3BFA-B151-0893-5D2665BE2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7601" y="3063559"/>
            <a:ext cx="4381257" cy="327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E358-78B2-81EE-5225-84261E91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1ACC567-E438-6C26-B853-684D5E63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1D436C0-7275-1A5D-F070-11E5FE5DE3E0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CC29A4C-C51C-98F5-1B11-E9FFE2460E5D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5283D9F-6180-1F91-B1A0-85D55292510F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12CA6E2-1FC2-E22D-8816-2FA1D7A8A72F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C0B37200-47B2-145D-EFF8-297CB02BB059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246C139-9BA7-1EF0-D61B-C68D92F7ABF0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leau 19">
            <a:extLst>
              <a:ext uri="{FF2B5EF4-FFF2-40B4-BE49-F238E27FC236}">
                <a16:creationId xmlns:a16="http://schemas.microsoft.com/office/drawing/2014/main" id="{69F708A6-32D6-D52E-58BD-58FB5D4E0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8094"/>
              </p:ext>
            </p:extLst>
          </p:nvPr>
        </p:nvGraphicFramePr>
        <p:xfrm>
          <a:off x="4704796" y="536003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 (UB)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66453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24" name="Image 23">
            <a:extLst>
              <a:ext uri="{FF2B5EF4-FFF2-40B4-BE49-F238E27FC236}">
                <a16:creationId xmlns:a16="http://schemas.microsoft.com/office/drawing/2014/main" id="{B440E8A0-26DE-864F-BB7F-6C0177CA7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441" y="2224293"/>
            <a:ext cx="5041498" cy="4097703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86B5E0CA-D9C4-7E9C-7480-E32B7965CA26}"/>
              </a:ext>
            </a:extLst>
          </p:cNvPr>
          <p:cNvSpPr txBox="1"/>
          <p:nvPr/>
        </p:nvSpPr>
        <p:spPr>
          <a:xfrm>
            <a:off x="6989216" y="95646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0.86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E87EDAF2-E70E-7217-9306-86376D1BA1DA}"/>
              </a:ext>
            </a:extLst>
          </p:cNvPr>
          <p:cNvSpPr txBox="1"/>
          <p:nvPr/>
        </p:nvSpPr>
        <p:spPr>
          <a:xfrm>
            <a:off x="6989216" y="156251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0.76</a:t>
            </a:r>
          </a:p>
        </p:txBody>
      </p:sp>
      <p:sp>
        <p:nvSpPr>
          <p:cNvPr id="41" name="Flèche : en arc 40">
            <a:extLst>
              <a:ext uri="{FF2B5EF4-FFF2-40B4-BE49-F238E27FC236}">
                <a16:creationId xmlns:a16="http://schemas.microsoft.com/office/drawing/2014/main" id="{BA1AA3B8-00D4-4764-5856-2A7705B34C0F}"/>
              </a:ext>
            </a:extLst>
          </p:cNvPr>
          <p:cNvSpPr/>
          <p:nvPr/>
        </p:nvSpPr>
        <p:spPr>
          <a:xfrm rot="16200000" flipV="1">
            <a:off x="6720271" y="1546990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3" name="Flèche : en arc 42">
            <a:extLst>
              <a:ext uri="{FF2B5EF4-FFF2-40B4-BE49-F238E27FC236}">
                <a16:creationId xmlns:a16="http://schemas.microsoft.com/office/drawing/2014/main" id="{941E4BFF-D7B6-F1E7-9497-8EF9145F14C3}"/>
              </a:ext>
            </a:extLst>
          </p:cNvPr>
          <p:cNvSpPr/>
          <p:nvPr/>
        </p:nvSpPr>
        <p:spPr>
          <a:xfrm rot="16200000" flipV="1">
            <a:off x="6702658" y="922479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517105A-A2C7-15FA-49B3-CE46C29BB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45" y="2371055"/>
            <a:ext cx="5041497" cy="380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8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A2C75-9881-4FC0-7288-FE9B8A965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B46C9C1-5EE3-0AD9-CEDF-DA024CEC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BC5F81E-D5A8-2BAB-9657-C06CFF639FC7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EFC2765C-60DB-05EF-A68E-C397C61DF357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209E9CEA-1EAC-AE19-BC1A-4827703F8870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2BE59C2-5E17-DC09-70CC-6AADACA18B14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BFEA48A2-B44D-2F8C-659A-C4A1E67E7F87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3733042-D9A1-07F0-FAF6-EA779CDD73A1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5A127C6-932A-7DAF-7F68-2C16853E1EBC}"/>
              </a:ext>
            </a:extLst>
          </p:cNvPr>
          <p:cNvSpPr txBox="1"/>
          <p:nvPr/>
        </p:nvSpPr>
        <p:spPr>
          <a:xfrm>
            <a:off x="1905292" y="1431407"/>
            <a:ext cx="2536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13.9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A4AEAF9-485F-9790-2B2C-E23768DED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0" y="2156485"/>
            <a:ext cx="5804385" cy="39775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EAFC9E5C-8E5F-200F-3DD9-249CC6B9B8AB}"/>
              </a:ext>
            </a:extLst>
          </p:cNvPr>
          <p:cNvSpPr txBox="1"/>
          <p:nvPr/>
        </p:nvSpPr>
        <p:spPr>
          <a:xfrm>
            <a:off x="8126918" y="1431407"/>
            <a:ext cx="2424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15417EC-3B35-062C-4259-23E33525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716" y="2156486"/>
            <a:ext cx="5804386" cy="397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881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4154224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25" y="736370"/>
            <a:ext cx="3083858" cy="266131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385A7C6-1B77-ECAA-B485-AA982452C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028" y="3460315"/>
            <a:ext cx="4634614" cy="3429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204C8965-24CB-7543-BBD7-BEA8F0CC02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1127" y="3241800"/>
            <a:ext cx="4810837" cy="3647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11D4CCE-3ECF-F3AE-F4EB-0C48CBA488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3637" y="3373589"/>
            <a:ext cx="4634610" cy="3428997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52C9B23A-B72F-825B-D167-4F1B3CBC3DB7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0173" y="650860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4911277" y="2211028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06" y="3990614"/>
            <a:ext cx="3691807" cy="1932950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1277" y="4005191"/>
            <a:ext cx="3691806" cy="1932949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124" y="5970445"/>
            <a:ext cx="3795089" cy="342930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2587953" y="636831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/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>
                                  <a:latin typeface="Cambria Math" panose="02040503050406030204" pitchFamily="18" charset="0"/>
                                </a:rPr>
                                <m:t>bckg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𝑚𝑒𝑑𝑖𝑎𝑛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bckg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pixel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0">
                                  <a:latin typeface="Cambria Math" panose="02040503050406030204" pitchFamily="18" charset="0"/>
                                </a:rPr>
                                <m:t>norm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25DE6559-32C3-3DB8-4B70-A93B545295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9198" y="57150"/>
            <a:ext cx="257497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5032" y="3388274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710922" y="661362"/>
            <a:ext cx="2829977" cy="266240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624"/>
            <a:ext cx="4049486" cy="282999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3488265"/>
            <a:ext cx="4258987" cy="332751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1215" y="606740"/>
            <a:ext cx="3109863" cy="2822260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9815" y="661362"/>
            <a:ext cx="3068402" cy="276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48575-2C9D-4616-0A4A-DFFF35354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F4F999AA-17A8-2BAF-4FE3-6B7846C61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85E07BD2-23E6-2A5D-3F91-3B8CB697650C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 : </a:t>
            </a: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308EB0B-03C3-2F42-0CA0-DB788BD8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768" t="15603" r="27619" b="5943"/>
          <a:stretch>
            <a:fillRect/>
          </a:stretch>
        </p:blipFill>
        <p:spPr>
          <a:xfrm>
            <a:off x="2208587" y="1359635"/>
            <a:ext cx="7975600" cy="5156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419FAAD-BA41-862E-2A9A-3F1FA76B5337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8FC06FC-2DEE-FB75-81D3-B14F472D1166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980537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7F681CD5-C964-4B52-2B6B-BD2347A8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D82521C-2B33-104C-DB5D-18827306CF24}"/>
              </a:ext>
            </a:extLst>
          </p:cNvPr>
          <p:cNvSpPr txBox="1"/>
          <p:nvPr/>
        </p:nvSpPr>
        <p:spPr>
          <a:xfrm>
            <a:off x="2476500" y="324433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B95AF61-7ADB-0A7E-98D2-6FD784E14AF1}"/>
              </a:ext>
            </a:extLst>
          </p:cNvPr>
          <p:cNvSpPr txBox="1"/>
          <p:nvPr/>
        </p:nvSpPr>
        <p:spPr>
          <a:xfrm>
            <a:off x="9735025" y="393773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59C9BE-2EEA-83B4-4961-2B7ED7D63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19" y="823316"/>
            <a:ext cx="8814056" cy="59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1456</Words>
  <Application>Microsoft Office PowerPoint</Application>
  <PresentationFormat>Grand écran</PresentationFormat>
  <Paragraphs>345</Paragraphs>
  <Slides>23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1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Meeting 15/10/26</vt:lpstr>
      <vt:lpstr>Modèle Analytique – Réponse instrumentale </vt:lpstr>
      <vt:lpstr>Modèle Carbonates </vt:lpstr>
      <vt:lpstr>Chirp – Calcul de FWHM_instr</vt:lpstr>
      <vt:lpstr>Modèle Carbonates </vt:lpstr>
      <vt:lpstr>Pourquoi ?   - bruit ?  - illumination non homogène ?   - erreur modèle ?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 vs 7ps (#4 stressed)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62</cp:revision>
  <dcterms:created xsi:type="dcterms:W3CDTF">2026-07-01T11:56:10Z</dcterms:created>
  <dcterms:modified xsi:type="dcterms:W3CDTF">2026-10-19T18:02:22Z</dcterms:modified>
</cp:coreProperties>
</file>